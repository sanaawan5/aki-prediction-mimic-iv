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306" r:id="rId13"/>
    <p:sldId id="267" r:id="rId14"/>
    <p:sldId id="269" r:id="rId15"/>
    <p:sldId id="298" r:id="rId16"/>
    <p:sldId id="299" r:id="rId17"/>
    <p:sldId id="268" r:id="rId18"/>
    <p:sldId id="275" r:id="rId19"/>
    <p:sldId id="279" r:id="rId20"/>
    <p:sldId id="280" r:id="rId21"/>
    <p:sldId id="278" r:id="rId22"/>
    <p:sldId id="281" r:id="rId23"/>
    <p:sldId id="283" r:id="rId24"/>
    <p:sldId id="288" r:id="rId25"/>
    <p:sldId id="289" r:id="rId26"/>
    <p:sldId id="284" r:id="rId27"/>
    <p:sldId id="285" r:id="rId28"/>
    <p:sldId id="286" r:id="rId29"/>
    <p:sldId id="310" r:id="rId30"/>
    <p:sldId id="309" r:id="rId31"/>
    <p:sldId id="302" r:id="rId32"/>
    <p:sldId id="303" r:id="rId33"/>
    <p:sldId id="304" r:id="rId34"/>
    <p:sldId id="287" r:id="rId35"/>
    <p:sldId id="296" r:id="rId36"/>
    <p:sldId id="297" r:id="rId37"/>
    <p:sldId id="282" r:id="rId38"/>
    <p:sldId id="308" r:id="rId39"/>
    <p:sldId id="270" r:id="rId40"/>
    <p:sldId id="305" r:id="rId41"/>
    <p:sldId id="307" r:id="rId42"/>
    <p:sldId id="271" r:id="rId43"/>
    <p:sldId id="272" r:id="rId44"/>
    <p:sldId id="273" r:id="rId45"/>
    <p:sldId id="294" r:id="rId46"/>
    <p:sldId id="295" r:id="rId47"/>
    <p:sldId id="311" r:id="rId54"/>
    <p:sldId id="312" r:id="rId55"/>
    <p:sldId id="313" r:id="rId56"/>
    <p:sldId id="314" r:id="rId57"/>
    <p:sldId id="315" r:id="rId58"/>
    <p:sldId id="316" r:id="rId59"/>
    <p:sldId id="318" r:id="rId61"/>
    <p:sldId id="319" r:id="rId62"/>
    <p:sldId id="321" r:id="rId64"/>
    <p:sldId id="322" r:id="rId65"/>
    <p:sldId id="323" r:id="rId66"/>
    <p:sldId id="320" r:id="rId63"/>
    <p:sldId id="317" r:id="rId60"/>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9" roundtripDataSignature="AMtx7mhXNHsHibDfKGgIGIJg7tU2fyGnC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8DC3E93-2B56-42F1-9444-2EA1F0CE6B29}">
  <a:tblStyle styleId="{38DC3E93-2B56-42F1-9444-2EA1F0CE6B2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27"/>
    <p:restoredTop sz="91239"/>
  </p:normalViewPr>
  <p:slideViewPr>
    <p:cSldViewPr snapToGrid="0">
      <p:cViewPr varScale="1">
        <p:scale>
          <a:sx n="148" d="100"/>
          <a:sy n="148" d="100"/>
        </p:scale>
        <p:origin x="60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customschemas.google.com/relationships/presentationmetadata" Target="metadata"/><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9.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8.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 name="Google Shape;19;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0" name="Google Shape;20;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 name="Google Shape;48;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9" name="Google Shape;49;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 name="Google Shape;73;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4" name="Google Shape;74;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9" name="Google Shape;99;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0" name="Google Shape;100;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5</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 name="Google Shape;126;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27" name="Google Shape;127;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9" name="Google Shape;149;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50" name="Google Shape;150;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7</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4" name="Google Shape;214;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15" name="Google Shape;215;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9:notes"/>
          <p:cNvSpPr txBox="1">
            <a:spLocks noGrp="1"/>
          </p:cNvSpPr>
          <p:nvPr>
            <p:ph type="body" idx="1"/>
          </p:nvPr>
        </p:nvSpPr>
        <p:spPr>
          <a:xfrm>
            <a:off x="514350" y="4343400"/>
            <a:ext cx="41148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p9:notes"/>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0:notes"/>
          <p:cNvSpPr txBox="1">
            <a:spLocks noGrp="1"/>
          </p:cNvSpPr>
          <p:nvPr>
            <p:ph type="body" idx="1"/>
          </p:nvPr>
        </p:nvSpPr>
        <p:spPr>
          <a:xfrm>
            <a:off x="514350" y="4343400"/>
            <a:ext cx="41148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10: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11:notes"/>
          <p:cNvSpPr txBox="1">
            <a:spLocks noGrp="1"/>
          </p:cNvSpPr>
          <p:nvPr>
            <p:ph type="body" idx="1"/>
          </p:nvPr>
        </p:nvSpPr>
        <p:spPr>
          <a:xfrm>
            <a:off x="514350" y="4343400"/>
            <a:ext cx="41148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4" name="Google Shape;294;p11: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2:notes"/>
          <p:cNvSpPr txBox="1">
            <a:spLocks noGrp="1"/>
          </p:cNvSpPr>
          <p:nvPr>
            <p:ph type="body" idx="1"/>
          </p:nvPr>
        </p:nvSpPr>
        <p:spPr>
          <a:xfrm>
            <a:off x="514350" y="4343400"/>
            <a:ext cx="41148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1" name="Google Shape;321;p12: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14:notes"/>
          <p:cNvSpPr txBox="1">
            <a:spLocks noGrp="1"/>
          </p:cNvSpPr>
          <p:nvPr>
            <p:ph type="body" idx="1"/>
          </p:nvPr>
        </p:nvSpPr>
        <p:spPr>
          <a:xfrm>
            <a:off x="514350" y="4343400"/>
            <a:ext cx="41148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4" name="Google Shape;384;p14: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3:notes"/>
          <p:cNvSpPr txBox="1">
            <a:spLocks noGrp="1"/>
          </p:cNvSpPr>
          <p:nvPr>
            <p:ph type="body" idx="1"/>
          </p:nvPr>
        </p:nvSpPr>
        <p:spPr>
          <a:xfrm>
            <a:off x="514350" y="4343400"/>
            <a:ext cx="41148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p13: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notes"/>
          <p:cNvSpPr txBox="1">
            <a:spLocks noGrp="1"/>
          </p:cNvSpPr>
          <p:nvPr>
            <p:ph type="body" idx="1"/>
          </p:nvPr>
        </p:nvSpPr>
        <p:spPr>
          <a:xfrm>
            <a:off x="0" y="3200000"/>
            <a:ext cx="9144000" cy="2000000"/>
          </a:xfrm>
          <a:prstGeom prst="rect">
            <a:avLst/>
          </a:prstGeom>
          <a:noFill/>
          <a:ln>
            <a:noFill/>
          </a:ln>
        </p:spPr>
        <p:txBody>
          <a:bodyPr wrap="square" lIns="91440" tIns="45720" rIns="91440" bIns="45720" anchor="t">
            <a:noAutofit/>
          </a:bodyPr>
          <a:lstStyle/>
          <a:p>
            <a:pPr marL="0" marR="0" lvl="0" indent="0" algn="l" rtl="0">
              <a:spcBef>
                <a:spcPts val="0"/>
              </a:spcBef>
              <a:spcAft>
                <a:spcPts val="0"/>
              </a:spcAft>
              <a:buNone/>
            </a:pPr>
            <a:r>
              <a:rPr lang="en-US" sz="1000" b="1" dirty="0">
                <a:solidFill>
                  <a:schemeClr val="dk1"/>
                </a:solidFill>
                <a:latin typeface="Arial"/>
              </a:rPr>
              <a:t>Covariate Shift Verification — Standard Conditions (alpha=0.5)</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dirty="0">
                <a:solidFill>
                  <a:schemeClr val="dk1"/>
                </a:solidFill>
                <a:latin typeface="Arial"/>
              </a:rPr>
              <a:t>This slide proves the simulation mechanisms are calibrated correctly before we run any FL experiments.</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b="1" dirty="0">
                <a:solidFill>
                  <a:schemeClr val="dk1"/>
                </a:solidFill>
                <a:latin typeface="Arial"/>
              </a:rPr>
              <a:t>Left panel (gamma=0.0, IID baseline):</a:t>
            </a:r>
          </a:p>
          <a:p>
            <a:pPr marL="0" marR="0" lvl="0" indent="0" algn="l" rtl="0">
              <a:spcBef>
                <a:spcPts val="0"/>
              </a:spcBef>
              <a:spcAft>
                <a:spcPts val="0"/>
              </a:spcAft>
              <a:buNone/>
            </a:pPr>
            <a:r>
              <a:rPr lang="en-US" sz="1000" dirty="0">
                <a:solidFill>
                  <a:schemeClr val="dk1"/>
                </a:solidFill>
                <a:latin typeface="Arial"/>
              </a:rPr>
              <a:t>Panel 1 shows a flat acuity line — all sites draw patients uniformly with no subpopulation skew. Panel 2 shows all spread ratios at 1.0 — no compression or expansion. Panel 3 shows mean shifts near zero (site_A=+0.150, site_E=-0.092). Panel 4 shows all points clustered at configured=1.0 on the y=x line. Conclusion: at gamma=0, the covariate shift mechanism is correctly off.</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b="1" dirty="0">
                <a:solidFill>
                  <a:schemeClr val="dk1"/>
                </a:solidFill>
                <a:latin typeface="Arial"/>
              </a:rPr>
              <a:t>Right panel (gamma=0.75, Both condition):</a:t>
            </a:r>
          </a:p>
          <a:p>
            <a:pPr marL="0" marR="0" lvl="0" indent="0" algn="l" rtl="0">
              <a:spcBef>
                <a:spcPts val="0"/>
              </a:spcBef>
              <a:spcAft>
                <a:spcPts val="0"/>
              </a:spcAft>
              <a:buNone/>
            </a:pPr>
            <a:r>
              <a:rPr lang="en-US" sz="1000" dirty="0">
                <a:solidFill>
                  <a:schemeClr val="dk1"/>
                </a:solidFill>
                <a:latin typeface="Arial"/>
              </a:rPr>
              <a:t>Panel 1 shows the acuity gradient — site_B's AKI patients are highest acuity (+0.549 SD above anchor), site_E's are lowest (-0.502 SD). Panel 2 shows site_A compressed to 0.63x, site_E expanded to 2.5x — a 6x spread ratio between ICU and rural. Panel 3 shows the mean shifts: site_A sicker (+0.548), site_E healthier (-0.502). Panel 4 shows points near the y=x line confirming the perturbation is calibrated — site_E is far right (configured=2.5, observed=0.6) due to sparse feature underestimation.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notes"/>
          <p:cNvSpPr txBox="1">
            <a:spLocks noGrp="1"/>
          </p:cNvSpPr>
          <p:nvPr>
            <p:ph type="body" idx="1"/>
          </p:nvPr>
        </p:nvSpPr>
        <p:spPr>
          <a:xfrm>
            <a:off x="0" y="3200000"/>
            <a:ext cx="9144000" cy="2000000"/>
          </a:xfrm>
          <a:prstGeom prst="rect">
            <a:avLst/>
          </a:prstGeom>
          <a:noFill/>
          <a:ln>
            <a:noFill/>
          </a:ln>
        </p:spPr>
        <p:txBody>
          <a:bodyPr wrap="square" lIns="91440" tIns="45720" rIns="91440" bIns="45720" anchor="t">
            <a:noAutofit/>
          </a:bodyPr>
          <a:lstStyle/>
          <a:p>
            <a:pPr marL="0" marR="0" lvl="0" indent="0" algn="l" rtl="0">
              <a:spcBef>
                <a:spcPts val="0"/>
              </a:spcBef>
              <a:spcAft>
                <a:spcPts val="0"/>
              </a:spcAft>
              <a:buNone/>
            </a:pPr>
            <a:r>
              <a:rPr lang="en-US" sz="1000" b="1" dirty="0">
                <a:solidFill>
                  <a:schemeClr val="dk1"/>
                </a:solidFill>
                <a:latin typeface="Arial"/>
              </a:rPr>
              <a:t>Covariate Shift Verification — Maximum Heterogeneity Conditions (alpha=0.1)</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dirty="0">
                <a:solidFill>
                  <a:schemeClr val="dk1"/>
                </a:solidFill>
                <a:latin typeface="Arial"/>
              </a:rPr>
              <a:t>Same verification structure as slide 18 but showing the most extreme conditions in the experiment.</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b="1" dirty="0">
                <a:solidFill>
                  <a:schemeClr val="dk1"/>
                </a:solidFill>
                <a:latin typeface="Arial"/>
              </a:rPr>
              <a:t>Left panel (gamma=0.0, Label max — alpha=0.1):</a:t>
            </a:r>
          </a:p>
          <a:p>
            <a:pPr marL="0" marR="0" lvl="0" indent="0" algn="l" rtl="0">
              <a:spcBef>
                <a:spcPts val="0"/>
              </a:spcBef>
              <a:spcAft>
                <a:spcPts val="0"/>
              </a:spcAft>
              <a:buNone/>
            </a:pPr>
            <a:r>
              <a:rPr lang="en-US" sz="1000" dirty="0">
                <a:solidFill>
                  <a:schemeClr val="dk1"/>
                </a:solidFill>
                <a:latin typeface="Arial"/>
              </a:rPr>
              <a:t>At gamma=0, even with maximum label variance (alpha=0.1), there is no covariate shift. Panel 1 is flat, all spread ratios are 1.0. site_A is still sicker (+0.162) because the Dirichlet bias draws more AKI patients even without acuity skew — this is label shift creating incidental feature shift, not covariate shift.</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b="1" dirty="0">
                <a:solidFill>
                  <a:schemeClr val="dk1"/>
                </a:solidFill>
                <a:latin typeface="Arial"/>
              </a:rPr>
              <a:t>Right panel (gamma=1.0, Both max — maximum heterogeneity):</a:t>
            </a:r>
          </a:p>
          <a:p>
            <a:pPr marL="0" marR="0" lvl="0" indent="0" algn="l" rtl="0">
              <a:spcBef>
                <a:spcPts val="0"/>
              </a:spcBef>
              <a:spcAft>
                <a:spcPts val="0"/>
              </a:spcAft>
              <a:buNone/>
            </a:pPr>
            <a:r>
              <a:rPr lang="en-US" sz="1000" dirty="0">
                <a:solidFill>
                  <a:schemeClr val="dk1"/>
                </a:solidFill>
                <a:latin typeface="Arial"/>
              </a:rPr>
              <a:t>This is the hardest condition in the experiment. site_A is fully compressed to 0.46x spread, site_E is fully expanded to 3.0x — the maximum 6x ratio. Mean shifts reach their largest values: site_A=+0.550, site_E=-0.520. These are the conditions that produce the +7.5 point FL advantage over local training and the 6.5 point site_E fairness gap.</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dirty="0">
                <a:solidFill>
                  <a:schemeClr val="dk1"/>
                </a:solidFill>
                <a:latin typeface="Arial"/>
              </a:rPr>
              <a:t>Note on site_E's Panel 4: configured=3.0 but observed=0.62. This underestimation is expected — site_E only has 18 features, so the median standard deviation across its limited feature set cannot reach the configured expansion target.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notes"/>
          <p:cNvSpPr txBox="1">
            <a:spLocks noGrp="1"/>
          </p:cNvSpPr>
          <p:nvPr>
            <p:ph type="body" idx="1"/>
          </p:nvPr>
        </p:nvSpPr>
        <p:spPr>
          <a:xfrm>
            <a:off x="0" y="3200000"/>
            <a:ext cx="9144000" cy="2000000"/>
          </a:xfrm>
          <a:prstGeom prst="rect">
            <a:avLst/>
          </a:prstGeom>
          <a:noFill/>
          <a:ln>
            <a:noFill/>
          </a:ln>
        </p:spPr>
        <p:txBody>
          <a:bodyPr wrap="square" lIns="91440" tIns="45720" rIns="91440" bIns="45720" anchor="t">
            <a:noAutofit/>
          </a:bodyPr>
          <a:lstStyle/>
          <a:p>
            <a:pPr marL="0" marR="0" lvl="0" indent="0" algn="l" rtl="0">
              <a:spcBef>
                <a:spcPts val="0"/>
              </a:spcBef>
              <a:spcAft>
                <a:spcPts val="0"/>
              </a:spcAft>
              <a:buNone/>
            </a:pPr>
            <a:r>
              <a:rPr lang="en-US" sz="1000" b="1" dirty="0">
                <a:solidFill>
                  <a:schemeClr val="dk1"/>
                </a:solidFill>
                <a:latin typeface="Arial"/>
              </a:rPr>
              <a:t>LR Baseline and MLP Experimental Design</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b="1" dirty="0">
                <a:solidFill>
                  <a:schemeClr val="dk1"/>
                </a:solidFill>
                <a:latin typeface="Arial"/>
              </a:rPr>
              <a:t>Top section motivates why we switch from logistic regression to MLP.</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dirty="0">
                <a:solidFill>
                  <a:schemeClr val="dk1"/>
                </a:solidFill>
                <a:latin typeface="Arial"/>
              </a:rPr>
              <a:t>LR results at gamma=0.75 and gamma=1.0 show FedAvg, FedProx, and SCAFFOLD all within 0.0016 AUROC of each other — negligible difference. Three reasons: (1) Convexity — LR has a single global minimum so all algorithms converge to the same solution regardless of starting point or local update steps. (2) Gradient agreement — covariate shift moves P(X) not the decision boundary, so all sites agree on gradient direction. (3) Low variance — FedProx and SCAFFOLD correct gradient variance which is minimal in convex models. The max gap of 0.0016 is statistically and clinically meaningless.</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b="1" dirty="0">
                <a:solidFill>
                  <a:schemeClr val="dk1"/>
                </a:solidFill>
                <a:latin typeface="Arial"/>
              </a:rPr>
              <a:t>Bottom section describes the full MLP experimental design:</a:t>
            </a:r>
          </a:p>
          <a:p>
            <a:pPr marL="0" marR="0" lvl="0" indent="0" algn="l" rtl="0">
              <a:spcBef>
                <a:spcPts val="0"/>
              </a:spcBef>
              <a:spcAft>
                <a:spcPts val="0"/>
              </a:spcAft>
              <a:buNone/>
            </a:pPr>
            <a:r>
              <a:rPr lang="en-US" sz="1000" dirty="0">
                <a:solidFill>
                  <a:schemeClr val="dk1"/>
                </a:solidFill>
                <a:latin typeface="Arial"/>
              </a:rPr>
              <a:t>Architecture: MLP 64→32→1 (ReLU activations, sigmoid output). Training: 100 rounds, 10 local epochs, lr=0.01 with linear warmup and cosine decay, gradient clipping (norm=5.0). Algorithms: FedAvg, FedProx (mu=0.1), SCAFFOLD, SCAFFOLD+clip (cv_clip=1.0), Local-only, Centralised. Conditions: all 8 heterogeneity conditions. Reproducibility: fixed DATA_SEED=0 separates data sampling from algorithm variance; stratified split; 20 seeds measure weight-init and SGD stochasticity only; paired t-test vs FedAvg. Imputation: local-only — within-column NaNs filled with site training median; absent feature groups filled with sentinel -3.0 (z-score); no anchor statistics shared across sites.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notes"/>
          <p:cNvSpPr txBox="1">
            <a:spLocks noGrp="1"/>
          </p:cNvSpPr>
          <p:nvPr>
            <p:ph type="body" idx="1"/>
          </p:nvPr>
        </p:nvSpPr>
        <p:spPr>
          <a:xfrm>
            <a:off x="0" y="3200000"/>
            <a:ext cx="9144000" cy="2000000"/>
          </a:xfrm>
          <a:prstGeom prst="rect">
            <a:avLst/>
          </a:prstGeom>
          <a:noFill/>
          <a:ln>
            <a:noFill/>
          </a:ln>
        </p:spPr>
        <p:txBody>
          <a:bodyPr wrap="square" lIns="91440" tIns="45720" rIns="91440" bIns="45720" anchor="t">
            <a:noAutofit/>
          </a:bodyPr>
          <a:lstStyle/>
          <a:p>
            <a:pPr marL="0" marR="0" lvl="0" indent="0" algn="l" rtl="0">
              <a:spcBef>
                <a:spcPts val="0"/>
              </a:spcBef>
              <a:spcAft>
                <a:spcPts val="0"/>
              </a:spcAft>
              <a:buNone/>
            </a:pPr>
            <a:r>
              <a:rPr lang="en-US" sz="1000" b="1" dirty="0">
                <a:solidFill>
                  <a:schemeClr val="dk1"/>
                </a:solidFill>
                <a:latin typeface="Arial"/>
              </a:rPr>
              <a:t>Covariate Shift Verification, gamma=0.0 vs gamma=0.75 (alpha=0.5)</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dirty="0">
                <a:solidFill>
                  <a:schemeClr val="dk1"/>
                </a:solidFill>
                <a:latin typeface="Arial"/>
              </a:rPr>
              <a:t>This slide is an earlier verification showing the 2x2 design confirmation. It predates the more detailed 4-panel format on slides 18-19 and serves as the original evidence that the simulation covariate shift mechanisms are working correctly.</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dirty="0">
                <a:solidFill>
                  <a:schemeClr val="dk1"/>
                </a:solidFill>
                <a:latin typeface="Arial"/>
              </a:rPr>
              <a:t>Fig 1 and 2 (gamma=0.75): site_A AKI patients are at +1.0 SD above anchor; site_E AKI patients are at -1.5 SD. Mechanism A (subpopulation sampling) drives mean shift correctly. Site_A is wider than anchor (+0.019) and rural (site_E) is healthier (-0.134). All four points are near the y=x line confirming perturbation calibration.</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dirty="0">
                <a:solidFill>
                  <a:schemeClr val="dk1"/>
                </a:solidFill>
                <a:latin typeface="Arial"/>
              </a:rPr>
              <a:t>The key takeaway: covariate shift verification confirms that at gamma=0.75 the ICU site draws systematically sicker patients and the rural site draws systematically healthier patients — exactly the clinical reality we are simulating.</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notes"/>
          <p:cNvSpPr txBox="1">
            <a:spLocks noGrp="1"/>
          </p:cNvSpPr>
          <p:nvPr>
            <p:ph type="body" idx="1"/>
          </p:nvPr>
        </p:nvSpPr>
        <p:spPr>
          <a:xfrm>
            <a:off x="0" y="3200000"/>
            <a:ext cx="9144000" cy="2000000"/>
          </a:xfrm>
          <a:prstGeom prst="rect">
            <a:avLst/>
          </a:prstGeom>
          <a:noFill/>
          <a:ln>
            <a:noFill/>
          </a:ln>
        </p:spPr>
        <p:txBody>
          <a:bodyPr wrap="square" lIns="91440" tIns="45720" rIns="91440" bIns="45720" anchor="t">
            <a:noAutofit/>
          </a:bodyPr>
          <a:lstStyle/>
          <a:p>
            <a:pPr marL="0" marR="0" lvl="0" indent="0" algn="l" rtl="0">
              <a:spcBef>
                <a:spcPts val="0"/>
              </a:spcBef>
              <a:spcAft>
                <a:spcPts val="0"/>
              </a:spcAft>
              <a:buNone/>
            </a:pPr>
            <a:r>
              <a:rPr lang="en-US" sz="1000" b="1" dirty="0">
                <a:solidFill>
                  <a:schemeClr val="dk1"/>
                </a:solidFill>
                <a:latin typeface="Arial"/>
              </a:rPr>
              <a:t>LR Baseline Training Curves, Covariate Shift Only</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dirty="0">
                <a:solidFill>
                  <a:schemeClr val="dk1"/>
                </a:solidFill>
                <a:latin typeface="Arial"/>
              </a:rPr>
              <a:t>Shows training curves for logistic regression under covariate shift conditions (no label shift).</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dirty="0">
                <a:solidFill>
                  <a:schemeClr val="dk1"/>
                </a:solidFill>
                <a:latin typeface="Arial"/>
              </a:rPr>
              <a:t>At gamma=0.75: FedAvg, FedProx, SCAFFOLD, and Local all converge to the same AUROC within the first 20 rounds. All curves are overlapping — no algorithm separation at any point during training.</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dirty="0">
                <a:solidFill>
                  <a:schemeClr val="dk1"/>
                </a:solidFill>
                <a:latin typeface="Arial"/>
              </a:rPr>
              <a:t>At gamma=1.0: same picture. Despite maximum covariate shift, the algorithm choice makes no difference for LR.</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dirty="0">
                <a:solidFill>
                  <a:schemeClr val="dk1"/>
                </a:solidFill>
                <a:latin typeface="Arial"/>
              </a:rPr>
              <a:t>Why LR shows no differences: gradient agreement across sites. Even though sites have different feature distributions (covariate shift), the classification boundary (which separates AKI from non-AKI) is the same linear function regardless of which subpopulation is sampled. All sites agree on the direction of improvement. FedProx's proximal term and SCAFFOLD's control variates both address client drift — which simply does not exist in convex models with consistent gradient directions.</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dirty="0">
                <a:solidFill>
                  <a:schemeClr val="dk1"/>
                </a:solidFill>
                <a:latin typeface="Arial"/>
              </a:rPr>
              <a:t>This result directly motivates MLP: only non-convex models where multiple local minima exist will reveal meaningful algorithm differences under heterogeneous data.</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notes"/>
          <p:cNvSpPr txBox="1">
            <a:spLocks noGrp="1"/>
          </p:cNvSpPr>
          <p:nvPr>
            <p:ph type="body" idx="1"/>
          </p:nvPr>
        </p:nvSpPr>
        <p:spPr>
          <a:xfrm>
            <a:off x="0" y="3200000"/>
            <a:ext cx="9144000" cy="2000000"/>
          </a:xfrm>
          <a:prstGeom prst="rect">
            <a:avLst/>
          </a:prstGeom>
          <a:noFill/>
          <a:ln>
            <a:noFill/>
          </a:ln>
        </p:spPr>
        <p:txBody>
          <a:bodyPr wrap="square" lIns="91440" tIns="45720" rIns="91440" bIns="45720" anchor="t">
            <a:noAutofit/>
          </a:bodyPr>
          <a:lstStyle/>
          <a:p>
            <a:pPr marL="0" marR="0" lvl="0" indent="0" algn="l" rtl="0">
              <a:spcBef>
                <a:spcPts val="0"/>
              </a:spcBef>
              <a:spcAft>
                <a:spcPts val="0"/>
              </a:spcAft>
              <a:buNone/>
            </a:pPr>
            <a:r>
              <a:rPr lang="en-US" sz="1000" b="1" dirty="0">
                <a:solidFill>
                  <a:schemeClr val="dk1"/>
                </a:solidFill>
                <a:latin typeface="Arial"/>
              </a:rPr>
              <a:t>Complete Results </a:t>
            </a:r>
            <a:r>
              <a:rPr lang="en-US" sz="1000" b="1" dirty="0" err="1">
                <a:solidFill>
                  <a:schemeClr val="dk1"/>
                </a:solidFill>
                <a:latin typeface="Arial"/>
              </a:rPr>
              <a:t>Table:Global</a:t>
            </a:r>
            <a:r>
              <a:rPr lang="en-US" sz="1000" b="1" dirty="0">
                <a:solidFill>
                  <a:schemeClr val="dk1"/>
                </a:solidFill>
                <a:latin typeface="Arial"/>
              </a:rPr>
              <a:t> AUROC (pooled test set), mean ± std, 20 seeds</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b="1" dirty="0">
                <a:solidFill>
                  <a:schemeClr val="dk1"/>
                </a:solidFill>
                <a:latin typeface="Arial"/>
              </a:rPr>
              <a:t>The top reference table clarifies the alpha/gamma design:</a:t>
            </a:r>
          </a:p>
          <a:p>
            <a:pPr marL="0" marR="0" lvl="0" indent="0" algn="l" rtl="0">
              <a:spcBef>
                <a:spcPts val="0"/>
              </a:spcBef>
              <a:spcAft>
                <a:spcPts val="0"/>
              </a:spcAft>
              <a:buNone/>
            </a:pPr>
            <a:r>
              <a:rPr lang="en-US" sz="1000" dirty="0">
                <a:solidFill>
                  <a:schemeClr val="dk1"/>
                </a:solidFill>
                <a:latin typeface="Arial"/>
              </a:rPr>
              <a:t>IID uses alpha= (not applicable) because the no_label_shift flag bypasses the Dirichlet entirely — alpha has no effect when label shift is disabled. All sites draw uniformly from the pool giving ~12.6% AKI. This is fundamentally different from standard FL literature where IID means high alpha — in our simulation IID is a qualitatively different sampling regime.</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b="1" dirty="0">
                <a:solidFill>
                  <a:schemeClr val="dk1"/>
                </a:solidFill>
                <a:latin typeface="Arial"/>
              </a:rPr>
              <a:t>Results table:</a:t>
            </a:r>
          </a:p>
          <a:p>
            <a:pPr marL="0" marR="0" lvl="0" indent="0" algn="l" rtl="0">
              <a:spcBef>
                <a:spcPts val="0"/>
              </a:spcBef>
              <a:spcAft>
                <a:spcPts val="0"/>
              </a:spcAft>
              <a:buNone/>
            </a:pPr>
            <a:r>
              <a:rPr lang="en-US" sz="1000" b="1" dirty="0">
                <a:solidFill>
                  <a:schemeClr val="dk1"/>
                </a:solidFill>
                <a:latin typeface="Arial"/>
              </a:rPr>
              <a:t>- *** = p&lt;0.001, * = p&lt;0.05 vs FedAvg (paired t-test, 20 seeds)</a:t>
            </a:r>
          </a:p>
          <a:p>
            <a:pPr marL="0" marR="0" lvl="0" indent="0" algn="l" rtl="0">
              <a:spcBef>
                <a:spcPts val="0"/>
              </a:spcBef>
              <a:spcAft>
                <a:spcPts val="0"/>
              </a:spcAft>
              <a:buNone/>
            </a:pPr>
            <a:r>
              <a:rPr lang="en-US" sz="1000" b="1" dirty="0">
                <a:solidFill>
                  <a:schemeClr val="dk1"/>
                </a:solidFill>
                <a:latin typeface="Arial"/>
              </a:rPr>
              <a:t>- Green rows (Both, Both extreme, Label max, Both max) = best FL beats local</a:t>
            </a:r>
          </a:p>
          <a:p>
            <a:pPr marL="0" marR="0" lvl="0" indent="0" algn="l" rtl="0">
              <a:spcBef>
                <a:spcPts val="0"/>
              </a:spcBef>
              <a:spcAft>
                <a:spcPts val="0"/>
              </a:spcAft>
              <a:buNone/>
            </a:pPr>
            <a:r>
              <a:rPr lang="en-US" sz="1000" b="1" dirty="0">
                <a:solidFill>
                  <a:schemeClr val="dk1"/>
                </a:solidFill>
                <a:latin typeface="Arial"/>
              </a:rPr>
              <a:t>- Blue row (Both max) = best FL beats both local AND centralised</a:t>
            </a:r>
          </a:p>
          <a:p>
            <a:pPr marL="0" marR="0" lvl="0" indent="0" algn="l" rtl="0">
              <a:spcBef>
                <a:spcPts val="0"/>
              </a:spcBef>
              <a:spcAft>
                <a:spcPts val="0"/>
              </a:spcAft>
              <a:buNone/>
            </a:pPr>
            <a:r>
              <a:rPr lang="en-US" sz="1000" b="1" dirty="0">
                <a:solidFill>
                  <a:schemeClr val="dk1"/>
                </a:solidFill>
                <a:latin typeface="Arial"/>
              </a:rPr>
              <a:t>- FL-Local column = best FL AUROC minus local AUROC</a:t>
            </a:r>
          </a:p>
          <a:p>
            <a:pPr marL="0" marR="0" lvl="0" indent="0" algn="l" rtl="0">
              <a:spcBef>
                <a:spcPts val="0"/>
              </a:spcBef>
              <a:spcAft>
                <a:spcPts val="0"/>
              </a:spcAft>
              <a:buNone/>
            </a:pPr>
            <a:r>
              <a:rPr lang="en-US" sz="1000" b="1" dirty="0">
                <a:solidFill>
                  <a:schemeClr val="dk1"/>
                </a:solidFill>
                <a:latin typeface="Arial"/>
              </a:rPr>
              <a:t>- FL-Cen column = best FL AUROC minus centralised AUROC</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dirty="0">
                <a:solidFill>
                  <a:schemeClr val="dk1"/>
                </a:solidFill>
                <a:latin typeface="Arial"/>
              </a:rPr>
              <a:t>Key patterns: SCAFFOLD and SCAFFOLD+clip win in every condition (all p&lt;0.001). FedProx consistently underperforms FedAvg (all p&lt;0.001 — proximal term over-regularises in heterogeneous clinical networks). FL advantage grows with heterogeneity: +0.010 under Label only, +0.033 under Both, +0.075 under Both max. Federation only beats local when both shift types are simultaneously active. Federation only beats local when both shift types are simultaneously active. Anchor  (feature-rich)Site C vs </a:t>
            </a:r>
            <a:r>
              <a:rPr lang="en-US" sz="1000" dirty="0" err="1">
                <a:solidFill>
                  <a:schemeClr val="dk1"/>
                </a:solidFill>
                <a:latin typeface="Arial"/>
              </a:rPr>
              <a:t>Centralized..statistical</a:t>
            </a:r>
            <a:r>
              <a:rPr lang="en-US" sz="1000" dirty="0">
                <a:solidFill>
                  <a:schemeClr val="dk1"/>
                </a:solidFill>
                <a:latin typeface="Arial"/>
              </a:rPr>
              <a:t> metrics at each </a:t>
            </a:r>
            <a:r>
              <a:rPr lang="en-US" sz="1000" dirty="0" err="1">
                <a:solidFill>
                  <a:schemeClr val="dk1"/>
                </a:solidFill>
                <a:latin typeface="Arial"/>
              </a:rPr>
              <a:t>site..make</a:t>
            </a:r>
            <a:r>
              <a:rPr lang="en-US" sz="1000" dirty="0">
                <a:solidFill>
                  <a:schemeClr val="dk1"/>
                </a:solidFill>
                <a:latin typeface="Arial"/>
              </a:rPr>
              <a:t> recommendations on which sites will benefit....personalized, local at site c vs. </a:t>
            </a:r>
            <a:r>
              <a:rPr lang="en-US" sz="1000" dirty="0" err="1">
                <a:solidFill>
                  <a:schemeClr val="dk1"/>
                </a:solidFill>
                <a:latin typeface="Arial"/>
              </a:rPr>
              <a:t>global.does</a:t>
            </a:r>
            <a:r>
              <a:rPr lang="en-US" sz="1000" dirty="0">
                <a:solidFill>
                  <a:schemeClr val="dk1"/>
                </a:solidFill>
                <a:latin typeface="Arial"/>
              </a:rPr>
              <a:t> site C get penalized?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notes"/>
          <p:cNvSpPr txBox="1">
            <a:spLocks noGrp="1"/>
          </p:cNvSpPr>
          <p:nvPr>
            <p:ph type="body" idx="1"/>
          </p:nvPr>
        </p:nvSpPr>
        <p:spPr>
          <a:xfrm>
            <a:off x="0" y="3200000"/>
            <a:ext cx="9144000" cy="2000000"/>
          </a:xfrm>
          <a:prstGeom prst="rect">
            <a:avLst/>
          </a:prstGeom>
          <a:noFill/>
          <a:ln>
            <a:noFill/>
          </a:ln>
        </p:spPr>
        <p:txBody>
          <a:bodyPr wrap="square" lIns="91440" tIns="45720" rIns="91440" bIns="45720" anchor="t">
            <a:noAutofit/>
          </a:bodyPr>
          <a:lstStyle/>
          <a:p>
            <a:pPr marL="0" marR="0" lvl="0" indent="0" algn="l" rtl="0">
              <a:spcBef>
                <a:spcPts val="0"/>
              </a:spcBef>
              <a:spcAft>
                <a:spcPts val="0"/>
              </a:spcAft>
              <a:buNone/>
            </a:pPr>
            <a:r>
              <a:rPr lang="en-US" sz="1000" b="1" dirty="0">
                <a:solidFill>
                  <a:schemeClr val="dk1"/>
                </a:solidFill>
                <a:latin typeface="Arial"/>
              </a:rPr>
              <a:t>FL Results: Global AUROC across 8 Heterogeneity Conditions (20 seeds)</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b="1" dirty="0">
                <a:solidFill>
                  <a:schemeClr val="dk1"/>
                </a:solidFill>
                <a:latin typeface="Arial"/>
              </a:rPr>
              <a:t>Four key findings from the complete experiment:</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b="1" dirty="0">
                <a:solidFill>
                  <a:schemeClr val="dk1"/>
                </a:solidFill>
                <a:latin typeface="Arial"/>
              </a:rPr>
              <a:t>Finding 1 — SCAFFOLD family significantly outperforms FedAvg (p&lt;0.001 all conditions):</a:t>
            </a:r>
          </a:p>
          <a:p>
            <a:pPr marL="0" marR="0" lvl="0" indent="0" algn="l" rtl="0">
              <a:spcBef>
                <a:spcPts val="0"/>
              </a:spcBef>
              <a:spcAft>
                <a:spcPts val="0"/>
              </a:spcAft>
              <a:buNone/>
            </a:pPr>
            <a:r>
              <a:rPr lang="en-US" sz="1000" dirty="0">
                <a:solidFill>
                  <a:schemeClr val="dk1"/>
                </a:solidFill>
                <a:latin typeface="Arial"/>
              </a:rPr>
              <a:t>SCAFFOLD vs FedAvg: +0.010 to +0.012 AUROC. SCAFFOLD+clip vs FedAvg: +0.009 to +0.011. Both are statistically significant across all 8 conditions and 20 seeds. FedProx underperforms FedAvg by -0.002 to -0.008 (also p&lt;0.001) — the proximal term over-regularises in a heterogeneous 5-site clinical network.</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b="1" dirty="0">
                <a:solidFill>
                  <a:schemeClr val="dk1"/>
                </a:solidFill>
                <a:latin typeface="Arial"/>
              </a:rPr>
              <a:t>Finding 2 — Federation beats local training in 7 of 8 conditions:</a:t>
            </a:r>
          </a:p>
          <a:p>
            <a:pPr marL="0" marR="0" lvl="0" indent="0" algn="l" rtl="0">
              <a:spcBef>
                <a:spcPts val="0"/>
              </a:spcBef>
              <a:spcAft>
                <a:spcPts val="0"/>
              </a:spcAft>
              <a:buNone/>
            </a:pPr>
            <a:r>
              <a:rPr lang="en-US" sz="1000" dirty="0">
                <a:solidFill>
                  <a:schemeClr val="dk1"/>
                </a:solidFill>
                <a:latin typeface="Arial"/>
              </a:rPr>
              <a:t>The advantage grows monotonically with combined heterogeneity: Both=+0.033, Both extreme=+0.042, Both max=+0.075. Single-axis heterogeneity is insufficient to demonstrate federation benefit — you need both label shift AND covariate shift simultaneously.</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b="1" dirty="0">
                <a:solidFill>
                  <a:schemeClr val="dk1"/>
                </a:solidFill>
                <a:latin typeface="Arial"/>
              </a:rPr>
              <a:t>Finding 3 — FL matches or exceeds centralised in 5 of 8 conditions:</a:t>
            </a:r>
          </a:p>
          <a:p>
            <a:pPr marL="0" marR="0" lvl="0" indent="0" algn="l" rtl="0">
              <a:spcBef>
                <a:spcPts val="0"/>
              </a:spcBef>
              <a:spcAft>
                <a:spcPts val="0"/>
              </a:spcAft>
              <a:buNone/>
            </a:pPr>
            <a:r>
              <a:rPr lang="en-US" sz="1000" dirty="0">
                <a:solidFill>
                  <a:schemeClr val="dk1"/>
                </a:solidFill>
                <a:latin typeface="Arial"/>
              </a:rPr>
              <a:t>At Both max, FL achieves 105.5% of centralised AUROC. Centralised pooling is hurt by site_C's 66k patients dominating the gradient — FL's weighted aggregation preserves minority site signals better.</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b="1" dirty="0">
                <a:solidFill>
                  <a:schemeClr val="dk1"/>
                </a:solidFill>
                <a:latin typeface="Arial"/>
              </a:rPr>
              <a:t>Finding 4 — Site_E fairness gap motivates personalisation:</a:t>
            </a:r>
          </a:p>
          <a:p>
            <a:pPr marL="0" marR="0" lvl="0" indent="0" algn="l" rtl="0">
              <a:spcBef>
                <a:spcPts val="0"/>
              </a:spcBef>
              <a:spcAft>
                <a:spcPts val="0"/>
              </a:spcAft>
              <a:buNone/>
            </a:pPr>
            <a:r>
              <a:rPr lang="en-US" sz="1000" dirty="0">
                <a:solidFill>
                  <a:schemeClr val="dk1"/>
                </a:solidFill>
                <a:latin typeface="Arial"/>
              </a:rPr>
              <a:t>Site_E drops 6.6 percentage points from IID (0.833) to Both max (0.767). Covariate shift is the primary driver (-5.1 points) vs label shift (-1.0 points). A personalised local head for site_E would recover this deficit without abandoning federation.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notes"/>
          <p:cNvSpPr txBox="1">
            <a:spLocks noGrp="1"/>
          </p:cNvSpPr>
          <p:nvPr>
            <p:ph type="body" idx="1"/>
          </p:nvPr>
        </p:nvSpPr>
        <p:spPr>
          <a:xfrm>
            <a:off x="0" y="3200000"/>
            <a:ext cx="9144000" cy="2000000"/>
          </a:xfrm>
          <a:prstGeom prst="rect">
            <a:avLst/>
          </a:prstGeom>
          <a:noFill/>
          <a:ln>
            <a:noFill/>
          </a:ln>
        </p:spPr>
        <p:txBody>
          <a:bodyPr wrap="square" lIns="91440" tIns="45720" rIns="91440" bIns="45720" anchor="t">
            <a:noAutofit/>
          </a:bodyPr>
          <a:lstStyle/>
          <a:p>
            <a:pPr marL="0" marR="0" lvl="0" indent="0" algn="l" rtl="0">
              <a:spcBef>
                <a:spcPts val="0"/>
              </a:spcBef>
              <a:spcAft>
                <a:spcPts val="0"/>
              </a:spcAft>
              <a:buNone/>
            </a:pPr>
            <a:r>
              <a:rPr lang="en-US" sz="1000" b="1" dirty="0">
                <a:solidFill>
                  <a:schemeClr val="dk1"/>
                </a:solidFill>
                <a:latin typeface="Arial"/>
              </a:rPr>
              <a:t>Site-Level Fairness Analysis and Motivation for Personalization</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dirty="0">
                <a:solidFill>
                  <a:schemeClr val="dk1"/>
                </a:solidFill>
                <a:latin typeface="Arial"/>
              </a:rPr>
              <a:t>This slide examines what happens to individual sites when heterogeneity increases — the headline global AUROC masks important per-site divergences.</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b="1" dirty="0">
                <a:solidFill>
                  <a:schemeClr val="dk1"/>
                </a:solidFill>
                <a:latin typeface="Arial"/>
              </a:rPr>
              <a:t>Left table (Label only vs Label extreme, alpha=0.5 vs 0.3):</a:t>
            </a:r>
          </a:p>
          <a:p>
            <a:pPr marL="0" marR="0" lvl="0" indent="0" algn="l" rtl="0">
              <a:spcBef>
                <a:spcPts val="0"/>
              </a:spcBef>
              <a:spcAft>
                <a:spcPts val="0"/>
              </a:spcAft>
              <a:buNone/>
            </a:pPr>
            <a:r>
              <a:rPr lang="en-US" sz="1000" dirty="0">
                <a:solidFill>
                  <a:schemeClr val="dk1"/>
                </a:solidFill>
                <a:latin typeface="Arial"/>
              </a:rPr>
              <a:t>site_E counter-intuitively IMPROVES by +2.8 percentage points at alpha=0.3. This is heterogeneity-induced regularisation — more diverse label distributions force the global model to learn a more generalised boundary that happens to fit site_E's rare-AKI population better. site_A degrades (-0.7 points) as it becomes harder to predict at extreme prevalence.</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b="1" dirty="0">
                <a:solidFill>
                  <a:schemeClr val="dk1"/>
                </a:solidFill>
                <a:latin typeface="Arial"/>
              </a:rPr>
              <a:t>Right table (Both vs Both extreme):</a:t>
            </a:r>
          </a:p>
          <a:p>
            <a:pPr marL="0" marR="0" lvl="0" indent="0" algn="l" rtl="0">
              <a:spcBef>
                <a:spcPts val="0"/>
              </a:spcBef>
              <a:spcAft>
                <a:spcPts val="0"/>
              </a:spcAft>
              <a:buNone/>
            </a:pPr>
            <a:r>
              <a:rPr lang="en-US" sz="1000" dirty="0">
                <a:solidFill>
                  <a:schemeClr val="dk1"/>
                </a:solidFill>
                <a:latin typeface="Arial"/>
              </a:rPr>
              <a:t>Under combined shift, the picture reverses. site_E DEGRADES by -1.3 percentage points. site_B and site_C IMPROVE (+1.1 and +0.8 points) because they benefit from gradient diversity regularisation. site_A and site_D degrade. The global model's boundary is pulled toward the majority (site_C, 66k patients) and away from the extremes (site_A and site_E).</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b="1" dirty="0">
                <a:solidFill>
                  <a:schemeClr val="dk1"/>
                </a:solidFill>
                <a:latin typeface="Arial"/>
              </a:rPr>
              <a:t>Site_E watchpoint row:</a:t>
            </a:r>
          </a:p>
          <a:p>
            <a:pPr marL="0" marR="0" lvl="0" indent="0" algn="l" rtl="0">
              <a:spcBef>
                <a:spcPts val="0"/>
              </a:spcBef>
              <a:spcAft>
                <a:spcPts val="0"/>
              </a:spcAft>
              <a:buNone/>
            </a:pPr>
            <a:r>
              <a:rPr lang="en-US" sz="1000" dirty="0">
                <a:solidFill>
                  <a:schemeClr val="dk1"/>
                </a:solidFill>
                <a:latin typeface="Arial"/>
              </a:rPr>
              <a:t>IID: 0.833 → Covariate only: 0.782 (-5.1 points) → Both max: 0.777. Covariate shift drives the largest single drop. Label shift alone actually helps site_E (+1.2 points under Label only). Both max is the worst case at 0.777 — a 10 percentage point gap vs site_C at 0.878.</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dirty="0">
                <a:solidFill>
                  <a:schemeClr val="dk1"/>
                </a:solidFill>
                <a:latin typeface="Arial"/>
              </a:rPr>
              <a:t>The global model cannot simultaneously serve site_A (45% AKI, ICU features) and site_E (5% AKI, 18 features). A FedBABU body-head split would keep the shared body for cross-site feature learning while letting each site's head adapt to its local prevalence and feature availability.</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r>
              <a:rPr lang="en-US" dirty="0"/>
              <a:t>Sensitivity analysis to determine feature importance. Needed for feature alignment with GPC.</a:t>
            </a:r>
          </a:p>
          <a:p>
            <a:r>
              <a:rPr lang="en-US" dirty="0"/>
              <a:t>Implement 24-hr lookback window</a:t>
            </a:r>
          </a:p>
          <a:p>
            <a:r>
              <a:rPr lang="en-US"/>
              <a:t>Feature alignment with GPC</a:t>
            </a:r>
            <a:endParaRPr lang="en-US" dirty="0"/>
          </a:p>
        </p:txBody>
      </p:sp>
    </p:spTree>
    <p:extLst>
      <p:ext uri="{BB962C8B-B14F-4D97-AF65-F5344CB8AC3E}">
        <p14:creationId xmlns:p14="http://schemas.microsoft.com/office/powerpoint/2010/main" val="20822400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notes"/>
          <p:cNvSpPr txBox="1">
            <a:spLocks noGrp="1"/>
          </p:cNvSpPr>
          <p:nvPr>
            <p:ph type="body" idx="1"/>
          </p:nvPr>
        </p:nvSpPr>
        <p:spPr>
          <a:xfrm>
            <a:off x="0" y="3200000"/>
            <a:ext cx="9144000" cy="2000000"/>
          </a:xfrm>
          <a:prstGeom prst="rect">
            <a:avLst/>
          </a:prstGeom>
          <a:noFill/>
          <a:ln>
            <a:noFill/>
          </a:ln>
        </p:spPr>
        <p:txBody>
          <a:bodyPr wrap="square" lIns="91440" tIns="45720" rIns="91440" bIns="45720" anchor="t">
            <a:noAutofit/>
          </a:bodyPr>
          <a:lstStyle/>
          <a:p>
            <a:pPr marL="0" marR="0" lvl="0" indent="0" algn="l" rtl="0">
              <a:spcBef>
                <a:spcPts val="0"/>
              </a:spcBef>
              <a:spcAft>
                <a:spcPts val="0"/>
              </a:spcAft>
              <a:buNone/>
            </a:pPr>
            <a:r>
              <a:rPr lang="en-US" sz="1000" b="1" dirty="0">
                <a:solidFill>
                  <a:schemeClr val="dk1"/>
                </a:solidFill>
                <a:latin typeface="Arial"/>
              </a:rPr>
              <a:t>Key Conclusions:</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dirty="0">
                <a:solidFill>
                  <a:schemeClr val="dk1"/>
                </a:solidFill>
                <a:latin typeface="Arial"/>
              </a:rPr>
              <a:t>1. SCAFFOLD &gt; FedAvg &gt; FedProx (p&lt;0.001 all conditions): Control variates reduce gradient variance caused by heterogeneous local updates. FedProx over-regularises — pulling local models toward a global average that doesn't fit any site well in a 5-site clinical network.</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dirty="0">
                <a:solidFill>
                  <a:schemeClr val="dk1"/>
                </a:solidFill>
                <a:latin typeface="Arial"/>
              </a:rPr>
              <a:t>2. Federation benefit requires BOTH shift types: Single-axis heterogeneity (label only or covariate only) is insufficient. FL advantage peaks at +7.5 percentage points under Both max. Real clinical federations have both axes simultaneously — this is the realistic regime.</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dirty="0">
                <a:solidFill>
                  <a:schemeClr val="dk1"/>
                </a:solidFill>
                <a:latin typeface="Arial"/>
              </a:rPr>
              <a:t>3. FL surpasses centralised under combined shift: 105.5% of centralised AUROC at Both max. Weighted gradient aggregation outperforms naive pooling when site distributions are highly heterogeneous. This is a strong argument for federation even when data pooling is legally possible.</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dirty="0">
                <a:solidFill>
                  <a:schemeClr val="dk1"/>
                </a:solidFill>
                <a:latin typeface="Arial"/>
              </a:rPr>
              <a:t>4. Site_E fairness gap is clinically significant: Rural site (18 features, 5% AKI) lags anchor by 10 percentage points under max heterogeneity. Covariate shift is the primary driver (delta=-0.051) vs label shift (delta=-0.010). The sites that most need accurate AKI prediction — rural hospitals with limited specialist backup — are the ones the global model serves worst.</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dirty="0">
                <a:solidFill>
                  <a:schemeClr val="dk1"/>
                </a:solidFill>
                <a:latin typeface="Arial"/>
              </a:rPr>
              <a:t>5. SCAFFOLD+clip: same performance, better stability: CV clipping reduces std across seeds without sacrificing AUROC. Important for clinical deployment where reproducibility across training runs matters for regulatory approval.</a:t>
            </a:r>
          </a:p>
          <a:p>
            <a:pPr marL="0" marR="0" lvl="0" indent="0" algn="l" rtl="0">
              <a:spcBef>
                <a:spcPts val="0"/>
              </a:spcBef>
              <a:spcAft>
                <a:spcPts val="0"/>
              </a:spcAft>
              <a:buNone/>
            </a:pPr>
            <a:r>
              <a:rPr lang="en-US" sz="1000" b="1" dirty="0">
                <a:solidFill>
                  <a:schemeClr val="dk1"/>
                </a:solidFill>
                <a:latin typeface="Arial"/>
              </a:rPr>
              <a:t>Next Steps:</a:t>
            </a:r>
          </a:p>
          <a:p>
            <a:pPr marL="0" marR="0" lvl="0" indent="0" algn="l" rtl="0">
              <a:spcBef>
                <a:spcPts val="0"/>
              </a:spcBef>
              <a:spcAft>
                <a:spcPts val="0"/>
              </a:spcAft>
              <a:buNone/>
            </a:pPr>
            <a:endParaRPr sz="1000" dirty="0">
              <a:solidFill>
                <a:schemeClr val="dk1"/>
              </a:solidFill>
              <a:latin typeface="Arial"/>
            </a:endParaRPr>
          </a:p>
          <a:p>
            <a:pPr marL="0" marR="0" lvl="0" indent="0" algn="l" rtl="0">
              <a:spcBef>
                <a:spcPts val="0"/>
              </a:spcBef>
              <a:spcAft>
                <a:spcPts val="0"/>
              </a:spcAft>
              <a:buNone/>
            </a:pPr>
            <a:r>
              <a:rPr lang="en-US" sz="1000" dirty="0">
                <a:solidFill>
                  <a:schemeClr val="dk1"/>
                </a:solidFill>
                <a:latin typeface="Arial"/>
              </a:rPr>
              <a:t>1. FedBABU personalisation: shared body learns cross-site representations; per-site head fine-tuned locally. Expected to recover site_E's 10-point deficit.</a:t>
            </a:r>
          </a:p>
          <a:p>
            <a:pPr marL="0" marR="0" lvl="0" indent="0" algn="l" rtl="0">
              <a:spcBef>
                <a:spcPts val="0"/>
              </a:spcBef>
              <a:spcAft>
                <a:spcPts val="0"/>
              </a:spcAft>
              <a:buNone/>
            </a:pPr>
            <a:r>
              <a:rPr lang="en-US" sz="1000" dirty="0">
                <a:solidFill>
                  <a:schemeClr val="dk1"/>
                </a:solidFill>
                <a:latin typeface="Arial"/>
              </a:rPr>
              <a:t>2. cv_clip hyperparameter sweep: current cv_clip=1.0 is untuned — sweep {0.1, 0.5, 1.0, 5.0} on Both max.</a:t>
            </a:r>
          </a:p>
          <a:p>
            <a:pPr marL="0" marR="0" lvl="0" indent="0" algn="l" rtl="0">
              <a:spcBef>
                <a:spcPts val="0"/>
              </a:spcBef>
              <a:spcAft>
                <a:spcPts val="0"/>
              </a:spcAft>
              <a:buNone/>
            </a:pPr>
            <a:r>
              <a:rPr lang="en-US" sz="1000" dirty="0">
                <a:solidFill>
                  <a:schemeClr val="dk1"/>
                </a:solidFill>
                <a:latin typeface="Arial"/>
              </a:rPr>
              <a:t>3. GPC dataset validation: map MIMIC-IV features to GPC feature set for real federated validation.</a:t>
            </a:r>
          </a:p>
          <a:p>
            <a:pPr marL="0" marR="0" lvl="0" indent="0" algn="l" rtl="0">
              <a:spcBef>
                <a:spcPts val="0"/>
              </a:spcBef>
              <a:spcAft>
                <a:spcPts val="0"/>
              </a:spcAft>
              <a:buNone/>
            </a:pPr>
            <a:r>
              <a:rPr lang="en-US" sz="1000" dirty="0">
                <a:solidFill>
                  <a:schemeClr val="dk1"/>
                </a:solidFill>
                <a:latin typeface="Arial"/>
              </a:rPr>
              <a:t>4. Missing-feature architecture: replace sentinel imputation with site-specific input projections.</a:t>
            </a:r>
          </a:p>
          <a:p>
            <a:pPr marL="0" marR="0" lvl="0" indent="0" algn="l" rtl="0">
              <a:spcBef>
                <a:spcPts val="0"/>
              </a:spcBef>
              <a:spcAft>
                <a:spcPts val="0"/>
              </a:spcAft>
              <a:buNone/>
            </a:pPr>
            <a:r>
              <a:rPr lang="en-US" sz="1000" dirty="0">
                <a:solidFill>
                  <a:schemeClr val="dk1"/>
                </a:solidFill>
                <a:latin typeface="Arial"/>
              </a:rPr>
              <a:t>5. Communication efficiency: gradient compression for rural hospitals on limited connectivity.</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800" dirty="0">
                <a:solidFill>
                  <a:srgbClr val="64748B"/>
                </a:solidFill>
                <a:latin typeface="Calibri"/>
              </a:rPr>
              <a:t>local model outperforms FL at that site/condition. </a:t>
            </a:r>
            <a:r>
              <a:rPr lang="en-US" sz="800" dirty="0" err="1">
                <a:solidFill>
                  <a:srgbClr val="64748B"/>
                </a:solidFill>
                <a:latin typeface="Calibri"/>
              </a:rPr>
              <a:t>site_A</a:t>
            </a:r>
            <a:r>
              <a:rPr lang="en-US" sz="800" dirty="0">
                <a:solidFill>
                  <a:srgbClr val="64748B"/>
                </a:solidFill>
                <a:latin typeface="Calibri"/>
              </a:rPr>
              <a:t> </a:t>
            </a:r>
            <a:r>
              <a:rPr lang="en-US" sz="800" dirty="0" err="1">
                <a:solidFill>
                  <a:srgbClr val="64748B"/>
                </a:solidFill>
                <a:latin typeface="Calibri"/>
              </a:rPr>
              <a:t>penalised</a:t>
            </a:r>
            <a:r>
              <a:rPr lang="en-US" sz="800" dirty="0">
                <a:solidFill>
                  <a:srgbClr val="64748B"/>
                </a:solidFill>
                <a:latin typeface="Calibri"/>
              </a:rPr>
              <a:t> under covariate shift: ICU feature compression (×0.5 spread) averaged away by FL. </a:t>
            </a:r>
            <a:r>
              <a:rPr lang="en-US" sz="800" dirty="0" err="1">
                <a:solidFill>
                  <a:srgbClr val="64748B"/>
                </a:solidFill>
                <a:latin typeface="Calibri"/>
              </a:rPr>
              <a:t>site_E</a:t>
            </a:r>
            <a:r>
              <a:rPr lang="en-US" sz="800" dirty="0">
                <a:solidFill>
                  <a:srgbClr val="64748B"/>
                </a:solidFill>
                <a:latin typeface="Calibri"/>
              </a:rPr>
              <a:t> </a:t>
            </a:r>
            <a:r>
              <a:rPr lang="en-US" sz="800" dirty="0" err="1">
                <a:solidFill>
                  <a:srgbClr val="64748B"/>
                </a:solidFill>
                <a:latin typeface="Calibri"/>
              </a:rPr>
              <a:t>penalised</a:t>
            </a:r>
            <a:r>
              <a:rPr lang="en-US" sz="800" dirty="0">
                <a:solidFill>
                  <a:srgbClr val="64748B"/>
                </a:solidFill>
                <a:latin typeface="Calibri"/>
              </a:rPr>
              <a:t> at IID/Label only: global boundary dominated by </a:t>
            </a:r>
            <a:r>
              <a:rPr lang="en-US" sz="800" dirty="0" err="1">
                <a:solidFill>
                  <a:srgbClr val="64748B"/>
                </a:solidFill>
                <a:latin typeface="Calibri"/>
              </a:rPr>
              <a:t>site_A</a:t>
            </a:r>
            <a:r>
              <a:rPr lang="en-US" sz="800" dirty="0">
                <a:solidFill>
                  <a:srgbClr val="64748B"/>
                </a:solidFill>
                <a:latin typeface="Calibri"/>
              </a:rPr>
              <a:t> (43% AKI) and </a:t>
            </a:r>
            <a:r>
              <a:rPr lang="en-US" sz="800" dirty="0" err="1">
                <a:solidFill>
                  <a:srgbClr val="64748B"/>
                </a:solidFill>
                <a:latin typeface="Calibri"/>
              </a:rPr>
              <a:t>site_C</a:t>
            </a:r>
            <a:r>
              <a:rPr lang="en-US" sz="800" dirty="0">
                <a:solidFill>
                  <a:srgbClr val="64748B"/>
                </a:solidFill>
                <a:latin typeface="Calibri"/>
              </a:rPr>
              <a:t> (66k patients), both unlike rural 5% AKI.</a:t>
            </a:r>
          </a:p>
          <a:p>
            <a:endParaRPr lang="en-US" dirty="0"/>
          </a:p>
        </p:txBody>
      </p:sp>
    </p:spTree>
    <p:extLst>
      <p:ext uri="{BB962C8B-B14F-4D97-AF65-F5344CB8AC3E}">
        <p14:creationId xmlns:p14="http://schemas.microsoft.com/office/powerpoint/2010/main" val="28933021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r>
              <a:rPr lang="en-US" dirty="0" err="1"/>
              <a:t>Site_E</a:t>
            </a:r>
            <a:r>
              <a:rPr lang="en-US" dirty="0"/>
              <a:t> is more common scenario.</a:t>
            </a:r>
          </a:p>
          <a:p>
            <a:r>
              <a:rPr lang="en-US" dirty="0"/>
              <a:t>Scenario simulation: Rare label .... AKI Stage 3 ...outcomes following AKI.</a:t>
            </a:r>
          </a:p>
          <a:p>
            <a:r>
              <a:rPr lang="en-US" dirty="0"/>
              <a:t>Personalization, personalized input layer at site.</a:t>
            </a:r>
          </a:p>
          <a:p>
            <a:r>
              <a:rPr lang="en-US" dirty="0"/>
              <a:t>Algorithm...feature mapping...gradient reversal layer.</a:t>
            </a:r>
          </a:p>
          <a:p>
            <a:r>
              <a:rPr lang="en-US" dirty="0" err="1"/>
              <a:t>Site_C</a:t>
            </a:r>
            <a:r>
              <a:rPr lang="en-US" dirty="0"/>
              <a:t> is feature-rich, many samples so its local model is expected to perform better that FL model. So, it doesn't benefit from FL....will personalization help?</a:t>
            </a:r>
          </a:p>
          <a:p>
            <a:r>
              <a:rPr lang="en-US" dirty="0" err="1"/>
              <a:t>Site_C</a:t>
            </a:r>
            <a:r>
              <a:rPr lang="en-US" dirty="0"/>
              <a:t> is contributor...penalized?</a:t>
            </a:r>
          </a:p>
          <a:p>
            <a:r>
              <a:rPr lang="en-US" dirty="0"/>
              <a:t>No shared/ overlapping features, will </a:t>
            </a:r>
            <a:r>
              <a:rPr lang="en-US" dirty="0" err="1"/>
              <a:t>FedAdapt</a:t>
            </a:r>
            <a:r>
              <a:rPr lang="en-US" dirty="0"/>
              <a:t> help?</a:t>
            </a:r>
          </a:p>
          <a:p>
            <a:r>
              <a:rPr lang="en-US" dirty="0"/>
              <a:t>Contributors / </a:t>
            </a:r>
            <a:r>
              <a:rPr lang="en-US" dirty="0" err="1"/>
              <a:t>Benefitters</a:t>
            </a:r>
            <a:r>
              <a:rPr lang="en-US" dirty="0"/>
              <a:t>?....Can we make recommendations?</a:t>
            </a:r>
          </a:p>
          <a:p>
            <a:r>
              <a:rPr lang="en-US" dirty="0"/>
              <a:t>Stage 3...rare samples....simulation of scarcity of labels.</a:t>
            </a:r>
          </a:p>
          <a:p>
            <a:r>
              <a:rPr lang="en-US" dirty="0"/>
              <a:t>Statistical measure: how rare is the data and how much benefit can FL provide?</a:t>
            </a:r>
          </a:p>
          <a:p>
            <a:endParaRPr lang="en-US" dirty="0"/>
          </a:p>
          <a:p>
            <a:endParaRPr lang="en-US" dirty="0"/>
          </a:p>
        </p:txBody>
      </p:sp>
    </p:spTree>
    <p:extLst>
      <p:ext uri="{BB962C8B-B14F-4D97-AF65-F5344CB8AC3E}">
        <p14:creationId xmlns:p14="http://schemas.microsoft.com/office/powerpoint/2010/main" val="5500694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1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0" name="Google Shape;390;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91" name="Google Shape;391;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39</a:t>
            </a:fld>
            <a:endParaRPr sz="1800">
              <a:solidFill>
                <a:schemeClr val="dk1"/>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16:notes"/>
          <p:cNvSpPr txBox="1">
            <a:spLocks noGrp="1"/>
          </p:cNvSpPr>
          <p:nvPr>
            <p:ph type="body" idx="1"/>
          </p:nvPr>
        </p:nvSpPr>
        <p:spPr>
          <a:xfrm>
            <a:off x="514350" y="4343400"/>
            <a:ext cx="41148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7" name="Google Shape;427;p16:notes"/>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1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4" name="Google Shape;484;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85" name="Google Shape;485;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43</a:t>
            </a:fld>
            <a:endParaRPr sz="1800">
              <a:solidFill>
                <a:schemeClr val="dk1"/>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1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7" name="Google Shape;517;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18" name="Google Shape;518;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44</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
        <p:cNvGrpSpPr/>
        <p:nvPr/>
      </p:nvGrpSpPr>
      <p:grpSpPr>
        <a:xfrm>
          <a:off x="0" y="0"/>
          <a:ext cx="0" cy="0"/>
          <a:chOff x="0" y="0"/>
          <a:chExt cx="0" cy="0"/>
        </a:xfrm>
      </p:grpSpPr>
      <p:sp>
        <p:nvSpPr>
          <p:cNvPr id="12" name="Google Shape;12;p1"/>
          <p:cNvSpPr/>
          <p:nvPr/>
        </p:nvSpPr>
        <p:spPr>
          <a:xfrm>
            <a:off x="0" y="0"/>
            <a:ext cx="9144000" cy="73152"/>
          </a:xfrm>
          <a:prstGeom prst="rect">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 name="Google Shape;13;p1"/>
          <p:cNvSpPr/>
          <p:nvPr/>
        </p:nvSpPr>
        <p:spPr>
          <a:xfrm>
            <a:off x="548640" y="1005840"/>
            <a:ext cx="8046720" cy="1645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3800"/>
              <a:buFont typeface="Calibri"/>
              <a:buNone/>
            </a:pPr>
            <a:r>
              <a:rPr lang="en-US" sz="3800" b="1">
                <a:solidFill>
                  <a:srgbClr val="1F2937"/>
                </a:solidFill>
                <a:latin typeface="Calibri"/>
                <a:ea typeface="Calibri"/>
                <a:cs typeface="Calibri"/>
                <a:sym typeface="Calibri"/>
              </a:rPr>
              <a:t>Federated Transfer Learning</a:t>
            </a:r>
            <a:endParaRPr sz="3800">
              <a:solidFill>
                <a:schemeClr val="dk1"/>
              </a:solidFill>
              <a:latin typeface="Calibri"/>
              <a:ea typeface="Calibri"/>
              <a:cs typeface="Calibri"/>
              <a:sym typeface="Calibri"/>
            </a:endParaRPr>
          </a:p>
          <a:p>
            <a:pPr marL="0" marR="0" lvl="0" indent="0" algn="l" rtl="0">
              <a:spcBef>
                <a:spcPts val="0"/>
              </a:spcBef>
              <a:spcAft>
                <a:spcPts val="0"/>
              </a:spcAft>
              <a:buClr>
                <a:srgbClr val="1F2937"/>
              </a:buClr>
              <a:buSzPts val="3800"/>
              <a:buFont typeface="Calibri"/>
              <a:buNone/>
            </a:pPr>
            <a:r>
              <a:rPr lang="en-US" sz="3800" b="1">
                <a:solidFill>
                  <a:srgbClr val="1F2937"/>
                </a:solidFill>
                <a:latin typeface="Calibri"/>
                <a:ea typeface="Calibri"/>
                <a:cs typeface="Calibri"/>
                <a:sym typeface="Calibri"/>
              </a:rPr>
              <a:t>for AKI Prediction</a:t>
            </a:r>
            <a:endParaRPr sz="3800">
              <a:solidFill>
                <a:schemeClr val="dk1"/>
              </a:solidFill>
              <a:latin typeface="Calibri"/>
              <a:ea typeface="Calibri"/>
              <a:cs typeface="Calibri"/>
              <a:sym typeface="Calibri"/>
            </a:endParaRPr>
          </a:p>
        </p:txBody>
      </p:sp>
      <p:sp>
        <p:nvSpPr>
          <p:cNvPr id="14" name="Google Shape;14;p1"/>
          <p:cNvSpPr/>
          <p:nvPr/>
        </p:nvSpPr>
        <p:spPr>
          <a:xfrm>
            <a:off x="548640" y="2788920"/>
            <a:ext cx="4572000" cy="36576"/>
          </a:xfrm>
          <a:prstGeom prst="rect">
            <a:avLst/>
          </a:prstGeom>
          <a:solidFill>
            <a:srgbClr val="D1D5D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 name="Google Shape;15;p1"/>
          <p:cNvSpPr/>
          <p:nvPr/>
        </p:nvSpPr>
        <p:spPr>
          <a:xfrm>
            <a:off x="548640" y="3383280"/>
            <a:ext cx="80467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300"/>
              <a:buFont typeface="Calibri"/>
              <a:buNone/>
            </a:pPr>
            <a:r>
              <a:rPr lang="en-US" sz="1300">
                <a:solidFill>
                  <a:srgbClr val="6B7280"/>
                </a:solidFill>
                <a:latin typeface="Calibri"/>
                <a:ea typeface="Calibri"/>
                <a:cs typeface="Calibri"/>
                <a:sym typeface="Calibri"/>
              </a:rPr>
              <a:t>Simulating Feature &amp; Sample Heterogeneity from MIMIC-IV</a:t>
            </a:r>
            <a:endParaRPr sz="1300">
              <a:solidFill>
                <a:schemeClr val="dk1"/>
              </a:solidFill>
              <a:latin typeface="Calibri"/>
              <a:ea typeface="Calibri"/>
              <a:cs typeface="Calibri"/>
              <a:sym typeface="Calibri"/>
            </a:endParaRPr>
          </a:p>
        </p:txBody>
      </p:sp>
      <p:sp>
        <p:nvSpPr>
          <p:cNvPr id="16" name="Google Shape;16;p1"/>
          <p:cNvSpPr/>
          <p:nvPr/>
        </p:nvSpPr>
        <p:spPr>
          <a:xfrm>
            <a:off x="0" y="4983480"/>
            <a:ext cx="9144000" cy="160020"/>
          </a:xfrm>
          <a:prstGeom prst="rect">
            <a:avLst/>
          </a:prstGeom>
          <a:solidFill>
            <a:srgbClr val="F3F4F6"/>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
        <p:cNvGrpSpPr/>
        <p:nvPr/>
      </p:nvGrpSpPr>
      <p:grpSpPr>
        <a:xfrm>
          <a:off x="0" y="0"/>
          <a:ext cx="0" cy="0"/>
          <a:chOff x="0" y="0"/>
          <a:chExt cx="0" cy="0"/>
        </a:xfrm>
      </p:grpSpPr>
      <p:sp>
        <p:nvSpPr>
          <p:cNvPr id="22" name="Google Shape;22;p2"/>
          <p:cNvSpPr/>
          <p:nvPr/>
        </p:nvSpPr>
        <p:spPr>
          <a:xfrm>
            <a:off x="0" y="0"/>
            <a:ext cx="9144000" cy="685800"/>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 name="Google Shape;23;p2"/>
          <p:cNvSpPr/>
          <p:nvPr/>
        </p:nvSpPr>
        <p:spPr>
          <a:xfrm>
            <a:off x="320040" y="0"/>
            <a:ext cx="850392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2200"/>
              <a:buFont typeface="Calibri"/>
              <a:buNone/>
            </a:pPr>
            <a:r>
              <a:rPr lang="en-US" sz="2200" b="1">
                <a:solidFill>
                  <a:srgbClr val="1F2937"/>
                </a:solidFill>
                <a:latin typeface="Calibri"/>
                <a:ea typeface="Calibri"/>
                <a:cs typeface="Calibri"/>
                <a:sym typeface="Calibri"/>
              </a:rPr>
              <a:t>Motivation: Why Federated Transfer Learning for AKI?</a:t>
            </a:r>
            <a:endParaRPr sz="2200">
              <a:solidFill>
                <a:schemeClr val="dk1"/>
              </a:solidFill>
              <a:latin typeface="Calibri"/>
              <a:ea typeface="Calibri"/>
              <a:cs typeface="Calibri"/>
              <a:sym typeface="Calibri"/>
            </a:endParaRPr>
          </a:p>
        </p:txBody>
      </p:sp>
      <p:sp>
        <p:nvSpPr>
          <p:cNvPr id="24" name="Google Shape;24;p2"/>
          <p:cNvSpPr/>
          <p:nvPr/>
        </p:nvSpPr>
        <p:spPr>
          <a:xfrm>
            <a:off x="0" y="685800"/>
            <a:ext cx="9144000" cy="36576"/>
          </a:xfrm>
          <a:prstGeom prst="rect">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 name="Google Shape;25;p2"/>
          <p:cNvSpPr/>
          <p:nvPr/>
        </p:nvSpPr>
        <p:spPr>
          <a:xfrm>
            <a:off x="365760" y="822960"/>
            <a:ext cx="8412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300"/>
              <a:buFont typeface="Calibri"/>
              <a:buNone/>
            </a:pPr>
            <a:r>
              <a:rPr lang="en-US" sz="1300" b="1">
                <a:solidFill>
                  <a:srgbClr val="1F2937"/>
                </a:solidFill>
                <a:latin typeface="Calibri"/>
                <a:ea typeface="Calibri"/>
                <a:cs typeface="Calibri"/>
                <a:sym typeface="Calibri"/>
              </a:rPr>
              <a:t>The problem</a:t>
            </a:r>
            <a:endParaRPr sz="1300">
              <a:solidFill>
                <a:schemeClr val="dk1"/>
              </a:solidFill>
              <a:latin typeface="Calibri"/>
              <a:ea typeface="Calibri"/>
              <a:cs typeface="Calibri"/>
              <a:sym typeface="Calibri"/>
            </a:endParaRPr>
          </a:p>
        </p:txBody>
      </p:sp>
      <p:sp>
        <p:nvSpPr>
          <p:cNvPr id="26" name="Google Shape;26;p2"/>
          <p:cNvSpPr/>
          <p:nvPr/>
        </p:nvSpPr>
        <p:spPr>
          <a:xfrm>
            <a:off x="457200" y="1143000"/>
            <a:ext cx="17373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100"/>
              <a:buFont typeface="Calibri"/>
              <a:buNone/>
            </a:pPr>
            <a:r>
              <a:rPr lang="en-US" sz="1100" b="1">
                <a:solidFill>
                  <a:srgbClr val="1F2937"/>
                </a:solidFill>
                <a:latin typeface="Calibri"/>
                <a:ea typeface="Calibri"/>
                <a:cs typeface="Calibri"/>
                <a:sym typeface="Calibri"/>
              </a:rPr>
              <a:t>•  Privacy Barrier:  </a:t>
            </a:r>
            <a:endParaRPr sz="1100">
              <a:solidFill>
                <a:schemeClr val="dk1"/>
              </a:solidFill>
              <a:latin typeface="Calibri"/>
              <a:ea typeface="Calibri"/>
              <a:cs typeface="Calibri"/>
              <a:sym typeface="Calibri"/>
            </a:endParaRPr>
          </a:p>
        </p:txBody>
      </p:sp>
      <p:sp>
        <p:nvSpPr>
          <p:cNvPr id="27" name="Google Shape;27;p2"/>
          <p:cNvSpPr/>
          <p:nvPr/>
        </p:nvSpPr>
        <p:spPr>
          <a:xfrm>
            <a:off x="2103120" y="1143000"/>
            <a:ext cx="67208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Hospitals cannot share raw patient EHR data; HIPAA and IRB regulations prohibit centralising records across institutions</a:t>
            </a:r>
            <a:endParaRPr sz="1100">
              <a:solidFill>
                <a:schemeClr val="dk1"/>
              </a:solidFill>
              <a:latin typeface="Calibri"/>
              <a:ea typeface="Calibri"/>
              <a:cs typeface="Calibri"/>
              <a:sym typeface="Calibri"/>
            </a:endParaRPr>
          </a:p>
        </p:txBody>
      </p:sp>
      <p:sp>
        <p:nvSpPr>
          <p:cNvPr id="28" name="Google Shape;28;p2"/>
          <p:cNvSpPr/>
          <p:nvPr/>
        </p:nvSpPr>
        <p:spPr>
          <a:xfrm>
            <a:off x="457200" y="1600200"/>
            <a:ext cx="17373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100"/>
              <a:buFont typeface="Calibri"/>
              <a:buNone/>
            </a:pPr>
            <a:r>
              <a:rPr lang="en-US" sz="1100" b="1">
                <a:solidFill>
                  <a:srgbClr val="1F2937"/>
                </a:solidFill>
                <a:latin typeface="Calibri"/>
                <a:ea typeface="Calibri"/>
                <a:cs typeface="Calibri"/>
                <a:sym typeface="Calibri"/>
              </a:rPr>
              <a:t>•  Data Silos:  </a:t>
            </a:r>
            <a:endParaRPr sz="1100">
              <a:solidFill>
                <a:schemeClr val="dk1"/>
              </a:solidFill>
              <a:latin typeface="Calibri"/>
              <a:ea typeface="Calibri"/>
              <a:cs typeface="Calibri"/>
              <a:sym typeface="Calibri"/>
            </a:endParaRPr>
          </a:p>
        </p:txBody>
      </p:sp>
      <p:sp>
        <p:nvSpPr>
          <p:cNvPr id="29" name="Google Shape;29;p2"/>
          <p:cNvSpPr/>
          <p:nvPr/>
        </p:nvSpPr>
        <p:spPr>
          <a:xfrm>
            <a:off x="2103120" y="1600200"/>
            <a:ext cx="67208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Each site has too few AKI cases alone to train a robust, generalisable model</a:t>
            </a:r>
            <a:endParaRPr sz="1100">
              <a:solidFill>
                <a:schemeClr val="dk1"/>
              </a:solidFill>
              <a:latin typeface="Calibri"/>
              <a:ea typeface="Calibri"/>
              <a:cs typeface="Calibri"/>
              <a:sym typeface="Calibri"/>
            </a:endParaRPr>
          </a:p>
        </p:txBody>
      </p:sp>
      <p:sp>
        <p:nvSpPr>
          <p:cNvPr id="30" name="Google Shape;30;p2"/>
          <p:cNvSpPr/>
          <p:nvPr/>
        </p:nvSpPr>
        <p:spPr>
          <a:xfrm>
            <a:off x="457200" y="2057400"/>
            <a:ext cx="17373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100"/>
              <a:buFont typeface="Calibri"/>
              <a:buNone/>
            </a:pPr>
            <a:r>
              <a:rPr lang="en-US" sz="1100" b="1">
                <a:solidFill>
                  <a:srgbClr val="1F2937"/>
                </a:solidFill>
                <a:latin typeface="Calibri"/>
                <a:ea typeface="Calibri"/>
                <a:cs typeface="Calibri"/>
                <a:sym typeface="Calibri"/>
              </a:rPr>
              <a:t>•  Feature Gap:  </a:t>
            </a:r>
            <a:endParaRPr sz="1100">
              <a:solidFill>
                <a:schemeClr val="dk1"/>
              </a:solidFill>
              <a:latin typeface="Calibri"/>
              <a:ea typeface="Calibri"/>
              <a:cs typeface="Calibri"/>
              <a:sym typeface="Calibri"/>
            </a:endParaRPr>
          </a:p>
        </p:txBody>
      </p:sp>
      <p:sp>
        <p:nvSpPr>
          <p:cNvPr id="31" name="Google Shape;31;p2"/>
          <p:cNvSpPr/>
          <p:nvPr/>
        </p:nvSpPr>
        <p:spPr>
          <a:xfrm>
            <a:off x="2103120" y="2057400"/>
            <a:ext cx="67208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Different EHR systems collect different variables, ICU tracks urine output; community clinic does not</a:t>
            </a:r>
            <a:endParaRPr sz="1100">
              <a:solidFill>
                <a:schemeClr val="dk1"/>
              </a:solidFill>
              <a:latin typeface="Calibri"/>
              <a:ea typeface="Calibri"/>
              <a:cs typeface="Calibri"/>
              <a:sym typeface="Calibri"/>
            </a:endParaRPr>
          </a:p>
        </p:txBody>
      </p:sp>
      <p:sp>
        <p:nvSpPr>
          <p:cNvPr id="32" name="Google Shape;32;p2"/>
          <p:cNvSpPr/>
          <p:nvPr/>
        </p:nvSpPr>
        <p:spPr>
          <a:xfrm>
            <a:off x="457200" y="2514600"/>
            <a:ext cx="17373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100"/>
              <a:buFont typeface="Calibri"/>
              <a:buNone/>
            </a:pPr>
            <a:r>
              <a:rPr lang="en-US" sz="1100" b="1">
                <a:solidFill>
                  <a:srgbClr val="1F2937"/>
                </a:solidFill>
                <a:latin typeface="Calibri"/>
                <a:ea typeface="Calibri"/>
                <a:cs typeface="Calibri"/>
                <a:sym typeface="Calibri"/>
              </a:rPr>
              <a:t>•  Sample Shift:  </a:t>
            </a:r>
            <a:endParaRPr sz="1100">
              <a:solidFill>
                <a:schemeClr val="dk1"/>
              </a:solidFill>
              <a:latin typeface="Calibri"/>
              <a:ea typeface="Calibri"/>
              <a:cs typeface="Calibri"/>
              <a:sym typeface="Calibri"/>
            </a:endParaRPr>
          </a:p>
        </p:txBody>
      </p:sp>
      <p:sp>
        <p:nvSpPr>
          <p:cNvPr id="33" name="Google Shape;33;p2"/>
          <p:cNvSpPr/>
          <p:nvPr/>
        </p:nvSpPr>
        <p:spPr>
          <a:xfrm>
            <a:off x="2103120" y="2514600"/>
            <a:ext cx="67208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100"/>
              <a:buFont typeface="Calibri"/>
              <a:buNone/>
            </a:pPr>
            <a:r>
              <a:rPr lang="en-US" sz="1100" dirty="0">
                <a:solidFill>
                  <a:srgbClr val="374151"/>
                </a:solidFill>
                <a:latin typeface="Calibri"/>
                <a:ea typeface="Calibri"/>
                <a:cs typeface="Calibri"/>
                <a:sym typeface="Calibri"/>
              </a:rPr>
              <a:t>ICU AKI prevalence ~40%; general wards ~15%; rural clinics ~5%;  models trained locally fail elsewhere</a:t>
            </a:r>
            <a:endParaRPr sz="1100" dirty="0">
              <a:solidFill>
                <a:schemeClr val="dk1"/>
              </a:solidFill>
              <a:latin typeface="Calibri"/>
              <a:ea typeface="Calibri"/>
              <a:cs typeface="Calibri"/>
              <a:sym typeface="Calibri"/>
            </a:endParaRPr>
          </a:p>
        </p:txBody>
      </p:sp>
      <p:sp>
        <p:nvSpPr>
          <p:cNvPr id="34" name="Google Shape;34;p2"/>
          <p:cNvSpPr/>
          <p:nvPr/>
        </p:nvSpPr>
        <p:spPr>
          <a:xfrm>
            <a:off x="365760" y="3017520"/>
            <a:ext cx="8412480" cy="36576"/>
          </a:xfrm>
          <a:prstGeom prst="rect">
            <a:avLst/>
          </a:prstGeom>
          <a:solidFill>
            <a:srgbClr val="D1D5D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 name="Google Shape;35;p2"/>
          <p:cNvSpPr/>
          <p:nvPr/>
        </p:nvSpPr>
        <p:spPr>
          <a:xfrm>
            <a:off x="365760" y="3127248"/>
            <a:ext cx="8412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300"/>
              <a:buFont typeface="Calibri"/>
              <a:buNone/>
            </a:pPr>
            <a:r>
              <a:rPr lang="en-US" sz="1300" b="1">
                <a:solidFill>
                  <a:srgbClr val="1F2937"/>
                </a:solidFill>
                <a:latin typeface="Calibri"/>
                <a:ea typeface="Calibri"/>
                <a:cs typeface="Calibri"/>
                <a:sym typeface="Calibri"/>
              </a:rPr>
              <a:t>Our solution</a:t>
            </a:r>
            <a:endParaRPr sz="1300">
              <a:solidFill>
                <a:schemeClr val="dk1"/>
              </a:solidFill>
              <a:latin typeface="Calibri"/>
              <a:ea typeface="Calibri"/>
              <a:cs typeface="Calibri"/>
              <a:sym typeface="Calibri"/>
            </a:endParaRPr>
          </a:p>
        </p:txBody>
      </p:sp>
      <p:sp>
        <p:nvSpPr>
          <p:cNvPr id="36" name="Google Shape;36;p2"/>
          <p:cNvSpPr/>
          <p:nvPr/>
        </p:nvSpPr>
        <p:spPr>
          <a:xfrm>
            <a:off x="457200" y="3429000"/>
            <a:ext cx="82296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Combine three complementary FTL methods into a single pipeline for privacy-preserving AKI prediction across hospitals with incompatible EHR feature sets and heterogeneous patient populations — without sharing any raw data.</a:t>
            </a:r>
            <a:endParaRPr sz="1100">
              <a:solidFill>
                <a:schemeClr val="dk1"/>
              </a:solidFill>
              <a:latin typeface="Calibri"/>
              <a:ea typeface="Calibri"/>
              <a:cs typeface="Calibri"/>
              <a:sym typeface="Calibri"/>
            </a:endParaRPr>
          </a:p>
        </p:txBody>
      </p:sp>
      <p:sp>
        <p:nvSpPr>
          <p:cNvPr id="37" name="Google Shape;37;p2"/>
          <p:cNvSpPr/>
          <p:nvPr/>
        </p:nvSpPr>
        <p:spPr>
          <a:xfrm>
            <a:off x="457200" y="4005072"/>
            <a:ext cx="2606040" cy="868680"/>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 name="Google Shape;38;p2"/>
          <p:cNvSpPr/>
          <p:nvPr/>
        </p:nvSpPr>
        <p:spPr>
          <a:xfrm>
            <a:off x="566928" y="4050792"/>
            <a:ext cx="2395728"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200"/>
              <a:buFont typeface="Calibri"/>
              <a:buNone/>
            </a:pPr>
            <a:r>
              <a:rPr lang="en-US" sz="1200" b="1">
                <a:solidFill>
                  <a:srgbClr val="1D4ED8"/>
                </a:solidFill>
                <a:latin typeface="Calibri"/>
                <a:ea typeface="Calibri"/>
                <a:cs typeface="Calibri"/>
                <a:sym typeface="Calibri"/>
              </a:rPr>
              <a:t>PrADA</a:t>
            </a:r>
            <a:endParaRPr sz="1200">
              <a:solidFill>
                <a:schemeClr val="dk1"/>
              </a:solidFill>
              <a:latin typeface="Calibri"/>
              <a:ea typeface="Calibri"/>
              <a:cs typeface="Calibri"/>
              <a:sym typeface="Calibri"/>
            </a:endParaRPr>
          </a:p>
        </p:txBody>
      </p:sp>
      <p:sp>
        <p:nvSpPr>
          <p:cNvPr id="39" name="Google Shape;39;p2"/>
          <p:cNvSpPr/>
          <p:nvPr/>
        </p:nvSpPr>
        <p:spPr>
          <a:xfrm>
            <a:off x="566928" y="4325112"/>
            <a:ext cx="2395728"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feature grouping encoders</a:t>
            </a:r>
            <a:endParaRPr sz="1000">
              <a:solidFill>
                <a:schemeClr val="dk1"/>
              </a:solidFill>
              <a:latin typeface="Calibri"/>
              <a:ea typeface="Calibri"/>
              <a:cs typeface="Calibri"/>
              <a:sym typeface="Calibri"/>
            </a:endParaRPr>
          </a:p>
        </p:txBody>
      </p:sp>
      <p:sp>
        <p:nvSpPr>
          <p:cNvPr id="40" name="Google Shape;40;p2"/>
          <p:cNvSpPr/>
          <p:nvPr/>
        </p:nvSpPr>
        <p:spPr>
          <a:xfrm>
            <a:off x="3246120" y="4005072"/>
            <a:ext cx="2606040" cy="868680"/>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 name="Google Shape;41;p2"/>
          <p:cNvSpPr/>
          <p:nvPr/>
        </p:nvSpPr>
        <p:spPr>
          <a:xfrm>
            <a:off x="3355848" y="4050792"/>
            <a:ext cx="2395728"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200"/>
              <a:buFont typeface="Calibri"/>
              <a:buNone/>
            </a:pPr>
            <a:r>
              <a:rPr lang="en-US" sz="1200" b="1">
                <a:solidFill>
                  <a:srgbClr val="1D4ED8"/>
                </a:solidFill>
                <a:latin typeface="Calibri"/>
                <a:ea typeface="Calibri"/>
                <a:cs typeface="Calibri"/>
                <a:sym typeface="Calibri"/>
              </a:rPr>
              <a:t>FedProto</a:t>
            </a:r>
            <a:endParaRPr sz="1200">
              <a:solidFill>
                <a:schemeClr val="dk1"/>
              </a:solidFill>
              <a:latin typeface="Calibri"/>
              <a:ea typeface="Calibri"/>
              <a:cs typeface="Calibri"/>
              <a:sym typeface="Calibri"/>
            </a:endParaRPr>
          </a:p>
        </p:txBody>
      </p:sp>
      <p:sp>
        <p:nvSpPr>
          <p:cNvPr id="42" name="Google Shape;42;p2"/>
          <p:cNvSpPr/>
          <p:nvPr/>
        </p:nvSpPr>
        <p:spPr>
          <a:xfrm>
            <a:off x="3355848" y="4325112"/>
            <a:ext cx="2395728"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class prototype alignment</a:t>
            </a:r>
            <a:endParaRPr sz="1000">
              <a:solidFill>
                <a:schemeClr val="dk1"/>
              </a:solidFill>
              <a:latin typeface="Calibri"/>
              <a:ea typeface="Calibri"/>
              <a:cs typeface="Calibri"/>
              <a:sym typeface="Calibri"/>
            </a:endParaRPr>
          </a:p>
        </p:txBody>
      </p:sp>
      <p:sp>
        <p:nvSpPr>
          <p:cNvPr id="43" name="Google Shape;43;p2"/>
          <p:cNvSpPr/>
          <p:nvPr/>
        </p:nvSpPr>
        <p:spPr>
          <a:xfrm>
            <a:off x="6035040" y="4005072"/>
            <a:ext cx="2606040" cy="868680"/>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 name="Google Shape;44;p2"/>
          <p:cNvSpPr/>
          <p:nvPr/>
        </p:nvSpPr>
        <p:spPr>
          <a:xfrm>
            <a:off x="6144768" y="4050792"/>
            <a:ext cx="2395728"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200"/>
              <a:buFont typeface="Calibri"/>
              <a:buNone/>
            </a:pPr>
            <a:r>
              <a:rPr lang="en-US" sz="1200" b="1">
                <a:solidFill>
                  <a:srgbClr val="1D4ED8"/>
                </a:solidFill>
                <a:latin typeface="Calibri"/>
                <a:ea typeface="Calibri"/>
                <a:cs typeface="Calibri"/>
                <a:sym typeface="Calibri"/>
              </a:rPr>
              <a:t>FedBABU</a:t>
            </a:r>
            <a:endParaRPr sz="1200">
              <a:solidFill>
                <a:schemeClr val="dk1"/>
              </a:solidFill>
              <a:latin typeface="Calibri"/>
              <a:ea typeface="Calibri"/>
              <a:cs typeface="Calibri"/>
              <a:sym typeface="Calibri"/>
            </a:endParaRPr>
          </a:p>
        </p:txBody>
      </p:sp>
      <p:sp>
        <p:nvSpPr>
          <p:cNvPr id="45" name="Google Shape;45;p2"/>
          <p:cNvSpPr/>
          <p:nvPr/>
        </p:nvSpPr>
        <p:spPr>
          <a:xfrm>
            <a:off x="6144768" y="4325112"/>
            <a:ext cx="2395728"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body-head decoupling</a:t>
            </a:r>
            <a:endParaRPr sz="1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
        <p:cNvGrpSpPr/>
        <p:nvPr/>
      </p:nvGrpSpPr>
      <p:grpSpPr>
        <a:xfrm>
          <a:off x="0" y="0"/>
          <a:ext cx="0" cy="0"/>
          <a:chOff x="0" y="0"/>
          <a:chExt cx="0" cy="0"/>
        </a:xfrm>
      </p:grpSpPr>
      <p:sp>
        <p:nvSpPr>
          <p:cNvPr id="51" name="Google Shape;51;p3"/>
          <p:cNvSpPr/>
          <p:nvPr/>
        </p:nvSpPr>
        <p:spPr>
          <a:xfrm>
            <a:off x="0" y="0"/>
            <a:ext cx="9144000" cy="685800"/>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 name="Google Shape;52;p3"/>
          <p:cNvSpPr/>
          <p:nvPr/>
        </p:nvSpPr>
        <p:spPr>
          <a:xfrm>
            <a:off x="320040" y="0"/>
            <a:ext cx="850392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2200"/>
              <a:buFont typeface="Calibri"/>
              <a:buNone/>
            </a:pPr>
            <a:r>
              <a:rPr lang="en-US" sz="2200" b="1">
                <a:solidFill>
                  <a:srgbClr val="1F2937"/>
                </a:solidFill>
                <a:latin typeface="Calibri"/>
                <a:ea typeface="Calibri"/>
                <a:cs typeface="Calibri"/>
                <a:sym typeface="Calibri"/>
              </a:rPr>
              <a:t>What Are Class Prototypes?</a:t>
            </a:r>
            <a:endParaRPr sz="2200">
              <a:solidFill>
                <a:schemeClr val="dk1"/>
              </a:solidFill>
              <a:latin typeface="Calibri"/>
              <a:ea typeface="Calibri"/>
              <a:cs typeface="Calibri"/>
              <a:sym typeface="Calibri"/>
            </a:endParaRPr>
          </a:p>
        </p:txBody>
      </p:sp>
      <p:sp>
        <p:nvSpPr>
          <p:cNvPr id="53" name="Google Shape;53;p3"/>
          <p:cNvSpPr/>
          <p:nvPr/>
        </p:nvSpPr>
        <p:spPr>
          <a:xfrm>
            <a:off x="0" y="685800"/>
            <a:ext cx="9144000" cy="36576"/>
          </a:xfrm>
          <a:prstGeom prst="rect">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 name="Google Shape;54;p3"/>
          <p:cNvSpPr/>
          <p:nvPr/>
        </p:nvSpPr>
        <p:spPr>
          <a:xfrm>
            <a:off x="365760" y="822960"/>
            <a:ext cx="8412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300"/>
              <a:buFont typeface="Calibri"/>
              <a:buNone/>
            </a:pPr>
            <a:r>
              <a:rPr lang="en-US" sz="1300" b="1">
                <a:solidFill>
                  <a:srgbClr val="1F2937"/>
                </a:solidFill>
                <a:latin typeface="Calibri"/>
                <a:ea typeface="Calibri"/>
                <a:cs typeface="Calibri"/>
                <a:sym typeface="Calibri"/>
              </a:rPr>
              <a:t>Definition</a:t>
            </a:r>
            <a:endParaRPr sz="1300">
              <a:solidFill>
                <a:schemeClr val="dk1"/>
              </a:solidFill>
              <a:latin typeface="Calibri"/>
              <a:ea typeface="Calibri"/>
              <a:cs typeface="Calibri"/>
              <a:sym typeface="Calibri"/>
            </a:endParaRPr>
          </a:p>
        </p:txBody>
      </p:sp>
      <p:sp>
        <p:nvSpPr>
          <p:cNvPr id="55" name="Google Shape;55;p3"/>
          <p:cNvSpPr/>
          <p:nvPr/>
        </p:nvSpPr>
        <p:spPr>
          <a:xfrm>
            <a:off x="457200" y="1115568"/>
            <a:ext cx="82296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A class prototype is the mean embedding vector of all patients belonging to a given class (AKI or non-AKI), computed in the model's internal representation space — not in raw feature space. Each site produces two vectors: one representing what AKI looks like, one for non-AKI.</a:t>
            </a:r>
            <a:endParaRPr sz="1100">
              <a:solidFill>
                <a:schemeClr val="dk1"/>
              </a:solidFill>
              <a:latin typeface="Calibri"/>
              <a:ea typeface="Calibri"/>
              <a:cs typeface="Calibri"/>
              <a:sym typeface="Calibri"/>
            </a:endParaRPr>
          </a:p>
        </p:txBody>
      </p:sp>
      <p:sp>
        <p:nvSpPr>
          <p:cNvPr id="56" name="Google Shape;56;p3"/>
          <p:cNvSpPr/>
          <p:nvPr/>
        </p:nvSpPr>
        <p:spPr>
          <a:xfrm>
            <a:off x="365760" y="1719072"/>
            <a:ext cx="8412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300"/>
              <a:buFont typeface="Calibri"/>
              <a:buNone/>
            </a:pPr>
            <a:r>
              <a:rPr lang="en-US" sz="1300" b="1">
                <a:solidFill>
                  <a:srgbClr val="1F2937"/>
                </a:solidFill>
                <a:latin typeface="Calibri"/>
                <a:ea typeface="Calibri"/>
                <a:cs typeface="Calibri"/>
                <a:sym typeface="Calibri"/>
              </a:rPr>
              <a:t>How they are computed (locally, no data leaves the site or group)</a:t>
            </a:r>
            <a:endParaRPr sz="1300">
              <a:solidFill>
                <a:schemeClr val="dk1"/>
              </a:solidFill>
              <a:latin typeface="Calibri"/>
              <a:ea typeface="Calibri"/>
              <a:cs typeface="Calibri"/>
              <a:sym typeface="Calibri"/>
            </a:endParaRPr>
          </a:p>
        </p:txBody>
      </p:sp>
      <p:sp>
        <p:nvSpPr>
          <p:cNvPr id="57" name="Google Shape;57;p3"/>
          <p:cNvSpPr/>
          <p:nvPr/>
        </p:nvSpPr>
        <p:spPr>
          <a:xfrm>
            <a:off x="365760" y="2057400"/>
            <a:ext cx="640080" cy="384048"/>
          </a:xfrm>
          <a:prstGeom prst="rect">
            <a:avLst/>
          </a:prstGeom>
          <a:solidFill>
            <a:srgbClr val="F3F4F6"/>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 name="Google Shape;58;p3"/>
          <p:cNvSpPr/>
          <p:nvPr/>
        </p:nvSpPr>
        <p:spPr>
          <a:xfrm>
            <a:off x="365760" y="2084832"/>
            <a:ext cx="64008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2937"/>
              </a:buClr>
              <a:buSzPts val="950"/>
              <a:buFont typeface="Calibri"/>
              <a:buNone/>
            </a:pPr>
            <a:r>
              <a:rPr lang="en-US" sz="950" b="1">
                <a:solidFill>
                  <a:srgbClr val="1F2937"/>
                </a:solidFill>
                <a:latin typeface="Calibri"/>
                <a:ea typeface="Calibri"/>
                <a:cs typeface="Calibri"/>
                <a:sym typeface="Calibri"/>
              </a:rPr>
              <a:t>1. Encode</a:t>
            </a:r>
            <a:endParaRPr sz="950">
              <a:solidFill>
                <a:schemeClr val="dk1"/>
              </a:solidFill>
              <a:latin typeface="Calibri"/>
              <a:ea typeface="Calibri"/>
              <a:cs typeface="Calibri"/>
              <a:sym typeface="Calibri"/>
            </a:endParaRPr>
          </a:p>
        </p:txBody>
      </p:sp>
      <p:sp>
        <p:nvSpPr>
          <p:cNvPr id="59" name="Google Shape;59;p3"/>
          <p:cNvSpPr/>
          <p:nvPr/>
        </p:nvSpPr>
        <p:spPr>
          <a:xfrm>
            <a:off x="1115568" y="2093976"/>
            <a:ext cx="7662672"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Local encoder maps each patient's available features into a fixed-size 64-dim embedding vector z</a:t>
            </a:r>
            <a:endParaRPr sz="1100">
              <a:solidFill>
                <a:schemeClr val="dk1"/>
              </a:solidFill>
              <a:latin typeface="Calibri"/>
              <a:ea typeface="Calibri"/>
              <a:cs typeface="Calibri"/>
              <a:sym typeface="Calibri"/>
            </a:endParaRPr>
          </a:p>
        </p:txBody>
      </p:sp>
      <p:sp>
        <p:nvSpPr>
          <p:cNvPr id="60" name="Google Shape;60;p3"/>
          <p:cNvSpPr/>
          <p:nvPr/>
        </p:nvSpPr>
        <p:spPr>
          <a:xfrm>
            <a:off x="365760" y="2560320"/>
            <a:ext cx="640080" cy="384048"/>
          </a:xfrm>
          <a:prstGeom prst="rect">
            <a:avLst/>
          </a:prstGeom>
          <a:solidFill>
            <a:srgbClr val="F3F4F6"/>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 name="Google Shape;61;p3"/>
          <p:cNvSpPr/>
          <p:nvPr/>
        </p:nvSpPr>
        <p:spPr>
          <a:xfrm>
            <a:off x="365760" y="2587752"/>
            <a:ext cx="64008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2937"/>
              </a:buClr>
              <a:buSzPts val="950"/>
              <a:buFont typeface="Calibri"/>
              <a:buNone/>
            </a:pPr>
            <a:r>
              <a:rPr lang="en-US" sz="950" b="1">
                <a:solidFill>
                  <a:srgbClr val="1F2937"/>
                </a:solidFill>
                <a:latin typeface="Calibri"/>
                <a:ea typeface="Calibri"/>
                <a:cs typeface="Calibri"/>
                <a:sym typeface="Calibri"/>
              </a:rPr>
              <a:t>2. Group</a:t>
            </a:r>
            <a:endParaRPr sz="950">
              <a:solidFill>
                <a:schemeClr val="dk1"/>
              </a:solidFill>
              <a:latin typeface="Calibri"/>
              <a:ea typeface="Calibri"/>
              <a:cs typeface="Calibri"/>
              <a:sym typeface="Calibri"/>
            </a:endParaRPr>
          </a:p>
        </p:txBody>
      </p:sp>
      <p:sp>
        <p:nvSpPr>
          <p:cNvPr id="62" name="Google Shape;62;p3"/>
          <p:cNvSpPr/>
          <p:nvPr/>
        </p:nvSpPr>
        <p:spPr>
          <a:xfrm>
            <a:off x="1115568" y="2596896"/>
            <a:ext cx="7662672"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Split embeddings by AKI label, one group for AKI-positive patients, one for AKI-negative</a:t>
            </a:r>
            <a:endParaRPr sz="1100">
              <a:solidFill>
                <a:schemeClr val="dk1"/>
              </a:solidFill>
              <a:latin typeface="Calibri"/>
              <a:ea typeface="Calibri"/>
              <a:cs typeface="Calibri"/>
              <a:sym typeface="Calibri"/>
            </a:endParaRPr>
          </a:p>
        </p:txBody>
      </p:sp>
      <p:sp>
        <p:nvSpPr>
          <p:cNvPr id="63" name="Google Shape;63;p3"/>
          <p:cNvSpPr/>
          <p:nvPr/>
        </p:nvSpPr>
        <p:spPr>
          <a:xfrm>
            <a:off x="365760" y="3063240"/>
            <a:ext cx="640080" cy="384048"/>
          </a:xfrm>
          <a:prstGeom prst="rect">
            <a:avLst/>
          </a:prstGeom>
          <a:solidFill>
            <a:srgbClr val="F3F4F6"/>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 name="Google Shape;64;p3"/>
          <p:cNvSpPr/>
          <p:nvPr/>
        </p:nvSpPr>
        <p:spPr>
          <a:xfrm>
            <a:off x="365760" y="3090672"/>
            <a:ext cx="64008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2937"/>
              </a:buClr>
              <a:buSzPts val="950"/>
              <a:buFont typeface="Calibri"/>
              <a:buNone/>
            </a:pPr>
            <a:r>
              <a:rPr lang="en-US" sz="950" b="1">
                <a:solidFill>
                  <a:srgbClr val="1F2937"/>
                </a:solidFill>
                <a:latin typeface="Calibri"/>
                <a:ea typeface="Calibri"/>
                <a:cs typeface="Calibri"/>
                <a:sym typeface="Calibri"/>
              </a:rPr>
              <a:t>3. Average</a:t>
            </a:r>
            <a:endParaRPr sz="950">
              <a:solidFill>
                <a:schemeClr val="dk1"/>
              </a:solidFill>
              <a:latin typeface="Calibri"/>
              <a:ea typeface="Calibri"/>
              <a:cs typeface="Calibri"/>
              <a:sym typeface="Calibri"/>
            </a:endParaRPr>
          </a:p>
        </p:txBody>
      </p:sp>
      <p:sp>
        <p:nvSpPr>
          <p:cNvPr id="65" name="Google Shape;65;p3"/>
          <p:cNvSpPr/>
          <p:nvPr/>
        </p:nvSpPr>
        <p:spPr>
          <a:xfrm>
            <a:off x="1115568" y="3099816"/>
            <a:ext cx="7662672"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proto_AKI = mean(z | AKI)    proto_-AKI = mean(z | no AKI)   →   two 64-dim vectors per site</a:t>
            </a:r>
            <a:endParaRPr sz="1100">
              <a:solidFill>
                <a:schemeClr val="dk1"/>
              </a:solidFill>
              <a:latin typeface="Calibri"/>
              <a:ea typeface="Calibri"/>
              <a:cs typeface="Calibri"/>
              <a:sym typeface="Calibri"/>
            </a:endParaRPr>
          </a:p>
        </p:txBody>
      </p:sp>
      <p:sp>
        <p:nvSpPr>
          <p:cNvPr id="66" name="Google Shape;66;p3"/>
          <p:cNvSpPr/>
          <p:nvPr/>
        </p:nvSpPr>
        <p:spPr>
          <a:xfrm>
            <a:off x="365760" y="3566160"/>
            <a:ext cx="640080" cy="384048"/>
          </a:xfrm>
          <a:prstGeom prst="rect">
            <a:avLst/>
          </a:prstGeom>
          <a:solidFill>
            <a:srgbClr val="F3F4F6"/>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 name="Google Shape;67;p3"/>
          <p:cNvSpPr/>
          <p:nvPr/>
        </p:nvSpPr>
        <p:spPr>
          <a:xfrm>
            <a:off x="365760" y="3593592"/>
            <a:ext cx="64008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2937"/>
              </a:buClr>
              <a:buSzPts val="950"/>
              <a:buFont typeface="Calibri"/>
              <a:buNone/>
            </a:pPr>
            <a:r>
              <a:rPr lang="en-US" sz="950" b="1">
                <a:solidFill>
                  <a:srgbClr val="1F2937"/>
                </a:solidFill>
                <a:latin typeface="Calibri"/>
                <a:ea typeface="Calibri"/>
                <a:cs typeface="Calibri"/>
                <a:sym typeface="Calibri"/>
              </a:rPr>
              <a:t>4. Share</a:t>
            </a:r>
            <a:endParaRPr sz="950">
              <a:solidFill>
                <a:schemeClr val="dk1"/>
              </a:solidFill>
              <a:latin typeface="Calibri"/>
              <a:ea typeface="Calibri"/>
              <a:cs typeface="Calibri"/>
              <a:sym typeface="Calibri"/>
            </a:endParaRPr>
          </a:p>
        </p:txBody>
      </p:sp>
      <p:sp>
        <p:nvSpPr>
          <p:cNvPr id="68" name="Google Shape;68;p3"/>
          <p:cNvSpPr/>
          <p:nvPr/>
        </p:nvSpPr>
        <p:spPr>
          <a:xfrm>
            <a:off x="1115568" y="3602736"/>
            <a:ext cx="7662672"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Only these two small vectors are sent to the server, not raw features or model weights</a:t>
            </a:r>
            <a:endParaRPr sz="1100">
              <a:solidFill>
                <a:schemeClr val="dk1"/>
              </a:solidFill>
              <a:latin typeface="Calibri"/>
              <a:ea typeface="Calibri"/>
              <a:cs typeface="Calibri"/>
              <a:sym typeface="Calibri"/>
            </a:endParaRPr>
          </a:p>
        </p:txBody>
      </p:sp>
      <p:sp>
        <p:nvSpPr>
          <p:cNvPr id="69" name="Google Shape;69;p3"/>
          <p:cNvSpPr/>
          <p:nvPr/>
        </p:nvSpPr>
        <p:spPr>
          <a:xfrm>
            <a:off x="365760" y="4114800"/>
            <a:ext cx="8412480" cy="36576"/>
          </a:xfrm>
          <a:prstGeom prst="rect">
            <a:avLst/>
          </a:prstGeom>
          <a:solidFill>
            <a:srgbClr val="D1D5D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 name="Google Shape;70;p3"/>
          <p:cNvSpPr/>
          <p:nvPr/>
        </p:nvSpPr>
        <p:spPr>
          <a:xfrm>
            <a:off x="457200" y="4206240"/>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100"/>
              <a:buFont typeface="Calibri"/>
              <a:buNone/>
            </a:pPr>
            <a:r>
              <a:rPr lang="en-US" sz="1100" i="1">
                <a:solidFill>
                  <a:srgbClr val="6B7280"/>
                </a:solidFill>
                <a:latin typeface="Calibri"/>
                <a:ea typeface="Calibri"/>
                <a:cs typeface="Calibri"/>
                <a:sym typeface="Calibri"/>
              </a:rPr>
              <a:t>Why this matters:  A site with only creatinine + age can align its AKI prototype to a global prototype shaped by richer sites, learning indirectly from their urine output and BUN data , without ever accessing their records.</a:t>
            </a:r>
            <a:endParaRPr sz="11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5"/>
        <p:cNvGrpSpPr/>
        <p:nvPr/>
      </p:nvGrpSpPr>
      <p:grpSpPr>
        <a:xfrm>
          <a:off x="0" y="0"/>
          <a:ext cx="0" cy="0"/>
          <a:chOff x="0" y="0"/>
          <a:chExt cx="0" cy="0"/>
        </a:xfrm>
      </p:grpSpPr>
      <p:sp>
        <p:nvSpPr>
          <p:cNvPr id="76" name="Google Shape;76;p4"/>
          <p:cNvSpPr/>
          <p:nvPr/>
        </p:nvSpPr>
        <p:spPr>
          <a:xfrm>
            <a:off x="0" y="0"/>
            <a:ext cx="9144000" cy="685800"/>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 name="Google Shape;77;p4"/>
          <p:cNvSpPr/>
          <p:nvPr/>
        </p:nvSpPr>
        <p:spPr>
          <a:xfrm>
            <a:off x="320040" y="0"/>
            <a:ext cx="850392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2200"/>
              <a:buFont typeface="Calibri"/>
              <a:buNone/>
            </a:pPr>
            <a:r>
              <a:rPr lang="en-US" sz="2200" b="1">
                <a:solidFill>
                  <a:srgbClr val="1F2937"/>
                </a:solidFill>
                <a:latin typeface="Calibri"/>
                <a:ea typeface="Calibri"/>
                <a:cs typeface="Calibri"/>
                <a:sym typeface="Calibri"/>
              </a:rPr>
              <a:t>Method 1: FedBABU: Body-Head Decoupled Federated Learning</a:t>
            </a:r>
            <a:endParaRPr sz="2200">
              <a:solidFill>
                <a:schemeClr val="dk1"/>
              </a:solidFill>
              <a:latin typeface="Calibri"/>
              <a:ea typeface="Calibri"/>
              <a:cs typeface="Calibri"/>
              <a:sym typeface="Calibri"/>
            </a:endParaRPr>
          </a:p>
        </p:txBody>
      </p:sp>
      <p:sp>
        <p:nvSpPr>
          <p:cNvPr id="78" name="Google Shape;78;p4"/>
          <p:cNvSpPr/>
          <p:nvPr/>
        </p:nvSpPr>
        <p:spPr>
          <a:xfrm>
            <a:off x="0" y="685800"/>
            <a:ext cx="9144000" cy="36576"/>
          </a:xfrm>
          <a:prstGeom prst="rect">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 name="Google Shape;79;p4"/>
          <p:cNvSpPr/>
          <p:nvPr/>
        </p:nvSpPr>
        <p:spPr>
          <a:xfrm>
            <a:off x="365760" y="768096"/>
            <a:ext cx="841248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100"/>
              <a:buFont typeface="Calibri"/>
              <a:buNone/>
            </a:pPr>
            <a:r>
              <a:rPr lang="en-US" sz="1100" i="1">
                <a:solidFill>
                  <a:srgbClr val="6B7280"/>
                </a:solidFill>
                <a:latin typeface="Calibri"/>
                <a:ea typeface="Calibri"/>
                <a:cs typeface="Calibri"/>
                <a:sym typeface="Calibri"/>
              </a:rPr>
              <a:t>Handles personalization, model degradation under sample heterogeneity</a:t>
            </a:r>
            <a:endParaRPr sz="1100">
              <a:solidFill>
                <a:schemeClr val="dk1"/>
              </a:solidFill>
              <a:latin typeface="Calibri"/>
              <a:ea typeface="Calibri"/>
              <a:cs typeface="Calibri"/>
              <a:sym typeface="Calibri"/>
            </a:endParaRPr>
          </a:p>
        </p:txBody>
      </p:sp>
      <p:sp>
        <p:nvSpPr>
          <p:cNvPr id="80" name="Google Shape;80;p4"/>
          <p:cNvSpPr/>
          <p:nvPr/>
        </p:nvSpPr>
        <p:spPr>
          <a:xfrm>
            <a:off x="365760" y="1078992"/>
            <a:ext cx="8412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200"/>
              <a:buFont typeface="Calibri"/>
              <a:buNone/>
            </a:pPr>
            <a:r>
              <a:rPr lang="en-US" sz="1200" b="1">
                <a:solidFill>
                  <a:srgbClr val="1D4ED8"/>
                </a:solidFill>
                <a:latin typeface="Calibri"/>
                <a:ea typeface="Calibri"/>
                <a:cs typeface="Calibri"/>
                <a:sym typeface="Calibri"/>
              </a:rPr>
              <a:t>Core idea (from paper, Section 3.1.1)</a:t>
            </a:r>
            <a:endParaRPr sz="1200">
              <a:solidFill>
                <a:schemeClr val="dk1"/>
              </a:solidFill>
              <a:latin typeface="Calibri"/>
              <a:ea typeface="Calibri"/>
              <a:cs typeface="Calibri"/>
              <a:sym typeface="Calibri"/>
            </a:endParaRPr>
          </a:p>
        </p:txBody>
      </p:sp>
      <p:sp>
        <p:nvSpPr>
          <p:cNvPr id="81" name="Google Shape;81;p4"/>
          <p:cNvSpPr/>
          <p:nvPr/>
        </p:nvSpPr>
        <p:spPr>
          <a:xfrm>
            <a:off x="365760" y="1353312"/>
            <a:ext cx="8412480" cy="18288"/>
          </a:xfrm>
          <a:prstGeom prst="rect">
            <a:avLst/>
          </a:prstGeom>
          <a:solidFill>
            <a:srgbClr val="D1D5D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 name="Google Shape;82;p4"/>
          <p:cNvSpPr/>
          <p:nvPr/>
        </p:nvSpPr>
        <p:spPr>
          <a:xfrm>
            <a:off x="457200" y="1417320"/>
            <a:ext cx="82296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Updating the entire network during federated rounds pulls the classifier head toward the global average distribution, degrading per-site personalisation. FedBABU splits the model into a body (feature extractor) and a head (classifier). Only the body is federated; the head is frozen during all rounds and fine-tuned locally at evaluation time.</a:t>
            </a:r>
            <a:endParaRPr sz="1100">
              <a:solidFill>
                <a:schemeClr val="dk1"/>
              </a:solidFill>
              <a:latin typeface="Calibri"/>
              <a:ea typeface="Calibri"/>
              <a:cs typeface="Calibri"/>
              <a:sym typeface="Calibri"/>
            </a:endParaRPr>
          </a:p>
        </p:txBody>
      </p:sp>
      <p:sp>
        <p:nvSpPr>
          <p:cNvPr id="83" name="Google Shape;83;p4"/>
          <p:cNvSpPr/>
          <p:nvPr/>
        </p:nvSpPr>
        <p:spPr>
          <a:xfrm>
            <a:off x="365760" y="2084832"/>
            <a:ext cx="4023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200"/>
              <a:buFont typeface="Calibri"/>
              <a:buNone/>
            </a:pPr>
            <a:r>
              <a:rPr lang="en-US" sz="1200" b="1">
                <a:solidFill>
                  <a:srgbClr val="1D4ED8"/>
                </a:solidFill>
                <a:latin typeface="Calibri"/>
                <a:ea typeface="Calibri"/>
                <a:cs typeface="Calibri"/>
                <a:sym typeface="Calibri"/>
              </a:rPr>
              <a:t>How it works</a:t>
            </a:r>
            <a:endParaRPr sz="1200">
              <a:solidFill>
                <a:schemeClr val="dk1"/>
              </a:solidFill>
              <a:latin typeface="Calibri"/>
              <a:ea typeface="Calibri"/>
              <a:cs typeface="Calibri"/>
              <a:sym typeface="Calibri"/>
            </a:endParaRPr>
          </a:p>
        </p:txBody>
      </p:sp>
      <p:sp>
        <p:nvSpPr>
          <p:cNvPr id="84" name="Google Shape;84;p4"/>
          <p:cNvSpPr/>
          <p:nvPr/>
        </p:nvSpPr>
        <p:spPr>
          <a:xfrm>
            <a:off x="365760" y="2359152"/>
            <a:ext cx="4023360" cy="18288"/>
          </a:xfrm>
          <a:prstGeom prst="rect">
            <a:avLst/>
          </a:prstGeom>
          <a:solidFill>
            <a:srgbClr val="D1D5D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5" name="Google Shape;85;p4"/>
          <p:cNvSpPr/>
          <p:nvPr/>
        </p:nvSpPr>
        <p:spPr>
          <a:xfrm>
            <a:off x="365760" y="2404872"/>
            <a:ext cx="393192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Each site has a BODY (shared) + HEAD (local)</a:t>
            </a:r>
            <a:endParaRPr sz="1050">
              <a:solidFill>
                <a:schemeClr val="dk1"/>
              </a:solidFill>
              <a:latin typeface="Calibri"/>
              <a:ea typeface="Calibri"/>
              <a:cs typeface="Calibri"/>
              <a:sym typeface="Calibri"/>
            </a:endParaRPr>
          </a:p>
        </p:txBody>
      </p:sp>
      <p:sp>
        <p:nvSpPr>
          <p:cNvPr id="86" name="Google Shape;86;p4"/>
          <p:cNvSpPr/>
          <p:nvPr/>
        </p:nvSpPr>
        <p:spPr>
          <a:xfrm>
            <a:off x="365760" y="2743200"/>
            <a:ext cx="393192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Only BODY weights are sent to server each round</a:t>
            </a:r>
            <a:endParaRPr sz="1050">
              <a:solidFill>
                <a:schemeClr val="dk1"/>
              </a:solidFill>
              <a:latin typeface="Calibri"/>
              <a:ea typeface="Calibri"/>
              <a:cs typeface="Calibri"/>
              <a:sym typeface="Calibri"/>
            </a:endParaRPr>
          </a:p>
        </p:txBody>
      </p:sp>
      <p:sp>
        <p:nvSpPr>
          <p:cNvPr id="87" name="Google Shape;87;p4"/>
          <p:cNvSpPr/>
          <p:nvPr/>
        </p:nvSpPr>
        <p:spPr>
          <a:xfrm>
            <a:off x="365760" y="3081528"/>
            <a:ext cx="393192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HEAD is frozen during all federation rounds</a:t>
            </a:r>
            <a:endParaRPr sz="1050">
              <a:solidFill>
                <a:schemeClr val="dk1"/>
              </a:solidFill>
              <a:latin typeface="Calibri"/>
              <a:ea typeface="Calibri"/>
              <a:cs typeface="Calibri"/>
              <a:sym typeface="Calibri"/>
            </a:endParaRPr>
          </a:p>
        </p:txBody>
      </p:sp>
      <p:sp>
        <p:nvSpPr>
          <p:cNvPr id="88" name="Google Shape;88;p4"/>
          <p:cNvSpPr/>
          <p:nvPr/>
        </p:nvSpPr>
        <p:spPr>
          <a:xfrm>
            <a:off x="365760" y="3419856"/>
            <a:ext cx="393192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After convergence: freeze BODY, fine-tune HEAD on local labels</a:t>
            </a:r>
            <a:endParaRPr sz="1050">
              <a:solidFill>
                <a:schemeClr val="dk1"/>
              </a:solidFill>
              <a:latin typeface="Calibri"/>
              <a:ea typeface="Calibri"/>
              <a:cs typeface="Calibri"/>
              <a:sym typeface="Calibri"/>
            </a:endParaRPr>
          </a:p>
        </p:txBody>
      </p:sp>
      <p:sp>
        <p:nvSpPr>
          <p:cNvPr id="89" name="Google Shape;89;p4"/>
          <p:cNvSpPr/>
          <p:nvPr/>
        </p:nvSpPr>
        <p:spPr>
          <a:xfrm>
            <a:off x="4754880" y="2084832"/>
            <a:ext cx="4023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200"/>
              <a:buFont typeface="Calibri"/>
              <a:buNone/>
            </a:pPr>
            <a:r>
              <a:rPr lang="en-US" sz="1200" b="1">
                <a:solidFill>
                  <a:srgbClr val="1D4ED8"/>
                </a:solidFill>
                <a:latin typeface="Calibri"/>
                <a:ea typeface="Calibri"/>
                <a:cs typeface="Calibri"/>
                <a:sym typeface="Calibri"/>
              </a:rPr>
              <a:t>For AKI prediction</a:t>
            </a:r>
            <a:endParaRPr sz="1200">
              <a:solidFill>
                <a:schemeClr val="dk1"/>
              </a:solidFill>
              <a:latin typeface="Calibri"/>
              <a:ea typeface="Calibri"/>
              <a:cs typeface="Calibri"/>
              <a:sym typeface="Calibri"/>
            </a:endParaRPr>
          </a:p>
        </p:txBody>
      </p:sp>
      <p:sp>
        <p:nvSpPr>
          <p:cNvPr id="90" name="Google Shape;90;p4"/>
          <p:cNvSpPr/>
          <p:nvPr/>
        </p:nvSpPr>
        <p:spPr>
          <a:xfrm>
            <a:off x="4754880" y="2359152"/>
            <a:ext cx="4023360" cy="18288"/>
          </a:xfrm>
          <a:prstGeom prst="rect">
            <a:avLst/>
          </a:prstGeom>
          <a:solidFill>
            <a:srgbClr val="D1D5D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1" name="Google Shape;91;p4"/>
          <p:cNvSpPr/>
          <p:nvPr/>
        </p:nvSpPr>
        <p:spPr>
          <a:xfrm>
            <a:off x="4754880" y="2404872"/>
            <a:ext cx="4023360" cy="43891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BODY learns universal AKI biology: rising creatinine + falling urine output = kidney stress</a:t>
            </a:r>
            <a:endParaRPr sz="1050">
              <a:solidFill>
                <a:schemeClr val="dk1"/>
              </a:solidFill>
              <a:latin typeface="Calibri"/>
              <a:ea typeface="Calibri"/>
              <a:cs typeface="Calibri"/>
              <a:sym typeface="Calibri"/>
            </a:endParaRPr>
          </a:p>
        </p:txBody>
      </p:sp>
      <p:sp>
        <p:nvSpPr>
          <p:cNvPr id="92" name="Google Shape;92;p4"/>
          <p:cNvSpPr/>
          <p:nvPr/>
        </p:nvSpPr>
        <p:spPr>
          <a:xfrm>
            <a:off x="4754880" y="2862072"/>
            <a:ext cx="4023360" cy="43891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HEAD learns site-specific threshold: ICU acts at KDIGO Stage 1; ward may wait for Stage 2</a:t>
            </a:r>
            <a:endParaRPr sz="1050">
              <a:solidFill>
                <a:schemeClr val="dk1"/>
              </a:solidFill>
              <a:latin typeface="Calibri"/>
              <a:ea typeface="Calibri"/>
              <a:cs typeface="Calibri"/>
              <a:sym typeface="Calibri"/>
            </a:endParaRPr>
          </a:p>
        </p:txBody>
      </p:sp>
      <p:sp>
        <p:nvSpPr>
          <p:cNvPr id="93" name="Google Shape;93;p4"/>
          <p:cNvSpPr/>
          <p:nvPr/>
        </p:nvSpPr>
        <p:spPr>
          <a:xfrm>
            <a:off x="4754880" y="3319272"/>
            <a:ext cx="4023360" cy="43891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Sites with 40% and 8% AKI prevalence share the body but have appropriate local decision boundaries</a:t>
            </a:r>
            <a:endParaRPr sz="1050">
              <a:solidFill>
                <a:schemeClr val="dk1"/>
              </a:solidFill>
              <a:latin typeface="Calibri"/>
              <a:ea typeface="Calibri"/>
              <a:cs typeface="Calibri"/>
              <a:sym typeface="Calibri"/>
            </a:endParaRPr>
          </a:p>
        </p:txBody>
      </p:sp>
      <p:sp>
        <p:nvSpPr>
          <p:cNvPr id="94" name="Google Shape;94;p4"/>
          <p:cNvSpPr/>
          <p:nvPr/>
        </p:nvSpPr>
        <p:spPr>
          <a:xfrm>
            <a:off x="365760" y="3913632"/>
            <a:ext cx="8412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200"/>
              <a:buFont typeface="Calibri"/>
              <a:buNone/>
            </a:pPr>
            <a:r>
              <a:rPr lang="en-US" sz="1200" b="1">
                <a:solidFill>
                  <a:srgbClr val="1D4ED8"/>
                </a:solidFill>
                <a:latin typeface="Calibri"/>
                <a:ea typeface="Calibri"/>
                <a:cs typeface="Calibri"/>
                <a:sym typeface="Calibri"/>
              </a:rPr>
              <a:t>Limitation</a:t>
            </a:r>
            <a:endParaRPr sz="1200">
              <a:solidFill>
                <a:schemeClr val="dk1"/>
              </a:solidFill>
              <a:latin typeface="Calibri"/>
              <a:ea typeface="Calibri"/>
              <a:cs typeface="Calibri"/>
              <a:sym typeface="Calibri"/>
            </a:endParaRPr>
          </a:p>
        </p:txBody>
      </p:sp>
      <p:sp>
        <p:nvSpPr>
          <p:cNvPr id="95" name="Google Shape;95;p4"/>
          <p:cNvSpPr/>
          <p:nvPr/>
        </p:nvSpPr>
        <p:spPr>
          <a:xfrm>
            <a:off x="365760" y="4187952"/>
            <a:ext cx="8412480" cy="18288"/>
          </a:xfrm>
          <a:prstGeom prst="rect">
            <a:avLst/>
          </a:prstGeom>
          <a:solidFill>
            <a:srgbClr val="D1D5D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6" name="Google Shape;96;p4"/>
          <p:cNvSpPr/>
          <p:nvPr/>
        </p:nvSpPr>
        <p:spPr>
          <a:xfrm>
            <a:off x="365760" y="4224528"/>
            <a:ext cx="841248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  Requires all sites to share the same input feature space, does not handle sites with different EHR variables</a:t>
            </a:r>
            <a:endParaRPr sz="11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1"/>
        <p:cNvGrpSpPr/>
        <p:nvPr/>
      </p:nvGrpSpPr>
      <p:grpSpPr>
        <a:xfrm>
          <a:off x="0" y="0"/>
          <a:ext cx="0" cy="0"/>
          <a:chOff x="0" y="0"/>
          <a:chExt cx="0" cy="0"/>
        </a:xfrm>
      </p:grpSpPr>
      <p:sp>
        <p:nvSpPr>
          <p:cNvPr id="102" name="Google Shape;102;p5"/>
          <p:cNvSpPr/>
          <p:nvPr/>
        </p:nvSpPr>
        <p:spPr>
          <a:xfrm>
            <a:off x="0" y="0"/>
            <a:ext cx="9144000" cy="685800"/>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3" name="Google Shape;103;p5"/>
          <p:cNvSpPr/>
          <p:nvPr/>
        </p:nvSpPr>
        <p:spPr>
          <a:xfrm>
            <a:off x="320040" y="0"/>
            <a:ext cx="850392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2200"/>
              <a:buFont typeface="Calibri"/>
              <a:buNone/>
            </a:pPr>
            <a:r>
              <a:rPr lang="en-US" sz="2200" b="1">
                <a:solidFill>
                  <a:srgbClr val="1F2937"/>
                </a:solidFill>
                <a:latin typeface="Calibri"/>
                <a:ea typeface="Calibri"/>
                <a:cs typeface="Calibri"/>
                <a:sym typeface="Calibri"/>
              </a:rPr>
              <a:t>Method 2: FedProto: Federated Prototype Learning</a:t>
            </a:r>
            <a:endParaRPr sz="2200">
              <a:solidFill>
                <a:schemeClr val="dk1"/>
              </a:solidFill>
              <a:latin typeface="Calibri"/>
              <a:ea typeface="Calibri"/>
              <a:cs typeface="Calibri"/>
              <a:sym typeface="Calibri"/>
            </a:endParaRPr>
          </a:p>
        </p:txBody>
      </p:sp>
      <p:sp>
        <p:nvSpPr>
          <p:cNvPr id="104" name="Google Shape;104;p5"/>
          <p:cNvSpPr/>
          <p:nvPr/>
        </p:nvSpPr>
        <p:spPr>
          <a:xfrm>
            <a:off x="0" y="685800"/>
            <a:ext cx="9144000" cy="36576"/>
          </a:xfrm>
          <a:prstGeom prst="rect">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 name="Google Shape;105;p5"/>
          <p:cNvSpPr/>
          <p:nvPr/>
        </p:nvSpPr>
        <p:spPr>
          <a:xfrm>
            <a:off x="365760" y="768096"/>
            <a:ext cx="841248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100"/>
              <a:buFont typeface="Calibri"/>
              <a:buNone/>
            </a:pPr>
            <a:r>
              <a:rPr lang="en-US" sz="1100" i="1">
                <a:solidFill>
                  <a:srgbClr val="6B7280"/>
                </a:solidFill>
                <a:latin typeface="Calibri"/>
                <a:ea typeface="Calibri"/>
                <a:cs typeface="Calibri"/>
                <a:sym typeface="Calibri"/>
              </a:rPr>
              <a:t>Handles sample + architecture heterogeneity, no weight sharing required</a:t>
            </a:r>
            <a:endParaRPr sz="1100">
              <a:solidFill>
                <a:schemeClr val="dk1"/>
              </a:solidFill>
              <a:latin typeface="Calibri"/>
              <a:ea typeface="Calibri"/>
              <a:cs typeface="Calibri"/>
              <a:sym typeface="Calibri"/>
            </a:endParaRPr>
          </a:p>
        </p:txBody>
      </p:sp>
      <p:sp>
        <p:nvSpPr>
          <p:cNvPr id="106" name="Google Shape;106;p5"/>
          <p:cNvSpPr/>
          <p:nvPr/>
        </p:nvSpPr>
        <p:spPr>
          <a:xfrm>
            <a:off x="365760" y="1078992"/>
            <a:ext cx="8412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200"/>
              <a:buFont typeface="Calibri"/>
              <a:buNone/>
            </a:pPr>
            <a:r>
              <a:rPr lang="en-US" sz="1200" b="1">
                <a:solidFill>
                  <a:srgbClr val="1D4ED8"/>
                </a:solidFill>
                <a:latin typeface="Calibri"/>
                <a:ea typeface="Calibri"/>
                <a:cs typeface="Calibri"/>
                <a:sym typeface="Calibri"/>
              </a:rPr>
              <a:t>Core idea (from paper, Section 3.1.2)</a:t>
            </a:r>
            <a:endParaRPr sz="1200">
              <a:solidFill>
                <a:schemeClr val="dk1"/>
              </a:solidFill>
              <a:latin typeface="Calibri"/>
              <a:ea typeface="Calibri"/>
              <a:cs typeface="Calibri"/>
              <a:sym typeface="Calibri"/>
            </a:endParaRPr>
          </a:p>
        </p:txBody>
      </p:sp>
      <p:sp>
        <p:nvSpPr>
          <p:cNvPr id="107" name="Google Shape;107;p5"/>
          <p:cNvSpPr/>
          <p:nvPr/>
        </p:nvSpPr>
        <p:spPr>
          <a:xfrm>
            <a:off x="365760" y="1353312"/>
            <a:ext cx="8412480" cy="18288"/>
          </a:xfrm>
          <a:prstGeom prst="rect">
            <a:avLst/>
          </a:prstGeom>
          <a:solidFill>
            <a:srgbClr val="D1D5D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8" name="Google Shape;108;p5"/>
          <p:cNvSpPr/>
          <p:nvPr/>
        </p:nvSpPr>
        <p:spPr>
          <a:xfrm>
            <a:off x="457200" y="1417320"/>
            <a:ext cx="82296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FedProto abandons weight aggregation entirely. Each site computes class-level prototypes (mean embedding per class) and shares only those with the server. The server averages them into global prototypes and returns them. Each site pulls its local embeddings toward the global prototypes via an alignment loss. Because prototypes are architecture-agnostic vectors, sites can have different models, features, and data distributions.</a:t>
            </a:r>
            <a:endParaRPr sz="1100">
              <a:solidFill>
                <a:schemeClr val="dk1"/>
              </a:solidFill>
              <a:latin typeface="Calibri"/>
              <a:ea typeface="Calibri"/>
              <a:cs typeface="Calibri"/>
              <a:sym typeface="Calibri"/>
            </a:endParaRPr>
          </a:p>
        </p:txBody>
      </p:sp>
      <p:sp>
        <p:nvSpPr>
          <p:cNvPr id="109" name="Google Shape;109;p5"/>
          <p:cNvSpPr/>
          <p:nvPr/>
        </p:nvSpPr>
        <p:spPr>
          <a:xfrm>
            <a:off x="365760" y="2084832"/>
            <a:ext cx="4023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200"/>
              <a:buFont typeface="Calibri"/>
              <a:buNone/>
            </a:pPr>
            <a:r>
              <a:rPr lang="en-US" sz="1200" b="1">
                <a:solidFill>
                  <a:srgbClr val="1D4ED8"/>
                </a:solidFill>
                <a:latin typeface="Calibri"/>
                <a:ea typeface="Calibri"/>
                <a:cs typeface="Calibri"/>
                <a:sym typeface="Calibri"/>
              </a:rPr>
              <a:t>How it works</a:t>
            </a:r>
            <a:endParaRPr sz="1200">
              <a:solidFill>
                <a:schemeClr val="dk1"/>
              </a:solidFill>
              <a:latin typeface="Calibri"/>
              <a:ea typeface="Calibri"/>
              <a:cs typeface="Calibri"/>
              <a:sym typeface="Calibri"/>
            </a:endParaRPr>
          </a:p>
        </p:txBody>
      </p:sp>
      <p:sp>
        <p:nvSpPr>
          <p:cNvPr id="110" name="Google Shape;110;p5"/>
          <p:cNvSpPr/>
          <p:nvPr/>
        </p:nvSpPr>
        <p:spPr>
          <a:xfrm>
            <a:off x="365760" y="2359152"/>
            <a:ext cx="4023360" cy="18288"/>
          </a:xfrm>
          <a:prstGeom prst="rect">
            <a:avLst/>
          </a:prstGeom>
          <a:solidFill>
            <a:srgbClr val="D1D5D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1" name="Google Shape;111;p5"/>
          <p:cNvSpPr/>
          <p:nvPr/>
        </p:nvSpPr>
        <p:spPr>
          <a:xfrm>
            <a:off x="365760" y="2404872"/>
            <a:ext cx="393192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Each site computes proto_AKI and proto_¬AKI locally</a:t>
            </a:r>
            <a:endParaRPr sz="1050">
              <a:solidFill>
                <a:schemeClr val="dk1"/>
              </a:solidFill>
              <a:latin typeface="Calibri"/>
              <a:ea typeface="Calibri"/>
              <a:cs typeface="Calibri"/>
              <a:sym typeface="Calibri"/>
            </a:endParaRPr>
          </a:p>
        </p:txBody>
      </p:sp>
      <p:sp>
        <p:nvSpPr>
          <p:cNvPr id="112" name="Google Shape;112;p5"/>
          <p:cNvSpPr/>
          <p:nvPr/>
        </p:nvSpPr>
        <p:spPr>
          <a:xfrm>
            <a:off x="365760" y="2743200"/>
            <a:ext cx="393192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Only these two vectors are sent to the server</a:t>
            </a:r>
            <a:endParaRPr sz="1050">
              <a:solidFill>
                <a:schemeClr val="dk1"/>
              </a:solidFill>
              <a:latin typeface="Calibri"/>
              <a:ea typeface="Calibri"/>
              <a:cs typeface="Calibri"/>
              <a:sym typeface="Calibri"/>
            </a:endParaRPr>
          </a:p>
        </p:txBody>
      </p:sp>
      <p:sp>
        <p:nvSpPr>
          <p:cNvPr id="113" name="Google Shape;113;p5"/>
          <p:cNvSpPr/>
          <p:nvPr/>
        </p:nvSpPr>
        <p:spPr>
          <a:xfrm>
            <a:off x="365760" y="3081528"/>
            <a:ext cx="393192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Server returns global_proto_AKI and global_proto_¬AKI</a:t>
            </a:r>
            <a:endParaRPr sz="1050">
              <a:solidFill>
                <a:schemeClr val="dk1"/>
              </a:solidFill>
              <a:latin typeface="Calibri"/>
              <a:ea typeface="Calibri"/>
              <a:cs typeface="Calibri"/>
              <a:sym typeface="Calibri"/>
            </a:endParaRPr>
          </a:p>
        </p:txBody>
      </p:sp>
      <p:sp>
        <p:nvSpPr>
          <p:cNvPr id="114" name="Google Shape;114;p5"/>
          <p:cNvSpPr/>
          <p:nvPr/>
        </p:nvSpPr>
        <p:spPr>
          <a:xfrm>
            <a:off x="365760" y="3419856"/>
            <a:ext cx="393192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Loss = L_classify  +  λ · ||z − global_proto||²</a:t>
            </a:r>
            <a:endParaRPr sz="1050">
              <a:solidFill>
                <a:schemeClr val="dk1"/>
              </a:solidFill>
              <a:latin typeface="Calibri"/>
              <a:ea typeface="Calibri"/>
              <a:cs typeface="Calibri"/>
              <a:sym typeface="Calibri"/>
            </a:endParaRPr>
          </a:p>
        </p:txBody>
      </p:sp>
      <p:sp>
        <p:nvSpPr>
          <p:cNvPr id="115" name="Google Shape;115;p5"/>
          <p:cNvSpPr/>
          <p:nvPr/>
        </p:nvSpPr>
        <p:spPr>
          <a:xfrm>
            <a:off x="365760" y="3758184"/>
            <a:ext cx="393192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No model weights are shared at any point</a:t>
            </a:r>
            <a:endParaRPr sz="1050">
              <a:solidFill>
                <a:schemeClr val="dk1"/>
              </a:solidFill>
              <a:latin typeface="Calibri"/>
              <a:ea typeface="Calibri"/>
              <a:cs typeface="Calibri"/>
              <a:sym typeface="Calibri"/>
            </a:endParaRPr>
          </a:p>
        </p:txBody>
      </p:sp>
      <p:sp>
        <p:nvSpPr>
          <p:cNvPr id="116" name="Google Shape;116;p5"/>
          <p:cNvSpPr/>
          <p:nvPr/>
        </p:nvSpPr>
        <p:spPr>
          <a:xfrm>
            <a:off x="4754880" y="2084832"/>
            <a:ext cx="4023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200"/>
              <a:buFont typeface="Calibri"/>
              <a:buNone/>
            </a:pPr>
            <a:r>
              <a:rPr lang="en-US" sz="1200" b="1">
                <a:solidFill>
                  <a:srgbClr val="1D4ED8"/>
                </a:solidFill>
                <a:latin typeface="Calibri"/>
                <a:ea typeface="Calibri"/>
                <a:cs typeface="Calibri"/>
                <a:sym typeface="Calibri"/>
              </a:rPr>
              <a:t>For AKI prediction</a:t>
            </a:r>
            <a:endParaRPr sz="1200">
              <a:solidFill>
                <a:schemeClr val="dk1"/>
              </a:solidFill>
              <a:latin typeface="Calibri"/>
              <a:ea typeface="Calibri"/>
              <a:cs typeface="Calibri"/>
              <a:sym typeface="Calibri"/>
            </a:endParaRPr>
          </a:p>
        </p:txBody>
      </p:sp>
      <p:sp>
        <p:nvSpPr>
          <p:cNvPr id="117" name="Google Shape;117;p5"/>
          <p:cNvSpPr/>
          <p:nvPr/>
        </p:nvSpPr>
        <p:spPr>
          <a:xfrm>
            <a:off x="4754880" y="2359152"/>
            <a:ext cx="4023360" cy="18288"/>
          </a:xfrm>
          <a:prstGeom prst="rect">
            <a:avLst/>
          </a:prstGeom>
          <a:solidFill>
            <a:srgbClr val="D1D5D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8" name="Google Shape;118;p5"/>
          <p:cNvSpPr/>
          <p:nvPr/>
        </p:nvSpPr>
        <p:spPr>
          <a:xfrm>
            <a:off x="4754880" y="2404872"/>
            <a:ext cx="4023360" cy="4754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Site C (only BP + Age) aligns its AKI prototype to the global prototype shaped by Site A's rich renal panel without ever seeing Site A's data</a:t>
            </a:r>
            <a:endParaRPr sz="1050">
              <a:solidFill>
                <a:schemeClr val="dk1"/>
              </a:solidFill>
              <a:latin typeface="Calibri"/>
              <a:ea typeface="Calibri"/>
              <a:cs typeface="Calibri"/>
              <a:sym typeface="Calibri"/>
            </a:endParaRPr>
          </a:p>
        </p:txBody>
      </p:sp>
      <p:sp>
        <p:nvSpPr>
          <p:cNvPr id="119" name="Google Shape;119;p5"/>
          <p:cNvSpPr/>
          <p:nvPr/>
        </p:nvSpPr>
        <p:spPr>
          <a:xfrm>
            <a:off x="4754880" y="2907792"/>
            <a:ext cx="4023360" cy="4754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Semi-supervised sites (no AKI labels) can still participate by aligning to global prototypes</a:t>
            </a:r>
            <a:endParaRPr sz="1050">
              <a:solidFill>
                <a:schemeClr val="dk1"/>
              </a:solidFill>
              <a:latin typeface="Calibri"/>
              <a:ea typeface="Calibri"/>
              <a:cs typeface="Calibri"/>
              <a:sym typeface="Calibri"/>
            </a:endParaRPr>
          </a:p>
        </p:txBody>
      </p:sp>
      <p:sp>
        <p:nvSpPr>
          <p:cNvPr id="120" name="Google Shape;120;p5"/>
          <p:cNvSpPr/>
          <p:nvPr/>
        </p:nvSpPr>
        <p:spPr>
          <a:xfrm>
            <a:off x="4754880" y="3410712"/>
            <a:ext cx="4023360" cy="4754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Works even when sites have completely different EHR schemas</a:t>
            </a:r>
            <a:endParaRPr sz="1050">
              <a:solidFill>
                <a:schemeClr val="dk1"/>
              </a:solidFill>
              <a:latin typeface="Calibri"/>
              <a:ea typeface="Calibri"/>
              <a:cs typeface="Calibri"/>
              <a:sym typeface="Calibri"/>
            </a:endParaRPr>
          </a:p>
        </p:txBody>
      </p:sp>
      <p:sp>
        <p:nvSpPr>
          <p:cNvPr id="121" name="Google Shape;121;p5"/>
          <p:cNvSpPr/>
          <p:nvPr/>
        </p:nvSpPr>
        <p:spPr>
          <a:xfrm>
            <a:off x="365760" y="3913632"/>
            <a:ext cx="8412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200"/>
              <a:buFont typeface="Calibri"/>
              <a:buNone/>
            </a:pPr>
            <a:r>
              <a:rPr lang="en-US" sz="1200" b="1">
                <a:solidFill>
                  <a:srgbClr val="1D4ED8"/>
                </a:solidFill>
                <a:latin typeface="Calibri"/>
                <a:ea typeface="Calibri"/>
                <a:cs typeface="Calibri"/>
                <a:sym typeface="Calibri"/>
              </a:rPr>
              <a:t>Limitation</a:t>
            </a:r>
            <a:endParaRPr sz="1200">
              <a:solidFill>
                <a:schemeClr val="dk1"/>
              </a:solidFill>
              <a:latin typeface="Calibri"/>
              <a:ea typeface="Calibri"/>
              <a:cs typeface="Calibri"/>
              <a:sym typeface="Calibri"/>
            </a:endParaRPr>
          </a:p>
        </p:txBody>
      </p:sp>
      <p:sp>
        <p:nvSpPr>
          <p:cNvPr id="122" name="Google Shape;122;p5"/>
          <p:cNvSpPr/>
          <p:nvPr/>
        </p:nvSpPr>
        <p:spPr>
          <a:xfrm>
            <a:off x="365760" y="4187952"/>
            <a:ext cx="8412480" cy="18288"/>
          </a:xfrm>
          <a:prstGeom prst="rect">
            <a:avLst/>
          </a:prstGeom>
          <a:solidFill>
            <a:srgbClr val="D1D5D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 name="Google Shape;123;p5"/>
          <p:cNvSpPr/>
          <p:nvPr/>
        </p:nvSpPr>
        <p:spPr>
          <a:xfrm>
            <a:off x="365760" y="4224528"/>
            <a:ext cx="841248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  No explicit mechanism to handle structured feature heterogeneity, does not use clinical domain grouping</a:t>
            </a:r>
            <a:endParaRPr sz="11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8"/>
        <p:cNvGrpSpPr/>
        <p:nvPr/>
      </p:nvGrpSpPr>
      <p:grpSpPr>
        <a:xfrm>
          <a:off x="0" y="0"/>
          <a:ext cx="0" cy="0"/>
          <a:chOff x="0" y="0"/>
          <a:chExt cx="0" cy="0"/>
        </a:xfrm>
      </p:grpSpPr>
      <p:sp>
        <p:nvSpPr>
          <p:cNvPr id="129" name="Google Shape;129;p6"/>
          <p:cNvSpPr/>
          <p:nvPr/>
        </p:nvSpPr>
        <p:spPr>
          <a:xfrm>
            <a:off x="0" y="0"/>
            <a:ext cx="9144000" cy="685800"/>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0" name="Google Shape;130;p6"/>
          <p:cNvSpPr/>
          <p:nvPr/>
        </p:nvSpPr>
        <p:spPr>
          <a:xfrm>
            <a:off x="320040" y="0"/>
            <a:ext cx="850392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2200"/>
              <a:buFont typeface="Calibri"/>
              <a:buNone/>
            </a:pPr>
            <a:r>
              <a:rPr lang="en-US" sz="2200" b="1">
                <a:solidFill>
                  <a:srgbClr val="1F2937"/>
                </a:solidFill>
                <a:latin typeface="Calibri"/>
                <a:ea typeface="Calibri"/>
                <a:cs typeface="Calibri"/>
                <a:sym typeface="Calibri"/>
              </a:rPr>
              <a:t>Method 3: PrADA: Privacy-preserving Federated Adversarial Domain Adaptation</a:t>
            </a:r>
            <a:endParaRPr sz="2200">
              <a:solidFill>
                <a:schemeClr val="dk1"/>
              </a:solidFill>
              <a:latin typeface="Calibri"/>
              <a:ea typeface="Calibri"/>
              <a:cs typeface="Calibri"/>
              <a:sym typeface="Calibri"/>
            </a:endParaRPr>
          </a:p>
        </p:txBody>
      </p:sp>
      <p:sp>
        <p:nvSpPr>
          <p:cNvPr id="131" name="Google Shape;131;p6"/>
          <p:cNvSpPr/>
          <p:nvPr/>
        </p:nvSpPr>
        <p:spPr>
          <a:xfrm>
            <a:off x="0" y="685800"/>
            <a:ext cx="9144000" cy="36576"/>
          </a:xfrm>
          <a:prstGeom prst="rect">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2" name="Google Shape;132;p6"/>
          <p:cNvSpPr/>
          <p:nvPr/>
        </p:nvSpPr>
        <p:spPr>
          <a:xfrm>
            <a:off x="365760" y="768096"/>
            <a:ext cx="841248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100"/>
              <a:buFont typeface="Calibri"/>
              <a:buNone/>
            </a:pPr>
            <a:r>
              <a:rPr lang="en-US" sz="1100" i="1">
                <a:solidFill>
                  <a:srgbClr val="6B7280"/>
                </a:solidFill>
                <a:latin typeface="Calibri"/>
                <a:ea typeface="Calibri"/>
                <a:cs typeface="Calibri"/>
                <a:sym typeface="Calibri"/>
              </a:rPr>
              <a:t>Handles feature space heterogeneity via adversarial domain-invariant encoders</a:t>
            </a:r>
            <a:endParaRPr sz="1100">
              <a:solidFill>
                <a:schemeClr val="dk1"/>
              </a:solidFill>
              <a:latin typeface="Calibri"/>
              <a:ea typeface="Calibri"/>
              <a:cs typeface="Calibri"/>
              <a:sym typeface="Calibri"/>
            </a:endParaRPr>
          </a:p>
        </p:txBody>
      </p:sp>
      <p:sp>
        <p:nvSpPr>
          <p:cNvPr id="133" name="Google Shape;133;p6"/>
          <p:cNvSpPr/>
          <p:nvPr/>
        </p:nvSpPr>
        <p:spPr>
          <a:xfrm>
            <a:off x="365760" y="1078992"/>
            <a:ext cx="8412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200"/>
              <a:buFont typeface="Calibri"/>
              <a:buNone/>
            </a:pPr>
            <a:r>
              <a:rPr lang="en-US" sz="1200" b="1">
                <a:solidFill>
                  <a:srgbClr val="1D4ED8"/>
                </a:solidFill>
                <a:latin typeface="Calibri"/>
                <a:ea typeface="Calibri"/>
                <a:cs typeface="Calibri"/>
                <a:sym typeface="Calibri"/>
              </a:rPr>
              <a:t>Core idea (from paper, Section 3.2.1)</a:t>
            </a:r>
            <a:endParaRPr sz="1200">
              <a:solidFill>
                <a:schemeClr val="dk1"/>
              </a:solidFill>
              <a:latin typeface="Calibri"/>
              <a:ea typeface="Calibri"/>
              <a:cs typeface="Calibri"/>
              <a:sym typeface="Calibri"/>
            </a:endParaRPr>
          </a:p>
        </p:txBody>
      </p:sp>
      <p:sp>
        <p:nvSpPr>
          <p:cNvPr id="134" name="Google Shape;134;p6"/>
          <p:cNvSpPr/>
          <p:nvPr/>
        </p:nvSpPr>
        <p:spPr>
          <a:xfrm>
            <a:off x="365760" y="1353312"/>
            <a:ext cx="8412480" cy="18288"/>
          </a:xfrm>
          <a:prstGeom prst="rect">
            <a:avLst/>
          </a:prstGeom>
          <a:solidFill>
            <a:srgbClr val="D1D5D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5" name="Google Shape;135;p6"/>
          <p:cNvSpPr/>
          <p:nvPr/>
        </p:nvSpPr>
        <p:spPr>
          <a:xfrm>
            <a:off x="457200" y="1417320"/>
            <a:ext cx="822960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PrADA addresses Vertical FL: different sites hold different features over the same patients. The feature-rich site groups its features into p clinically related clusters plus q interaction features (h = p+q groups). Sites jointly pretrain h feature extractors with two objectives: (1) domain invariance via an adversarial discriminator; (2) label discriminability for AKI classification. Privacy is maintained via partial homomorphic encryption; no raw features are exchanged.</a:t>
            </a:r>
            <a:endParaRPr sz="1100">
              <a:solidFill>
                <a:schemeClr val="dk1"/>
              </a:solidFill>
              <a:latin typeface="Calibri"/>
              <a:ea typeface="Calibri"/>
              <a:cs typeface="Calibri"/>
              <a:sym typeface="Calibri"/>
            </a:endParaRPr>
          </a:p>
        </p:txBody>
      </p:sp>
      <p:sp>
        <p:nvSpPr>
          <p:cNvPr id="136" name="Google Shape;136;p6"/>
          <p:cNvSpPr/>
          <p:nvPr/>
        </p:nvSpPr>
        <p:spPr>
          <a:xfrm>
            <a:off x="365760" y="2194560"/>
            <a:ext cx="8412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200"/>
              <a:buFont typeface="Calibri"/>
              <a:buNone/>
            </a:pPr>
            <a:r>
              <a:rPr lang="en-US" sz="1200" b="1">
                <a:solidFill>
                  <a:srgbClr val="1D4ED8"/>
                </a:solidFill>
                <a:latin typeface="Calibri"/>
                <a:ea typeface="Calibri"/>
                <a:cs typeface="Calibri"/>
                <a:sym typeface="Calibri"/>
              </a:rPr>
              <a:t>Three stages</a:t>
            </a:r>
            <a:endParaRPr sz="1200">
              <a:solidFill>
                <a:schemeClr val="dk1"/>
              </a:solidFill>
              <a:latin typeface="Calibri"/>
              <a:ea typeface="Calibri"/>
              <a:cs typeface="Calibri"/>
              <a:sym typeface="Calibri"/>
            </a:endParaRPr>
          </a:p>
        </p:txBody>
      </p:sp>
      <p:sp>
        <p:nvSpPr>
          <p:cNvPr id="137" name="Google Shape;137;p6"/>
          <p:cNvSpPr/>
          <p:nvPr/>
        </p:nvSpPr>
        <p:spPr>
          <a:xfrm>
            <a:off x="365760" y="2468880"/>
            <a:ext cx="8412480" cy="18288"/>
          </a:xfrm>
          <a:prstGeom prst="rect">
            <a:avLst/>
          </a:prstGeom>
          <a:solidFill>
            <a:srgbClr val="D1D5D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8" name="Google Shape;138;p6"/>
          <p:cNvSpPr/>
          <p:nvPr/>
        </p:nvSpPr>
        <p:spPr>
          <a:xfrm>
            <a:off x="457200" y="2514600"/>
            <a:ext cx="32004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050"/>
              <a:buFont typeface="Calibri"/>
              <a:buNone/>
            </a:pPr>
            <a:r>
              <a:rPr lang="en-US" sz="1050" b="1">
                <a:solidFill>
                  <a:srgbClr val="1F2937"/>
                </a:solidFill>
                <a:latin typeface="Calibri"/>
                <a:ea typeface="Calibri"/>
                <a:cs typeface="Calibri"/>
                <a:sym typeface="Calibri"/>
              </a:rPr>
              <a:t>•  Stage 1 : Feature Grouping (Site C alone): </a:t>
            </a:r>
            <a:endParaRPr sz="1050">
              <a:solidFill>
                <a:schemeClr val="dk1"/>
              </a:solidFill>
              <a:latin typeface="Calibri"/>
              <a:ea typeface="Calibri"/>
              <a:cs typeface="Calibri"/>
              <a:sym typeface="Calibri"/>
            </a:endParaRPr>
          </a:p>
        </p:txBody>
      </p:sp>
      <p:sp>
        <p:nvSpPr>
          <p:cNvPr id="139" name="Google Shape;139;p6"/>
          <p:cNvSpPr/>
          <p:nvPr/>
        </p:nvSpPr>
        <p:spPr>
          <a:xfrm>
            <a:off x="3657600" y="2514600"/>
            <a:ext cx="52120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Group raw features into clinical clusters: Renal, Hemodynamic, Inflammatory, Clinical, plus interaction features between groups</a:t>
            </a:r>
            <a:endParaRPr sz="1050">
              <a:solidFill>
                <a:schemeClr val="dk1"/>
              </a:solidFill>
              <a:latin typeface="Calibri"/>
              <a:ea typeface="Calibri"/>
              <a:cs typeface="Calibri"/>
              <a:sym typeface="Calibri"/>
            </a:endParaRPr>
          </a:p>
        </p:txBody>
      </p:sp>
      <p:sp>
        <p:nvSpPr>
          <p:cNvPr id="140" name="Google Shape;140;p6"/>
          <p:cNvSpPr/>
          <p:nvPr/>
        </p:nvSpPr>
        <p:spPr>
          <a:xfrm>
            <a:off x="457200" y="2990088"/>
            <a:ext cx="32004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050"/>
              <a:buFont typeface="Calibri"/>
              <a:buNone/>
            </a:pPr>
            <a:r>
              <a:rPr lang="en-US" sz="1050" b="1">
                <a:solidFill>
                  <a:srgbClr val="1F2937"/>
                </a:solidFill>
                <a:latin typeface="Calibri"/>
                <a:ea typeface="Calibri"/>
                <a:cs typeface="Calibri"/>
                <a:sym typeface="Calibri"/>
              </a:rPr>
              <a:t>•  Stage 2 : Adversarial Pretraining (Sites B+C): </a:t>
            </a:r>
            <a:endParaRPr sz="1050">
              <a:solidFill>
                <a:schemeClr val="dk1"/>
              </a:solidFill>
              <a:latin typeface="Calibri"/>
              <a:ea typeface="Calibri"/>
              <a:cs typeface="Calibri"/>
              <a:sym typeface="Calibri"/>
            </a:endParaRPr>
          </a:p>
        </p:txBody>
      </p:sp>
      <p:sp>
        <p:nvSpPr>
          <p:cNvPr id="141" name="Google Shape;141;p6"/>
          <p:cNvSpPr/>
          <p:nvPr/>
        </p:nvSpPr>
        <p:spPr>
          <a:xfrm>
            <a:off x="3657600" y="2990088"/>
            <a:ext cx="52120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Train shared feature extractors  with dual loss: domain invariance (adversarial) + AKI discriminability. Homomorphic encryption preserves privacy</a:t>
            </a:r>
            <a:endParaRPr sz="1050">
              <a:solidFill>
                <a:schemeClr val="dk1"/>
              </a:solidFill>
              <a:latin typeface="Calibri"/>
              <a:ea typeface="Calibri"/>
              <a:cs typeface="Calibri"/>
              <a:sym typeface="Calibri"/>
            </a:endParaRPr>
          </a:p>
        </p:txBody>
      </p:sp>
      <p:sp>
        <p:nvSpPr>
          <p:cNvPr id="142" name="Google Shape;142;p6"/>
          <p:cNvSpPr/>
          <p:nvPr/>
        </p:nvSpPr>
        <p:spPr>
          <a:xfrm>
            <a:off x="457200" y="3465576"/>
            <a:ext cx="32004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050"/>
              <a:buFont typeface="Calibri"/>
              <a:buNone/>
            </a:pPr>
            <a:r>
              <a:rPr lang="en-US" sz="1050" b="1">
                <a:solidFill>
                  <a:srgbClr val="1F2937"/>
                </a:solidFill>
                <a:latin typeface="Calibri"/>
                <a:ea typeface="Calibri"/>
                <a:cs typeface="Calibri"/>
                <a:sym typeface="Calibri"/>
              </a:rPr>
              <a:t>•  Stage 3: Fine-tuning (Site A+C): </a:t>
            </a:r>
            <a:endParaRPr sz="1050">
              <a:solidFill>
                <a:schemeClr val="dk1"/>
              </a:solidFill>
              <a:latin typeface="Calibri"/>
              <a:ea typeface="Calibri"/>
              <a:cs typeface="Calibri"/>
              <a:sym typeface="Calibri"/>
            </a:endParaRPr>
          </a:p>
        </p:txBody>
      </p:sp>
      <p:sp>
        <p:nvSpPr>
          <p:cNvPr id="143" name="Google Shape;143;p6"/>
          <p:cNvSpPr/>
          <p:nvPr/>
        </p:nvSpPr>
        <p:spPr>
          <a:xfrm>
            <a:off x="3657600" y="3465576"/>
            <a:ext cx="52120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Site A (resource-limited) applies pretrained encoders to its available features and fine-tunes a local AKI predictor</a:t>
            </a:r>
            <a:endParaRPr sz="1050">
              <a:solidFill>
                <a:schemeClr val="dk1"/>
              </a:solidFill>
              <a:latin typeface="Calibri"/>
              <a:ea typeface="Calibri"/>
              <a:cs typeface="Calibri"/>
              <a:sym typeface="Calibri"/>
            </a:endParaRPr>
          </a:p>
        </p:txBody>
      </p:sp>
      <p:sp>
        <p:nvSpPr>
          <p:cNvPr id="144" name="Google Shape;144;p6"/>
          <p:cNvSpPr/>
          <p:nvPr/>
        </p:nvSpPr>
        <p:spPr>
          <a:xfrm>
            <a:off x="365760" y="4005072"/>
            <a:ext cx="8412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200"/>
              <a:buFont typeface="Calibri"/>
              <a:buNone/>
            </a:pPr>
            <a:r>
              <a:rPr lang="en-US" sz="1200" b="1">
                <a:solidFill>
                  <a:srgbClr val="1D4ED8"/>
                </a:solidFill>
                <a:latin typeface="Calibri"/>
                <a:ea typeface="Calibri"/>
                <a:cs typeface="Calibri"/>
                <a:sym typeface="Calibri"/>
              </a:rPr>
              <a:t>Limitation for our use</a:t>
            </a:r>
            <a:endParaRPr sz="1200">
              <a:solidFill>
                <a:schemeClr val="dk1"/>
              </a:solidFill>
              <a:latin typeface="Calibri"/>
              <a:ea typeface="Calibri"/>
              <a:cs typeface="Calibri"/>
              <a:sym typeface="Calibri"/>
            </a:endParaRPr>
          </a:p>
        </p:txBody>
      </p:sp>
      <p:sp>
        <p:nvSpPr>
          <p:cNvPr id="145" name="Google Shape;145;p6"/>
          <p:cNvSpPr/>
          <p:nvPr/>
        </p:nvSpPr>
        <p:spPr>
          <a:xfrm>
            <a:off x="365760" y="4279392"/>
            <a:ext cx="8412480" cy="18288"/>
          </a:xfrm>
          <a:prstGeom prst="rect">
            <a:avLst/>
          </a:prstGeom>
          <a:solidFill>
            <a:srgbClr val="D1D5D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6" name="Google Shape;146;p6"/>
          <p:cNvSpPr/>
          <p:nvPr/>
        </p:nvSpPr>
        <p:spPr>
          <a:xfrm>
            <a:off x="365760" y="4315968"/>
            <a:ext cx="841248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  PrADA assumes Vertical FL (same patients across sites). Our setting is Horizontal FL (different patients). We adapt it: replace patient-level VFL alignment with class prototype alignment.</a:t>
            </a:r>
            <a:endParaRPr sz="11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1"/>
        <p:cNvGrpSpPr/>
        <p:nvPr/>
      </p:nvGrpSpPr>
      <p:grpSpPr>
        <a:xfrm>
          <a:off x="0" y="0"/>
          <a:ext cx="0" cy="0"/>
          <a:chOff x="0" y="0"/>
          <a:chExt cx="0" cy="0"/>
        </a:xfrm>
      </p:grpSpPr>
      <p:sp>
        <p:nvSpPr>
          <p:cNvPr id="152" name="Google Shape;152;p7"/>
          <p:cNvSpPr/>
          <p:nvPr/>
        </p:nvSpPr>
        <p:spPr>
          <a:xfrm>
            <a:off x="0" y="0"/>
            <a:ext cx="9144000" cy="685800"/>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3" name="Google Shape;153;p7"/>
          <p:cNvSpPr/>
          <p:nvPr/>
        </p:nvSpPr>
        <p:spPr>
          <a:xfrm>
            <a:off x="320040" y="0"/>
            <a:ext cx="850392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2200"/>
              <a:buFont typeface="Calibri"/>
              <a:buNone/>
            </a:pPr>
            <a:r>
              <a:rPr lang="en-US" sz="2200" b="1">
                <a:solidFill>
                  <a:srgbClr val="1F2937"/>
                </a:solidFill>
                <a:latin typeface="Calibri"/>
                <a:ea typeface="Calibri"/>
                <a:cs typeface="Calibri"/>
                <a:sym typeface="Calibri"/>
              </a:rPr>
              <a:t>Method Comparison — What Each Solves</a:t>
            </a:r>
            <a:endParaRPr sz="2200">
              <a:solidFill>
                <a:schemeClr val="dk1"/>
              </a:solidFill>
              <a:latin typeface="Calibri"/>
              <a:ea typeface="Calibri"/>
              <a:cs typeface="Calibri"/>
              <a:sym typeface="Calibri"/>
            </a:endParaRPr>
          </a:p>
        </p:txBody>
      </p:sp>
      <p:sp>
        <p:nvSpPr>
          <p:cNvPr id="154" name="Google Shape;154;p7"/>
          <p:cNvSpPr/>
          <p:nvPr/>
        </p:nvSpPr>
        <p:spPr>
          <a:xfrm>
            <a:off x="0" y="685800"/>
            <a:ext cx="9144000" cy="36576"/>
          </a:xfrm>
          <a:prstGeom prst="rect">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5" name="Google Shape;155;p7"/>
          <p:cNvSpPr/>
          <p:nvPr/>
        </p:nvSpPr>
        <p:spPr>
          <a:xfrm>
            <a:off x="137160" y="804672"/>
            <a:ext cx="2377440" cy="365760"/>
          </a:xfrm>
          <a:prstGeom prst="rect">
            <a:avLst/>
          </a:prstGeom>
          <a:solidFill>
            <a:srgbClr val="F3F4F6"/>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6" name="Google Shape;156;p7"/>
          <p:cNvSpPr/>
          <p:nvPr/>
        </p:nvSpPr>
        <p:spPr>
          <a:xfrm>
            <a:off x="210312" y="804672"/>
            <a:ext cx="2286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100"/>
              <a:buFont typeface="Calibri"/>
              <a:buNone/>
            </a:pPr>
            <a:r>
              <a:rPr lang="en-US" sz="1100" b="1">
                <a:solidFill>
                  <a:srgbClr val="1F2937"/>
                </a:solidFill>
                <a:latin typeface="Calibri"/>
                <a:ea typeface="Calibri"/>
                <a:cs typeface="Calibri"/>
                <a:sym typeface="Calibri"/>
              </a:rPr>
              <a:t>Dimension</a:t>
            </a:r>
            <a:endParaRPr sz="1100">
              <a:solidFill>
                <a:schemeClr val="dk1"/>
              </a:solidFill>
              <a:latin typeface="Calibri"/>
              <a:ea typeface="Calibri"/>
              <a:cs typeface="Calibri"/>
              <a:sym typeface="Calibri"/>
            </a:endParaRPr>
          </a:p>
        </p:txBody>
      </p:sp>
      <p:sp>
        <p:nvSpPr>
          <p:cNvPr id="157" name="Google Shape;157;p7"/>
          <p:cNvSpPr/>
          <p:nvPr/>
        </p:nvSpPr>
        <p:spPr>
          <a:xfrm>
            <a:off x="2514600" y="804672"/>
            <a:ext cx="2011680" cy="365760"/>
          </a:xfrm>
          <a:prstGeom prst="rect">
            <a:avLst/>
          </a:prstGeom>
          <a:solidFill>
            <a:srgbClr val="EFF6FF"/>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8" name="Google Shape;158;p7"/>
          <p:cNvSpPr/>
          <p:nvPr/>
        </p:nvSpPr>
        <p:spPr>
          <a:xfrm>
            <a:off x="2587752" y="804672"/>
            <a:ext cx="19202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100"/>
              <a:buFont typeface="Calibri"/>
              <a:buNone/>
            </a:pPr>
            <a:r>
              <a:rPr lang="en-US" sz="1100" b="1">
                <a:solidFill>
                  <a:srgbClr val="1D4ED8"/>
                </a:solidFill>
                <a:latin typeface="Calibri"/>
                <a:ea typeface="Calibri"/>
                <a:cs typeface="Calibri"/>
                <a:sym typeface="Calibri"/>
              </a:rPr>
              <a:t>FedBABU</a:t>
            </a:r>
            <a:endParaRPr sz="1100">
              <a:solidFill>
                <a:schemeClr val="dk1"/>
              </a:solidFill>
              <a:latin typeface="Calibri"/>
              <a:ea typeface="Calibri"/>
              <a:cs typeface="Calibri"/>
              <a:sym typeface="Calibri"/>
            </a:endParaRPr>
          </a:p>
        </p:txBody>
      </p:sp>
      <p:sp>
        <p:nvSpPr>
          <p:cNvPr id="159" name="Google Shape;159;p7"/>
          <p:cNvSpPr/>
          <p:nvPr/>
        </p:nvSpPr>
        <p:spPr>
          <a:xfrm>
            <a:off x="4526280" y="804672"/>
            <a:ext cx="2011680" cy="365760"/>
          </a:xfrm>
          <a:prstGeom prst="rect">
            <a:avLst/>
          </a:prstGeom>
          <a:solidFill>
            <a:srgbClr val="EFF6FF"/>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0" name="Google Shape;160;p7"/>
          <p:cNvSpPr/>
          <p:nvPr/>
        </p:nvSpPr>
        <p:spPr>
          <a:xfrm>
            <a:off x="4599432" y="804672"/>
            <a:ext cx="19202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100"/>
              <a:buFont typeface="Calibri"/>
              <a:buNone/>
            </a:pPr>
            <a:r>
              <a:rPr lang="en-US" sz="1100" b="1">
                <a:solidFill>
                  <a:srgbClr val="1D4ED8"/>
                </a:solidFill>
                <a:latin typeface="Calibri"/>
                <a:ea typeface="Calibri"/>
                <a:cs typeface="Calibri"/>
                <a:sym typeface="Calibri"/>
              </a:rPr>
              <a:t>FedProto</a:t>
            </a:r>
            <a:endParaRPr sz="1100">
              <a:solidFill>
                <a:schemeClr val="dk1"/>
              </a:solidFill>
              <a:latin typeface="Calibri"/>
              <a:ea typeface="Calibri"/>
              <a:cs typeface="Calibri"/>
              <a:sym typeface="Calibri"/>
            </a:endParaRPr>
          </a:p>
        </p:txBody>
      </p:sp>
      <p:sp>
        <p:nvSpPr>
          <p:cNvPr id="161" name="Google Shape;161;p7"/>
          <p:cNvSpPr/>
          <p:nvPr/>
        </p:nvSpPr>
        <p:spPr>
          <a:xfrm>
            <a:off x="6537960" y="804672"/>
            <a:ext cx="2468880" cy="365760"/>
          </a:xfrm>
          <a:prstGeom prst="rect">
            <a:avLst/>
          </a:prstGeom>
          <a:solidFill>
            <a:srgbClr val="EFF6FF"/>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2" name="Google Shape;162;p7"/>
          <p:cNvSpPr/>
          <p:nvPr/>
        </p:nvSpPr>
        <p:spPr>
          <a:xfrm>
            <a:off x="6611112" y="804672"/>
            <a:ext cx="23774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100"/>
              <a:buFont typeface="Calibri"/>
              <a:buNone/>
            </a:pPr>
            <a:r>
              <a:rPr lang="en-US" sz="1100" b="1">
                <a:solidFill>
                  <a:srgbClr val="1D4ED8"/>
                </a:solidFill>
                <a:latin typeface="Calibri"/>
                <a:ea typeface="Calibri"/>
                <a:cs typeface="Calibri"/>
                <a:sym typeface="Calibri"/>
              </a:rPr>
              <a:t>PrADA (adapted)</a:t>
            </a:r>
            <a:endParaRPr sz="1100">
              <a:solidFill>
                <a:schemeClr val="dk1"/>
              </a:solidFill>
              <a:latin typeface="Calibri"/>
              <a:ea typeface="Calibri"/>
              <a:cs typeface="Calibri"/>
              <a:sym typeface="Calibri"/>
            </a:endParaRPr>
          </a:p>
        </p:txBody>
      </p:sp>
      <p:sp>
        <p:nvSpPr>
          <p:cNvPr id="163" name="Google Shape;163;p7"/>
          <p:cNvSpPr/>
          <p:nvPr/>
        </p:nvSpPr>
        <p:spPr>
          <a:xfrm>
            <a:off x="137160" y="1170432"/>
            <a:ext cx="2377440" cy="530352"/>
          </a:xfrm>
          <a:prstGeom prst="rect">
            <a:avLst/>
          </a:prstGeom>
          <a:solidFill>
            <a:srgbClr val="FFFFFF"/>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4" name="Google Shape;164;p7"/>
          <p:cNvSpPr/>
          <p:nvPr/>
        </p:nvSpPr>
        <p:spPr>
          <a:xfrm>
            <a:off x="210312" y="1170432"/>
            <a:ext cx="228600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050"/>
              <a:buFont typeface="Calibri"/>
              <a:buNone/>
            </a:pPr>
            <a:r>
              <a:rPr lang="en-US" sz="1050" b="1">
                <a:solidFill>
                  <a:srgbClr val="1F2937"/>
                </a:solidFill>
                <a:latin typeface="Calibri"/>
                <a:ea typeface="Calibri"/>
                <a:cs typeface="Calibri"/>
                <a:sym typeface="Calibri"/>
              </a:rPr>
              <a:t>Core problem</a:t>
            </a:r>
            <a:endParaRPr sz="1050">
              <a:solidFill>
                <a:schemeClr val="dk1"/>
              </a:solidFill>
              <a:latin typeface="Calibri"/>
              <a:ea typeface="Calibri"/>
              <a:cs typeface="Calibri"/>
              <a:sym typeface="Calibri"/>
            </a:endParaRPr>
          </a:p>
        </p:txBody>
      </p:sp>
      <p:sp>
        <p:nvSpPr>
          <p:cNvPr id="165" name="Google Shape;165;p7"/>
          <p:cNvSpPr/>
          <p:nvPr/>
        </p:nvSpPr>
        <p:spPr>
          <a:xfrm>
            <a:off x="2514600" y="1170432"/>
            <a:ext cx="2011680" cy="530352"/>
          </a:xfrm>
          <a:prstGeom prst="rect">
            <a:avLst/>
          </a:prstGeom>
          <a:solidFill>
            <a:srgbClr val="FFFFFF"/>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6" name="Google Shape;166;p7"/>
          <p:cNvSpPr/>
          <p:nvPr/>
        </p:nvSpPr>
        <p:spPr>
          <a:xfrm>
            <a:off x="2587752" y="1170432"/>
            <a:ext cx="19202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Personalisation</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degradation</a:t>
            </a:r>
            <a:endParaRPr sz="1000">
              <a:solidFill>
                <a:schemeClr val="dk1"/>
              </a:solidFill>
              <a:latin typeface="Calibri"/>
              <a:ea typeface="Calibri"/>
              <a:cs typeface="Calibri"/>
              <a:sym typeface="Calibri"/>
            </a:endParaRPr>
          </a:p>
        </p:txBody>
      </p:sp>
      <p:sp>
        <p:nvSpPr>
          <p:cNvPr id="167" name="Google Shape;167;p7"/>
          <p:cNvSpPr/>
          <p:nvPr/>
        </p:nvSpPr>
        <p:spPr>
          <a:xfrm>
            <a:off x="4526280" y="1170432"/>
            <a:ext cx="2011680" cy="530352"/>
          </a:xfrm>
          <a:prstGeom prst="rect">
            <a:avLst/>
          </a:prstGeom>
          <a:solidFill>
            <a:srgbClr val="FFFFFF"/>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8" name="Google Shape;168;p7"/>
          <p:cNvSpPr/>
          <p:nvPr/>
        </p:nvSpPr>
        <p:spPr>
          <a:xfrm>
            <a:off x="4599432" y="1170432"/>
            <a:ext cx="19202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Architecture &amp;</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data heterogeneity</a:t>
            </a:r>
            <a:endParaRPr sz="1000">
              <a:solidFill>
                <a:schemeClr val="dk1"/>
              </a:solidFill>
              <a:latin typeface="Calibri"/>
              <a:ea typeface="Calibri"/>
              <a:cs typeface="Calibri"/>
              <a:sym typeface="Calibri"/>
            </a:endParaRPr>
          </a:p>
        </p:txBody>
      </p:sp>
      <p:sp>
        <p:nvSpPr>
          <p:cNvPr id="169" name="Google Shape;169;p7"/>
          <p:cNvSpPr/>
          <p:nvPr/>
        </p:nvSpPr>
        <p:spPr>
          <a:xfrm>
            <a:off x="6537960" y="1170432"/>
            <a:ext cx="2468880" cy="530352"/>
          </a:xfrm>
          <a:prstGeom prst="rect">
            <a:avLst/>
          </a:prstGeom>
          <a:solidFill>
            <a:srgbClr val="FFFFFF"/>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0" name="Google Shape;170;p7"/>
          <p:cNvSpPr/>
          <p:nvPr/>
        </p:nvSpPr>
        <p:spPr>
          <a:xfrm>
            <a:off x="6611112" y="1170432"/>
            <a:ext cx="23774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Feature space</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heterogeneity</a:t>
            </a:r>
            <a:endParaRPr sz="1000">
              <a:solidFill>
                <a:schemeClr val="dk1"/>
              </a:solidFill>
              <a:latin typeface="Calibri"/>
              <a:ea typeface="Calibri"/>
              <a:cs typeface="Calibri"/>
              <a:sym typeface="Calibri"/>
            </a:endParaRPr>
          </a:p>
        </p:txBody>
      </p:sp>
      <p:sp>
        <p:nvSpPr>
          <p:cNvPr id="171" name="Google Shape;171;p7"/>
          <p:cNvSpPr/>
          <p:nvPr/>
        </p:nvSpPr>
        <p:spPr>
          <a:xfrm>
            <a:off x="137160" y="1700784"/>
            <a:ext cx="2377440" cy="530352"/>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2" name="Google Shape;172;p7"/>
          <p:cNvSpPr/>
          <p:nvPr/>
        </p:nvSpPr>
        <p:spPr>
          <a:xfrm>
            <a:off x="210312" y="1700784"/>
            <a:ext cx="228600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050"/>
              <a:buFont typeface="Calibri"/>
              <a:buNone/>
            </a:pPr>
            <a:r>
              <a:rPr lang="en-US" sz="1050" b="1">
                <a:solidFill>
                  <a:srgbClr val="1F2937"/>
                </a:solidFill>
                <a:latin typeface="Calibri"/>
                <a:ea typeface="Calibri"/>
                <a:cs typeface="Calibri"/>
                <a:sym typeface="Calibri"/>
              </a:rPr>
              <a:t>Mechanism</a:t>
            </a:r>
            <a:endParaRPr sz="1050">
              <a:solidFill>
                <a:schemeClr val="dk1"/>
              </a:solidFill>
              <a:latin typeface="Calibri"/>
              <a:ea typeface="Calibri"/>
              <a:cs typeface="Calibri"/>
              <a:sym typeface="Calibri"/>
            </a:endParaRPr>
          </a:p>
        </p:txBody>
      </p:sp>
      <p:sp>
        <p:nvSpPr>
          <p:cNvPr id="173" name="Google Shape;173;p7"/>
          <p:cNvSpPr/>
          <p:nvPr/>
        </p:nvSpPr>
        <p:spPr>
          <a:xfrm>
            <a:off x="2514600" y="1700784"/>
            <a:ext cx="2011680" cy="530352"/>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4" name="Google Shape;174;p7"/>
          <p:cNvSpPr/>
          <p:nvPr/>
        </p:nvSpPr>
        <p:spPr>
          <a:xfrm>
            <a:off x="2587752" y="1700784"/>
            <a:ext cx="19202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Body federated,</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head stays local</a:t>
            </a:r>
            <a:endParaRPr sz="1000">
              <a:solidFill>
                <a:schemeClr val="dk1"/>
              </a:solidFill>
              <a:latin typeface="Calibri"/>
              <a:ea typeface="Calibri"/>
              <a:cs typeface="Calibri"/>
              <a:sym typeface="Calibri"/>
            </a:endParaRPr>
          </a:p>
        </p:txBody>
      </p:sp>
      <p:sp>
        <p:nvSpPr>
          <p:cNvPr id="175" name="Google Shape;175;p7"/>
          <p:cNvSpPr/>
          <p:nvPr/>
        </p:nvSpPr>
        <p:spPr>
          <a:xfrm>
            <a:off x="4526280" y="1700784"/>
            <a:ext cx="2011680" cy="530352"/>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6" name="Google Shape;176;p7"/>
          <p:cNvSpPr/>
          <p:nvPr/>
        </p:nvSpPr>
        <p:spPr>
          <a:xfrm>
            <a:off x="4599432" y="1700784"/>
            <a:ext cx="19202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Share class</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prototypes only</a:t>
            </a:r>
            <a:endParaRPr sz="1000">
              <a:solidFill>
                <a:schemeClr val="dk1"/>
              </a:solidFill>
              <a:latin typeface="Calibri"/>
              <a:ea typeface="Calibri"/>
              <a:cs typeface="Calibri"/>
              <a:sym typeface="Calibri"/>
            </a:endParaRPr>
          </a:p>
        </p:txBody>
      </p:sp>
      <p:sp>
        <p:nvSpPr>
          <p:cNvPr id="177" name="Google Shape;177;p7"/>
          <p:cNvSpPr/>
          <p:nvPr/>
        </p:nvSpPr>
        <p:spPr>
          <a:xfrm>
            <a:off x="6537960" y="1700784"/>
            <a:ext cx="2468880" cy="530352"/>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8" name="Google Shape;178;p7"/>
          <p:cNvSpPr/>
          <p:nvPr/>
        </p:nvSpPr>
        <p:spPr>
          <a:xfrm>
            <a:off x="6611112" y="1700784"/>
            <a:ext cx="23774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Adversarial domain-</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invariant encoders</a:t>
            </a:r>
            <a:endParaRPr sz="1000">
              <a:solidFill>
                <a:schemeClr val="dk1"/>
              </a:solidFill>
              <a:latin typeface="Calibri"/>
              <a:ea typeface="Calibri"/>
              <a:cs typeface="Calibri"/>
              <a:sym typeface="Calibri"/>
            </a:endParaRPr>
          </a:p>
        </p:txBody>
      </p:sp>
      <p:sp>
        <p:nvSpPr>
          <p:cNvPr id="179" name="Google Shape;179;p7"/>
          <p:cNvSpPr/>
          <p:nvPr/>
        </p:nvSpPr>
        <p:spPr>
          <a:xfrm>
            <a:off x="137160" y="2231136"/>
            <a:ext cx="2377440" cy="530352"/>
          </a:xfrm>
          <a:prstGeom prst="rect">
            <a:avLst/>
          </a:prstGeom>
          <a:solidFill>
            <a:srgbClr val="FFFFFF"/>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0" name="Google Shape;180;p7"/>
          <p:cNvSpPr/>
          <p:nvPr/>
        </p:nvSpPr>
        <p:spPr>
          <a:xfrm>
            <a:off x="210312" y="2231136"/>
            <a:ext cx="228600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050"/>
              <a:buFont typeface="Calibri"/>
              <a:buNone/>
            </a:pPr>
            <a:r>
              <a:rPr lang="en-US" sz="1050" b="1">
                <a:solidFill>
                  <a:srgbClr val="1F2937"/>
                </a:solidFill>
                <a:latin typeface="Calibri"/>
                <a:ea typeface="Calibri"/>
                <a:cs typeface="Calibri"/>
                <a:sym typeface="Calibri"/>
              </a:rPr>
              <a:t>Same feature space?</a:t>
            </a:r>
            <a:endParaRPr sz="1050">
              <a:solidFill>
                <a:schemeClr val="dk1"/>
              </a:solidFill>
              <a:latin typeface="Calibri"/>
              <a:ea typeface="Calibri"/>
              <a:cs typeface="Calibri"/>
              <a:sym typeface="Calibri"/>
            </a:endParaRPr>
          </a:p>
        </p:txBody>
      </p:sp>
      <p:sp>
        <p:nvSpPr>
          <p:cNvPr id="181" name="Google Shape;181;p7"/>
          <p:cNvSpPr/>
          <p:nvPr/>
        </p:nvSpPr>
        <p:spPr>
          <a:xfrm>
            <a:off x="2514600" y="2231136"/>
            <a:ext cx="2011680" cy="530352"/>
          </a:xfrm>
          <a:prstGeom prst="rect">
            <a:avLst/>
          </a:prstGeom>
          <a:solidFill>
            <a:srgbClr val="FFFFFF"/>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2" name="Google Shape;182;p7"/>
          <p:cNvSpPr/>
          <p:nvPr/>
        </p:nvSpPr>
        <p:spPr>
          <a:xfrm>
            <a:off x="2587752" y="2231136"/>
            <a:ext cx="19202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Required </a:t>
            </a:r>
            <a:endParaRPr sz="1000">
              <a:solidFill>
                <a:schemeClr val="dk1"/>
              </a:solidFill>
              <a:latin typeface="Calibri"/>
              <a:ea typeface="Calibri"/>
              <a:cs typeface="Calibri"/>
              <a:sym typeface="Calibri"/>
            </a:endParaRPr>
          </a:p>
        </p:txBody>
      </p:sp>
      <p:sp>
        <p:nvSpPr>
          <p:cNvPr id="183" name="Google Shape;183;p7"/>
          <p:cNvSpPr/>
          <p:nvPr/>
        </p:nvSpPr>
        <p:spPr>
          <a:xfrm>
            <a:off x="4526280" y="2231136"/>
            <a:ext cx="2011680" cy="530352"/>
          </a:xfrm>
          <a:prstGeom prst="rect">
            <a:avLst/>
          </a:prstGeom>
          <a:solidFill>
            <a:srgbClr val="FFFFFF"/>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4" name="Google Shape;184;p7"/>
          <p:cNvSpPr/>
          <p:nvPr/>
        </p:nvSpPr>
        <p:spPr>
          <a:xfrm>
            <a:off x="4599432" y="2231136"/>
            <a:ext cx="19202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Not required </a:t>
            </a:r>
            <a:endParaRPr sz="1000">
              <a:solidFill>
                <a:schemeClr val="dk1"/>
              </a:solidFill>
              <a:latin typeface="Calibri"/>
              <a:ea typeface="Calibri"/>
              <a:cs typeface="Calibri"/>
              <a:sym typeface="Calibri"/>
            </a:endParaRPr>
          </a:p>
        </p:txBody>
      </p:sp>
      <p:sp>
        <p:nvSpPr>
          <p:cNvPr id="185" name="Google Shape;185;p7"/>
          <p:cNvSpPr/>
          <p:nvPr/>
        </p:nvSpPr>
        <p:spPr>
          <a:xfrm>
            <a:off x="6537960" y="2231136"/>
            <a:ext cx="2468880" cy="530352"/>
          </a:xfrm>
          <a:prstGeom prst="rect">
            <a:avLst/>
          </a:prstGeom>
          <a:solidFill>
            <a:srgbClr val="FFFFFF"/>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6" name="Google Shape;186;p7"/>
          <p:cNvSpPr/>
          <p:nvPr/>
        </p:nvSpPr>
        <p:spPr>
          <a:xfrm>
            <a:off x="6611112" y="2231136"/>
            <a:ext cx="23774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Not required </a:t>
            </a:r>
            <a:endParaRPr sz="1000">
              <a:solidFill>
                <a:schemeClr val="dk1"/>
              </a:solidFill>
              <a:latin typeface="Calibri"/>
              <a:ea typeface="Calibri"/>
              <a:cs typeface="Calibri"/>
              <a:sym typeface="Calibri"/>
            </a:endParaRPr>
          </a:p>
        </p:txBody>
      </p:sp>
      <p:sp>
        <p:nvSpPr>
          <p:cNvPr id="187" name="Google Shape;187;p7"/>
          <p:cNvSpPr/>
          <p:nvPr/>
        </p:nvSpPr>
        <p:spPr>
          <a:xfrm>
            <a:off x="137160" y="2761488"/>
            <a:ext cx="2377440" cy="530352"/>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8" name="Google Shape;188;p7"/>
          <p:cNvSpPr/>
          <p:nvPr/>
        </p:nvSpPr>
        <p:spPr>
          <a:xfrm>
            <a:off x="210312" y="2761488"/>
            <a:ext cx="228600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050"/>
              <a:buFont typeface="Calibri"/>
              <a:buNone/>
            </a:pPr>
            <a:r>
              <a:rPr lang="en-US" sz="1050" b="1">
                <a:solidFill>
                  <a:srgbClr val="1F2937"/>
                </a:solidFill>
                <a:latin typeface="Calibri"/>
                <a:ea typeface="Calibri"/>
                <a:cs typeface="Calibri"/>
                <a:sym typeface="Calibri"/>
              </a:rPr>
              <a:t>Same patients?</a:t>
            </a:r>
            <a:endParaRPr sz="1050">
              <a:solidFill>
                <a:schemeClr val="dk1"/>
              </a:solidFill>
              <a:latin typeface="Calibri"/>
              <a:ea typeface="Calibri"/>
              <a:cs typeface="Calibri"/>
              <a:sym typeface="Calibri"/>
            </a:endParaRPr>
          </a:p>
        </p:txBody>
      </p:sp>
      <p:sp>
        <p:nvSpPr>
          <p:cNvPr id="189" name="Google Shape;189;p7"/>
          <p:cNvSpPr/>
          <p:nvPr/>
        </p:nvSpPr>
        <p:spPr>
          <a:xfrm>
            <a:off x="2514600" y="2761488"/>
            <a:ext cx="2011680" cy="530352"/>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0" name="Google Shape;190;p7"/>
          <p:cNvSpPr/>
          <p:nvPr/>
        </p:nvSpPr>
        <p:spPr>
          <a:xfrm>
            <a:off x="2587752" y="2761488"/>
            <a:ext cx="19202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Not required ✗</a:t>
            </a:r>
            <a:endParaRPr sz="1000">
              <a:solidFill>
                <a:schemeClr val="dk1"/>
              </a:solidFill>
              <a:latin typeface="Calibri"/>
              <a:ea typeface="Calibri"/>
              <a:cs typeface="Calibri"/>
              <a:sym typeface="Calibri"/>
            </a:endParaRPr>
          </a:p>
        </p:txBody>
      </p:sp>
      <p:sp>
        <p:nvSpPr>
          <p:cNvPr id="191" name="Google Shape;191;p7"/>
          <p:cNvSpPr/>
          <p:nvPr/>
        </p:nvSpPr>
        <p:spPr>
          <a:xfrm>
            <a:off x="4526280" y="2761488"/>
            <a:ext cx="2011680" cy="530352"/>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2" name="Google Shape;192;p7"/>
          <p:cNvSpPr/>
          <p:nvPr/>
        </p:nvSpPr>
        <p:spPr>
          <a:xfrm>
            <a:off x="4599432" y="2761488"/>
            <a:ext cx="19202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Not required </a:t>
            </a:r>
            <a:endParaRPr sz="1000">
              <a:solidFill>
                <a:schemeClr val="dk1"/>
              </a:solidFill>
              <a:latin typeface="Calibri"/>
              <a:ea typeface="Calibri"/>
              <a:cs typeface="Calibri"/>
              <a:sym typeface="Calibri"/>
            </a:endParaRPr>
          </a:p>
        </p:txBody>
      </p:sp>
      <p:sp>
        <p:nvSpPr>
          <p:cNvPr id="193" name="Google Shape;193;p7"/>
          <p:cNvSpPr/>
          <p:nvPr/>
        </p:nvSpPr>
        <p:spPr>
          <a:xfrm>
            <a:off x="6537960" y="2761488"/>
            <a:ext cx="2468880" cy="530352"/>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 name="Google Shape;194;p7"/>
          <p:cNvSpPr/>
          <p:nvPr/>
        </p:nvSpPr>
        <p:spPr>
          <a:xfrm>
            <a:off x="6611112" y="2761488"/>
            <a:ext cx="23774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Yes</a:t>
            </a:r>
            <a:endParaRPr sz="1000">
              <a:solidFill>
                <a:schemeClr val="dk1"/>
              </a:solidFill>
              <a:latin typeface="Calibri"/>
              <a:ea typeface="Calibri"/>
              <a:cs typeface="Calibri"/>
              <a:sym typeface="Calibri"/>
            </a:endParaRPr>
          </a:p>
        </p:txBody>
      </p:sp>
      <p:sp>
        <p:nvSpPr>
          <p:cNvPr id="195" name="Google Shape;195;p7"/>
          <p:cNvSpPr/>
          <p:nvPr/>
        </p:nvSpPr>
        <p:spPr>
          <a:xfrm>
            <a:off x="137160" y="3291840"/>
            <a:ext cx="2377440" cy="530352"/>
          </a:xfrm>
          <a:prstGeom prst="rect">
            <a:avLst/>
          </a:prstGeom>
          <a:solidFill>
            <a:srgbClr val="FFFFFF"/>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6" name="Google Shape;196;p7"/>
          <p:cNvSpPr/>
          <p:nvPr/>
        </p:nvSpPr>
        <p:spPr>
          <a:xfrm>
            <a:off x="210312" y="3291840"/>
            <a:ext cx="228600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050"/>
              <a:buFont typeface="Calibri"/>
              <a:buNone/>
            </a:pPr>
            <a:r>
              <a:rPr lang="en-US" sz="1050" b="1">
                <a:solidFill>
                  <a:srgbClr val="1F2937"/>
                </a:solidFill>
                <a:latin typeface="Calibri"/>
                <a:ea typeface="Calibri"/>
                <a:cs typeface="Calibri"/>
                <a:sym typeface="Calibri"/>
              </a:rPr>
              <a:t>Communication cost</a:t>
            </a:r>
            <a:endParaRPr sz="1050">
              <a:solidFill>
                <a:schemeClr val="dk1"/>
              </a:solidFill>
              <a:latin typeface="Calibri"/>
              <a:ea typeface="Calibri"/>
              <a:cs typeface="Calibri"/>
              <a:sym typeface="Calibri"/>
            </a:endParaRPr>
          </a:p>
        </p:txBody>
      </p:sp>
      <p:sp>
        <p:nvSpPr>
          <p:cNvPr id="197" name="Google Shape;197;p7"/>
          <p:cNvSpPr/>
          <p:nvPr/>
        </p:nvSpPr>
        <p:spPr>
          <a:xfrm>
            <a:off x="2514600" y="3291840"/>
            <a:ext cx="2011680" cy="530352"/>
          </a:xfrm>
          <a:prstGeom prst="rect">
            <a:avLst/>
          </a:prstGeom>
          <a:solidFill>
            <a:srgbClr val="FFFFFF"/>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8" name="Google Shape;198;p7"/>
          <p:cNvSpPr/>
          <p:nvPr/>
        </p:nvSpPr>
        <p:spPr>
          <a:xfrm>
            <a:off x="2587752" y="3291840"/>
            <a:ext cx="19202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Body weights</a:t>
            </a:r>
            <a:endParaRPr sz="1000">
              <a:solidFill>
                <a:schemeClr val="dk1"/>
              </a:solidFill>
              <a:latin typeface="Calibri"/>
              <a:ea typeface="Calibri"/>
              <a:cs typeface="Calibri"/>
              <a:sym typeface="Calibri"/>
            </a:endParaRPr>
          </a:p>
        </p:txBody>
      </p:sp>
      <p:sp>
        <p:nvSpPr>
          <p:cNvPr id="199" name="Google Shape;199;p7"/>
          <p:cNvSpPr/>
          <p:nvPr/>
        </p:nvSpPr>
        <p:spPr>
          <a:xfrm>
            <a:off x="4526280" y="3291840"/>
            <a:ext cx="2011680" cy="530352"/>
          </a:xfrm>
          <a:prstGeom prst="rect">
            <a:avLst/>
          </a:prstGeom>
          <a:solidFill>
            <a:srgbClr val="FFFFFF"/>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0" name="Google Shape;200;p7"/>
          <p:cNvSpPr/>
          <p:nvPr/>
        </p:nvSpPr>
        <p:spPr>
          <a:xfrm>
            <a:off x="4599432" y="3291840"/>
            <a:ext cx="19202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2 tiny vectors</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per round</a:t>
            </a:r>
            <a:endParaRPr sz="1000">
              <a:solidFill>
                <a:schemeClr val="dk1"/>
              </a:solidFill>
              <a:latin typeface="Calibri"/>
              <a:ea typeface="Calibri"/>
              <a:cs typeface="Calibri"/>
              <a:sym typeface="Calibri"/>
            </a:endParaRPr>
          </a:p>
        </p:txBody>
      </p:sp>
      <p:sp>
        <p:nvSpPr>
          <p:cNvPr id="201" name="Google Shape;201;p7"/>
          <p:cNvSpPr/>
          <p:nvPr/>
        </p:nvSpPr>
        <p:spPr>
          <a:xfrm>
            <a:off x="6537960" y="3291840"/>
            <a:ext cx="2468880" cy="530352"/>
          </a:xfrm>
          <a:prstGeom prst="rect">
            <a:avLst/>
          </a:prstGeom>
          <a:solidFill>
            <a:srgbClr val="FFFFFF"/>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2" name="Google Shape;202;p7"/>
          <p:cNvSpPr/>
          <p:nvPr/>
        </p:nvSpPr>
        <p:spPr>
          <a:xfrm>
            <a:off x="6611112" y="3291840"/>
            <a:ext cx="23774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Encrypted gradients</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 encoders</a:t>
            </a:r>
            <a:endParaRPr sz="1000">
              <a:solidFill>
                <a:schemeClr val="dk1"/>
              </a:solidFill>
              <a:latin typeface="Calibri"/>
              <a:ea typeface="Calibri"/>
              <a:cs typeface="Calibri"/>
              <a:sym typeface="Calibri"/>
            </a:endParaRPr>
          </a:p>
        </p:txBody>
      </p:sp>
      <p:sp>
        <p:nvSpPr>
          <p:cNvPr id="203" name="Google Shape;203;p7"/>
          <p:cNvSpPr/>
          <p:nvPr/>
        </p:nvSpPr>
        <p:spPr>
          <a:xfrm>
            <a:off x="137160" y="3822192"/>
            <a:ext cx="2377440" cy="530352"/>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4" name="Google Shape;204;p7"/>
          <p:cNvSpPr/>
          <p:nvPr/>
        </p:nvSpPr>
        <p:spPr>
          <a:xfrm>
            <a:off x="210312" y="3822192"/>
            <a:ext cx="228600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050"/>
              <a:buFont typeface="Calibri"/>
              <a:buNone/>
            </a:pPr>
            <a:r>
              <a:rPr lang="en-US" sz="1050" b="1">
                <a:solidFill>
                  <a:srgbClr val="1F2937"/>
                </a:solidFill>
                <a:latin typeface="Calibri"/>
                <a:ea typeface="Calibri"/>
                <a:cs typeface="Calibri"/>
                <a:sym typeface="Calibri"/>
              </a:rPr>
              <a:t>Limitation</a:t>
            </a:r>
            <a:endParaRPr sz="1050">
              <a:solidFill>
                <a:schemeClr val="dk1"/>
              </a:solidFill>
              <a:latin typeface="Calibri"/>
              <a:ea typeface="Calibri"/>
              <a:cs typeface="Calibri"/>
              <a:sym typeface="Calibri"/>
            </a:endParaRPr>
          </a:p>
        </p:txBody>
      </p:sp>
      <p:sp>
        <p:nvSpPr>
          <p:cNvPr id="205" name="Google Shape;205;p7"/>
          <p:cNvSpPr/>
          <p:nvPr/>
        </p:nvSpPr>
        <p:spPr>
          <a:xfrm>
            <a:off x="2514600" y="3822192"/>
            <a:ext cx="2011680" cy="530352"/>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6" name="Google Shape;206;p7"/>
          <p:cNvSpPr/>
          <p:nvPr/>
        </p:nvSpPr>
        <p:spPr>
          <a:xfrm>
            <a:off x="2587752" y="3822192"/>
            <a:ext cx="19202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91B1B"/>
              </a:buClr>
              <a:buSzPts val="1000"/>
              <a:buFont typeface="Calibri"/>
              <a:buNone/>
            </a:pPr>
            <a:r>
              <a:rPr lang="en-US" sz="1000">
                <a:solidFill>
                  <a:srgbClr val="991B1B"/>
                </a:solidFill>
                <a:latin typeface="Calibri"/>
                <a:ea typeface="Calibri"/>
                <a:cs typeface="Calibri"/>
                <a:sym typeface="Calibri"/>
              </a:rPr>
              <a:t>Can't handle feature</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991B1B"/>
              </a:buClr>
              <a:buSzPts val="1000"/>
              <a:buFont typeface="Calibri"/>
              <a:buNone/>
            </a:pPr>
            <a:r>
              <a:rPr lang="en-US" sz="1000">
                <a:solidFill>
                  <a:srgbClr val="991B1B"/>
                </a:solidFill>
                <a:latin typeface="Calibri"/>
                <a:ea typeface="Calibri"/>
                <a:cs typeface="Calibri"/>
                <a:sym typeface="Calibri"/>
              </a:rPr>
              <a:t>heterogeneity</a:t>
            </a:r>
            <a:endParaRPr sz="1000">
              <a:solidFill>
                <a:schemeClr val="dk1"/>
              </a:solidFill>
              <a:latin typeface="Calibri"/>
              <a:ea typeface="Calibri"/>
              <a:cs typeface="Calibri"/>
              <a:sym typeface="Calibri"/>
            </a:endParaRPr>
          </a:p>
        </p:txBody>
      </p:sp>
      <p:sp>
        <p:nvSpPr>
          <p:cNvPr id="207" name="Google Shape;207;p7"/>
          <p:cNvSpPr/>
          <p:nvPr/>
        </p:nvSpPr>
        <p:spPr>
          <a:xfrm>
            <a:off x="4526280" y="3822192"/>
            <a:ext cx="2011680" cy="530352"/>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8" name="Google Shape;208;p7"/>
          <p:cNvSpPr/>
          <p:nvPr/>
        </p:nvSpPr>
        <p:spPr>
          <a:xfrm>
            <a:off x="4599432" y="3822192"/>
            <a:ext cx="19202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91B1B"/>
              </a:buClr>
              <a:buSzPts val="1000"/>
              <a:buFont typeface="Calibri"/>
              <a:buNone/>
            </a:pPr>
            <a:r>
              <a:rPr lang="en-US" sz="1000">
                <a:solidFill>
                  <a:srgbClr val="991B1B"/>
                </a:solidFill>
                <a:latin typeface="Calibri"/>
                <a:ea typeface="Calibri"/>
                <a:cs typeface="Calibri"/>
                <a:sym typeface="Calibri"/>
              </a:rPr>
              <a:t>No feature-group</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991B1B"/>
              </a:buClr>
              <a:buSzPts val="1000"/>
              <a:buFont typeface="Calibri"/>
              <a:buNone/>
            </a:pPr>
            <a:r>
              <a:rPr lang="en-US" sz="1000">
                <a:solidFill>
                  <a:srgbClr val="991B1B"/>
                </a:solidFill>
                <a:latin typeface="Calibri"/>
                <a:ea typeface="Calibri"/>
                <a:cs typeface="Calibri"/>
                <a:sym typeface="Calibri"/>
              </a:rPr>
              <a:t>structure</a:t>
            </a:r>
            <a:endParaRPr sz="1000">
              <a:solidFill>
                <a:schemeClr val="dk1"/>
              </a:solidFill>
              <a:latin typeface="Calibri"/>
              <a:ea typeface="Calibri"/>
              <a:cs typeface="Calibri"/>
              <a:sym typeface="Calibri"/>
            </a:endParaRPr>
          </a:p>
        </p:txBody>
      </p:sp>
      <p:sp>
        <p:nvSpPr>
          <p:cNvPr id="209" name="Google Shape;209;p7"/>
          <p:cNvSpPr/>
          <p:nvPr/>
        </p:nvSpPr>
        <p:spPr>
          <a:xfrm>
            <a:off x="6537960" y="3822192"/>
            <a:ext cx="2468880" cy="530352"/>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0" name="Google Shape;210;p7"/>
          <p:cNvSpPr/>
          <p:nvPr/>
        </p:nvSpPr>
        <p:spPr>
          <a:xfrm>
            <a:off x="6611112" y="3822192"/>
            <a:ext cx="23774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91B1B"/>
              </a:buClr>
              <a:buSzPts val="1000"/>
              <a:buFont typeface="Calibri"/>
              <a:buNone/>
            </a:pPr>
            <a:r>
              <a:rPr lang="en-US" sz="1000">
                <a:solidFill>
                  <a:srgbClr val="991B1B"/>
                </a:solidFill>
                <a:latin typeface="Calibri"/>
                <a:ea typeface="Calibri"/>
                <a:cs typeface="Calibri"/>
                <a:sym typeface="Calibri"/>
              </a:rPr>
              <a:t>Assumes same samples, different features across sites (VFL)</a:t>
            </a:r>
            <a:endParaRPr sz="1000">
              <a:solidFill>
                <a:schemeClr val="dk1"/>
              </a:solidFill>
              <a:latin typeface="Calibri"/>
              <a:ea typeface="Calibri"/>
              <a:cs typeface="Calibri"/>
              <a:sym typeface="Calibri"/>
            </a:endParaRPr>
          </a:p>
        </p:txBody>
      </p:sp>
      <p:sp>
        <p:nvSpPr>
          <p:cNvPr id="211" name="Google Shape;211;p7"/>
          <p:cNvSpPr/>
          <p:nvPr/>
        </p:nvSpPr>
        <p:spPr>
          <a:xfrm>
            <a:off x="365760" y="4791456"/>
            <a:ext cx="8412480"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050">
                <a:solidFill>
                  <a:schemeClr val="accent1"/>
                </a:solidFill>
                <a:latin typeface="Calibri"/>
                <a:ea typeface="Calibri"/>
                <a:cs typeface="Calibri"/>
                <a:sym typeface="Calibri"/>
              </a:rPr>
              <a:t>No single method handles both sample and feature heterogeneity ; our pipeline needs to handle both. Our proposal: combine class prototype alignment and clinical feature grouping structure with body-head decoupling. </a:t>
            </a:r>
            <a:endParaRPr sz="1050">
              <a:solidFill>
                <a:schemeClr val="accent1"/>
              </a:solidFill>
              <a:latin typeface="Calibri"/>
              <a:ea typeface="Calibri"/>
              <a:cs typeface="Calibri"/>
              <a:sym typeface="Calibri"/>
            </a:endParaRPr>
          </a:p>
          <a:p>
            <a:pPr marL="0" marR="0" lvl="0" indent="0" algn="ctr" rtl="0">
              <a:spcBef>
                <a:spcPts val="0"/>
              </a:spcBef>
              <a:spcAft>
                <a:spcPts val="0"/>
              </a:spcAft>
              <a:buClr>
                <a:schemeClr val="dk1"/>
              </a:buClr>
              <a:buSzPts val="1050"/>
              <a:buFont typeface="Calibri"/>
              <a:buNone/>
            </a:pPr>
            <a:endParaRPr sz="105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6"/>
        <p:cNvGrpSpPr/>
        <p:nvPr/>
      </p:nvGrpSpPr>
      <p:grpSpPr>
        <a:xfrm>
          <a:off x="0" y="0"/>
          <a:ext cx="0" cy="0"/>
          <a:chOff x="0" y="0"/>
          <a:chExt cx="0" cy="0"/>
        </a:xfrm>
      </p:grpSpPr>
      <p:sp>
        <p:nvSpPr>
          <p:cNvPr id="217" name="Google Shape;217;p8"/>
          <p:cNvSpPr/>
          <p:nvPr/>
        </p:nvSpPr>
        <p:spPr>
          <a:xfrm>
            <a:off x="0" y="0"/>
            <a:ext cx="9144000" cy="685800"/>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8" name="Google Shape;218;p8"/>
          <p:cNvSpPr/>
          <p:nvPr/>
        </p:nvSpPr>
        <p:spPr>
          <a:xfrm>
            <a:off x="320040" y="0"/>
            <a:ext cx="850392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2200"/>
              <a:buFont typeface="Calibri"/>
              <a:buNone/>
            </a:pPr>
            <a:r>
              <a:rPr lang="en-US" sz="2200" b="1">
                <a:solidFill>
                  <a:srgbClr val="1F2937"/>
                </a:solidFill>
                <a:latin typeface="Calibri"/>
                <a:ea typeface="Calibri"/>
                <a:cs typeface="Calibri"/>
                <a:sym typeface="Calibri"/>
              </a:rPr>
              <a:t>Our Design: Simulating Heterogeneity from MIMIC-IV</a:t>
            </a:r>
            <a:endParaRPr sz="2200">
              <a:solidFill>
                <a:schemeClr val="dk1"/>
              </a:solidFill>
              <a:latin typeface="Calibri"/>
              <a:ea typeface="Calibri"/>
              <a:cs typeface="Calibri"/>
              <a:sym typeface="Calibri"/>
            </a:endParaRPr>
          </a:p>
        </p:txBody>
      </p:sp>
      <p:sp>
        <p:nvSpPr>
          <p:cNvPr id="219" name="Google Shape;219;p8"/>
          <p:cNvSpPr/>
          <p:nvPr/>
        </p:nvSpPr>
        <p:spPr>
          <a:xfrm>
            <a:off x="0" y="685800"/>
            <a:ext cx="9144000" cy="36576"/>
          </a:xfrm>
          <a:prstGeom prst="rect">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0" name="Google Shape;220;p8"/>
          <p:cNvSpPr/>
          <p:nvPr/>
        </p:nvSpPr>
        <p:spPr>
          <a:xfrm>
            <a:off x="365760" y="795528"/>
            <a:ext cx="8412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MIMIC-IV is a single-site dataset. We apply two controlled degradations to simulate realistic multi-hospital FTL:</a:t>
            </a:r>
            <a:endParaRPr sz="1100">
              <a:solidFill>
                <a:schemeClr val="dk1"/>
              </a:solidFill>
              <a:latin typeface="Calibri"/>
              <a:ea typeface="Calibri"/>
              <a:cs typeface="Calibri"/>
              <a:sym typeface="Calibri"/>
            </a:endParaRPr>
          </a:p>
        </p:txBody>
      </p:sp>
      <p:sp>
        <p:nvSpPr>
          <p:cNvPr id="221" name="Google Shape;221;p8"/>
          <p:cNvSpPr/>
          <p:nvPr/>
        </p:nvSpPr>
        <p:spPr>
          <a:xfrm>
            <a:off x="365760" y="1133856"/>
            <a:ext cx="8412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200"/>
              <a:buFont typeface="Calibri"/>
              <a:buNone/>
            </a:pPr>
            <a:r>
              <a:rPr lang="en-US" sz="1200" b="1">
                <a:solidFill>
                  <a:srgbClr val="1D4ED8"/>
                </a:solidFill>
                <a:latin typeface="Calibri"/>
                <a:ea typeface="Calibri"/>
                <a:cs typeface="Calibri"/>
                <a:sym typeface="Calibri"/>
              </a:rPr>
              <a:t>Two degradation mechanisms</a:t>
            </a:r>
            <a:endParaRPr sz="1200">
              <a:solidFill>
                <a:schemeClr val="dk1"/>
              </a:solidFill>
              <a:latin typeface="Calibri"/>
              <a:ea typeface="Calibri"/>
              <a:cs typeface="Calibri"/>
              <a:sym typeface="Calibri"/>
            </a:endParaRPr>
          </a:p>
        </p:txBody>
      </p:sp>
      <p:sp>
        <p:nvSpPr>
          <p:cNvPr id="222" name="Google Shape;222;p8"/>
          <p:cNvSpPr/>
          <p:nvPr/>
        </p:nvSpPr>
        <p:spPr>
          <a:xfrm>
            <a:off x="365760" y="1408176"/>
            <a:ext cx="8412480" cy="18288"/>
          </a:xfrm>
          <a:prstGeom prst="rect">
            <a:avLst/>
          </a:prstGeom>
          <a:solidFill>
            <a:srgbClr val="D1D5D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3" name="Google Shape;223;p8"/>
          <p:cNvSpPr/>
          <p:nvPr/>
        </p:nvSpPr>
        <p:spPr>
          <a:xfrm>
            <a:off x="457200" y="1444752"/>
            <a:ext cx="822960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  Dirichlet partitioning (α): controls AKI class imbalance across sites. Low α (0.1) = highly non-IID. High α (1.0) ≈ IID.</a:t>
            </a:r>
            <a:endParaRPr sz="1100">
              <a:solidFill>
                <a:schemeClr val="dk1"/>
              </a:solidFill>
              <a:latin typeface="Calibri"/>
              <a:ea typeface="Calibri"/>
              <a:cs typeface="Calibri"/>
              <a:sym typeface="Calibri"/>
            </a:endParaRPr>
          </a:p>
        </p:txBody>
      </p:sp>
      <p:sp>
        <p:nvSpPr>
          <p:cNvPr id="224" name="Google Shape;224;p8"/>
          <p:cNvSpPr/>
          <p:nvPr/>
        </p:nvSpPr>
        <p:spPr>
          <a:xfrm>
            <a:off x="457200" y="1792224"/>
            <a:ext cx="822960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  Feature masking by clinical domain: reflects reality that different EHR systems collect different variables. Clinically motivated, not arbitrary.</a:t>
            </a:r>
            <a:endParaRPr sz="1100">
              <a:solidFill>
                <a:schemeClr val="dk1"/>
              </a:solidFill>
              <a:latin typeface="Calibri"/>
              <a:ea typeface="Calibri"/>
              <a:cs typeface="Calibri"/>
              <a:sym typeface="Calibri"/>
            </a:endParaRPr>
          </a:p>
        </p:txBody>
      </p:sp>
      <p:sp>
        <p:nvSpPr>
          <p:cNvPr id="225" name="Google Shape;225;p8"/>
          <p:cNvSpPr/>
          <p:nvPr/>
        </p:nvSpPr>
        <p:spPr>
          <a:xfrm>
            <a:off x="365760" y="2212848"/>
            <a:ext cx="8412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200"/>
              <a:buFont typeface="Calibri"/>
              <a:buNone/>
            </a:pPr>
            <a:r>
              <a:rPr lang="en-US" sz="1200" b="1">
                <a:solidFill>
                  <a:srgbClr val="1D4ED8"/>
                </a:solidFill>
                <a:latin typeface="Calibri"/>
                <a:ea typeface="Calibri"/>
                <a:cs typeface="Calibri"/>
                <a:sym typeface="Calibri"/>
              </a:rPr>
              <a:t>Simulated sites</a:t>
            </a:r>
            <a:endParaRPr sz="1200">
              <a:solidFill>
                <a:schemeClr val="dk1"/>
              </a:solidFill>
              <a:latin typeface="Calibri"/>
              <a:ea typeface="Calibri"/>
              <a:cs typeface="Calibri"/>
              <a:sym typeface="Calibri"/>
            </a:endParaRPr>
          </a:p>
        </p:txBody>
      </p:sp>
      <p:sp>
        <p:nvSpPr>
          <p:cNvPr id="226" name="Google Shape;226;p8"/>
          <p:cNvSpPr/>
          <p:nvPr/>
        </p:nvSpPr>
        <p:spPr>
          <a:xfrm>
            <a:off x="365760" y="2487168"/>
            <a:ext cx="8412480" cy="18288"/>
          </a:xfrm>
          <a:prstGeom prst="rect">
            <a:avLst/>
          </a:prstGeom>
          <a:solidFill>
            <a:srgbClr val="D1D5D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7" name="Google Shape;227;p8"/>
          <p:cNvSpPr/>
          <p:nvPr/>
        </p:nvSpPr>
        <p:spPr>
          <a:xfrm>
            <a:off x="320040" y="2542032"/>
            <a:ext cx="8503920" cy="402336"/>
          </a:xfrm>
          <a:prstGeom prst="rect">
            <a:avLst/>
          </a:prstGeom>
          <a:solidFill>
            <a:srgbClr val="EFF6FF"/>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8" name="Google Shape;228;p8"/>
          <p:cNvSpPr/>
          <p:nvPr/>
        </p:nvSpPr>
        <p:spPr>
          <a:xfrm>
            <a:off x="457200" y="2578608"/>
            <a:ext cx="192024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000"/>
              <a:buFont typeface="Calibri"/>
              <a:buNone/>
            </a:pPr>
            <a:r>
              <a:rPr lang="en-US" sz="1000" b="1">
                <a:solidFill>
                  <a:srgbClr val="1D4ED8"/>
                </a:solidFill>
                <a:latin typeface="Calibri"/>
                <a:ea typeface="Calibri"/>
                <a:cs typeface="Calibri"/>
                <a:sym typeface="Calibri"/>
              </a:rPr>
              <a:t>MIMIC-IV: Site C</a:t>
            </a:r>
            <a:endParaRPr sz="1000">
              <a:solidFill>
                <a:schemeClr val="dk1"/>
              </a:solidFill>
              <a:latin typeface="Calibri"/>
              <a:ea typeface="Calibri"/>
              <a:cs typeface="Calibri"/>
              <a:sym typeface="Calibri"/>
            </a:endParaRPr>
          </a:p>
        </p:txBody>
      </p:sp>
      <p:sp>
        <p:nvSpPr>
          <p:cNvPr id="229" name="Google Shape;229;p8"/>
          <p:cNvSpPr/>
          <p:nvPr/>
        </p:nvSpPr>
        <p:spPr>
          <a:xfrm>
            <a:off x="2377440" y="2578608"/>
            <a:ext cx="41148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Full feature set: 109 columns across all 5 clinical groups</a:t>
            </a:r>
            <a:endParaRPr sz="950">
              <a:solidFill>
                <a:schemeClr val="dk1"/>
              </a:solidFill>
              <a:latin typeface="Calibri"/>
              <a:ea typeface="Calibri"/>
              <a:cs typeface="Calibri"/>
              <a:sym typeface="Calibri"/>
            </a:endParaRPr>
          </a:p>
        </p:txBody>
      </p:sp>
      <p:sp>
        <p:nvSpPr>
          <p:cNvPr id="230" name="Google Shape;230;p8"/>
          <p:cNvSpPr/>
          <p:nvPr/>
        </p:nvSpPr>
        <p:spPr>
          <a:xfrm>
            <a:off x="6492240" y="2578608"/>
            <a:ext cx="2194560" cy="32918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7280"/>
              </a:buClr>
              <a:buSzPts val="900"/>
              <a:buFont typeface="Calibri"/>
              <a:buNone/>
            </a:pPr>
            <a:r>
              <a:rPr lang="en-US" sz="900" i="1">
                <a:solidFill>
                  <a:srgbClr val="6B7280"/>
                </a:solidFill>
                <a:latin typeface="Calibri"/>
                <a:ea typeface="Calibri"/>
                <a:cs typeface="Calibri"/>
                <a:sym typeface="Calibri"/>
              </a:rPr>
              <a:t>Academic anchor · AKI rate 9.0% (last encounter, 48h lookback)</a:t>
            </a:r>
            <a:endParaRPr sz="900">
              <a:solidFill>
                <a:schemeClr val="dk1"/>
              </a:solidFill>
              <a:latin typeface="Calibri"/>
              <a:ea typeface="Calibri"/>
              <a:cs typeface="Calibri"/>
              <a:sym typeface="Calibri"/>
            </a:endParaRPr>
          </a:p>
        </p:txBody>
      </p:sp>
      <p:sp>
        <p:nvSpPr>
          <p:cNvPr id="231" name="Google Shape;231;p8"/>
          <p:cNvSpPr/>
          <p:nvPr/>
        </p:nvSpPr>
        <p:spPr>
          <a:xfrm>
            <a:off x="320040" y="2990088"/>
            <a:ext cx="8503920" cy="402336"/>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2" name="Google Shape;232;p8"/>
          <p:cNvSpPr/>
          <p:nvPr/>
        </p:nvSpPr>
        <p:spPr>
          <a:xfrm>
            <a:off x="457200" y="3026664"/>
            <a:ext cx="192024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000"/>
              <a:buFont typeface="Calibri"/>
              <a:buNone/>
            </a:pPr>
            <a:r>
              <a:rPr lang="en-US" sz="1000" b="1">
                <a:solidFill>
                  <a:srgbClr val="1F2937"/>
                </a:solidFill>
                <a:latin typeface="Calibri"/>
                <a:ea typeface="Calibri"/>
                <a:cs typeface="Calibri"/>
                <a:sym typeface="Calibri"/>
              </a:rPr>
              <a:t>Site A: ICU</a:t>
            </a:r>
            <a:endParaRPr sz="1000">
              <a:solidFill>
                <a:schemeClr val="dk1"/>
              </a:solidFill>
              <a:latin typeface="Calibri"/>
              <a:ea typeface="Calibri"/>
              <a:cs typeface="Calibri"/>
              <a:sym typeface="Calibri"/>
            </a:endParaRPr>
          </a:p>
        </p:txBody>
      </p:sp>
      <p:sp>
        <p:nvSpPr>
          <p:cNvPr id="233" name="Google Shape;233;p8"/>
          <p:cNvSpPr/>
          <p:nvPr/>
        </p:nvSpPr>
        <p:spPr>
          <a:xfrm>
            <a:off x="2377440" y="3026664"/>
            <a:ext cx="41148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Renal, Inflammatory, Clinical (39 features)  |  AKI prevalence 23.4%</a:t>
            </a:r>
            <a:endParaRPr sz="950">
              <a:solidFill>
                <a:schemeClr val="dk1"/>
              </a:solidFill>
              <a:latin typeface="Calibri"/>
              <a:ea typeface="Calibri"/>
              <a:cs typeface="Calibri"/>
              <a:sym typeface="Calibri"/>
            </a:endParaRPr>
          </a:p>
        </p:txBody>
      </p:sp>
      <p:sp>
        <p:nvSpPr>
          <p:cNvPr id="234" name="Google Shape;234;p8"/>
          <p:cNvSpPr/>
          <p:nvPr/>
        </p:nvSpPr>
        <p:spPr>
          <a:xfrm>
            <a:off x="6492240" y="3026664"/>
            <a:ext cx="2194560" cy="32918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7280"/>
              </a:buClr>
              <a:buSzPts val="900"/>
              <a:buFont typeface="Calibri"/>
              <a:buNone/>
            </a:pPr>
            <a:r>
              <a:rPr lang="en-US" sz="900" i="1">
                <a:solidFill>
                  <a:srgbClr val="6B7280"/>
                </a:solidFill>
                <a:latin typeface="Calibri"/>
                <a:ea typeface="Calibri"/>
                <a:cs typeface="Calibri"/>
                <a:sym typeface="Calibri"/>
              </a:rPr>
              <a:t>Missing: Hemodynamic, Metabolic</a:t>
            </a:r>
            <a:endParaRPr sz="900">
              <a:solidFill>
                <a:schemeClr val="dk1"/>
              </a:solidFill>
              <a:latin typeface="Calibri"/>
              <a:ea typeface="Calibri"/>
              <a:cs typeface="Calibri"/>
              <a:sym typeface="Calibri"/>
            </a:endParaRPr>
          </a:p>
        </p:txBody>
      </p:sp>
      <p:sp>
        <p:nvSpPr>
          <p:cNvPr id="235" name="Google Shape;235;p8"/>
          <p:cNvSpPr/>
          <p:nvPr/>
        </p:nvSpPr>
        <p:spPr>
          <a:xfrm>
            <a:off x="320040" y="3438144"/>
            <a:ext cx="8503920" cy="402336"/>
          </a:xfrm>
          <a:prstGeom prst="rect">
            <a:avLst/>
          </a:prstGeom>
          <a:solidFill>
            <a:srgbClr val="FFFFFF"/>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6" name="Google Shape;236;p8"/>
          <p:cNvSpPr/>
          <p:nvPr/>
        </p:nvSpPr>
        <p:spPr>
          <a:xfrm>
            <a:off x="457200" y="3474720"/>
            <a:ext cx="192024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000"/>
              <a:buFont typeface="Calibri"/>
              <a:buNone/>
            </a:pPr>
            <a:r>
              <a:rPr lang="en-US" sz="1000" b="1">
                <a:solidFill>
                  <a:srgbClr val="1F2937"/>
                </a:solidFill>
                <a:latin typeface="Calibri"/>
                <a:ea typeface="Calibri"/>
                <a:cs typeface="Calibri"/>
                <a:sym typeface="Calibri"/>
              </a:rPr>
              <a:t>Site B: General Ward</a:t>
            </a:r>
            <a:endParaRPr sz="1000">
              <a:solidFill>
                <a:schemeClr val="dk1"/>
              </a:solidFill>
              <a:latin typeface="Calibri"/>
              <a:ea typeface="Calibri"/>
              <a:cs typeface="Calibri"/>
              <a:sym typeface="Calibri"/>
            </a:endParaRPr>
          </a:p>
        </p:txBody>
      </p:sp>
      <p:sp>
        <p:nvSpPr>
          <p:cNvPr id="237" name="Google Shape;237;p8"/>
          <p:cNvSpPr/>
          <p:nvPr/>
        </p:nvSpPr>
        <p:spPr>
          <a:xfrm>
            <a:off x="2377440" y="3474720"/>
            <a:ext cx="41148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950"/>
              <a:buFont typeface="Calibri"/>
              <a:buNone/>
            </a:pPr>
            <a:r>
              <a:rPr lang="en-US" sz="950" dirty="0">
                <a:solidFill>
                  <a:srgbClr val="374151"/>
                </a:solidFill>
                <a:latin typeface="Calibri"/>
                <a:ea typeface="Calibri"/>
                <a:cs typeface="Calibri"/>
                <a:sym typeface="Calibri"/>
              </a:rPr>
              <a:t>Renal, Metabolic, Clinical (59 features)  |  AKI prevalence 11.0%</a:t>
            </a:r>
            <a:endParaRPr sz="950" dirty="0">
              <a:solidFill>
                <a:schemeClr val="dk1"/>
              </a:solidFill>
              <a:latin typeface="Calibri"/>
              <a:ea typeface="Calibri"/>
              <a:cs typeface="Calibri"/>
              <a:sym typeface="Calibri"/>
            </a:endParaRPr>
          </a:p>
        </p:txBody>
      </p:sp>
      <p:sp>
        <p:nvSpPr>
          <p:cNvPr id="238" name="Google Shape;238;p8"/>
          <p:cNvSpPr/>
          <p:nvPr/>
        </p:nvSpPr>
        <p:spPr>
          <a:xfrm>
            <a:off x="6492240" y="3474720"/>
            <a:ext cx="2194560" cy="32918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7280"/>
              </a:buClr>
              <a:buSzPts val="900"/>
              <a:buFont typeface="Calibri"/>
              <a:buNone/>
            </a:pPr>
            <a:r>
              <a:rPr lang="en-US" sz="900" i="1">
                <a:solidFill>
                  <a:srgbClr val="6B7280"/>
                </a:solidFill>
                <a:latin typeface="Calibri"/>
                <a:ea typeface="Calibri"/>
                <a:cs typeface="Calibri"/>
                <a:sym typeface="Calibri"/>
              </a:rPr>
              <a:t>Missing: Hemodynamic, Inflammatory</a:t>
            </a:r>
            <a:endParaRPr sz="900">
              <a:solidFill>
                <a:schemeClr val="dk1"/>
              </a:solidFill>
              <a:latin typeface="Calibri"/>
              <a:ea typeface="Calibri"/>
              <a:cs typeface="Calibri"/>
              <a:sym typeface="Calibri"/>
            </a:endParaRPr>
          </a:p>
        </p:txBody>
      </p:sp>
      <p:sp>
        <p:nvSpPr>
          <p:cNvPr id="239" name="Google Shape;239;p8"/>
          <p:cNvSpPr/>
          <p:nvPr/>
        </p:nvSpPr>
        <p:spPr>
          <a:xfrm>
            <a:off x="320040" y="3886200"/>
            <a:ext cx="8503920" cy="402336"/>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0" name="Google Shape;240;p8"/>
          <p:cNvSpPr/>
          <p:nvPr/>
        </p:nvSpPr>
        <p:spPr>
          <a:xfrm>
            <a:off x="457200" y="3922776"/>
            <a:ext cx="192024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000"/>
              <a:buFont typeface="Calibri"/>
              <a:buNone/>
            </a:pPr>
            <a:r>
              <a:rPr lang="en-US" sz="1000" b="1">
                <a:solidFill>
                  <a:srgbClr val="1F2937"/>
                </a:solidFill>
                <a:latin typeface="Calibri"/>
                <a:ea typeface="Calibri"/>
                <a:cs typeface="Calibri"/>
                <a:sym typeface="Calibri"/>
              </a:rPr>
              <a:t>Site D : Community</a:t>
            </a:r>
            <a:endParaRPr sz="1000">
              <a:solidFill>
                <a:schemeClr val="dk1"/>
              </a:solidFill>
              <a:latin typeface="Calibri"/>
              <a:ea typeface="Calibri"/>
              <a:cs typeface="Calibri"/>
              <a:sym typeface="Calibri"/>
            </a:endParaRPr>
          </a:p>
        </p:txBody>
      </p:sp>
      <p:sp>
        <p:nvSpPr>
          <p:cNvPr id="241" name="Google Shape;241;p8"/>
          <p:cNvSpPr/>
          <p:nvPr/>
        </p:nvSpPr>
        <p:spPr>
          <a:xfrm>
            <a:off x="2377440" y="3922776"/>
            <a:ext cx="41148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950"/>
              <a:buFont typeface="Calibri"/>
              <a:buNone/>
            </a:pPr>
            <a:r>
              <a:rPr lang="en-US" sz="950" dirty="0">
                <a:solidFill>
                  <a:srgbClr val="374151"/>
                </a:solidFill>
                <a:latin typeface="Calibri"/>
                <a:ea typeface="Calibri"/>
                <a:cs typeface="Calibri"/>
                <a:sym typeface="Calibri"/>
              </a:rPr>
              <a:t>Metabolic, Clinical (47 features)  |  AKI prevalence 7.7%</a:t>
            </a:r>
            <a:endParaRPr sz="950" dirty="0">
              <a:solidFill>
                <a:schemeClr val="dk1"/>
              </a:solidFill>
              <a:latin typeface="Calibri"/>
              <a:ea typeface="Calibri"/>
              <a:cs typeface="Calibri"/>
              <a:sym typeface="Calibri"/>
            </a:endParaRPr>
          </a:p>
        </p:txBody>
      </p:sp>
      <p:sp>
        <p:nvSpPr>
          <p:cNvPr id="242" name="Google Shape;242;p8"/>
          <p:cNvSpPr/>
          <p:nvPr/>
        </p:nvSpPr>
        <p:spPr>
          <a:xfrm>
            <a:off x="6492240" y="3922776"/>
            <a:ext cx="2194560" cy="32918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7280"/>
              </a:buClr>
              <a:buSzPts val="900"/>
              <a:buFont typeface="Calibri"/>
              <a:buNone/>
            </a:pPr>
            <a:r>
              <a:rPr lang="en-US" sz="900" i="1">
                <a:solidFill>
                  <a:srgbClr val="6B7280"/>
                </a:solidFill>
                <a:latin typeface="Calibri"/>
                <a:ea typeface="Calibri"/>
                <a:cs typeface="Calibri"/>
                <a:sym typeface="Calibri"/>
              </a:rPr>
              <a:t>Missing: Renal, Hemodynamic, Inflammatory</a:t>
            </a:r>
            <a:endParaRPr sz="900">
              <a:solidFill>
                <a:schemeClr val="dk1"/>
              </a:solidFill>
              <a:latin typeface="Calibri"/>
              <a:ea typeface="Calibri"/>
              <a:cs typeface="Calibri"/>
              <a:sym typeface="Calibri"/>
            </a:endParaRPr>
          </a:p>
        </p:txBody>
      </p:sp>
      <p:sp>
        <p:nvSpPr>
          <p:cNvPr id="243" name="Google Shape;243;p8"/>
          <p:cNvSpPr/>
          <p:nvPr/>
        </p:nvSpPr>
        <p:spPr>
          <a:xfrm>
            <a:off x="320040" y="4334256"/>
            <a:ext cx="8503920" cy="402336"/>
          </a:xfrm>
          <a:prstGeom prst="rect">
            <a:avLst/>
          </a:prstGeom>
          <a:solidFill>
            <a:srgbClr val="FFFFFF"/>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4" name="Google Shape;244;p8"/>
          <p:cNvSpPr/>
          <p:nvPr/>
        </p:nvSpPr>
        <p:spPr>
          <a:xfrm>
            <a:off x="457200" y="4370832"/>
            <a:ext cx="192024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000"/>
              <a:buFont typeface="Calibri"/>
              <a:buNone/>
            </a:pPr>
            <a:r>
              <a:rPr lang="en-US" sz="1000" b="1">
                <a:solidFill>
                  <a:srgbClr val="1F2937"/>
                </a:solidFill>
                <a:latin typeface="Calibri"/>
                <a:ea typeface="Calibri"/>
                <a:cs typeface="Calibri"/>
                <a:sym typeface="Calibri"/>
              </a:rPr>
              <a:t>Site E: Resource-limited</a:t>
            </a:r>
            <a:endParaRPr sz="1000">
              <a:solidFill>
                <a:schemeClr val="dk1"/>
              </a:solidFill>
              <a:latin typeface="Calibri"/>
              <a:ea typeface="Calibri"/>
              <a:cs typeface="Calibri"/>
              <a:sym typeface="Calibri"/>
            </a:endParaRPr>
          </a:p>
        </p:txBody>
      </p:sp>
      <p:sp>
        <p:nvSpPr>
          <p:cNvPr id="245" name="Google Shape;245;p8"/>
          <p:cNvSpPr/>
          <p:nvPr/>
        </p:nvSpPr>
        <p:spPr>
          <a:xfrm>
            <a:off x="2377440" y="4370832"/>
            <a:ext cx="41148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Renal, Clinical (24 features)  |  AKI prevalence 5.7% — primary FL benefitter</a:t>
            </a:r>
            <a:endParaRPr sz="950">
              <a:solidFill>
                <a:schemeClr val="dk1"/>
              </a:solidFill>
              <a:latin typeface="Calibri"/>
              <a:ea typeface="Calibri"/>
              <a:cs typeface="Calibri"/>
              <a:sym typeface="Calibri"/>
            </a:endParaRPr>
          </a:p>
        </p:txBody>
      </p:sp>
      <p:sp>
        <p:nvSpPr>
          <p:cNvPr id="246" name="Google Shape;246;p8"/>
          <p:cNvSpPr/>
          <p:nvPr/>
        </p:nvSpPr>
        <p:spPr>
          <a:xfrm>
            <a:off x="6492240" y="4370832"/>
            <a:ext cx="2194560" cy="32918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7280"/>
              </a:buClr>
              <a:buSzPts val="900"/>
              <a:buFont typeface="Calibri"/>
              <a:buNone/>
            </a:pPr>
            <a:r>
              <a:rPr lang="en-US" sz="900" i="1">
                <a:solidFill>
                  <a:srgbClr val="6B7280"/>
                </a:solidFill>
                <a:latin typeface="Calibri"/>
                <a:ea typeface="Calibri"/>
                <a:cs typeface="Calibri"/>
                <a:sym typeface="Calibri"/>
              </a:rPr>
              <a:t>Missing: Hemodynamic, Inflammatory, Metabolic</a:t>
            </a:r>
            <a:endParaRPr sz="900">
              <a:solidFill>
                <a:schemeClr val="dk1"/>
              </a:solidFill>
              <a:latin typeface="Calibri"/>
              <a:ea typeface="Calibri"/>
              <a:cs typeface="Calibri"/>
              <a:sym typeface="Calibri"/>
            </a:endParaRPr>
          </a:p>
        </p:txBody>
      </p:sp>
      <p:sp>
        <p:nvSpPr>
          <p:cNvPr id="247" name="Google Shape;247;p8"/>
          <p:cNvSpPr txBox="1"/>
          <p:nvPr/>
        </p:nvSpPr>
        <p:spPr>
          <a:xfrm>
            <a:off x="954157" y="4736592"/>
            <a:ext cx="6593518" cy="5078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a:solidFill>
                  <a:schemeClr val="accent1"/>
                </a:solidFill>
                <a:latin typeface="Calibri"/>
                <a:ea typeface="Calibri"/>
                <a:cs typeface="Calibri"/>
                <a:sym typeface="Calibri"/>
              </a:rPr>
              <a:t>Data simulation: All 5 sites share equal N (33,000) — heterogeneity now comes purely from feature richness (24–109 cols) and label imbalance (5.7%–23.4% AKI), not sample size.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cxnSp>
        <p:nvCxnSpPr>
          <p:cNvPr id="252" name="Google Shape;252;p9"/>
          <p:cNvCxnSpPr/>
          <p:nvPr/>
        </p:nvCxnSpPr>
        <p:spPr>
          <a:xfrm>
            <a:off x="0" y="777240"/>
            <a:ext cx="12188952" cy="0"/>
          </a:xfrm>
          <a:prstGeom prst="straightConnector1">
            <a:avLst/>
          </a:prstGeom>
          <a:noFill/>
          <a:ln w="12700" cap="flat" cmpd="sng">
            <a:solidFill>
              <a:srgbClr val="AAAAAA"/>
            </a:solidFill>
            <a:prstDash val="solid"/>
            <a:round/>
            <a:headEnd type="none" w="sm" len="sm"/>
            <a:tailEnd type="none" w="sm" len="sm"/>
          </a:ln>
        </p:spPr>
      </p:cxnSp>
      <p:sp>
        <p:nvSpPr>
          <p:cNvPr id="253" name="Google Shape;253;p9"/>
          <p:cNvSpPr/>
          <p:nvPr/>
        </p:nvSpPr>
        <p:spPr>
          <a:xfrm>
            <a:off x="320040" y="73152"/>
            <a:ext cx="1143000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100"/>
              <a:buFont typeface="Calibri"/>
              <a:buNone/>
            </a:pPr>
            <a:r>
              <a:rPr lang="en-US" sz="2100" b="1">
                <a:solidFill>
                  <a:srgbClr val="000000"/>
                </a:solidFill>
                <a:latin typeface="Calibri"/>
                <a:ea typeface="Calibri"/>
                <a:cs typeface="Calibri"/>
                <a:sym typeface="Calibri"/>
              </a:rPr>
              <a:t>Data Simulation Step 1: Feature Grouping</a:t>
            </a:r>
            <a:endParaRPr sz="2100">
              <a:solidFill>
                <a:schemeClr val="dk1"/>
              </a:solidFill>
              <a:latin typeface="Calibri"/>
              <a:ea typeface="Calibri"/>
              <a:cs typeface="Calibri"/>
              <a:sym typeface="Calibri"/>
            </a:endParaRPr>
          </a:p>
        </p:txBody>
      </p:sp>
      <p:sp>
        <p:nvSpPr>
          <p:cNvPr id="254" name="Google Shape;254;p9"/>
          <p:cNvSpPr/>
          <p:nvPr/>
        </p:nvSpPr>
        <p:spPr>
          <a:xfrm>
            <a:off x="320040" y="804672"/>
            <a:ext cx="11430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000"/>
              <a:buFont typeface="Calibri"/>
              <a:buNone/>
            </a:pPr>
            <a:r>
              <a:rPr lang="en-US" sz="1000" i="1">
                <a:solidFill>
                  <a:srgbClr val="6B7280"/>
                </a:solidFill>
                <a:latin typeface="Calibri"/>
                <a:ea typeface="Calibri"/>
                <a:cs typeface="Calibri"/>
                <a:sym typeface="Calibri"/>
              </a:rPr>
              <a:t>MIMIC-IV columns are partitioned into five groups based on AKI pathophysiology before FL</a:t>
            </a:r>
            <a:endParaRPr sz="1000">
              <a:solidFill>
                <a:schemeClr val="dk1"/>
              </a:solidFill>
              <a:latin typeface="Calibri"/>
              <a:ea typeface="Calibri"/>
              <a:cs typeface="Calibri"/>
              <a:sym typeface="Calibri"/>
            </a:endParaRPr>
          </a:p>
        </p:txBody>
      </p:sp>
      <p:sp>
        <p:nvSpPr>
          <p:cNvPr id="255" name="Google Shape;255;p9"/>
          <p:cNvSpPr/>
          <p:nvPr/>
        </p:nvSpPr>
        <p:spPr>
          <a:xfrm>
            <a:off x="320040" y="1143000"/>
            <a:ext cx="850392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050"/>
              <a:buFont typeface="Calibri"/>
              <a:buNone/>
            </a:pPr>
            <a:r>
              <a:rPr lang="en-US" sz="1050">
                <a:solidFill>
                  <a:srgbClr val="1F2937"/>
                </a:solidFill>
                <a:latin typeface="Calibri"/>
                <a:ea typeface="Calibri"/>
                <a:cs typeface="Calibri"/>
                <a:sym typeface="Calibri"/>
              </a:rPr>
              <a:t>Each of the 109 clinical features (anchor-based, 48h lookback) is assigned to one group. Each group maps to one dedicated encoder branch. Sites that lack a group omit that encoder branch.</a:t>
            </a:r>
            <a:endParaRPr sz="1050">
              <a:solidFill>
                <a:schemeClr val="dk1"/>
              </a:solidFill>
              <a:latin typeface="Calibri"/>
              <a:ea typeface="Calibri"/>
              <a:cs typeface="Calibri"/>
              <a:sym typeface="Calibri"/>
            </a:endParaRPr>
          </a:p>
        </p:txBody>
      </p:sp>
      <p:sp>
        <p:nvSpPr>
          <p:cNvPr id="256" name="TextBox 255"/>
          <p:cNvSpPr txBox="1"/>
          <p:nvPr/>
        </p:nvSpPr>
        <p:spPr>
          <a:xfrm>
            <a:off x="320040" y="1572768"/>
            <a:ext cx="1155801" cy="274320"/>
          </a:xfrm>
          <a:prstGeom prst="rect">
            <a:avLst/>
          </a:prstGeom>
          <a:noFill/>
        </p:spPr>
        <p:txBody>
          <a:bodyPr wrap="square" lIns="0" tIns="0" rIns="0" bIns="0" anchor="t">
            <a:spAutoFit/>
          </a:bodyPr>
          <a:lstStyle/>
          <a:p>
            <a:pPr algn="l"/>
            <a:r>
              <a:rPr sz="1400" b="0" i="0">
                <a:solidFill>
                  <a:srgbClr val="1F2937"/>
                </a:solidFill>
                <a:latin typeface="Calibri"/>
              </a:rPr>
              <a:t>Renal</a:t>
            </a:r>
          </a:p>
        </p:txBody>
      </p:sp>
      <p:sp>
        <p:nvSpPr>
          <p:cNvPr id="257" name="TextBox 256"/>
          <p:cNvSpPr txBox="1"/>
          <p:nvPr/>
        </p:nvSpPr>
        <p:spPr>
          <a:xfrm>
            <a:off x="1430121" y="1609344"/>
            <a:ext cx="502920" cy="201168"/>
          </a:xfrm>
          <a:prstGeom prst="rect">
            <a:avLst/>
          </a:prstGeom>
          <a:noFill/>
        </p:spPr>
        <p:txBody>
          <a:bodyPr wrap="square" lIns="0" tIns="0" rIns="0" bIns="0" anchor="ctr">
            <a:spAutoFit/>
          </a:bodyPr>
          <a:lstStyle/>
          <a:p>
            <a:pPr algn="ctr"/>
            <a:r>
              <a:rPr sz="750" b="1" i="0">
                <a:solidFill>
                  <a:srgbClr val="1F2937"/>
                </a:solidFill>
                <a:latin typeface="Calibri"/>
              </a:rPr>
              <a:t>12 cols</a:t>
            </a:r>
          </a:p>
        </p:txBody>
      </p:sp>
      <p:sp>
        <p:nvSpPr>
          <p:cNvPr id="258" name="Rectangle 257"/>
          <p:cNvSpPr/>
          <p:nvPr/>
        </p:nvSpPr>
        <p:spPr>
          <a:xfrm>
            <a:off x="320040" y="1920240"/>
            <a:ext cx="1613001" cy="2066543"/>
          </a:xfrm>
          <a:prstGeom prst="rect">
            <a:avLst/>
          </a:prstGeom>
          <a:solidFill>
            <a:srgbClr val="FFFFFF"/>
          </a:solidFill>
          <a:ln w="12700">
            <a:solidFill>
              <a:srgbClr val="1F2937"/>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marL="91440" indent="-91440" algn="ctr">
              <a:spcAft>
                <a:spcPts val="100"/>
              </a:spcAft>
              <a:buFont typeface="Calibri"/>
              <a:buChar char="•"/>
            </a:pPr>
            <a:r>
              <a:rPr sz="850">
                <a:solidFill>
                  <a:srgbClr val="1F2937"/>
                </a:solidFill>
                <a:latin typeface="Calibri"/>
              </a:rPr>
              <a:t>baseline_scr</a:t>
            </a:r>
          </a:p>
          <a:p>
            <a:pPr marL="91440" indent="-91440" algn="l">
              <a:spcAft>
                <a:spcPts val="100"/>
              </a:spcAft>
              <a:buFont typeface="Calibri"/>
              <a:buChar char="•"/>
            </a:pPr>
            <a:r>
              <a:rPr sz="850" b="0">
                <a:solidFill>
                  <a:srgbClr val="1F2937"/>
                </a:solidFill>
                <a:latin typeface="Calibri"/>
              </a:rPr>
              <a:t>hours_to_anchor</a:t>
            </a:r>
          </a:p>
          <a:p>
            <a:pPr marL="91440" indent="-91440" algn="l">
              <a:spcAft>
                <a:spcPts val="100"/>
              </a:spcAft>
              <a:buFont typeface="Calibri"/>
              <a:buChar char="•"/>
            </a:pPr>
            <a:r>
              <a:rPr sz="850" b="0">
                <a:solidFill>
                  <a:srgbClr val="1F2937"/>
                </a:solidFill>
                <a:latin typeface="Calibri"/>
              </a:rPr>
              <a:t>creatinine_*  (x5 stats)</a:t>
            </a:r>
          </a:p>
          <a:p>
            <a:pPr marL="91440" indent="-91440" algn="l">
              <a:spcAft>
                <a:spcPts val="100"/>
              </a:spcAft>
              <a:buFont typeface="Calibri"/>
              <a:buChar char="•"/>
            </a:pPr>
            <a:r>
              <a:rPr sz="850" b="0">
                <a:solidFill>
                  <a:srgbClr val="1F2937"/>
                </a:solidFill>
                <a:latin typeface="Calibri"/>
              </a:rPr>
              <a:t>bun_*  (x5 stats)</a:t>
            </a:r>
          </a:p>
          <a:p>
            <a:pPr>
              <a:spcBef>
                <a:spcPts val="600"/>
              </a:spcBef>
              <a:buNone/>
            </a:pPr>
            <a:r>
              <a:rPr sz="780" i="0">
                <a:solidFill>
                  <a:srgbClr val="6B7280"/>
                </a:solidFill>
                <a:latin typeface="Calibri"/>
              </a:rPr>
              <a:t>Primary AKI diagnostic markers. Creatinine and BUN trends across the 48h window define KDIGO Stages 1-3.</a:t>
            </a:r>
          </a:p>
        </p:txBody>
      </p:sp>
      <p:sp>
        <p:nvSpPr>
          <p:cNvPr id="259" name="TextBox 258"/>
          <p:cNvSpPr txBox="1"/>
          <p:nvPr/>
        </p:nvSpPr>
        <p:spPr>
          <a:xfrm>
            <a:off x="2042769" y="1572768"/>
            <a:ext cx="1155801" cy="274320"/>
          </a:xfrm>
          <a:prstGeom prst="rect">
            <a:avLst/>
          </a:prstGeom>
          <a:noFill/>
        </p:spPr>
        <p:txBody>
          <a:bodyPr wrap="square" lIns="0" tIns="0" rIns="0" bIns="0" anchor="t">
            <a:spAutoFit/>
          </a:bodyPr>
          <a:lstStyle/>
          <a:p>
            <a:pPr algn="l"/>
            <a:r>
              <a:rPr sz="1400" b="0" i="0">
                <a:solidFill>
                  <a:srgbClr val="1F2937"/>
                </a:solidFill>
                <a:latin typeface="Calibri"/>
              </a:rPr>
              <a:t>Inflammatory</a:t>
            </a:r>
          </a:p>
        </p:txBody>
      </p:sp>
      <p:sp>
        <p:nvSpPr>
          <p:cNvPr id="260" name="TextBox 259"/>
          <p:cNvSpPr txBox="1"/>
          <p:nvPr/>
        </p:nvSpPr>
        <p:spPr>
          <a:xfrm>
            <a:off x="3152851" y="1609344"/>
            <a:ext cx="502920" cy="201168"/>
          </a:xfrm>
          <a:prstGeom prst="rect">
            <a:avLst/>
          </a:prstGeom>
          <a:noFill/>
        </p:spPr>
        <p:txBody>
          <a:bodyPr wrap="square" lIns="0" tIns="0" rIns="0" bIns="0" anchor="ctr">
            <a:spAutoFit/>
          </a:bodyPr>
          <a:lstStyle/>
          <a:p>
            <a:pPr algn="ctr"/>
            <a:r>
              <a:rPr sz="750" b="1" i="0">
                <a:solidFill>
                  <a:srgbClr val="1F2937"/>
                </a:solidFill>
                <a:latin typeface="Calibri"/>
              </a:rPr>
              <a:t>15 cols</a:t>
            </a:r>
          </a:p>
        </p:txBody>
      </p:sp>
      <p:sp>
        <p:nvSpPr>
          <p:cNvPr id="261" name="Rectangle 260"/>
          <p:cNvSpPr/>
          <p:nvPr/>
        </p:nvSpPr>
        <p:spPr>
          <a:xfrm>
            <a:off x="2042769" y="1920240"/>
            <a:ext cx="1613001" cy="2066543"/>
          </a:xfrm>
          <a:prstGeom prst="rect">
            <a:avLst/>
          </a:prstGeom>
          <a:solidFill>
            <a:srgbClr val="FFFFFF"/>
          </a:solidFill>
          <a:ln w="12700">
            <a:solidFill>
              <a:srgbClr val="1F2937"/>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marL="91440" indent="-91440" algn="ctr">
              <a:spcAft>
                <a:spcPts val="100"/>
              </a:spcAft>
              <a:buFont typeface="Calibri"/>
              <a:buChar char="•"/>
            </a:pPr>
            <a:r>
              <a:rPr sz="850">
                <a:solidFill>
                  <a:srgbClr val="1F2937"/>
                </a:solidFill>
                <a:latin typeface="Calibri"/>
              </a:rPr>
              <a:t>lactate_*  (x5 stats)</a:t>
            </a:r>
          </a:p>
          <a:p>
            <a:pPr marL="91440" indent="-91440" algn="l">
              <a:spcAft>
                <a:spcPts val="100"/>
              </a:spcAft>
              <a:buFont typeface="Calibri"/>
              <a:buChar char="•"/>
            </a:pPr>
            <a:r>
              <a:rPr sz="850" b="0">
                <a:solidFill>
                  <a:srgbClr val="1F2937"/>
                </a:solidFill>
                <a:latin typeface="Calibri"/>
              </a:rPr>
              <a:t>wbc_*  (x5 stats)</a:t>
            </a:r>
          </a:p>
          <a:p>
            <a:pPr marL="91440" indent="-91440" algn="l">
              <a:spcAft>
                <a:spcPts val="100"/>
              </a:spcAft>
              <a:buFont typeface="Calibri"/>
              <a:buChar char="•"/>
            </a:pPr>
            <a:r>
              <a:rPr sz="850" b="0">
                <a:solidFill>
                  <a:srgbClr val="1F2937"/>
                </a:solidFill>
                <a:latin typeface="Calibri"/>
              </a:rPr>
              <a:t>platelets_*  (x5 stats)</a:t>
            </a:r>
          </a:p>
          <a:p>
            <a:pPr>
              <a:spcBef>
                <a:spcPts val="600"/>
              </a:spcBef>
              <a:buNone/>
            </a:pPr>
            <a:r>
              <a:rPr sz="780" i="0">
                <a:solidFill>
                  <a:srgbClr val="6B7280"/>
                </a:solidFill>
                <a:latin typeface="Calibri"/>
              </a:rPr>
              <a:t>Sepsis-driven AKI remains the dominant ICU pathway. Inflammatory markers identify this route to injury.</a:t>
            </a:r>
          </a:p>
        </p:txBody>
      </p:sp>
      <p:sp>
        <p:nvSpPr>
          <p:cNvPr id="262" name="TextBox 261"/>
          <p:cNvSpPr txBox="1"/>
          <p:nvPr/>
        </p:nvSpPr>
        <p:spPr>
          <a:xfrm>
            <a:off x="3765499" y="1572768"/>
            <a:ext cx="1155801" cy="274320"/>
          </a:xfrm>
          <a:prstGeom prst="rect">
            <a:avLst/>
          </a:prstGeom>
          <a:noFill/>
        </p:spPr>
        <p:txBody>
          <a:bodyPr wrap="square" lIns="0" tIns="0" rIns="0" bIns="0" anchor="t">
            <a:spAutoFit/>
          </a:bodyPr>
          <a:lstStyle/>
          <a:p>
            <a:pPr algn="l"/>
            <a:r>
              <a:rPr sz="1400" b="0" i="0">
                <a:solidFill>
                  <a:srgbClr val="1F2937"/>
                </a:solidFill>
                <a:latin typeface="Calibri"/>
              </a:rPr>
              <a:t>Metabolic</a:t>
            </a:r>
          </a:p>
        </p:txBody>
      </p:sp>
      <p:sp>
        <p:nvSpPr>
          <p:cNvPr id="263" name="TextBox 262"/>
          <p:cNvSpPr txBox="1"/>
          <p:nvPr/>
        </p:nvSpPr>
        <p:spPr>
          <a:xfrm>
            <a:off x="4875580" y="1609344"/>
            <a:ext cx="502920" cy="201168"/>
          </a:xfrm>
          <a:prstGeom prst="rect">
            <a:avLst/>
          </a:prstGeom>
          <a:noFill/>
        </p:spPr>
        <p:txBody>
          <a:bodyPr wrap="square" lIns="0" tIns="0" rIns="0" bIns="0" anchor="ctr">
            <a:spAutoFit/>
          </a:bodyPr>
          <a:lstStyle/>
          <a:p>
            <a:pPr algn="ctr"/>
            <a:r>
              <a:rPr sz="750" b="1" i="0">
                <a:solidFill>
                  <a:srgbClr val="1F2937"/>
                </a:solidFill>
                <a:latin typeface="Calibri"/>
              </a:rPr>
              <a:t>35 cols</a:t>
            </a:r>
          </a:p>
        </p:txBody>
      </p:sp>
      <p:sp>
        <p:nvSpPr>
          <p:cNvPr id="264" name="Rectangle 263"/>
          <p:cNvSpPr/>
          <p:nvPr/>
        </p:nvSpPr>
        <p:spPr>
          <a:xfrm>
            <a:off x="3765499" y="1920240"/>
            <a:ext cx="1613001" cy="2066543"/>
          </a:xfrm>
          <a:prstGeom prst="rect">
            <a:avLst/>
          </a:prstGeom>
          <a:solidFill>
            <a:srgbClr val="FFFFFF"/>
          </a:solidFill>
          <a:ln w="12700">
            <a:solidFill>
              <a:srgbClr val="1F2937"/>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marL="91440" indent="-91440" algn="ctr">
              <a:spcAft>
                <a:spcPts val="100"/>
              </a:spcAft>
              <a:buFont typeface="Calibri"/>
              <a:buChar char="•"/>
            </a:pPr>
            <a:r>
              <a:rPr sz="850">
                <a:solidFill>
                  <a:srgbClr val="1F2937"/>
                </a:solidFill>
                <a:latin typeface="Calibri"/>
              </a:rPr>
              <a:t>sodium_*</a:t>
            </a:r>
          </a:p>
          <a:p>
            <a:pPr marL="91440" indent="-91440" algn="l">
              <a:spcAft>
                <a:spcPts val="100"/>
              </a:spcAft>
              <a:buFont typeface="Calibri"/>
              <a:buChar char="•"/>
            </a:pPr>
            <a:r>
              <a:rPr sz="850" b="0">
                <a:solidFill>
                  <a:srgbClr val="1F2937"/>
                </a:solidFill>
                <a:latin typeface="Calibri"/>
              </a:rPr>
              <a:t>potassium_*</a:t>
            </a:r>
          </a:p>
          <a:p>
            <a:pPr marL="91440" indent="-91440" algn="l">
              <a:spcAft>
                <a:spcPts val="100"/>
              </a:spcAft>
              <a:buFont typeface="Calibri"/>
              <a:buChar char="•"/>
            </a:pPr>
            <a:r>
              <a:rPr sz="850" b="0">
                <a:solidFill>
                  <a:srgbClr val="1F2937"/>
                </a:solidFill>
                <a:latin typeface="Calibri"/>
              </a:rPr>
              <a:t>bicarbonate_*</a:t>
            </a:r>
          </a:p>
          <a:p>
            <a:pPr marL="91440" indent="-91440" algn="l">
              <a:spcAft>
                <a:spcPts val="100"/>
              </a:spcAft>
              <a:buFont typeface="Calibri"/>
              <a:buChar char="•"/>
            </a:pPr>
            <a:r>
              <a:rPr sz="850" b="0">
                <a:solidFill>
                  <a:srgbClr val="1F2937"/>
                </a:solidFill>
                <a:latin typeface="Calibri"/>
              </a:rPr>
              <a:t>hemoglobin_*</a:t>
            </a:r>
          </a:p>
          <a:p>
            <a:pPr marL="91440" indent="-91440" algn="l">
              <a:spcAft>
                <a:spcPts val="100"/>
              </a:spcAft>
              <a:buFont typeface="Calibri"/>
              <a:buChar char="•"/>
            </a:pPr>
            <a:r>
              <a:rPr sz="850" b="0">
                <a:solidFill>
                  <a:srgbClr val="1F2937"/>
                </a:solidFill>
                <a:latin typeface="Calibri"/>
              </a:rPr>
              <a:t>glucose_*</a:t>
            </a:r>
          </a:p>
          <a:p>
            <a:pPr marL="91440" indent="-91440" algn="l">
              <a:spcAft>
                <a:spcPts val="100"/>
              </a:spcAft>
              <a:buFont typeface="Calibri"/>
              <a:buChar char="•"/>
            </a:pPr>
            <a:r>
              <a:rPr sz="850" b="0">
                <a:solidFill>
                  <a:srgbClr val="1F2937"/>
                </a:solidFill>
                <a:latin typeface="Calibri"/>
              </a:rPr>
              <a:t>albumin_*</a:t>
            </a:r>
          </a:p>
          <a:p>
            <a:pPr marL="91440" indent="-91440" algn="l">
              <a:spcAft>
                <a:spcPts val="100"/>
              </a:spcAft>
              <a:buFont typeface="Calibri"/>
              <a:buChar char="•"/>
            </a:pPr>
            <a:r>
              <a:rPr sz="850" b="0">
                <a:solidFill>
                  <a:srgbClr val="1F2937"/>
                </a:solidFill>
                <a:latin typeface="Calibri"/>
              </a:rPr>
              <a:t>bilirubin_*</a:t>
            </a:r>
          </a:p>
          <a:p>
            <a:pPr>
              <a:spcBef>
                <a:spcPts val="600"/>
              </a:spcBef>
              <a:buNone/>
            </a:pPr>
            <a:r>
              <a:rPr sz="780" i="0">
                <a:solidFill>
                  <a:srgbClr val="6B7280"/>
                </a:solidFill>
                <a:latin typeface="Calibri"/>
              </a:rPr>
              <a:t>Electrolyte, acid-base, and hepatic-renal markers capture the kidney's regulatory failure and systemic spillover.</a:t>
            </a:r>
          </a:p>
        </p:txBody>
      </p:sp>
      <p:sp>
        <p:nvSpPr>
          <p:cNvPr id="265" name="TextBox 264"/>
          <p:cNvSpPr txBox="1"/>
          <p:nvPr/>
        </p:nvSpPr>
        <p:spPr>
          <a:xfrm>
            <a:off x="5488228" y="1572768"/>
            <a:ext cx="1155801" cy="274320"/>
          </a:xfrm>
          <a:prstGeom prst="rect">
            <a:avLst/>
          </a:prstGeom>
          <a:noFill/>
        </p:spPr>
        <p:txBody>
          <a:bodyPr wrap="square" lIns="0" tIns="0" rIns="0" bIns="0" anchor="t">
            <a:spAutoFit/>
          </a:bodyPr>
          <a:lstStyle/>
          <a:p>
            <a:pPr algn="l"/>
            <a:r>
              <a:rPr sz="1400" b="0" i="0">
                <a:solidFill>
                  <a:srgbClr val="1F2937"/>
                </a:solidFill>
                <a:latin typeface="Calibri"/>
              </a:rPr>
              <a:t>Hemodynamic</a:t>
            </a:r>
          </a:p>
        </p:txBody>
      </p:sp>
      <p:sp>
        <p:nvSpPr>
          <p:cNvPr id="266" name="TextBox 265"/>
          <p:cNvSpPr txBox="1"/>
          <p:nvPr/>
        </p:nvSpPr>
        <p:spPr>
          <a:xfrm>
            <a:off x="6598310" y="1609344"/>
            <a:ext cx="502920" cy="201168"/>
          </a:xfrm>
          <a:prstGeom prst="rect">
            <a:avLst/>
          </a:prstGeom>
          <a:noFill/>
        </p:spPr>
        <p:txBody>
          <a:bodyPr wrap="square" lIns="0" tIns="0" rIns="0" bIns="0" anchor="ctr">
            <a:spAutoFit/>
          </a:bodyPr>
          <a:lstStyle/>
          <a:p>
            <a:pPr algn="ctr"/>
            <a:r>
              <a:rPr sz="750" b="1" i="0">
                <a:solidFill>
                  <a:srgbClr val="1F2937"/>
                </a:solidFill>
                <a:latin typeface="Calibri"/>
              </a:rPr>
              <a:t>35 cols</a:t>
            </a:r>
          </a:p>
        </p:txBody>
      </p:sp>
      <p:sp>
        <p:nvSpPr>
          <p:cNvPr id="267" name="Rectangle 266"/>
          <p:cNvSpPr/>
          <p:nvPr/>
        </p:nvSpPr>
        <p:spPr>
          <a:xfrm>
            <a:off x="5488228" y="1920240"/>
            <a:ext cx="1613001" cy="2066543"/>
          </a:xfrm>
          <a:prstGeom prst="rect">
            <a:avLst/>
          </a:prstGeom>
          <a:solidFill>
            <a:srgbClr val="FFFFFF"/>
          </a:solidFill>
          <a:ln w="12700">
            <a:solidFill>
              <a:srgbClr val="1F2937"/>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marL="91440" indent="-91440" algn="ctr">
              <a:spcAft>
                <a:spcPts val="100"/>
              </a:spcAft>
              <a:buFont typeface="Calibri"/>
              <a:buChar char="•"/>
            </a:pPr>
            <a:r>
              <a:rPr sz="850">
                <a:solidFill>
                  <a:srgbClr val="1F2937"/>
                </a:solidFill>
                <a:latin typeface="Calibri"/>
              </a:rPr>
              <a:t>sbp_*  /  dbp_*</a:t>
            </a:r>
          </a:p>
          <a:p>
            <a:pPr marL="91440" indent="-91440" algn="l">
              <a:spcAft>
                <a:spcPts val="100"/>
              </a:spcAft>
              <a:buFont typeface="Calibri"/>
              <a:buChar char="•"/>
            </a:pPr>
            <a:r>
              <a:rPr sz="850" b="0">
                <a:solidFill>
                  <a:srgbClr val="1F2937"/>
                </a:solidFill>
                <a:latin typeface="Calibri"/>
              </a:rPr>
              <a:t>heart_rate_*</a:t>
            </a:r>
          </a:p>
          <a:p>
            <a:pPr marL="91440" indent="-91440" algn="l">
              <a:spcAft>
                <a:spcPts val="100"/>
              </a:spcAft>
              <a:buFont typeface="Calibri"/>
              <a:buChar char="•"/>
            </a:pPr>
            <a:r>
              <a:rPr sz="850" b="0">
                <a:solidFill>
                  <a:srgbClr val="1F2937"/>
                </a:solidFill>
                <a:latin typeface="Calibri"/>
              </a:rPr>
              <a:t>spo2_*</a:t>
            </a:r>
          </a:p>
          <a:p>
            <a:pPr marL="91440" indent="-91440" algn="l">
              <a:spcAft>
                <a:spcPts val="100"/>
              </a:spcAft>
              <a:buFont typeface="Calibri"/>
              <a:buChar char="•"/>
            </a:pPr>
            <a:r>
              <a:rPr sz="850" b="0">
                <a:solidFill>
                  <a:srgbClr val="1F2937"/>
                </a:solidFill>
                <a:latin typeface="Calibri"/>
              </a:rPr>
              <a:t>resp_rate_*</a:t>
            </a:r>
          </a:p>
          <a:p>
            <a:pPr marL="91440" indent="-91440" algn="l">
              <a:spcAft>
                <a:spcPts val="100"/>
              </a:spcAft>
              <a:buFont typeface="Calibri"/>
              <a:buChar char="•"/>
            </a:pPr>
            <a:r>
              <a:rPr sz="850" b="0">
                <a:solidFill>
                  <a:srgbClr val="1F2937"/>
                </a:solidFill>
                <a:latin typeface="Calibri"/>
              </a:rPr>
              <a:t>temperature_*</a:t>
            </a:r>
          </a:p>
          <a:p>
            <a:pPr marL="91440" indent="-91440" algn="l">
              <a:spcAft>
                <a:spcPts val="100"/>
              </a:spcAft>
              <a:buFont typeface="Calibri"/>
              <a:buChar char="•"/>
            </a:pPr>
            <a:r>
              <a:rPr sz="850" b="0">
                <a:solidFill>
                  <a:srgbClr val="1F2937"/>
                </a:solidFill>
                <a:latin typeface="Calibri"/>
              </a:rPr>
              <a:t>gcs_total_*</a:t>
            </a:r>
          </a:p>
          <a:p>
            <a:pPr>
              <a:spcBef>
                <a:spcPts val="600"/>
              </a:spcBef>
              <a:buNone/>
            </a:pPr>
            <a:r>
              <a:rPr sz="780" i="0">
                <a:solidFill>
                  <a:srgbClr val="6B7280"/>
                </a:solidFill>
                <a:latin typeface="Calibri"/>
              </a:rPr>
              <a:t>Hypotension and reduced renal perfusion are a primary prerenal AKI mechanism; vitals capture this pathway.</a:t>
            </a:r>
          </a:p>
        </p:txBody>
      </p:sp>
      <p:sp>
        <p:nvSpPr>
          <p:cNvPr id="268" name="TextBox 267"/>
          <p:cNvSpPr txBox="1"/>
          <p:nvPr/>
        </p:nvSpPr>
        <p:spPr>
          <a:xfrm>
            <a:off x="7210958" y="1572768"/>
            <a:ext cx="1155801" cy="274320"/>
          </a:xfrm>
          <a:prstGeom prst="rect">
            <a:avLst/>
          </a:prstGeom>
          <a:noFill/>
        </p:spPr>
        <p:txBody>
          <a:bodyPr wrap="square" lIns="0" tIns="0" rIns="0" bIns="0" anchor="t">
            <a:spAutoFit/>
          </a:bodyPr>
          <a:lstStyle/>
          <a:p>
            <a:pPr algn="l"/>
            <a:r>
              <a:rPr sz="1400" b="0" i="0">
                <a:solidFill>
                  <a:srgbClr val="1F2937"/>
                </a:solidFill>
                <a:latin typeface="Calibri"/>
              </a:rPr>
              <a:t>Clinical</a:t>
            </a:r>
          </a:p>
        </p:txBody>
      </p:sp>
      <p:sp>
        <p:nvSpPr>
          <p:cNvPr id="269" name="TextBox 268"/>
          <p:cNvSpPr txBox="1"/>
          <p:nvPr/>
        </p:nvSpPr>
        <p:spPr>
          <a:xfrm>
            <a:off x="8321039" y="1609344"/>
            <a:ext cx="502920" cy="201168"/>
          </a:xfrm>
          <a:prstGeom prst="rect">
            <a:avLst/>
          </a:prstGeom>
          <a:noFill/>
        </p:spPr>
        <p:txBody>
          <a:bodyPr wrap="square" lIns="0" tIns="0" rIns="0" bIns="0" anchor="ctr">
            <a:spAutoFit/>
          </a:bodyPr>
          <a:lstStyle/>
          <a:p>
            <a:pPr algn="ctr"/>
            <a:r>
              <a:rPr sz="750" b="1" i="0">
                <a:solidFill>
                  <a:srgbClr val="1F2937"/>
                </a:solidFill>
                <a:latin typeface="Calibri"/>
              </a:rPr>
              <a:t>12 cols</a:t>
            </a:r>
          </a:p>
        </p:txBody>
      </p:sp>
      <p:sp>
        <p:nvSpPr>
          <p:cNvPr id="270" name="Rectangle 269"/>
          <p:cNvSpPr/>
          <p:nvPr/>
        </p:nvSpPr>
        <p:spPr>
          <a:xfrm>
            <a:off x="7210958" y="1920240"/>
            <a:ext cx="1613001" cy="2066543"/>
          </a:xfrm>
          <a:prstGeom prst="rect">
            <a:avLst/>
          </a:prstGeom>
          <a:solidFill>
            <a:srgbClr val="FFFFFF"/>
          </a:solidFill>
          <a:ln w="12700">
            <a:solidFill>
              <a:srgbClr val="1F2937"/>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marL="91440" indent="-91440" algn="ctr">
              <a:spcAft>
                <a:spcPts val="100"/>
              </a:spcAft>
              <a:buFont typeface="Calibri"/>
              <a:buChar char="•"/>
            </a:pPr>
            <a:r>
              <a:rPr sz="850">
                <a:solidFill>
                  <a:srgbClr val="1F2937"/>
                </a:solidFill>
                <a:latin typeface="Calibri"/>
              </a:rPr>
              <a:t>admission_type, gender, age_at_admission</a:t>
            </a:r>
          </a:p>
          <a:p>
            <a:pPr marL="91440" indent="-91440" algn="l">
              <a:spcAft>
                <a:spcPts val="100"/>
              </a:spcAft>
              <a:buFont typeface="Calibri"/>
              <a:buChar char="•"/>
            </a:pPr>
            <a:r>
              <a:rPr sz="850" b="0">
                <a:solidFill>
                  <a:srgbClr val="1F2937"/>
                </a:solidFill>
                <a:latin typeface="Calibri"/>
              </a:rPr>
              <a:t>has_diabetes, hypertension, chf, sepsis, liver_disease, cancer</a:t>
            </a:r>
          </a:p>
          <a:p>
            <a:pPr marL="91440" indent="-91440" algn="l">
              <a:spcAft>
                <a:spcPts val="100"/>
              </a:spcAft>
              <a:buFont typeface="Calibri"/>
              <a:buChar char="•"/>
            </a:pPr>
            <a:r>
              <a:rPr sz="850" b="0">
                <a:solidFill>
                  <a:srgbClr val="1F2937"/>
                </a:solidFill>
                <a:latin typeface="Calibri"/>
              </a:rPr>
              <a:t>nephrotoxic_flag, nephrotoxic_count, n_distinct_meds</a:t>
            </a:r>
          </a:p>
          <a:p>
            <a:pPr>
              <a:spcBef>
                <a:spcPts val="600"/>
              </a:spcBef>
              <a:buNone/>
            </a:pPr>
            <a:r>
              <a:rPr sz="780" i="0">
                <a:solidFill>
                  <a:srgbClr val="6B7280"/>
                </a:solidFill>
                <a:latin typeface="Calibri"/>
              </a:rPr>
              <a:t>Comorbidities and nephrotoxic medication exposure encode patient-level risk and are available at every site.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2"/>
        <p:cNvGrpSpPr/>
        <p:nvPr/>
      </p:nvGrpSpPr>
      <p:grpSpPr>
        <a:xfrm>
          <a:off x="0" y="0"/>
          <a:ext cx="0" cy="0"/>
          <a:chOff x="0" y="0"/>
          <a:chExt cx="0" cy="0"/>
        </a:xfrm>
      </p:grpSpPr>
      <p:sp>
        <p:nvSpPr>
          <p:cNvPr id="283" name="Google Shape;283;p10"/>
          <p:cNvSpPr/>
          <p:nvPr/>
        </p:nvSpPr>
        <p:spPr>
          <a:xfrm>
            <a:off x="320040" y="190981"/>
            <a:ext cx="1143000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2100"/>
              <a:buFont typeface="Calibri"/>
              <a:buNone/>
            </a:pPr>
            <a:r>
              <a:rPr lang="en-US" sz="2100" b="1">
                <a:solidFill>
                  <a:srgbClr val="1F2937"/>
                </a:solidFill>
                <a:latin typeface="Calibri"/>
                <a:ea typeface="Calibri"/>
                <a:cs typeface="Calibri"/>
                <a:sym typeface="Calibri"/>
              </a:rPr>
              <a:t>Data Simulation Step 2: Anchor Assumption and Feature Masking</a:t>
            </a:r>
            <a:endParaRPr sz="2100">
              <a:solidFill>
                <a:schemeClr val="dk1"/>
              </a:solidFill>
              <a:latin typeface="Calibri"/>
              <a:ea typeface="Calibri"/>
              <a:cs typeface="Calibri"/>
              <a:sym typeface="Calibri"/>
            </a:endParaRPr>
          </a:p>
        </p:txBody>
      </p:sp>
      <p:sp>
        <p:nvSpPr>
          <p:cNvPr id="284" name="Google Shape;284;p10"/>
          <p:cNvSpPr/>
          <p:nvPr/>
        </p:nvSpPr>
        <p:spPr>
          <a:xfrm>
            <a:off x="320040" y="900767"/>
            <a:ext cx="3870297" cy="315462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100"/>
              <a:buFont typeface="Calibri"/>
              <a:buNone/>
            </a:pPr>
            <a:r>
              <a:rPr lang="en-US" sz="1100" b="1">
                <a:solidFill>
                  <a:srgbClr val="374151"/>
                </a:solidFill>
                <a:latin typeface="Calibri"/>
                <a:ea typeface="Calibri"/>
                <a:cs typeface="Calibri"/>
                <a:sym typeface="Calibri"/>
              </a:rPr>
              <a:t>Site C = MIMIC-IV  (feature-rich anchor)</a:t>
            </a:r>
            <a:br>
              <a:rPr lang="en-US" sz="1100" b="1">
                <a:solidFill>
                  <a:srgbClr val="374151"/>
                </a:solidFill>
                <a:latin typeface="Calibri"/>
                <a:ea typeface="Calibri"/>
                <a:cs typeface="Calibri"/>
                <a:sym typeface="Calibri"/>
              </a:rPr>
            </a:br>
            <a:endParaRPr sz="110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Site C is the only site assumed to have all five feature groups. This mirrors the real-world scenario where a large academic medical centre has the most complete EHR coverage. All other sites are clinically justified degradations of this anchor.</a:t>
            </a:r>
            <a:br>
              <a:rPr lang="en-US" sz="1000">
                <a:solidFill>
                  <a:srgbClr val="374151"/>
                </a:solidFill>
                <a:latin typeface="Calibri"/>
                <a:ea typeface="Calibri"/>
                <a:cs typeface="Calibri"/>
                <a:sym typeface="Calibri"/>
              </a:rPr>
            </a:br>
            <a:br>
              <a:rPr lang="en-US" sz="1000">
                <a:solidFill>
                  <a:srgbClr val="374151"/>
                </a:solidFill>
                <a:latin typeface="Calibri"/>
                <a:ea typeface="Calibri"/>
                <a:cs typeface="Calibri"/>
                <a:sym typeface="Calibri"/>
              </a:rPr>
            </a:br>
            <a:r>
              <a:rPr lang="en-US" sz="1000" b="1">
                <a:solidFill>
                  <a:srgbClr val="374151"/>
                </a:solidFill>
                <a:latin typeface="Calibri"/>
                <a:ea typeface="Calibri"/>
                <a:cs typeface="Calibri"/>
                <a:sym typeface="Calibri"/>
              </a:rPr>
              <a:t>What the anchor provides:</a:t>
            </a:r>
            <a:br>
              <a:rPr lang="en-US" sz="1000" b="1">
                <a:solidFill>
                  <a:srgbClr val="374151"/>
                </a:solidFill>
                <a:latin typeface="Calibri"/>
                <a:ea typeface="Calibri"/>
                <a:cs typeface="Calibri"/>
                <a:sym typeface="Calibri"/>
              </a:rPr>
            </a:br>
            <a:endParaRPr sz="1100">
              <a:solidFill>
                <a:schemeClr val="dk1"/>
              </a:solidFill>
              <a:latin typeface="Calibri"/>
              <a:ea typeface="Calibri"/>
              <a:cs typeface="Calibri"/>
              <a:sym typeface="Calibri"/>
            </a:endParaRPr>
          </a:p>
          <a:p>
            <a:pPr marL="342900" marR="0" lvl="0" indent="-342900" algn="l" rtl="0">
              <a:spcBef>
                <a:spcPts val="0"/>
              </a:spcBef>
              <a:spcAft>
                <a:spcPts val="0"/>
              </a:spcAft>
              <a:buClr>
                <a:srgbClr val="374151"/>
              </a:buClr>
              <a:buSzPts val="1000"/>
              <a:buFont typeface="Calibri"/>
              <a:buChar char="•"/>
            </a:pPr>
            <a:r>
              <a:rPr lang="en-US" sz="1000">
                <a:solidFill>
                  <a:srgbClr val="374151"/>
                </a:solidFill>
                <a:latin typeface="Calibri"/>
                <a:ea typeface="Calibri"/>
                <a:cs typeface="Calibri"/>
                <a:sym typeface="Calibri"/>
              </a:rPr>
              <a:t>Full feature schema (109 columns across 5 groups, anchor-based 48h lookback)</a:t>
            </a:r>
            <a:endParaRPr sz="1100">
              <a:solidFill>
                <a:schemeClr val="dk1"/>
              </a:solidFill>
              <a:latin typeface="Calibri"/>
              <a:ea typeface="Calibri"/>
              <a:cs typeface="Calibri"/>
              <a:sym typeface="Calibri"/>
            </a:endParaRPr>
          </a:p>
          <a:p>
            <a:pPr marL="342900" marR="0" lvl="0" indent="-342900" algn="l" rtl="0">
              <a:spcBef>
                <a:spcPts val="0"/>
              </a:spcBef>
              <a:spcAft>
                <a:spcPts val="0"/>
              </a:spcAft>
              <a:buClr>
                <a:srgbClr val="374151"/>
              </a:buClr>
              <a:buSzPts val="1000"/>
              <a:buFont typeface="Calibri"/>
              <a:buChar char="•"/>
            </a:pPr>
            <a:r>
              <a:rPr lang="en-US" sz="1000">
                <a:solidFill>
                  <a:srgbClr val="374151"/>
                </a:solidFill>
                <a:latin typeface="Calibri"/>
                <a:ea typeface="Calibri"/>
                <a:cs typeface="Calibri"/>
                <a:sym typeface="Calibri"/>
              </a:rPr>
              <a:t>AKI rate 9.0% — computed from last encounter, 48h lookback (Approach 2 cohort)</a:t>
            </a:r>
            <a:endParaRPr sz="1100">
              <a:solidFill>
                <a:schemeClr val="dk1"/>
              </a:solidFill>
              <a:latin typeface="Calibri"/>
              <a:ea typeface="Calibri"/>
              <a:cs typeface="Calibri"/>
              <a:sym typeface="Calibri"/>
            </a:endParaRPr>
          </a:p>
          <a:p>
            <a:pPr marL="342900" marR="0" lvl="0" indent="-342900" algn="l" rtl="0">
              <a:spcBef>
                <a:spcPts val="0"/>
              </a:spcBef>
              <a:spcAft>
                <a:spcPts val="0"/>
              </a:spcAft>
              <a:buClr>
                <a:srgbClr val="374151"/>
              </a:buClr>
              <a:buSzPts val="1000"/>
              <a:buFont typeface="Calibri"/>
              <a:buChar char="•"/>
            </a:pPr>
            <a:r>
              <a:rPr lang="en-US" sz="1000">
                <a:solidFill>
                  <a:srgbClr val="374151"/>
                </a:solidFill>
                <a:latin typeface="Calibri"/>
                <a:ea typeface="Calibri"/>
                <a:cs typeface="Calibri"/>
                <a:sym typeface="Calibri"/>
              </a:rPr>
              <a:t>Equal sample size across all sites (33,000) — Phase II change; no longer data-volume advantaged</a:t>
            </a:r>
            <a:endParaRPr sz="1100">
              <a:solidFill>
                <a:schemeClr val="dk1"/>
              </a:solidFill>
              <a:latin typeface="Calibri"/>
              <a:ea typeface="Calibri"/>
              <a:cs typeface="Calibri"/>
              <a:sym typeface="Calibri"/>
            </a:endParaRPr>
          </a:p>
          <a:p>
            <a:pPr marL="342900" marR="0" lvl="0" indent="-342900" algn="l" rtl="0">
              <a:spcBef>
                <a:spcPts val="0"/>
              </a:spcBef>
              <a:spcAft>
                <a:spcPts val="0"/>
              </a:spcAft>
              <a:buClr>
                <a:srgbClr val="374151"/>
              </a:buClr>
              <a:buSzPts val="1000"/>
              <a:buFont typeface="Calibri"/>
              <a:buChar char="•"/>
            </a:pPr>
            <a:r>
              <a:rPr lang="en-US" sz="1000">
                <a:solidFill>
                  <a:srgbClr val="374151"/>
                </a:solidFill>
                <a:latin typeface="Calibri"/>
                <a:ea typeface="Calibri"/>
                <a:cs typeface="Calibri"/>
                <a:sym typeface="Calibri"/>
              </a:rPr>
              <a:t>Performance upper bound for all ablation experiments</a:t>
            </a:r>
            <a:endParaRPr sz="1100">
              <a:solidFill>
                <a:schemeClr val="dk1"/>
              </a:solidFill>
              <a:latin typeface="Calibri"/>
              <a:ea typeface="Calibri"/>
              <a:cs typeface="Calibri"/>
              <a:sym typeface="Calibri"/>
            </a:endParaRPr>
          </a:p>
        </p:txBody>
      </p:sp>
      <p:sp>
        <p:nvSpPr>
          <p:cNvPr id="285" name="Google Shape;285;p10"/>
          <p:cNvSpPr/>
          <p:nvPr/>
        </p:nvSpPr>
        <p:spPr>
          <a:xfrm>
            <a:off x="324612" y="4137686"/>
            <a:ext cx="5349240" cy="868680"/>
          </a:xfrm>
          <a:prstGeom prst="rect">
            <a:avLst/>
          </a:prstGeom>
          <a:solidFill>
            <a:srgbClr val="F5F5F5"/>
          </a:solidFill>
          <a:ln w="10150" cap="flat" cmpd="sng">
            <a:solidFill>
              <a:srgbClr val="AAAAA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6" name="Google Shape;286;p10"/>
          <p:cNvSpPr/>
          <p:nvPr/>
        </p:nvSpPr>
        <p:spPr>
          <a:xfrm>
            <a:off x="429768" y="4245130"/>
            <a:ext cx="5138928"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Feature masking is applied after Dirichlet sampling. A site lacking the Hemodynamic group has those 35 columns removed from its CSV — e.g. site_E (Renal + BUN + Clinical; no Inflammatory/Metabolic/Hemodynamic) keeps 24 of 109 columns. The encoder adapts automatically by omitting unused branches.</a:t>
            </a:r>
            <a:endParaRPr sz="950">
              <a:solidFill>
                <a:schemeClr val="dk1"/>
              </a:solidFill>
              <a:latin typeface="Calibri"/>
              <a:ea typeface="Calibri"/>
              <a:cs typeface="Calibri"/>
              <a:sym typeface="Calibri"/>
            </a:endParaRPr>
          </a:p>
        </p:txBody>
      </p:sp>
      <p:sp>
        <p:nvSpPr>
          <p:cNvPr id="287" name="Google Shape;287;p10"/>
          <p:cNvSpPr/>
          <p:nvPr/>
        </p:nvSpPr>
        <p:spPr>
          <a:xfrm>
            <a:off x="5051066" y="835434"/>
            <a:ext cx="57150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900"/>
              <a:buFont typeface="Calibri"/>
              <a:buNone/>
            </a:pPr>
            <a:r>
              <a:rPr lang="en-US" sz="900" b="1">
                <a:solidFill>
                  <a:srgbClr val="374151"/>
                </a:solidFill>
                <a:latin typeface="Calibri"/>
                <a:ea typeface="Calibri"/>
                <a:cs typeface="Calibri"/>
                <a:sym typeface="Calibri"/>
              </a:rPr>
              <a:t>FEATURE MASKING PER SITE</a:t>
            </a:r>
            <a:endParaRPr sz="900">
              <a:solidFill>
                <a:schemeClr val="dk1"/>
              </a:solidFill>
              <a:latin typeface="Calibri"/>
              <a:ea typeface="Calibri"/>
              <a:cs typeface="Calibri"/>
              <a:sym typeface="Calibri"/>
            </a:endParaRPr>
          </a:p>
        </p:txBody>
      </p:sp>
      <p:cxnSp>
        <p:nvCxnSpPr>
          <p:cNvPr id="289" name="Google Shape;289;p10"/>
          <p:cNvCxnSpPr/>
          <p:nvPr/>
        </p:nvCxnSpPr>
        <p:spPr>
          <a:xfrm>
            <a:off x="0" y="6702552"/>
            <a:ext cx="12188952" cy="0"/>
          </a:xfrm>
          <a:prstGeom prst="straightConnector1">
            <a:avLst/>
          </a:prstGeom>
          <a:noFill/>
          <a:ln w="9525" cap="flat" cmpd="sng">
            <a:solidFill>
              <a:srgbClr val="AAAAAA"/>
            </a:solidFill>
            <a:prstDash val="solid"/>
            <a:round/>
            <a:headEnd type="none" w="sm" len="sm"/>
            <a:tailEnd type="none" w="sm" len="sm"/>
          </a:ln>
        </p:spPr>
      </p:cxnSp>
      <p:sp>
        <p:nvSpPr>
          <p:cNvPr id="290" name="Google Shape;290;p10"/>
          <p:cNvSpPr/>
          <p:nvPr/>
        </p:nvSpPr>
        <p:spPr>
          <a:xfrm>
            <a:off x="320040" y="6711696"/>
            <a:ext cx="11548872" cy="1463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280"/>
              </a:buClr>
              <a:buSzPts val="800"/>
              <a:buFont typeface="Calibri"/>
              <a:buNone/>
            </a:pPr>
            <a:r>
              <a:rPr lang="en-US" sz="800" i="1">
                <a:solidFill>
                  <a:srgbClr val="6B7280"/>
                </a:solidFill>
                <a:latin typeface="Calibri"/>
                <a:ea typeface="Calibri"/>
                <a:cs typeface="Calibri"/>
                <a:sym typeface="Calibri"/>
              </a:rPr>
              <a:t>Blue cells = feature group present at that site  ·  Feature masking simulates real EHR incompatibility across hospital types</a:t>
            </a:r>
            <a:endParaRPr sz="800">
              <a:solidFill>
                <a:schemeClr val="dk1"/>
              </a:solidFill>
              <a:latin typeface="Calibri"/>
              <a:ea typeface="Calibri"/>
              <a:cs typeface="Calibri"/>
              <a:sym typeface="Calibri"/>
            </a:endParaRPr>
          </a:p>
        </p:txBody>
      </p:sp>
      <p:sp>
        <p:nvSpPr>
          <p:cNvPr id="291" name="Google Shape;291;p10"/>
          <p:cNvSpPr/>
          <p:nvPr/>
        </p:nvSpPr>
        <p:spPr>
          <a:xfrm>
            <a:off x="0" y="763325"/>
            <a:ext cx="9144000" cy="36576"/>
          </a:xfrm>
          <a:prstGeom prst="rect">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p:txBody>
      </p:sp>
      <p:graphicFrame>
        <p:nvGraphicFramePr>
          <p:cNvPr id="292" name="Table 291"/>
          <p:cNvGraphicFramePr>
            <a:graphicFrameLocks noGrp="1"/>
          </p:cNvGraphicFramePr>
          <p:nvPr/>
        </p:nvGraphicFramePr>
        <p:xfrm>
          <a:off x="4160520" y="1293876"/>
          <a:ext cx="4663440" cy="2697479"/>
        </p:xfrm>
        <a:graphic>
          <a:graphicData uri="http://schemas.openxmlformats.org/drawingml/2006/table">
            <a:tbl>
              <a:tblPr firstRow="1" bandRow="1">
                <a:tableStyleId>{5C22544A-7EE6-4342-B048-85BDC9FD1C3A}</a:tableStyleId>
              </a:tblPr>
              <a:tblGrid>
                <a:gridCol w="365760">
                  <a:extLst>
                    <a:ext uri="{9D8B030D-6E8A-4147-A177-3AD203B41FA5}">
                      <a16:colId xmlns:a16="http://schemas.microsoft.com/office/drawing/2014/main" val="20000"/>
                    </a:ext>
                  </a:extLst>
                </a:gridCol>
                <a:gridCol w="841248">
                  <a:extLst>
                    <a:ext uri="{9D8B030D-6E8A-4147-A177-3AD203B41FA5}">
                      <a16:colId xmlns:a16="http://schemas.microsoft.com/office/drawing/2014/main" val="20001"/>
                    </a:ext>
                  </a:extLst>
                </a:gridCol>
                <a:gridCol w="621792">
                  <a:extLst>
                    <a:ext uri="{9D8B030D-6E8A-4147-A177-3AD203B41FA5}">
                      <a16:colId xmlns:a16="http://schemas.microsoft.com/office/drawing/2014/main" val="20002"/>
                    </a:ext>
                  </a:extLst>
                </a:gridCol>
                <a:gridCol w="621792">
                  <a:extLst>
                    <a:ext uri="{9D8B030D-6E8A-4147-A177-3AD203B41FA5}">
                      <a16:colId xmlns:a16="http://schemas.microsoft.com/office/drawing/2014/main" val="20003"/>
                    </a:ext>
                  </a:extLst>
                </a:gridCol>
                <a:gridCol w="621792">
                  <a:extLst>
                    <a:ext uri="{9D8B030D-6E8A-4147-A177-3AD203B41FA5}">
                      <a16:colId xmlns:a16="http://schemas.microsoft.com/office/drawing/2014/main" val="20004"/>
                    </a:ext>
                  </a:extLst>
                </a:gridCol>
                <a:gridCol w="621792">
                  <a:extLst>
                    <a:ext uri="{9D8B030D-6E8A-4147-A177-3AD203B41FA5}">
                      <a16:colId xmlns:a16="http://schemas.microsoft.com/office/drawing/2014/main" val="20005"/>
                    </a:ext>
                  </a:extLst>
                </a:gridCol>
                <a:gridCol w="621792">
                  <a:extLst>
                    <a:ext uri="{9D8B030D-6E8A-4147-A177-3AD203B41FA5}">
                      <a16:colId xmlns:a16="http://schemas.microsoft.com/office/drawing/2014/main" val="20006"/>
                    </a:ext>
                  </a:extLst>
                </a:gridCol>
                <a:gridCol w="347472">
                  <a:extLst>
                    <a:ext uri="{9D8B030D-6E8A-4147-A177-3AD203B41FA5}">
                      <a16:colId xmlns:a16="http://schemas.microsoft.com/office/drawing/2014/main" val="20007"/>
                    </a:ext>
                  </a:extLst>
                </a:gridCol>
              </a:tblGrid>
              <a:tr h="329184">
                <a:tc>
                  <a:txBody>
                    <a:bodyPr/>
                    <a:lstStyle/>
                    <a:p>
                      <a:pPr algn="ctr"/>
                      <a:r>
                        <a:rPr sz="950" b="1" i="0">
                          <a:solidFill>
                            <a:srgbClr val="FFFFFF"/>
                          </a:solidFill>
                          <a:latin typeface="Calibri"/>
                        </a:rPr>
                        <a:t>Site</a:t>
                      </a:r>
                    </a:p>
                  </a:txBody>
                  <a:tcPr marL="45720" marR="45720" marT="18288" marB="18288" anchor="ctr">
                    <a:solidFill>
                      <a:srgbClr val="1D4ED8"/>
                    </a:solidFill>
                  </a:tcPr>
                </a:tc>
                <a:tc>
                  <a:txBody>
                    <a:bodyPr/>
                    <a:lstStyle/>
                    <a:p>
                      <a:pPr algn="ctr"/>
                      <a:r>
                        <a:rPr sz="950" b="1" i="0">
                          <a:solidFill>
                            <a:srgbClr val="FFFFFF"/>
                          </a:solidFill>
                          <a:latin typeface="Calibri"/>
                        </a:rPr>
                        <a:t>Description</a:t>
                      </a:r>
                    </a:p>
                  </a:txBody>
                  <a:tcPr marL="45720" marR="45720" marT="18288" marB="18288" anchor="ctr">
                    <a:solidFill>
                      <a:srgbClr val="1D4ED8"/>
                    </a:solidFill>
                  </a:tcPr>
                </a:tc>
                <a:tc>
                  <a:txBody>
                    <a:bodyPr/>
                    <a:lstStyle/>
                    <a:p>
                      <a:pPr algn="ctr"/>
                      <a:r>
                        <a:rPr sz="950" b="1" i="0">
                          <a:solidFill>
                            <a:srgbClr val="FFFFFF"/>
                          </a:solidFill>
                          <a:latin typeface="Calibri"/>
                        </a:rPr>
                        <a:t>Renal</a:t>
                      </a:r>
                    </a:p>
                  </a:txBody>
                  <a:tcPr marL="45720" marR="45720" marT="18288" marB="18288" anchor="ctr">
                    <a:solidFill>
                      <a:srgbClr val="1D4ED8"/>
                    </a:solidFill>
                  </a:tcPr>
                </a:tc>
                <a:tc>
                  <a:txBody>
                    <a:bodyPr/>
                    <a:lstStyle/>
                    <a:p>
                      <a:pPr algn="ctr"/>
                      <a:r>
                        <a:rPr sz="950" b="1" i="0">
                          <a:solidFill>
                            <a:srgbClr val="FFFFFF"/>
                          </a:solidFill>
                          <a:latin typeface="Calibri"/>
                        </a:rPr>
                        <a:t>Hemodynam.</a:t>
                      </a:r>
                    </a:p>
                  </a:txBody>
                  <a:tcPr marL="45720" marR="45720" marT="18288" marB="18288" anchor="ctr">
                    <a:solidFill>
                      <a:srgbClr val="1D4ED8"/>
                    </a:solidFill>
                  </a:tcPr>
                </a:tc>
                <a:tc>
                  <a:txBody>
                    <a:bodyPr/>
                    <a:lstStyle/>
                    <a:p>
                      <a:pPr algn="ctr"/>
                      <a:r>
                        <a:rPr sz="950" b="1" i="0">
                          <a:solidFill>
                            <a:srgbClr val="FFFFFF"/>
                          </a:solidFill>
                          <a:latin typeface="Calibri"/>
                        </a:rPr>
                        <a:t>Inflam.</a:t>
                      </a:r>
                    </a:p>
                  </a:txBody>
                  <a:tcPr marL="45720" marR="45720" marT="18288" marB="18288" anchor="ctr">
                    <a:solidFill>
                      <a:srgbClr val="1D4ED8"/>
                    </a:solidFill>
                  </a:tcPr>
                </a:tc>
                <a:tc>
                  <a:txBody>
                    <a:bodyPr/>
                    <a:lstStyle/>
                    <a:p>
                      <a:pPr algn="ctr"/>
                      <a:r>
                        <a:rPr sz="950" b="1" i="0">
                          <a:solidFill>
                            <a:srgbClr val="FFFFFF"/>
                          </a:solidFill>
                          <a:latin typeface="Calibri"/>
                        </a:rPr>
                        <a:t>Metabolic</a:t>
                      </a:r>
                    </a:p>
                  </a:txBody>
                  <a:tcPr marL="45720" marR="45720" marT="18288" marB="18288" anchor="ctr">
                    <a:solidFill>
                      <a:srgbClr val="1D4ED8"/>
                    </a:solidFill>
                  </a:tcPr>
                </a:tc>
                <a:tc>
                  <a:txBody>
                    <a:bodyPr/>
                    <a:lstStyle/>
                    <a:p>
                      <a:pPr algn="ctr"/>
                      <a:r>
                        <a:rPr sz="950" b="1" i="0">
                          <a:solidFill>
                            <a:srgbClr val="FFFFFF"/>
                          </a:solidFill>
                          <a:latin typeface="Calibri"/>
                        </a:rPr>
                        <a:t>Clinical</a:t>
                      </a:r>
                    </a:p>
                  </a:txBody>
                  <a:tcPr marL="45720" marR="45720" marT="18288" marB="18288" anchor="ctr">
                    <a:solidFill>
                      <a:srgbClr val="1D4ED8"/>
                    </a:solidFill>
                  </a:tcPr>
                </a:tc>
                <a:tc>
                  <a:txBody>
                    <a:bodyPr/>
                    <a:lstStyle/>
                    <a:p>
                      <a:pPr algn="ctr"/>
                      <a:r>
                        <a:rPr sz="950" b="1" i="0">
                          <a:solidFill>
                            <a:srgbClr val="FFFFFF"/>
                          </a:solidFill>
                          <a:latin typeface="Calibri"/>
                        </a:rPr>
                        <a:t>N feat.</a:t>
                      </a:r>
                    </a:p>
                  </a:txBody>
                  <a:tcPr marL="45720" marR="45720" marT="18288" marB="18288" anchor="ctr">
                    <a:solidFill>
                      <a:srgbClr val="1D4ED8"/>
                    </a:solidFill>
                  </a:tcPr>
                </a:tc>
                <a:extLst>
                  <a:ext uri="{0D108BD9-81ED-4DB2-BD59-A6C34878D82A}">
                    <a16:rowId xmlns:a16="http://schemas.microsoft.com/office/drawing/2014/main" val="10000"/>
                  </a:ext>
                </a:extLst>
              </a:tr>
              <a:tr h="473659">
                <a:tc>
                  <a:txBody>
                    <a:bodyPr/>
                    <a:lstStyle/>
                    <a:p>
                      <a:pPr algn="l"/>
                      <a:r>
                        <a:rPr sz="900" b="1" i="0">
                          <a:solidFill>
                            <a:srgbClr val="1D4ED8"/>
                          </a:solidFill>
                          <a:latin typeface="Calibri"/>
                        </a:rPr>
                        <a:t>Site C</a:t>
                      </a:r>
                    </a:p>
                  </a:txBody>
                  <a:tcPr marL="45720" marR="45720" marT="18288" marB="18288" anchor="ctr">
                    <a:solidFill>
                      <a:srgbClr val="EFF6FF"/>
                    </a:solidFill>
                  </a:tcPr>
                </a:tc>
                <a:tc>
                  <a:txBody>
                    <a:bodyPr/>
                    <a:lstStyle/>
                    <a:p>
                      <a:pPr algn="l"/>
                      <a:r>
                        <a:rPr sz="900" b="1" i="0">
                          <a:solidFill>
                            <a:srgbClr val="1D4ED8"/>
                          </a:solidFill>
                          <a:latin typeface="Calibri"/>
                        </a:rPr>
                        <a:t>MIMIC-IV Anchor</a:t>
                      </a:r>
                    </a:p>
                  </a:txBody>
                  <a:tcPr marL="45720" marR="45720" marT="18288" marB="18288" anchor="ctr">
                    <a:solidFill>
                      <a:srgbClr val="EFF6FF"/>
                    </a:solidFill>
                  </a:tcPr>
                </a:tc>
                <a:tc>
                  <a:txBody>
                    <a:bodyPr/>
                    <a:lstStyle/>
                    <a:p>
                      <a:pPr algn="ctr"/>
                      <a:r>
                        <a:rPr sz="900" b="1" i="0">
                          <a:solidFill>
                            <a:srgbClr val="1D4ED8"/>
                          </a:solidFill>
                          <a:latin typeface="Calibri"/>
                        </a:rPr>
                        <a:t>Yes</a:t>
                      </a:r>
                    </a:p>
                  </a:txBody>
                  <a:tcPr marL="45720" marR="45720" marT="18288" marB="18288" anchor="ctr">
                    <a:solidFill>
                      <a:srgbClr val="EFF6FF"/>
                    </a:solidFill>
                  </a:tcPr>
                </a:tc>
                <a:tc>
                  <a:txBody>
                    <a:bodyPr/>
                    <a:lstStyle/>
                    <a:p>
                      <a:pPr algn="ctr"/>
                      <a:r>
                        <a:rPr sz="900" b="1" i="0">
                          <a:solidFill>
                            <a:srgbClr val="1D4ED8"/>
                          </a:solidFill>
                          <a:latin typeface="Calibri"/>
                        </a:rPr>
                        <a:t>Yes</a:t>
                      </a:r>
                    </a:p>
                  </a:txBody>
                  <a:tcPr marL="45720" marR="45720" marT="18288" marB="18288" anchor="ctr">
                    <a:solidFill>
                      <a:srgbClr val="EFF6FF"/>
                    </a:solidFill>
                  </a:tcPr>
                </a:tc>
                <a:tc>
                  <a:txBody>
                    <a:bodyPr/>
                    <a:lstStyle/>
                    <a:p>
                      <a:pPr algn="ctr"/>
                      <a:r>
                        <a:rPr sz="900" b="1" i="0">
                          <a:solidFill>
                            <a:srgbClr val="1D4ED8"/>
                          </a:solidFill>
                          <a:latin typeface="Calibri"/>
                        </a:rPr>
                        <a:t>Yes</a:t>
                      </a:r>
                    </a:p>
                  </a:txBody>
                  <a:tcPr marL="45720" marR="45720" marT="18288" marB="18288" anchor="ctr">
                    <a:solidFill>
                      <a:srgbClr val="EFF6FF"/>
                    </a:solidFill>
                  </a:tcPr>
                </a:tc>
                <a:tc>
                  <a:txBody>
                    <a:bodyPr/>
                    <a:lstStyle/>
                    <a:p>
                      <a:pPr algn="ctr"/>
                      <a:r>
                        <a:rPr sz="900" b="1" i="0">
                          <a:solidFill>
                            <a:srgbClr val="1D4ED8"/>
                          </a:solidFill>
                          <a:latin typeface="Calibri"/>
                        </a:rPr>
                        <a:t>Yes</a:t>
                      </a:r>
                    </a:p>
                  </a:txBody>
                  <a:tcPr marL="45720" marR="45720" marT="18288" marB="18288" anchor="ctr">
                    <a:solidFill>
                      <a:srgbClr val="EFF6FF"/>
                    </a:solidFill>
                  </a:tcPr>
                </a:tc>
                <a:tc>
                  <a:txBody>
                    <a:bodyPr/>
                    <a:lstStyle/>
                    <a:p>
                      <a:pPr algn="ctr"/>
                      <a:r>
                        <a:rPr sz="900" b="1" i="0">
                          <a:solidFill>
                            <a:srgbClr val="1D4ED8"/>
                          </a:solidFill>
                          <a:latin typeface="Calibri"/>
                        </a:rPr>
                        <a:t>Yes</a:t>
                      </a:r>
                    </a:p>
                  </a:txBody>
                  <a:tcPr marL="45720" marR="45720" marT="18288" marB="18288" anchor="ctr">
                    <a:solidFill>
                      <a:srgbClr val="EFF6FF"/>
                    </a:solidFill>
                  </a:tcPr>
                </a:tc>
                <a:tc>
                  <a:txBody>
                    <a:bodyPr/>
                    <a:lstStyle/>
                    <a:p>
                      <a:pPr algn="l"/>
                      <a:r>
                        <a:rPr sz="900" b="1" i="0">
                          <a:solidFill>
                            <a:srgbClr val="1D4ED8"/>
                          </a:solidFill>
                          <a:latin typeface="Calibri"/>
                        </a:rPr>
                        <a:t>109</a:t>
                      </a:r>
                    </a:p>
                  </a:txBody>
                  <a:tcPr marL="45720" marR="45720" marT="18288" marB="18288" anchor="ctr">
                    <a:solidFill>
                      <a:srgbClr val="EFF6FF"/>
                    </a:solidFill>
                  </a:tcPr>
                </a:tc>
                <a:extLst>
                  <a:ext uri="{0D108BD9-81ED-4DB2-BD59-A6C34878D82A}">
                    <a16:rowId xmlns:a16="http://schemas.microsoft.com/office/drawing/2014/main" val="10001"/>
                  </a:ext>
                </a:extLst>
              </a:tr>
              <a:tr h="473659">
                <a:tc>
                  <a:txBody>
                    <a:bodyPr/>
                    <a:lstStyle/>
                    <a:p>
                      <a:pPr algn="l"/>
                      <a:r>
                        <a:rPr sz="900" b="0" i="0">
                          <a:solidFill>
                            <a:srgbClr val="374151"/>
                          </a:solidFill>
                          <a:latin typeface="Calibri"/>
                        </a:rPr>
                        <a:t>Site A</a:t>
                      </a:r>
                    </a:p>
                  </a:txBody>
                  <a:tcPr marL="45720" marR="45720" marT="18288" marB="18288" anchor="ctr">
                    <a:solidFill>
                      <a:srgbClr val="F5F5F5"/>
                    </a:solidFill>
                  </a:tcPr>
                </a:tc>
                <a:tc>
                  <a:txBody>
                    <a:bodyPr/>
                    <a:lstStyle/>
                    <a:p>
                      <a:pPr algn="l"/>
                      <a:r>
                        <a:rPr sz="900" b="0" i="0">
                          <a:solidFill>
                            <a:srgbClr val="374151"/>
                          </a:solidFill>
                          <a:latin typeface="Calibri"/>
                        </a:rPr>
                        <a:t>ICU / Tertiary</a:t>
                      </a:r>
                    </a:p>
                  </a:txBody>
                  <a:tcPr marL="45720" marR="45720" marT="18288" marB="18288" anchor="ctr">
                    <a:solidFill>
                      <a:srgbClr val="F5F5F5"/>
                    </a:solidFill>
                  </a:tcPr>
                </a:tc>
                <a:tc>
                  <a:txBody>
                    <a:bodyPr/>
                    <a:lstStyle/>
                    <a:p>
                      <a:pPr algn="ctr"/>
                      <a:r>
                        <a:rPr sz="900" b="1" i="0">
                          <a:solidFill>
                            <a:srgbClr val="FFFFFF"/>
                          </a:solidFill>
                          <a:latin typeface="Calibri"/>
                        </a:rPr>
                        <a:t>Yes</a:t>
                      </a:r>
                    </a:p>
                  </a:txBody>
                  <a:tcPr marL="45720" marR="45720" marT="18288" marB="18288" anchor="ctr">
                    <a:solidFill>
                      <a:srgbClr val="1D4ED8"/>
                    </a:solidFill>
                  </a:tcPr>
                </a:tc>
                <a:tc>
                  <a:txBody>
                    <a:bodyPr/>
                    <a:lstStyle/>
                    <a:p>
                      <a:pPr algn="ctr"/>
                      <a:r>
                        <a:rPr sz="900" b="0" i="0">
                          <a:solidFill>
                            <a:srgbClr val="DDDDDD"/>
                          </a:solidFill>
                          <a:latin typeface="Calibri"/>
                        </a:rPr>
                        <a:t>--</a:t>
                      </a:r>
                    </a:p>
                  </a:txBody>
                  <a:tcPr marL="45720" marR="45720" marT="18288" marB="18288" anchor="ctr">
                    <a:solidFill>
                      <a:srgbClr val="F5F5F5"/>
                    </a:solidFill>
                  </a:tcPr>
                </a:tc>
                <a:tc>
                  <a:txBody>
                    <a:bodyPr/>
                    <a:lstStyle/>
                    <a:p>
                      <a:pPr algn="ctr"/>
                      <a:r>
                        <a:rPr sz="900" b="1" i="0">
                          <a:solidFill>
                            <a:srgbClr val="FFFFFF"/>
                          </a:solidFill>
                          <a:latin typeface="Calibri"/>
                        </a:rPr>
                        <a:t>Yes</a:t>
                      </a:r>
                    </a:p>
                  </a:txBody>
                  <a:tcPr marL="45720" marR="45720" marT="18288" marB="18288" anchor="ctr">
                    <a:solidFill>
                      <a:srgbClr val="1D4ED8"/>
                    </a:solidFill>
                  </a:tcPr>
                </a:tc>
                <a:tc>
                  <a:txBody>
                    <a:bodyPr/>
                    <a:lstStyle/>
                    <a:p>
                      <a:pPr algn="ctr"/>
                      <a:r>
                        <a:rPr sz="900" b="0" i="0">
                          <a:solidFill>
                            <a:srgbClr val="DDDDDD"/>
                          </a:solidFill>
                          <a:latin typeface="Calibri"/>
                        </a:rPr>
                        <a:t>--</a:t>
                      </a:r>
                    </a:p>
                  </a:txBody>
                  <a:tcPr marL="45720" marR="45720" marT="18288" marB="18288" anchor="ctr">
                    <a:solidFill>
                      <a:srgbClr val="F5F5F5"/>
                    </a:solidFill>
                  </a:tcPr>
                </a:tc>
                <a:tc>
                  <a:txBody>
                    <a:bodyPr/>
                    <a:lstStyle/>
                    <a:p>
                      <a:pPr algn="ctr"/>
                      <a:r>
                        <a:rPr sz="900" b="1" i="0">
                          <a:solidFill>
                            <a:srgbClr val="FFFFFF"/>
                          </a:solidFill>
                          <a:latin typeface="Calibri"/>
                        </a:rPr>
                        <a:t>Yes</a:t>
                      </a:r>
                    </a:p>
                  </a:txBody>
                  <a:tcPr marL="45720" marR="45720" marT="18288" marB="18288" anchor="ctr">
                    <a:solidFill>
                      <a:srgbClr val="1D4ED8"/>
                    </a:solidFill>
                  </a:tcPr>
                </a:tc>
                <a:tc>
                  <a:txBody>
                    <a:bodyPr/>
                    <a:lstStyle/>
                    <a:p>
                      <a:pPr algn="l"/>
                      <a:r>
                        <a:rPr sz="900" b="0" i="0">
                          <a:solidFill>
                            <a:srgbClr val="374151"/>
                          </a:solidFill>
                          <a:latin typeface="Calibri"/>
                        </a:rPr>
                        <a:t>39</a:t>
                      </a:r>
                    </a:p>
                  </a:txBody>
                  <a:tcPr marL="45720" marR="45720" marT="18288" marB="18288" anchor="ctr">
                    <a:solidFill>
                      <a:srgbClr val="F5F5F5"/>
                    </a:solidFill>
                  </a:tcPr>
                </a:tc>
                <a:extLst>
                  <a:ext uri="{0D108BD9-81ED-4DB2-BD59-A6C34878D82A}">
                    <a16:rowId xmlns:a16="http://schemas.microsoft.com/office/drawing/2014/main" val="10002"/>
                  </a:ext>
                </a:extLst>
              </a:tr>
              <a:tr h="473659">
                <a:tc>
                  <a:txBody>
                    <a:bodyPr/>
                    <a:lstStyle/>
                    <a:p>
                      <a:pPr algn="l"/>
                      <a:r>
                        <a:rPr sz="900" b="0" i="0">
                          <a:solidFill>
                            <a:srgbClr val="374151"/>
                          </a:solidFill>
                          <a:latin typeface="Calibri"/>
                        </a:rPr>
                        <a:t>Site B</a:t>
                      </a:r>
                    </a:p>
                  </a:txBody>
                  <a:tcPr marL="45720" marR="45720" marT="18288" marB="18288" anchor="ctr">
                    <a:solidFill>
                      <a:srgbClr val="FFFFFF"/>
                    </a:solidFill>
                  </a:tcPr>
                </a:tc>
                <a:tc>
                  <a:txBody>
                    <a:bodyPr/>
                    <a:lstStyle/>
                    <a:p>
                      <a:pPr algn="l"/>
                      <a:r>
                        <a:rPr sz="900" b="0" i="0">
                          <a:solidFill>
                            <a:srgbClr val="374151"/>
                          </a:solidFill>
                          <a:latin typeface="Calibri"/>
                        </a:rPr>
                        <a:t>General Ward</a:t>
                      </a:r>
                    </a:p>
                  </a:txBody>
                  <a:tcPr marL="45720" marR="45720" marT="18288" marB="18288" anchor="ctr">
                    <a:solidFill>
                      <a:srgbClr val="FFFFFF"/>
                    </a:solidFill>
                  </a:tcPr>
                </a:tc>
                <a:tc>
                  <a:txBody>
                    <a:bodyPr/>
                    <a:lstStyle/>
                    <a:p>
                      <a:pPr algn="ctr"/>
                      <a:r>
                        <a:rPr sz="900" b="1" i="0">
                          <a:solidFill>
                            <a:srgbClr val="FFFFFF"/>
                          </a:solidFill>
                          <a:latin typeface="Calibri"/>
                        </a:rPr>
                        <a:t>Yes</a:t>
                      </a:r>
                    </a:p>
                  </a:txBody>
                  <a:tcPr marL="45720" marR="45720" marT="18288" marB="18288" anchor="ctr">
                    <a:solidFill>
                      <a:srgbClr val="1D4ED8"/>
                    </a:solidFill>
                  </a:tcPr>
                </a:tc>
                <a:tc>
                  <a:txBody>
                    <a:bodyPr/>
                    <a:lstStyle/>
                    <a:p>
                      <a:pPr algn="ctr"/>
                      <a:r>
                        <a:rPr sz="900" b="0" i="0">
                          <a:solidFill>
                            <a:srgbClr val="DDDDDD"/>
                          </a:solidFill>
                          <a:latin typeface="Calibri"/>
                        </a:rPr>
                        <a:t>Yes</a:t>
                      </a:r>
                    </a:p>
                  </a:txBody>
                  <a:tcPr marL="45720" marR="45720" marT="18288" marB="18288" anchor="ctr">
                    <a:solidFill>
                      <a:srgbClr val="FFFFFF"/>
                    </a:solidFill>
                  </a:tcPr>
                </a:tc>
                <a:tc>
                  <a:txBody>
                    <a:bodyPr/>
                    <a:lstStyle/>
                    <a:p>
                      <a:pPr algn="ctr"/>
                      <a:r>
                        <a:rPr sz="900" b="0" i="0">
                          <a:solidFill>
                            <a:srgbClr val="DDDDDD"/>
                          </a:solidFill>
                          <a:latin typeface="Calibri"/>
                        </a:rPr>
                        <a:t>--</a:t>
                      </a:r>
                    </a:p>
                  </a:txBody>
                  <a:tcPr marL="45720" marR="45720" marT="18288" marB="18288" anchor="ctr">
                    <a:solidFill>
                      <a:srgbClr val="FFFFFF"/>
                    </a:solidFill>
                  </a:tcPr>
                </a:tc>
                <a:tc>
                  <a:txBody>
                    <a:bodyPr/>
                    <a:lstStyle/>
                    <a:p>
                      <a:pPr algn="ctr"/>
                      <a:r>
                        <a:rPr sz="900" b="1" i="0">
                          <a:solidFill>
                            <a:srgbClr val="FFFFFF"/>
                          </a:solidFill>
                          <a:latin typeface="Calibri"/>
                        </a:rPr>
                        <a:t>Yes</a:t>
                      </a:r>
                    </a:p>
                  </a:txBody>
                  <a:tcPr marL="45720" marR="45720" marT="18288" marB="18288" anchor="ctr">
                    <a:solidFill>
                      <a:srgbClr val="1D4ED8"/>
                    </a:solidFill>
                  </a:tcPr>
                </a:tc>
                <a:tc>
                  <a:txBody>
                    <a:bodyPr/>
                    <a:lstStyle/>
                    <a:p>
                      <a:pPr algn="ctr"/>
                      <a:r>
                        <a:rPr sz="900" b="1" i="0">
                          <a:solidFill>
                            <a:srgbClr val="FFFFFF"/>
                          </a:solidFill>
                          <a:latin typeface="Calibri"/>
                        </a:rPr>
                        <a:t>Yes</a:t>
                      </a:r>
                    </a:p>
                  </a:txBody>
                  <a:tcPr marL="45720" marR="45720" marT="18288" marB="18288" anchor="ctr">
                    <a:solidFill>
                      <a:srgbClr val="1D4ED8"/>
                    </a:solidFill>
                  </a:tcPr>
                </a:tc>
                <a:tc>
                  <a:txBody>
                    <a:bodyPr/>
                    <a:lstStyle/>
                    <a:p>
                      <a:pPr algn="l"/>
                      <a:r>
                        <a:rPr sz="900" b="0" i="0">
                          <a:solidFill>
                            <a:srgbClr val="374151"/>
                          </a:solidFill>
                          <a:latin typeface="Calibri"/>
                        </a:rPr>
                        <a:t>59</a:t>
                      </a:r>
                    </a:p>
                  </a:txBody>
                  <a:tcPr marL="45720" marR="45720" marT="18288" marB="18288" anchor="ctr">
                    <a:solidFill>
                      <a:srgbClr val="FFFFFF"/>
                    </a:solidFill>
                  </a:tcPr>
                </a:tc>
                <a:extLst>
                  <a:ext uri="{0D108BD9-81ED-4DB2-BD59-A6C34878D82A}">
                    <a16:rowId xmlns:a16="http://schemas.microsoft.com/office/drawing/2014/main" val="10003"/>
                  </a:ext>
                </a:extLst>
              </a:tr>
              <a:tr h="473659">
                <a:tc>
                  <a:txBody>
                    <a:bodyPr/>
                    <a:lstStyle/>
                    <a:p>
                      <a:pPr algn="l"/>
                      <a:r>
                        <a:rPr sz="900" b="0" i="0">
                          <a:solidFill>
                            <a:srgbClr val="374151"/>
                          </a:solidFill>
                          <a:latin typeface="Calibri"/>
                        </a:rPr>
                        <a:t>Site D</a:t>
                      </a:r>
                    </a:p>
                  </a:txBody>
                  <a:tcPr marL="45720" marR="45720" marT="18288" marB="18288" anchor="ctr">
                    <a:solidFill>
                      <a:srgbClr val="F5F5F5"/>
                    </a:solidFill>
                  </a:tcPr>
                </a:tc>
                <a:tc>
                  <a:txBody>
                    <a:bodyPr/>
                    <a:lstStyle/>
                    <a:p>
                      <a:pPr algn="l"/>
                      <a:r>
                        <a:rPr sz="900" b="0" i="0">
                          <a:solidFill>
                            <a:srgbClr val="374151"/>
                          </a:solidFill>
                          <a:latin typeface="Calibri"/>
                        </a:rPr>
                        <a:t>Community Clinic</a:t>
                      </a:r>
                    </a:p>
                  </a:txBody>
                  <a:tcPr marL="45720" marR="45720" marT="18288" marB="18288" anchor="ctr">
                    <a:solidFill>
                      <a:srgbClr val="F5F5F5"/>
                    </a:solidFill>
                  </a:tcPr>
                </a:tc>
                <a:tc>
                  <a:txBody>
                    <a:bodyPr/>
                    <a:lstStyle/>
                    <a:p>
                      <a:pPr algn="ctr"/>
                      <a:r>
                        <a:rPr sz="900" b="0" i="0">
                          <a:solidFill>
                            <a:srgbClr val="DDDDDD"/>
                          </a:solidFill>
                          <a:latin typeface="Calibri"/>
                        </a:rPr>
                        <a:t>--</a:t>
                      </a:r>
                    </a:p>
                  </a:txBody>
                  <a:tcPr marL="45720" marR="45720" marT="18288" marB="18288" anchor="ctr">
                    <a:solidFill>
                      <a:srgbClr val="F5F5F5"/>
                    </a:solidFill>
                  </a:tcPr>
                </a:tc>
                <a:tc>
                  <a:txBody>
                    <a:bodyPr/>
                    <a:lstStyle/>
                    <a:p>
                      <a:pPr algn="ctr"/>
                      <a:r>
                        <a:rPr sz="900" b="0" i="0">
                          <a:solidFill>
                            <a:srgbClr val="DDDDDD"/>
                          </a:solidFill>
                          <a:latin typeface="Calibri"/>
                        </a:rPr>
                        <a:t>Yes</a:t>
                      </a:r>
                    </a:p>
                  </a:txBody>
                  <a:tcPr marL="45720" marR="45720" marT="18288" marB="18288" anchor="ctr">
                    <a:solidFill>
                      <a:srgbClr val="F5F5F5"/>
                    </a:solidFill>
                  </a:tcPr>
                </a:tc>
                <a:tc>
                  <a:txBody>
                    <a:bodyPr/>
                    <a:lstStyle/>
                    <a:p>
                      <a:pPr algn="ctr"/>
                      <a:r>
                        <a:rPr sz="900" b="0" i="0">
                          <a:solidFill>
                            <a:srgbClr val="DDDDDD"/>
                          </a:solidFill>
                          <a:latin typeface="Calibri"/>
                        </a:rPr>
                        <a:t>--</a:t>
                      </a:r>
                    </a:p>
                  </a:txBody>
                  <a:tcPr marL="45720" marR="45720" marT="18288" marB="18288" anchor="ctr">
                    <a:solidFill>
                      <a:srgbClr val="F5F5F5"/>
                    </a:solidFill>
                  </a:tcPr>
                </a:tc>
                <a:tc>
                  <a:txBody>
                    <a:bodyPr/>
                    <a:lstStyle/>
                    <a:p>
                      <a:pPr algn="ctr"/>
                      <a:r>
                        <a:rPr sz="900" b="1" i="0">
                          <a:solidFill>
                            <a:srgbClr val="FFFFFF"/>
                          </a:solidFill>
                          <a:latin typeface="Calibri"/>
                        </a:rPr>
                        <a:t>Yes</a:t>
                      </a:r>
                    </a:p>
                  </a:txBody>
                  <a:tcPr marL="45720" marR="45720" marT="18288" marB="18288" anchor="ctr">
                    <a:solidFill>
                      <a:srgbClr val="1D4ED8"/>
                    </a:solidFill>
                  </a:tcPr>
                </a:tc>
                <a:tc>
                  <a:txBody>
                    <a:bodyPr/>
                    <a:lstStyle/>
                    <a:p>
                      <a:pPr algn="ctr"/>
                      <a:r>
                        <a:rPr sz="900" b="1" i="0">
                          <a:solidFill>
                            <a:srgbClr val="FFFFFF"/>
                          </a:solidFill>
                          <a:latin typeface="Calibri"/>
                        </a:rPr>
                        <a:t>Yes</a:t>
                      </a:r>
                    </a:p>
                  </a:txBody>
                  <a:tcPr marL="45720" marR="45720" marT="18288" marB="18288" anchor="ctr">
                    <a:solidFill>
                      <a:srgbClr val="1D4ED8"/>
                    </a:solidFill>
                  </a:tcPr>
                </a:tc>
                <a:tc>
                  <a:txBody>
                    <a:bodyPr/>
                    <a:lstStyle/>
                    <a:p>
                      <a:pPr algn="l"/>
                      <a:r>
                        <a:rPr sz="900" b="0" i="0">
                          <a:solidFill>
                            <a:srgbClr val="374151"/>
                          </a:solidFill>
                          <a:latin typeface="Calibri"/>
                        </a:rPr>
                        <a:t>47</a:t>
                      </a:r>
                    </a:p>
                  </a:txBody>
                  <a:tcPr marL="45720" marR="45720" marT="18288" marB="18288" anchor="ctr">
                    <a:solidFill>
                      <a:srgbClr val="F5F5F5"/>
                    </a:solidFill>
                  </a:tcPr>
                </a:tc>
                <a:extLst>
                  <a:ext uri="{0D108BD9-81ED-4DB2-BD59-A6C34878D82A}">
                    <a16:rowId xmlns:a16="http://schemas.microsoft.com/office/drawing/2014/main" val="10004"/>
                  </a:ext>
                </a:extLst>
              </a:tr>
              <a:tr h="473659">
                <a:tc>
                  <a:txBody>
                    <a:bodyPr/>
                    <a:lstStyle/>
                    <a:p>
                      <a:pPr algn="l"/>
                      <a:r>
                        <a:rPr sz="900" b="0" i="0">
                          <a:solidFill>
                            <a:srgbClr val="374151"/>
                          </a:solidFill>
                          <a:latin typeface="Calibri"/>
                        </a:rPr>
                        <a:t>Site E</a:t>
                      </a:r>
                    </a:p>
                  </a:txBody>
                  <a:tcPr marL="45720" marR="45720" marT="18288" marB="18288" anchor="ctr">
                    <a:solidFill>
                      <a:srgbClr val="FFFFFF"/>
                    </a:solidFill>
                  </a:tcPr>
                </a:tc>
                <a:tc>
                  <a:txBody>
                    <a:bodyPr/>
                    <a:lstStyle/>
                    <a:p>
                      <a:pPr algn="l"/>
                      <a:r>
                        <a:rPr sz="900" b="0" i="0">
                          <a:solidFill>
                            <a:srgbClr val="374151"/>
                          </a:solidFill>
                          <a:latin typeface="Calibri"/>
                        </a:rPr>
                        <a:t>Rural / Resource-ltd</a:t>
                      </a:r>
                    </a:p>
                  </a:txBody>
                  <a:tcPr marL="45720" marR="45720" marT="18288" marB="18288" anchor="ctr">
                    <a:solidFill>
                      <a:srgbClr val="FFFFFF"/>
                    </a:solidFill>
                  </a:tcPr>
                </a:tc>
                <a:tc>
                  <a:txBody>
                    <a:bodyPr/>
                    <a:lstStyle/>
                    <a:p>
                      <a:pPr algn="ctr"/>
                      <a:r>
                        <a:rPr sz="900" b="1" i="0">
                          <a:solidFill>
                            <a:srgbClr val="FFFFFF"/>
                          </a:solidFill>
                          <a:latin typeface="Calibri"/>
                        </a:rPr>
                        <a:t>Yes</a:t>
                      </a:r>
                    </a:p>
                  </a:txBody>
                  <a:tcPr marL="45720" marR="45720" marT="18288" marB="18288" anchor="ctr">
                    <a:solidFill>
                      <a:srgbClr val="1D4ED8"/>
                    </a:solidFill>
                  </a:tcPr>
                </a:tc>
                <a:tc>
                  <a:txBody>
                    <a:bodyPr/>
                    <a:lstStyle/>
                    <a:p>
                      <a:pPr algn="ctr"/>
                      <a:r>
                        <a:rPr sz="900" b="0" i="0">
                          <a:solidFill>
                            <a:srgbClr val="DDDDDD"/>
                          </a:solidFill>
                          <a:latin typeface="Calibri"/>
                        </a:rPr>
                        <a:t>--</a:t>
                      </a:r>
                    </a:p>
                  </a:txBody>
                  <a:tcPr marL="45720" marR="45720" marT="18288" marB="18288" anchor="ctr">
                    <a:solidFill>
                      <a:srgbClr val="FFFFFF"/>
                    </a:solidFill>
                  </a:tcPr>
                </a:tc>
                <a:tc>
                  <a:txBody>
                    <a:bodyPr/>
                    <a:lstStyle/>
                    <a:p>
                      <a:pPr algn="ctr"/>
                      <a:r>
                        <a:rPr sz="900" b="0" i="0">
                          <a:solidFill>
                            <a:srgbClr val="DDDDDD"/>
                          </a:solidFill>
                          <a:latin typeface="Calibri"/>
                        </a:rPr>
                        <a:t>--</a:t>
                      </a:r>
                    </a:p>
                  </a:txBody>
                  <a:tcPr marL="45720" marR="45720" marT="18288" marB="18288" anchor="ctr">
                    <a:solidFill>
                      <a:srgbClr val="FFFFFF"/>
                    </a:solidFill>
                  </a:tcPr>
                </a:tc>
                <a:tc>
                  <a:txBody>
                    <a:bodyPr/>
                    <a:lstStyle/>
                    <a:p>
                      <a:pPr algn="ctr"/>
                      <a:r>
                        <a:rPr sz="900" b="0" i="0">
                          <a:solidFill>
                            <a:srgbClr val="DDDDDD"/>
                          </a:solidFill>
                          <a:latin typeface="Calibri"/>
                        </a:rPr>
                        <a:t>--</a:t>
                      </a:r>
                    </a:p>
                  </a:txBody>
                  <a:tcPr marL="45720" marR="45720" marT="18288" marB="18288" anchor="ctr">
                    <a:solidFill>
                      <a:srgbClr val="FFFFFF"/>
                    </a:solidFill>
                  </a:tcPr>
                </a:tc>
                <a:tc>
                  <a:txBody>
                    <a:bodyPr/>
                    <a:lstStyle/>
                    <a:p>
                      <a:pPr algn="ctr"/>
                      <a:r>
                        <a:rPr sz="900" b="1" i="0">
                          <a:solidFill>
                            <a:srgbClr val="FFFFFF"/>
                          </a:solidFill>
                          <a:latin typeface="Calibri"/>
                        </a:rPr>
                        <a:t>Yes</a:t>
                      </a:r>
                    </a:p>
                  </a:txBody>
                  <a:tcPr marL="45720" marR="45720" marT="18288" marB="18288" anchor="ctr">
                    <a:solidFill>
                      <a:srgbClr val="1D4ED8"/>
                    </a:solidFill>
                  </a:tcPr>
                </a:tc>
                <a:tc>
                  <a:txBody>
                    <a:bodyPr/>
                    <a:lstStyle/>
                    <a:p>
                      <a:pPr algn="l"/>
                      <a:r>
                        <a:rPr sz="900" b="0" i="0">
                          <a:solidFill>
                            <a:srgbClr val="374151"/>
                          </a:solidFill>
                          <a:latin typeface="Calibri"/>
                        </a:rPr>
                        <a:t>24</a:t>
                      </a:r>
                    </a:p>
                  </a:txBody>
                  <a:tcPr marL="45720" marR="45720" marT="18288" marB="18288"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5"/>
        <p:cNvGrpSpPr/>
        <p:nvPr/>
      </p:nvGrpSpPr>
      <p:grpSpPr>
        <a:xfrm>
          <a:off x="0" y="0"/>
          <a:ext cx="0" cy="0"/>
          <a:chOff x="0" y="0"/>
          <a:chExt cx="0" cy="0"/>
        </a:xfrm>
      </p:grpSpPr>
      <p:sp>
        <p:nvSpPr>
          <p:cNvPr id="296" name="Google Shape;296;p11"/>
          <p:cNvSpPr/>
          <p:nvPr/>
        </p:nvSpPr>
        <p:spPr>
          <a:xfrm>
            <a:off x="320040" y="73152"/>
            <a:ext cx="850392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2100"/>
              <a:buFont typeface="Calibri"/>
              <a:buNone/>
            </a:pPr>
            <a:r>
              <a:rPr lang="en-US" sz="2100" b="1">
                <a:solidFill>
                  <a:srgbClr val="1F2937"/>
                </a:solidFill>
                <a:latin typeface="Calibri"/>
                <a:ea typeface="Calibri"/>
                <a:cs typeface="Calibri"/>
                <a:sym typeface="Calibri"/>
              </a:rPr>
              <a:t>Data Simulation Step 3: Dirichlet Sampling and Artificial Class Bias per Site</a:t>
            </a:r>
            <a:endParaRPr sz="2100">
              <a:solidFill>
                <a:schemeClr val="dk1"/>
              </a:solidFill>
              <a:latin typeface="Calibri"/>
              <a:ea typeface="Calibri"/>
              <a:cs typeface="Calibri"/>
              <a:sym typeface="Calibri"/>
            </a:endParaRPr>
          </a:p>
        </p:txBody>
      </p:sp>
      <p:sp>
        <p:nvSpPr>
          <p:cNvPr id="297" name="Google Shape;297;p11"/>
          <p:cNvSpPr/>
          <p:nvPr/>
        </p:nvSpPr>
        <p:spPr>
          <a:xfrm>
            <a:off x="320040" y="804672"/>
            <a:ext cx="85039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000"/>
              <a:buFont typeface="Calibri"/>
              <a:buNone/>
            </a:pPr>
            <a:r>
              <a:rPr lang="en-US" sz="1000" i="1">
                <a:solidFill>
                  <a:srgbClr val="6B7280"/>
                </a:solidFill>
                <a:latin typeface="Calibri"/>
                <a:ea typeface="Calibri"/>
                <a:cs typeface="Calibri"/>
                <a:sym typeface="Calibri"/>
              </a:rPr>
              <a:t>How sample heterogeneity is simulated in Approach 2, and why the bias is intentional</a:t>
            </a:r>
            <a:endParaRPr sz="1000">
              <a:solidFill>
                <a:schemeClr val="dk1"/>
              </a:solidFill>
              <a:latin typeface="Calibri"/>
              <a:ea typeface="Calibri"/>
              <a:cs typeface="Calibri"/>
              <a:sym typeface="Calibri"/>
            </a:endParaRPr>
          </a:p>
        </p:txBody>
      </p:sp>
      <p:sp>
        <p:nvSpPr>
          <p:cNvPr id="318" name="Google Shape;318;p11"/>
          <p:cNvSpPr/>
          <p:nvPr/>
        </p:nvSpPr>
        <p:spPr>
          <a:xfrm>
            <a:off x="0" y="763325"/>
            <a:ext cx="9144000" cy="36576"/>
          </a:xfrm>
          <a:prstGeom prst="rect">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9" name="TextBox 318"/>
          <p:cNvSpPr txBox="1"/>
          <p:nvPr/>
        </p:nvSpPr>
        <p:spPr>
          <a:xfrm>
            <a:off x="320040" y="1005840"/>
            <a:ext cx="4069080" cy="182880"/>
          </a:xfrm>
          <a:prstGeom prst="rect">
            <a:avLst/>
          </a:prstGeom>
          <a:noFill/>
        </p:spPr>
        <p:txBody>
          <a:bodyPr wrap="square" lIns="0" tIns="0" rIns="0" bIns="0">
            <a:spAutoFit/>
          </a:bodyPr>
          <a:lstStyle/>
          <a:p>
            <a:pPr algn="l">
              <a:spcBef>
                <a:spcPts val="0"/>
              </a:spcBef>
              <a:buNone/>
            </a:pPr>
            <a:r>
              <a:rPr sz="900" b="0" i="0">
                <a:solidFill>
                  <a:srgbClr val="374151"/>
                </a:solidFill>
                <a:latin typeface="Calibri"/>
              </a:rPr>
              <a:t>WHAT DIRICHLET SAMPLING DOES (APPROACH 2)</a:t>
            </a:r>
          </a:p>
        </p:txBody>
      </p:sp>
      <p:cxnSp>
        <p:nvCxnSpPr>
          <p:cNvPr id="320" name="Connector 319"/>
          <p:cNvCxnSpPr/>
          <p:nvPr/>
        </p:nvCxnSpPr>
        <p:spPr>
          <a:xfrm>
            <a:off x="320040" y="1216152"/>
            <a:ext cx="4069080" cy="0"/>
          </a:xfrm>
          <a:prstGeom prst="line">
            <a:avLst/>
          </a:prstGeom>
          <a:ln w="9525">
            <a:solidFill>
              <a:srgbClr val="AAAAAA"/>
            </a:solidFill>
          </a:ln>
        </p:spPr>
        <p:style>
          <a:lnRef idx="2">
            <a:schemeClr val="accent1"/>
          </a:lnRef>
          <a:fillRef idx="0">
            <a:schemeClr val="accent1"/>
          </a:fillRef>
          <a:effectRef idx="1">
            <a:schemeClr val="accent1"/>
          </a:effectRef>
          <a:fontRef idx="minor">
            <a:schemeClr val="tx1"/>
          </a:fontRef>
        </p:style>
      </p:cxnSp>
      <p:sp>
        <p:nvSpPr>
          <p:cNvPr id="321" name="TextBox 320"/>
          <p:cNvSpPr txBox="1"/>
          <p:nvPr/>
        </p:nvSpPr>
        <p:spPr>
          <a:xfrm>
            <a:off x="320040" y="1280160"/>
            <a:ext cx="4069080" cy="1417320"/>
          </a:xfrm>
          <a:prstGeom prst="rect">
            <a:avLst/>
          </a:prstGeom>
          <a:noFill/>
        </p:spPr>
        <p:txBody>
          <a:bodyPr wrap="square" lIns="0" tIns="0" rIns="0" bIns="0">
            <a:spAutoFit/>
          </a:bodyPr>
          <a:lstStyle/>
          <a:p>
            <a:pPr algn="l">
              <a:spcBef>
                <a:spcPts val="0"/>
              </a:spcBef>
              <a:buNone/>
            </a:pPr>
            <a:r>
              <a:rPr sz="869" b="0" i="0">
                <a:solidFill>
                  <a:srgbClr val="374151"/>
                </a:solidFill>
                <a:latin typeface="Calibri"/>
              </a:rPr>
              <a:t>Standard random sampling gives every site the same ~9.0% AKI prevalence — the true Approach 2 cohort rate. That is the IID case and it is unrealistic.</a:t>
            </a:r>
          </a:p>
          <a:p>
            <a:pPr algn="l">
              <a:spcBef>
                <a:spcPts val="500"/>
              </a:spcBef>
              <a:buNone/>
            </a:pPr>
            <a:r>
              <a:rPr sz="869" b="0" i="0">
                <a:solidFill>
                  <a:srgbClr val="374151"/>
                </a:solidFill>
                <a:latin typeface="Calibri"/>
              </a:rPr>
              <a:t>Each non-anchor site is assigned a fixed clinical archetype prevalence. Alpha (α) controls how strongly each site is pulled away from that archetype toward the global rate.</a:t>
            </a:r>
          </a:p>
          <a:p>
            <a:pPr algn="l">
              <a:spcBef>
                <a:spcPts val="600"/>
              </a:spcBef>
              <a:buNone/>
            </a:pPr>
            <a:r>
              <a:rPr sz="869" b="1" i="0">
                <a:solidFill>
                  <a:srgbClr val="374151"/>
                </a:solidFill>
                <a:latin typeface="Calibri"/>
              </a:rPr>
              <a:t>Low α (0.1)  </a:t>
            </a:r>
            <a:r>
              <a:rPr sz="869" b="0" i="0">
                <a:solidFill>
                  <a:srgbClr val="374151"/>
                </a:solidFill>
                <a:latin typeface="Calibri"/>
              </a:rPr>
              <a:t>sites stay close to archetype — highly non-IID</a:t>
            </a:r>
          </a:p>
          <a:p>
            <a:pPr algn="l">
              <a:spcBef>
                <a:spcPts val="200"/>
              </a:spcBef>
              <a:buNone/>
            </a:pPr>
            <a:r>
              <a:rPr sz="869" b="1" i="0">
                <a:solidFill>
                  <a:srgbClr val="374151"/>
                </a:solidFill>
                <a:latin typeface="Calibri"/>
              </a:rPr>
              <a:t>High α (10.0)  </a:t>
            </a:r>
            <a:r>
              <a:rPr sz="869" b="0" i="0">
                <a:solidFill>
                  <a:srgbClr val="374151"/>
                </a:solidFill>
                <a:latin typeface="Calibri"/>
              </a:rPr>
              <a:t>sites converge to the global rate — near-IID</a:t>
            </a:r>
          </a:p>
        </p:txBody>
      </p:sp>
      <p:sp>
        <p:nvSpPr>
          <p:cNvPr id="322" name="TextBox 321"/>
          <p:cNvSpPr txBox="1"/>
          <p:nvPr/>
        </p:nvSpPr>
        <p:spPr>
          <a:xfrm>
            <a:off x="320040" y="2880360"/>
            <a:ext cx="4069080" cy="182880"/>
          </a:xfrm>
          <a:prstGeom prst="rect">
            <a:avLst/>
          </a:prstGeom>
          <a:noFill/>
        </p:spPr>
        <p:txBody>
          <a:bodyPr wrap="square" lIns="0" tIns="0" rIns="0" bIns="0">
            <a:spAutoFit/>
          </a:bodyPr>
          <a:lstStyle/>
          <a:p>
            <a:pPr algn="l">
              <a:spcBef>
                <a:spcPts val="0"/>
              </a:spcBef>
              <a:buNone/>
            </a:pPr>
            <a:r>
              <a:rPr sz="900" b="0" i="0">
                <a:solidFill>
                  <a:srgbClr val="374151"/>
                </a:solidFill>
                <a:latin typeface="Calibri"/>
              </a:rPr>
              <a:t>ARCHETYPE PREVALENCE PER SITE</a:t>
            </a:r>
          </a:p>
        </p:txBody>
      </p:sp>
      <p:cxnSp>
        <p:nvCxnSpPr>
          <p:cNvPr id="323" name="Connector 322"/>
          <p:cNvCxnSpPr/>
          <p:nvPr/>
        </p:nvCxnSpPr>
        <p:spPr>
          <a:xfrm>
            <a:off x="320040" y="3090672"/>
            <a:ext cx="4069080" cy="0"/>
          </a:xfrm>
          <a:prstGeom prst="line">
            <a:avLst/>
          </a:prstGeom>
          <a:ln w="9525">
            <a:solidFill>
              <a:srgbClr val="AAAAAA"/>
            </a:solidFill>
          </a:ln>
        </p:spPr>
        <p:style>
          <a:lnRef idx="2">
            <a:schemeClr val="accent1"/>
          </a:lnRef>
          <a:fillRef idx="0">
            <a:schemeClr val="accent1"/>
          </a:fillRef>
          <a:effectRef idx="1">
            <a:schemeClr val="accent1"/>
          </a:effectRef>
          <a:fontRef idx="minor">
            <a:schemeClr val="tx1"/>
          </a:fontRef>
        </p:style>
      </p:cxnSp>
      <p:sp>
        <p:nvSpPr>
          <p:cNvPr id="324" name="TextBox 323"/>
          <p:cNvSpPr txBox="1"/>
          <p:nvPr/>
        </p:nvSpPr>
        <p:spPr>
          <a:xfrm>
            <a:off x="320040" y="3136392"/>
            <a:ext cx="4069080" cy="201168"/>
          </a:xfrm>
          <a:prstGeom prst="rect">
            <a:avLst/>
          </a:prstGeom>
          <a:noFill/>
        </p:spPr>
        <p:txBody>
          <a:bodyPr wrap="square" lIns="0" tIns="0" rIns="0" bIns="0">
            <a:spAutoFit/>
          </a:bodyPr>
          <a:lstStyle/>
          <a:p>
            <a:pPr algn="l">
              <a:spcBef>
                <a:spcPts val="0"/>
              </a:spcBef>
              <a:buNone/>
            </a:pPr>
            <a:r>
              <a:rPr sz="850" b="0" i="0">
                <a:solidFill>
                  <a:srgbClr val="374151"/>
                </a:solidFill>
                <a:latin typeface="Calibri"/>
              </a:rPr>
              <a:t>Each non-anchor site has a fixed archetype prevalence reflecting its clinical setting:</a:t>
            </a:r>
          </a:p>
        </p:txBody>
      </p:sp>
      <p:graphicFrame>
        <p:nvGraphicFramePr>
          <p:cNvPr id="325" name="Table 324"/>
          <p:cNvGraphicFramePr>
            <a:graphicFrameLocks noGrp="1"/>
          </p:cNvGraphicFramePr>
          <p:nvPr/>
        </p:nvGraphicFramePr>
        <p:xfrm>
          <a:off x="320040" y="3401568"/>
          <a:ext cx="4069080" cy="1463040"/>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219456">
                <a:tc>
                  <a:txBody>
                    <a:bodyPr/>
                    <a:lstStyle/>
                    <a:p>
                      <a:pPr algn="ctr"/>
                      <a:r>
                        <a:rPr sz="800" b="1" i="0">
                          <a:solidFill>
                            <a:srgbClr val="FFFFFF"/>
                          </a:solidFill>
                          <a:latin typeface="Calibri"/>
                        </a:rPr>
                        <a:t>Site</a:t>
                      </a:r>
                    </a:p>
                  </a:txBody>
                  <a:tcPr marL="45720" marR="45720" marT="18288" marB="18288" anchor="ctr">
                    <a:solidFill>
                      <a:srgbClr val="1D4ED8"/>
                    </a:solidFill>
                  </a:tcPr>
                </a:tc>
                <a:tc>
                  <a:txBody>
                    <a:bodyPr/>
                    <a:lstStyle/>
                    <a:p>
                      <a:pPr algn="ctr"/>
                      <a:r>
                        <a:rPr sz="800" b="1" i="0">
                          <a:solidFill>
                            <a:srgbClr val="FFFFFF"/>
                          </a:solidFill>
                          <a:latin typeface="Calibri"/>
                        </a:rPr>
                        <a:t>Archetype</a:t>
                      </a:r>
                    </a:p>
                  </a:txBody>
                  <a:tcPr marL="45720" marR="45720" marT="18288" marB="18288" anchor="ctr">
                    <a:solidFill>
                      <a:srgbClr val="1D4ED8"/>
                    </a:solidFill>
                  </a:tcPr>
                </a:tc>
                <a:tc>
                  <a:txBody>
                    <a:bodyPr/>
                    <a:lstStyle/>
                    <a:p>
                      <a:pPr algn="ctr"/>
                      <a:r>
                        <a:rPr sz="800" b="1" i="0">
                          <a:solidFill>
                            <a:srgbClr val="FFFFFF"/>
                          </a:solidFill>
                          <a:latin typeface="Calibri"/>
                        </a:rPr>
                        <a:t>Clinical justification</a:t>
                      </a:r>
                    </a:p>
                  </a:txBody>
                  <a:tcPr marL="45720" marR="45720" marT="18288" marB="18288" anchor="ctr">
                    <a:solidFill>
                      <a:srgbClr val="1D4ED8"/>
                    </a:solidFill>
                  </a:tcPr>
                </a:tc>
                <a:extLst>
                  <a:ext uri="{0D108BD9-81ED-4DB2-BD59-A6C34878D82A}">
                    <a16:rowId xmlns:a16="http://schemas.microsoft.com/office/drawing/2014/main" val="10000"/>
                  </a:ext>
                </a:extLst>
              </a:tr>
              <a:tr h="310896">
                <a:tc>
                  <a:txBody>
                    <a:bodyPr/>
                    <a:lstStyle/>
                    <a:p>
                      <a:pPr algn="l"/>
                      <a:r>
                        <a:rPr sz="770" b="0" i="0">
                          <a:solidFill>
                            <a:srgbClr val="1F2937"/>
                          </a:solidFill>
                          <a:latin typeface="Calibri"/>
                        </a:rPr>
                        <a:t>Site A (ICU)</a:t>
                      </a:r>
                    </a:p>
                  </a:txBody>
                  <a:tcPr marL="45720" marR="45720" marT="18288" marB="18288" anchor="ctr">
                    <a:solidFill>
                      <a:srgbClr val="FFFFFF"/>
                    </a:solidFill>
                  </a:tcPr>
                </a:tc>
                <a:tc>
                  <a:txBody>
                    <a:bodyPr/>
                    <a:lstStyle/>
                    <a:p>
                      <a:pPr algn="ctr"/>
                      <a:r>
                        <a:rPr sz="850" b="1" i="0">
                          <a:solidFill>
                            <a:srgbClr val="1D4ED8"/>
                          </a:solidFill>
                          <a:latin typeface="Calibri"/>
                        </a:rPr>
                        <a:t>35%</a:t>
                      </a:r>
                    </a:p>
                  </a:txBody>
                  <a:tcPr marL="45720" marR="45720" marT="18288" marB="18288" anchor="ctr">
                    <a:solidFill>
                      <a:srgbClr val="FFFFFF"/>
                    </a:solidFill>
                  </a:tcPr>
                </a:tc>
                <a:tc>
                  <a:txBody>
                    <a:bodyPr/>
                    <a:lstStyle/>
                    <a:p>
                      <a:pPr algn="l"/>
                      <a:r>
                        <a:rPr sz="730" b="0" i="0">
                          <a:solidFill>
                            <a:srgbClr val="374151"/>
                          </a:solidFill>
                          <a:latin typeface="Calibri"/>
                        </a:rPr>
                        <a:t>ICU — sickest patients; lit. range 20–50%, chose 35%</a:t>
                      </a:r>
                    </a:p>
                  </a:txBody>
                  <a:tcPr marL="45720" marR="45720" marT="18288" marB="18288" anchor="ctr">
                    <a:solidFill>
                      <a:srgbClr val="FFFFFF"/>
                    </a:solidFill>
                  </a:tcPr>
                </a:tc>
                <a:extLst>
                  <a:ext uri="{0D108BD9-81ED-4DB2-BD59-A6C34878D82A}">
                    <a16:rowId xmlns:a16="http://schemas.microsoft.com/office/drawing/2014/main" val="10001"/>
                  </a:ext>
                </a:extLst>
              </a:tr>
              <a:tr h="310896">
                <a:tc>
                  <a:txBody>
                    <a:bodyPr/>
                    <a:lstStyle/>
                    <a:p>
                      <a:pPr algn="l"/>
                      <a:r>
                        <a:rPr sz="770" b="0" i="0">
                          <a:solidFill>
                            <a:srgbClr val="1F2937"/>
                          </a:solidFill>
                          <a:latin typeface="Calibri"/>
                        </a:rPr>
                        <a:t>Site B (Gen. Ward)</a:t>
                      </a:r>
                    </a:p>
                  </a:txBody>
                  <a:tcPr marL="45720" marR="45720" marT="18288" marB="18288" anchor="ctr">
                    <a:solidFill>
                      <a:srgbClr val="F5F5F5"/>
                    </a:solidFill>
                  </a:tcPr>
                </a:tc>
                <a:tc>
                  <a:txBody>
                    <a:bodyPr/>
                    <a:lstStyle/>
                    <a:p>
                      <a:pPr algn="ctr"/>
                      <a:r>
                        <a:rPr sz="850" b="1" i="0">
                          <a:solidFill>
                            <a:srgbClr val="1D4ED8"/>
                          </a:solidFill>
                          <a:latin typeface="Calibri"/>
                        </a:rPr>
                        <a:t>12%</a:t>
                      </a:r>
                    </a:p>
                  </a:txBody>
                  <a:tcPr marL="45720" marR="45720" marT="18288" marB="18288" anchor="ctr">
                    <a:solidFill>
                      <a:srgbClr val="F5F5F5"/>
                    </a:solidFill>
                  </a:tcPr>
                </a:tc>
                <a:tc>
                  <a:txBody>
                    <a:bodyPr/>
                    <a:lstStyle/>
                    <a:p>
                      <a:pPr algn="l"/>
                      <a:r>
                        <a:rPr sz="730" b="0" i="0">
                          <a:solidFill>
                            <a:srgbClr val="374151"/>
                          </a:solidFill>
                          <a:latin typeface="Calibri"/>
                        </a:rPr>
                        <a:t>Mixed admissions; lit. range 12–17%, lower end</a:t>
                      </a:r>
                    </a:p>
                  </a:txBody>
                  <a:tcPr marL="45720" marR="45720" marT="18288" marB="18288" anchor="ctr">
                    <a:solidFill>
                      <a:srgbClr val="F5F5F5"/>
                    </a:solidFill>
                  </a:tcPr>
                </a:tc>
                <a:extLst>
                  <a:ext uri="{0D108BD9-81ED-4DB2-BD59-A6C34878D82A}">
                    <a16:rowId xmlns:a16="http://schemas.microsoft.com/office/drawing/2014/main" val="10002"/>
                  </a:ext>
                </a:extLst>
              </a:tr>
              <a:tr h="310896">
                <a:tc>
                  <a:txBody>
                    <a:bodyPr/>
                    <a:lstStyle/>
                    <a:p>
                      <a:pPr algn="l"/>
                      <a:r>
                        <a:rPr sz="770" b="0" i="0">
                          <a:solidFill>
                            <a:srgbClr val="1F2937"/>
                          </a:solidFill>
                          <a:latin typeface="Calibri"/>
                        </a:rPr>
                        <a:t>Site D (Community)</a:t>
                      </a:r>
                    </a:p>
                  </a:txBody>
                  <a:tcPr marL="45720" marR="45720" marT="18288" marB="18288" anchor="ctr">
                    <a:solidFill>
                      <a:srgbClr val="FFFFFF"/>
                    </a:solidFill>
                  </a:tcPr>
                </a:tc>
                <a:tc>
                  <a:txBody>
                    <a:bodyPr/>
                    <a:lstStyle/>
                    <a:p>
                      <a:pPr algn="ctr"/>
                      <a:r>
                        <a:rPr sz="850" b="1" i="0">
                          <a:solidFill>
                            <a:srgbClr val="1D4ED8"/>
                          </a:solidFill>
                          <a:latin typeface="Calibri"/>
                        </a:rPr>
                        <a:t>7%</a:t>
                      </a:r>
                    </a:p>
                  </a:txBody>
                  <a:tcPr marL="45720" marR="45720" marT="18288" marB="18288" anchor="ctr">
                    <a:solidFill>
                      <a:srgbClr val="FFFFFF"/>
                    </a:solidFill>
                  </a:tcPr>
                </a:tc>
                <a:tc>
                  <a:txBody>
                    <a:bodyPr/>
                    <a:lstStyle/>
                    <a:p>
                      <a:pPr algn="l"/>
                      <a:r>
                        <a:rPr sz="730" b="0" i="0">
                          <a:solidFill>
                            <a:srgbClr val="374151"/>
                          </a:solidFill>
                          <a:latin typeface="Calibri"/>
                        </a:rPr>
                        <a:t>Primary care; lit. range 5–10%, lower end</a:t>
                      </a:r>
                    </a:p>
                  </a:txBody>
                  <a:tcPr marL="45720" marR="45720" marT="18288" marB="18288" anchor="ctr">
                    <a:solidFill>
                      <a:srgbClr val="FFFFFF"/>
                    </a:solidFill>
                  </a:tcPr>
                </a:tc>
                <a:extLst>
                  <a:ext uri="{0D108BD9-81ED-4DB2-BD59-A6C34878D82A}">
                    <a16:rowId xmlns:a16="http://schemas.microsoft.com/office/drawing/2014/main" val="10003"/>
                  </a:ext>
                </a:extLst>
              </a:tr>
              <a:tr h="310896">
                <a:tc>
                  <a:txBody>
                    <a:bodyPr/>
                    <a:lstStyle/>
                    <a:p>
                      <a:pPr algn="l"/>
                      <a:r>
                        <a:rPr sz="770" b="0" i="0">
                          <a:solidFill>
                            <a:srgbClr val="1F2937"/>
                          </a:solidFill>
                          <a:latin typeface="Calibri"/>
                        </a:rPr>
                        <a:t>Site E (Rural)</a:t>
                      </a:r>
                    </a:p>
                  </a:txBody>
                  <a:tcPr marL="45720" marR="45720" marT="18288" marB="18288" anchor="ctr">
                    <a:solidFill>
                      <a:srgbClr val="F5F5F5"/>
                    </a:solidFill>
                  </a:tcPr>
                </a:tc>
                <a:tc>
                  <a:txBody>
                    <a:bodyPr/>
                    <a:lstStyle/>
                    <a:p>
                      <a:pPr algn="ctr"/>
                      <a:r>
                        <a:rPr sz="850" b="1" i="0">
                          <a:solidFill>
                            <a:srgbClr val="1D4ED8"/>
                          </a:solidFill>
                          <a:latin typeface="Calibri"/>
                        </a:rPr>
                        <a:t>4%</a:t>
                      </a:r>
                    </a:p>
                  </a:txBody>
                  <a:tcPr marL="45720" marR="45720" marT="18288" marB="18288" anchor="ctr">
                    <a:solidFill>
                      <a:srgbClr val="F5F5F5"/>
                    </a:solidFill>
                  </a:tcPr>
                </a:tc>
                <a:tc>
                  <a:txBody>
                    <a:bodyPr/>
                    <a:lstStyle/>
                    <a:p>
                      <a:pPr algn="l"/>
                      <a:r>
                        <a:rPr sz="730" b="0" i="0">
                          <a:solidFill>
                            <a:srgbClr val="374151"/>
                          </a:solidFill>
                          <a:latin typeface="Calibri"/>
                        </a:rPr>
                        <a:t>Resource-limited; lit. range 3–7%, lower end</a:t>
                      </a:r>
                    </a:p>
                  </a:txBody>
                  <a:tcPr marL="45720" marR="45720" marT="18288" marB="18288" anchor="ctr">
                    <a:solidFill>
                      <a:srgbClr val="F5F5F5"/>
                    </a:solidFill>
                  </a:tcPr>
                </a:tc>
                <a:extLst>
                  <a:ext uri="{0D108BD9-81ED-4DB2-BD59-A6C34878D82A}">
                    <a16:rowId xmlns:a16="http://schemas.microsoft.com/office/drawing/2014/main" val="10004"/>
                  </a:ext>
                </a:extLst>
              </a:tr>
            </a:tbl>
          </a:graphicData>
        </a:graphic>
      </p:graphicFrame>
      <p:sp>
        <p:nvSpPr>
          <p:cNvPr id="326" name="TextBox 325"/>
          <p:cNvSpPr txBox="1"/>
          <p:nvPr/>
        </p:nvSpPr>
        <p:spPr>
          <a:xfrm>
            <a:off x="320040" y="4901184"/>
            <a:ext cx="4069080" cy="201168"/>
          </a:xfrm>
          <a:prstGeom prst="rect">
            <a:avLst/>
          </a:prstGeom>
          <a:noFill/>
        </p:spPr>
        <p:txBody>
          <a:bodyPr wrap="square" lIns="0" tIns="0" rIns="0" bIns="0">
            <a:spAutoFit/>
          </a:bodyPr>
          <a:lstStyle/>
          <a:p>
            <a:pPr algn="l">
              <a:spcBef>
                <a:spcPts val="0"/>
              </a:spcBef>
              <a:buNone/>
            </a:pPr>
            <a:r>
              <a:rPr sz="780" b="0" i="1">
                <a:solidFill>
                  <a:srgbClr val="6B7280"/>
                </a:solidFill>
                <a:latin typeface="Calibri"/>
              </a:rPr>
              <a:t>Site C (anchor) always reflects the true Approach 2 cohort rate of 9.0%, regardless of α.</a:t>
            </a:r>
          </a:p>
        </p:txBody>
      </p:sp>
      <p:sp>
        <p:nvSpPr>
          <p:cNvPr id="327" name="TextBox 326"/>
          <p:cNvSpPr txBox="1"/>
          <p:nvPr/>
        </p:nvSpPr>
        <p:spPr>
          <a:xfrm>
            <a:off x="4617720" y="1005840"/>
            <a:ext cx="4206240" cy="182880"/>
          </a:xfrm>
          <a:prstGeom prst="rect">
            <a:avLst/>
          </a:prstGeom>
          <a:noFill/>
        </p:spPr>
        <p:txBody>
          <a:bodyPr wrap="square" lIns="0" tIns="0" rIns="0" bIns="0">
            <a:spAutoFit/>
          </a:bodyPr>
          <a:lstStyle/>
          <a:p>
            <a:pPr algn="l">
              <a:spcBef>
                <a:spcPts val="0"/>
              </a:spcBef>
              <a:buNone/>
            </a:pPr>
            <a:r>
              <a:rPr sz="900" b="0" i="0">
                <a:solidFill>
                  <a:srgbClr val="374151"/>
                </a:solidFill>
                <a:latin typeface="Calibri"/>
              </a:rPr>
              <a:t>HOW ALPHA BLENDS ARCHETYPE TOWARD GLOBAL RATE</a:t>
            </a:r>
          </a:p>
        </p:txBody>
      </p:sp>
      <p:cxnSp>
        <p:nvCxnSpPr>
          <p:cNvPr id="328" name="Connector 327"/>
          <p:cNvCxnSpPr/>
          <p:nvPr/>
        </p:nvCxnSpPr>
        <p:spPr>
          <a:xfrm>
            <a:off x="4617720" y="1216152"/>
            <a:ext cx="4206239" cy="0"/>
          </a:xfrm>
          <a:prstGeom prst="line">
            <a:avLst/>
          </a:prstGeom>
          <a:ln w="9525">
            <a:solidFill>
              <a:srgbClr val="AAAAAA"/>
            </a:solidFill>
          </a:ln>
        </p:spPr>
        <p:style>
          <a:lnRef idx="2">
            <a:schemeClr val="accent1"/>
          </a:lnRef>
          <a:fillRef idx="0">
            <a:schemeClr val="accent1"/>
          </a:fillRef>
          <a:effectRef idx="1">
            <a:schemeClr val="accent1"/>
          </a:effectRef>
          <a:fontRef idx="minor">
            <a:schemeClr val="tx1"/>
          </a:fontRef>
        </p:style>
      </p:cxnSp>
      <p:sp>
        <p:nvSpPr>
          <p:cNvPr id="329" name="TextBox 328"/>
          <p:cNvSpPr txBox="1"/>
          <p:nvPr/>
        </p:nvSpPr>
        <p:spPr>
          <a:xfrm>
            <a:off x="4617720" y="1280160"/>
            <a:ext cx="4206240" cy="384048"/>
          </a:xfrm>
          <a:prstGeom prst="rect">
            <a:avLst/>
          </a:prstGeom>
          <a:noFill/>
        </p:spPr>
        <p:txBody>
          <a:bodyPr wrap="square" lIns="0" tIns="0" rIns="0" bIns="0">
            <a:spAutoFit/>
          </a:bodyPr>
          <a:lstStyle/>
          <a:p>
            <a:pPr algn="l">
              <a:spcBef>
                <a:spcPts val="0"/>
              </a:spcBef>
              <a:buNone/>
            </a:pPr>
            <a:r>
              <a:rPr sz="869" b="0" i="0">
                <a:solidFill>
                  <a:srgbClr val="374151"/>
                </a:solidFill>
                <a:latin typeface="Calibri"/>
              </a:rPr>
              <a:t>Alpha is a deterministic blend weight between each site's archetype and the global rate — not a literal Dirichlet concentration draw:</a:t>
            </a:r>
          </a:p>
        </p:txBody>
      </p:sp>
      <p:sp>
        <p:nvSpPr>
          <p:cNvPr id="330" name="Rectangle 329"/>
          <p:cNvSpPr/>
          <p:nvPr/>
        </p:nvSpPr>
        <p:spPr>
          <a:xfrm>
            <a:off x="4617720" y="1719072"/>
            <a:ext cx="4206240" cy="566928"/>
          </a:xfrm>
          <a:prstGeom prst="rect">
            <a:avLst/>
          </a:prstGeom>
          <a:solidFill>
            <a:srgbClr val="F3F4F6"/>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l"/>
            <a:r>
              <a:rPr sz="1000" b="1">
                <a:solidFill>
                  <a:srgbClr val="1F2937"/>
                </a:solidFill>
                <a:latin typeface="Courier New"/>
              </a:rPr>
              <a:t>blend = α / (α + 1)</a:t>
            </a:r>
          </a:p>
          <a:p>
            <a:pPr algn="l">
              <a:spcBef>
                <a:spcPts val="300"/>
              </a:spcBef>
            </a:pPr>
            <a:r>
              <a:rPr sz="1000" b="1">
                <a:solidFill>
                  <a:srgbClr val="1F2937"/>
                </a:solidFill>
                <a:latin typeface="Courier New"/>
              </a:rPr>
              <a:t>target_prev = (1−blend)×archetype + blend×global_rate</a:t>
            </a:r>
          </a:p>
        </p:txBody>
      </p:sp>
      <p:sp>
        <p:nvSpPr>
          <p:cNvPr id="331" name="TextBox 330"/>
          <p:cNvSpPr txBox="1"/>
          <p:nvPr/>
        </p:nvSpPr>
        <p:spPr>
          <a:xfrm>
            <a:off x="4617720" y="2359152"/>
            <a:ext cx="4206240" cy="566928"/>
          </a:xfrm>
          <a:prstGeom prst="rect">
            <a:avLst/>
          </a:prstGeom>
          <a:noFill/>
        </p:spPr>
        <p:txBody>
          <a:bodyPr wrap="square" lIns="0" tIns="0" rIns="0" bIns="0">
            <a:spAutoFit/>
          </a:bodyPr>
          <a:lstStyle/>
          <a:p>
            <a:pPr marL="128016" indent="-128016" algn="l">
              <a:spcBef>
                <a:spcPts val="0"/>
              </a:spcBef>
              <a:buFont typeface="Calibri"/>
              <a:buChar char="•"/>
            </a:pPr>
            <a:r>
              <a:rPr sz="830" b="1" i="0">
                <a:solidFill>
                  <a:srgbClr val="374151"/>
                </a:solidFill>
                <a:latin typeface="Calibri"/>
              </a:rPr>
              <a:t>α→0:  </a:t>
            </a:r>
            <a:r>
              <a:rPr sz="830" b="0" i="0">
                <a:solidFill>
                  <a:srgbClr val="374151"/>
                </a:solidFill>
                <a:latin typeface="Calibri"/>
              </a:rPr>
              <a:t>target stays at archetype (max heterogeneity)</a:t>
            </a:r>
          </a:p>
          <a:p>
            <a:pPr marL="128016" indent="-128016" algn="l">
              <a:spcBef>
                <a:spcPts val="300"/>
              </a:spcBef>
              <a:buFont typeface="Calibri"/>
              <a:buChar char="•"/>
            </a:pPr>
            <a:r>
              <a:rPr sz="830" b="1" i="0">
                <a:solidFill>
                  <a:srgbClr val="374151"/>
                </a:solidFill>
                <a:latin typeface="Calibri"/>
              </a:rPr>
              <a:t>α→∞:  </a:t>
            </a:r>
            <a:r>
              <a:rPr sz="830" b="0" i="0">
                <a:solidFill>
                  <a:srgbClr val="374151"/>
                </a:solidFill>
                <a:latin typeface="Calibri"/>
              </a:rPr>
              <a:t>target converges to global ~9.0% (near-IID)</a:t>
            </a:r>
          </a:p>
          <a:p>
            <a:pPr marL="128016" indent="-128016" algn="l">
              <a:spcBef>
                <a:spcPts val="300"/>
              </a:spcBef>
              <a:buFont typeface="Calibri"/>
              <a:buChar char="•"/>
            </a:pPr>
            <a:r>
              <a:rPr sz="830" b="1" i="0">
                <a:solidFill>
                  <a:srgbClr val="374151"/>
                </a:solidFill>
                <a:latin typeface="Calibri"/>
              </a:rPr>
              <a:t>α=1.0:  </a:t>
            </a:r>
            <a:r>
              <a:rPr sz="830" b="0" i="0">
                <a:solidFill>
                  <a:srgbClr val="374151"/>
                </a:solidFill>
                <a:latin typeface="Calibri"/>
              </a:rPr>
              <a:t>exact midpoint, 50/50 blend</a:t>
            </a:r>
          </a:p>
        </p:txBody>
      </p:sp>
      <p:sp>
        <p:nvSpPr>
          <p:cNvPr id="332" name="TextBox 331"/>
          <p:cNvSpPr txBox="1"/>
          <p:nvPr/>
        </p:nvSpPr>
        <p:spPr>
          <a:xfrm>
            <a:off x="4617720" y="2962656"/>
            <a:ext cx="4206240" cy="384048"/>
          </a:xfrm>
          <a:prstGeom prst="rect">
            <a:avLst/>
          </a:prstGeom>
          <a:noFill/>
        </p:spPr>
        <p:txBody>
          <a:bodyPr wrap="square" lIns="0" tIns="0" rIns="0" bIns="0">
            <a:spAutoFit/>
          </a:bodyPr>
          <a:lstStyle/>
          <a:p>
            <a:pPr algn="l">
              <a:spcBef>
                <a:spcPts val="0"/>
              </a:spcBef>
              <a:buNone/>
            </a:pPr>
            <a:r>
              <a:rPr sz="800" b="1" i="1">
                <a:solidFill>
                  <a:srgbClr val="6B7280"/>
                </a:solidFill>
                <a:latin typeface="Calibri"/>
              </a:rPr>
              <a:t>Result: </a:t>
            </a:r>
            <a:r>
              <a:rPr sz="800" b="0" i="1">
                <a:solidFill>
                  <a:srgbClr val="6B7280"/>
                </a:solidFill>
                <a:latin typeface="Calibri"/>
              </a:rPr>
              <a:t>this deterministic interpolation (“Option A”) was chosen over a raw Dirichlet-concentration draw — it guarantees monotonic convergence as α increases.</a:t>
            </a:r>
          </a:p>
        </p:txBody>
      </p:sp>
      <p:sp>
        <p:nvSpPr>
          <p:cNvPr id="333" name="TextBox 332"/>
          <p:cNvSpPr txBox="1"/>
          <p:nvPr/>
        </p:nvSpPr>
        <p:spPr>
          <a:xfrm>
            <a:off x="4617720" y="3474720"/>
            <a:ext cx="4206240" cy="182880"/>
          </a:xfrm>
          <a:prstGeom prst="rect">
            <a:avLst/>
          </a:prstGeom>
          <a:noFill/>
        </p:spPr>
        <p:txBody>
          <a:bodyPr wrap="square" lIns="0" tIns="0" rIns="0" bIns="0">
            <a:spAutoFit/>
          </a:bodyPr>
          <a:lstStyle/>
          <a:p>
            <a:pPr algn="l">
              <a:spcBef>
                <a:spcPts val="0"/>
              </a:spcBef>
              <a:buNone/>
            </a:pPr>
            <a:r>
              <a:rPr sz="900" b="0" i="0">
                <a:solidFill>
                  <a:srgbClr val="374151"/>
                </a:solidFill>
                <a:latin typeface="Calibri"/>
              </a:rPr>
              <a:t>ALPHA SWEEP: TARGET AKI PREVALENCE BY SITE</a:t>
            </a:r>
          </a:p>
        </p:txBody>
      </p:sp>
      <p:cxnSp>
        <p:nvCxnSpPr>
          <p:cNvPr id="334" name="Connector 333"/>
          <p:cNvCxnSpPr/>
          <p:nvPr/>
        </p:nvCxnSpPr>
        <p:spPr>
          <a:xfrm>
            <a:off x="4617720" y="3685032"/>
            <a:ext cx="4206239" cy="0"/>
          </a:xfrm>
          <a:prstGeom prst="line">
            <a:avLst/>
          </a:prstGeom>
          <a:ln w="9525">
            <a:solidFill>
              <a:srgbClr val="AAAAAA"/>
            </a:solidFill>
          </a:ln>
        </p:spPr>
        <p:style>
          <a:lnRef idx="2">
            <a:schemeClr val="accent1"/>
          </a:lnRef>
          <a:fillRef idx="0">
            <a:schemeClr val="accent1"/>
          </a:fillRef>
          <a:effectRef idx="1">
            <a:schemeClr val="accent1"/>
          </a:effectRef>
          <a:fontRef idx="minor">
            <a:schemeClr val="tx1"/>
          </a:fontRef>
        </p:style>
      </p:cxnSp>
      <p:graphicFrame>
        <p:nvGraphicFramePr>
          <p:cNvPr id="335" name="Table 334"/>
          <p:cNvGraphicFramePr>
            <a:graphicFrameLocks noGrp="1"/>
          </p:cNvGraphicFramePr>
          <p:nvPr/>
        </p:nvGraphicFramePr>
        <p:xfrm>
          <a:off x="4617720" y="3730752"/>
          <a:ext cx="4206240" cy="1138428"/>
        </p:xfrm>
        <a:graphic>
          <a:graphicData uri="http://schemas.openxmlformats.org/drawingml/2006/table">
            <a:tbl>
              <a:tblPr firstRow="1" bandRow="1">
                <a:tableStyleId>{5C22544A-7EE6-4342-B048-85BDC9FD1C3A}</a:tableStyleId>
              </a:tblPr>
              <a:tblGrid>
                <a:gridCol w="502920">
                  <a:extLst>
                    <a:ext uri="{9D8B030D-6E8A-4147-A177-3AD203B41FA5}">
                      <a16:colId xmlns:a16="http://schemas.microsoft.com/office/drawing/2014/main" val="20000"/>
                    </a:ext>
                  </a:extLst>
                </a:gridCol>
                <a:gridCol w="740664">
                  <a:extLst>
                    <a:ext uri="{9D8B030D-6E8A-4147-A177-3AD203B41FA5}">
                      <a16:colId xmlns:a16="http://schemas.microsoft.com/office/drawing/2014/main" val="20001"/>
                    </a:ext>
                  </a:extLst>
                </a:gridCol>
                <a:gridCol w="740664">
                  <a:extLst>
                    <a:ext uri="{9D8B030D-6E8A-4147-A177-3AD203B41FA5}">
                      <a16:colId xmlns:a16="http://schemas.microsoft.com/office/drawing/2014/main" val="20002"/>
                    </a:ext>
                  </a:extLst>
                </a:gridCol>
                <a:gridCol w="740664">
                  <a:extLst>
                    <a:ext uri="{9D8B030D-6E8A-4147-A177-3AD203B41FA5}">
                      <a16:colId xmlns:a16="http://schemas.microsoft.com/office/drawing/2014/main" val="20003"/>
                    </a:ext>
                  </a:extLst>
                </a:gridCol>
                <a:gridCol w="740664">
                  <a:extLst>
                    <a:ext uri="{9D8B030D-6E8A-4147-A177-3AD203B41FA5}">
                      <a16:colId xmlns:a16="http://schemas.microsoft.com/office/drawing/2014/main" val="20004"/>
                    </a:ext>
                  </a:extLst>
                </a:gridCol>
                <a:gridCol w="740664">
                  <a:extLst>
                    <a:ext uri="{9D8B030D-6E8A-4147-A177-3AD203B41FA5}">
                      <a16:colId xmlns:a16="http://schemas.microsoft.com/office/drawing/2014/main" val="20005"/>
                    </a:ext>
                  </a:extLst>
                </a:gridCol>
              </a:tblGrid>
              <a:tr h="201168">
                <a:tc>
                  <a:txBody>
                    <a:bodyPr/>
                    <a:lstStyle/>
                    <a:p>
                      <a:pPr algn="ctr"/>
                      <a:r>
                        <a:rPr sz="770" b="1" i="0">
                          <a:solidFill>
                            <a:srgbClr val="FFFFFF"/>
                          </a:solidFill>
                          <a:latin typeface="Calibri"/>
                        </a:rPr>
                        <a:t>α</a:t>
                      </a:r>
                    </a:p>
                  </a:txBody>
                  <a:tcPr marL="45720" marR="45720" marT="18288" marB="18288" anchor="ctr">
                    <a:solidFill>
                      <a:srgbClr val="1D4ED8"/>
                    </a:solidFill>
                  </a:tcPr>
                </a:tc>
                <a:tc>
                  <a:txBody>
                    <a:bodyPr/>
                    <a:lstStyle/>
                    <a:p>
                      <a:pPr algn="ctr"/>
                      <a:r>
                        <a:rPr sz="770" b="1" i="0">
                          <a:solidFill>
                            <a:srgbClr val="FFFFFF"/>
                          </a:solidFill>
                          <a:latin typeface="Calibri"/>
                        </a:rPr>
                        <a:t>site_A</a:t>
                      </a:r>
                    </a:p>
                  </a:txBody>
                  <a:tcPr marL="45720" marR="45720" marT="18288" marB="18288" anchor="ctr">
                    <a:solidFill>
                      <a:srgbClr val="1D4ED8"/>
                    </a:solidFill>
                  </a:tcPr>
                </a:tc>
                <a:tc>
                  <a:txBody>
                    <a:bodyPr/>
                    <a:lstStyle/>
                    <a:p>
                      <a:pPr algn="ctr"/>
                      <a:r>
                        <a:rPr sz="770" b="1" i="0">
                          <a:solidFill>
                            <a:srgbClr val="FFFFFF"/>
                          </a:solidFill>
                          <a:latin typeface="Calibri"/>
                        </a:rPr>
                        <a:t>site_B</a:t>
                      </a:r>
                    </a:p>
                  </a:txBody>
                  <a:tcPr marL="45720" marR="45720" marT="18288" marB="18288" anchor="ctr">
                    <a:solidFill>
                      <a:srgbClr val="1D4ED8"/>
                    </a:solidFill>
                  </a:tcPr>
                </a:tc>
                <a:tc>
                  <a:txBody>
                    <a:bodyPr/>
                    <a:lstStyle/>
                    <a:p>
                      <a:pPr algn="ctr"/>
                      <a:r>
                        <a:rPr sz="770" b="1" i="0">
                          <a:solidFill>
                            <a:srgbClr val="FFFFFF"/>
                          </a:solidFill>
                          <a:latin typeface="Calibri"/>
                        </a:rPr>
                        <a:t>site_C</a:t>
                      </a:r>
                    </a:p>
                  </a:txBody>
                  <a:tcPr marL="45720" marR="45720" marT="18288" marB="18288" anchor="ctr">
                    <a:solidFill>
                      <a:srgbClr val="1D4ED8"/>
                    </a:solidFill>
                  </a:tcPr>
                </a:tc>
                <a:tc>
                  <a:txBody>
                    <a:bodyPr/>
                    <a:lstStyle/>
                    <a:p>
                      <a:pPr algn="ctr"/>
                      <a:r>
                        <a:rPr sz="770" b="1" i="0">
                          <a:solidFill>
                            <a:srgbClr val="FFFFFF"/>
                          </a:solidFill>
                          <a:latin typeface="Calibri"/>
                        </a:rPr>
                        <a:t>site_D</a:t>
                      </a:r>
                    </a:p>
                  </a:txBody>
                  <a:tcPr marL="45720" marR="45720" marT="18288" marB="18288" anchor="ctr">
                    <a:solidFill>
                      <a:srgbClr val="1D4ED8"/>
                    </a:solidFill>
                  </a:tcPr>
                </a:tc>
                <a:tc>
                  <a:txBody>
                    <a:bodyPr/>
                    <a:lstStyle/>
                    <a:p>
                      <a:pPr algn="ctr"/>
                      <a:r>
                        <a:rPr sz="770" b="1" i="0">
                          <a:solidFill>
                            <a:srgbClr val="FFFFFF"/>
                          </a:solidFill>
                          <a:latin typeface="Calibri"/>
                        </a:rPr>
                        <a:t>site_E</a:t>
                      </a:r>
                    </a:p>
                  </a:txBody>
                  <a:tcPr marL="45720" marR="45720" marT="18288" marB="18288" anchor="ctr">
                    <a:solidFill>
                      <a:srgbClr val="1D4ED8"/>
                    </a:solidFill>
                  </a:tcPr>
                </a:tc>
                <a:extLst>
                  <a:ext uri="{0D108BD9-81ED-4DB2-BD59-A6C34878D82A}">
                    <a16:rowId xmlns:a16="http://schemas.microsoft.com/office/drawing/2014/main" val="10000"/>
                  </a:ext>
                </a:extLst>
              </a:tr>
              <a:tr h="187452">
                <a:tc>
                  <a:txBody>
                    <a:bodyPr/>
                    <a:lstStyle/>
                    <a:p>
                      <a:pPr algn="ctr"/>
                      <a:r>
                        <a:rPr sz="770" b="1" i="0">
                          <a:solidFill>
                            <a:srgbClr val="1F2937"/>
                          </a:solidFill>
                          <a:latin typeface="Calibri"/>
                        </a:rPr>
                        <a:t>0.1</a:t>
                      </a:r>
                    </a:p>
                  </a:txBody>
                  <a:tcPr marL="45720" marR="45720" marT="18288" marB="18288" anchor="ctr">
                    <a:solidFill>
                      <a:srgbClr val="FFFFFF"/>
                    </a:solidFill>
                  </a:tcPr>
                </a:tc>
                <a:tc>
                  <a:txBody>
                    <a:bodyPr/>
                    <a:lstStyle/>
                    <a:p>
                      <a:pPr algn="ctr"/>
                      <a:r>
                        <a:rPr sz="770" b="0" i="0">
                          <a:solidFill>
                            <a:srgbClr val="374151"/>
                          </a:solidFill>
                          <a:latin typeface="Calibri"/>
                        </a:rPr>
                        <a:t>32.6%</a:t>
                      </a:r>
                    </a:p>
                  </a:txBody>
                  <a:tcPr marL="45720" marR="45720" marT="18288" marB="18288" anchor="ctr">
                    <a:solidFill>
                      <a:srgbClr val="FFFFFF"/>
                    </a:solidFill>
                  </a:tcPr>
                </a:tc>
                <a:tc>
                  <a:txBody>
                    <a:bodyPr/>
                    <a:lstStyle/>
                    <a:p>
                      <a:pPr algn="ctr"/>
                      <a:r>
                        <a:rPr sz="770" b="0" i="0">
                          <a:solidFill>
                            <a:srgbClr val="374151"/>
                          </a:solidFill>
                          <a:latin typeface="Calibri"/>
                        </a:rPr>
                        <a:t>11.7%</a:t>
                      </a:r>
                    </a:p>
                  </a:txBody>
                  <a:tcPr marL="45720" marR="45720" marT="18288" marB="18288" anchor="ctr">
                    <a:solidFill>
                      <a:srgbClr val="FFFFFF"/>
                    </a:solidFill>
                  </a:tcPr>
                </a:tc>
                <a:tc>
                  <a:txBody>
                    <a:bodyPr/>
                    <a:lstStyle/>
                    <a:p>
                      <a:pPr algn="ctr"/>
                      <a:r>
                        <a:rPr sz="770" b="1" i="0">
                          <a:solidFill>
                            <a:srgbClr val="1D4ED8"/>
                          </a:solidFill>
                          <a:latin typeface="Calibri"/>
                        </a:rPr>
                        <a:t>9.0%</a:t>
                      </a:r>
                    </a:p>
                  </a:txBody>
                  <a:tcPr marL="45720" marR="45720" marT="18288" marB="18288" anchor="ctr">
                    <a:solidFill>
                      <a:srgbClr val="FFFFFF"/>
                    </a:solidFill>
                  </a:tcPr>
                </a:tc>
                <a:tc>
                  <a:txBody>
                    <a:bodyPr/>
                    <a:lstStyle/>
                    <a:p>
                      <a:pPr algn="ctr"/>
                      <a:r>
                        <a:rPr sz="770" b="0" i="0">
                          <a:solidFill>
                            <a:srgbClr val="374151"/>
                          </a:solidFill>
                          <a:latin typeface="Calibri"/>
                        </a:rPr>
                        <a:t>7.2%</a:t>
                      </a:r>
                    </a:p>
                  </a:txBody>
                  <a:tcPr marL="45720" marR="45720" marT="18288" marB="18288" anchor="ctr">
                    <a:solidFill>
                      <a:srgbClr val="FFFFFF"/>
                    </a:solidFill>
                  </a:tcPr>
                </a:tc>
                <a:tc>
                  <a:txBody>
                    <a:bodyPr/>
                    <a:lstStyle/>
                    <a:p>
                      <a:pPr algn="ctr"/>
                      <a:r>
                        <a:rPr sz="770" b="0" i="0">
                          <a:solidFill>
                            <a:srgbClr val="374151"/>
                          </a:solidFill>
                          <a:latin typeface="Calibri"/>
                        </a:rPr>
                        <a:t>4.5%</a:t>
                      </a:r>
                    </a:p>
                  </a:txBody>
                  <a:tcPr marL="45720" marR="45720" marT="18288" marB="18288" anchor="ctr">
                    <a:solidFill>
                      <a:srgbClr val="FFFFFF"/>
                    </a:solidFill>
                  </a:tcPr>
                </a:tc>
                <a:extLst>
                  <a:ext uri="{0D108BD9-81ED-4DB2-BD59-A6C34878D82A}">
                    <a16:rowId xmlns:a16="http://schemas.microsoft.com/office/drawing/2014/main" val="10001"/>
                  </a:ext>
                </a:extLst>
              </a:tr>
              <a:tr h="187452">
                <a:tc>
                  <a:txBody>
                    <a:bodyPr/>
                    <a:lstStyle/>
                    <a:p>
                      <a:pPr algn="ctr"/>
                      <a:r>
                        <a:rPr sz="770" b="1" i="0">
                          <a:solidFill>
                            <a:srgbClr val="1F2937"/>
                          </a:solidFill>
                          <a:latin typeface="Calibri"/>
                        </a:rPr>
                        <a:t>0.3</a:t>
                      </a:r>
                    </a:p>
                  </a:txBody>
                  <a:tcPr marL="45720" marR="45720" marT="18288" marB="18288" anchor="ctr">
                    <a:solidFill>
                      <a:srgbClr val="F5F5F5"/>
                    </a:solidFill>
                  </a:tcPr>
                </a:tc>
                <a:tc>
                  <a:txBody>
                    <a:bodyPr/>
                    <a:lstStyle/>
                    <a:p>
                      <a:pPr algn="ctr"/>
                      <a:r>
                        <a:rPr sz="770" b="0" i="0">
                          <a:solidFill>
                            <a:srgbClr val="374151"/>
                          </a:solidFill>
                          <a:latin typeface="Calibri"/>
                        </a:rPr>
                        <a:t>29.0%</a:t>
                      </a:r>
                    </a:p>
                  </a:txBody>
                  <a:tcPr marL="45720" marR="45720" marT="18288" marB="18288" anchor="ctr">
                    <a:solidFill>
                      <a:srgbClr val="F5F5F5"/>
                    </a:solidFill>
                  </a:tcPr>
                </a:tc>
                <a:tc>
                  <a:txBody>
                    <a:bodyPr/>
                    <a:lstStyle/>
                    <a:p>
                      <a:pPr algn="ctr"/>
                      <a:r>
                        <a:rPr sz="770" b="0" i="0">
                          <a:solidFill>
                            <a:srgbClr val="374151"/>
                          </a:solidFill>
                          <a:latin typeface="Calibri"/>
                        </a:rPr>
                        <a:t>11.3%</a:t>
                      </a:r>
                    </a:p>
                  </a:txBody>
                  <a:tcPr marL="45720" marR="45720" marT="18288" marB="18288" anchor="ctr">
                    <a:solidFill>
                      <a:srgbClr val="F5F5F5"/>
                    </a:solidFill>
                  </a:tcPr>
                </a:tc>
                <a:tc>
                  <a:txBody>
                    <a:bodyPr/>
                    <a:lstStyle/>
                    <a:p>
                      <a:pPr algn="ctr"/>
                      <a:r>
                        <a:rPr sz="770" b="1" i="0">
                          <a:solidFill>
                            <a:srgbClr val="1D4ED8"/>
                          </a:solidFill>
                          <a:latin typeface="Calibri"/>
                        </a:rPr>
                        <a:t>9.0%</a:t>
                      </a:r>
                    </a:p>
                  </a:txBody>
                  <a:tcPr marL="45720" marR="45720" marT="18288" marB="18288" anchor="ctr">
                    <a:solidFill>
                      <a:srgbClr val="F5F5F5"/>
                    </a:solidFill>
                  </a:tcPr>
                </a:tc>
                <a:tc>
                  <a:txBody>
                    <a:bodyPr/>
                    <a:lstStyle/>
                    <a:p>
                      <a:pPr algn="ctr"/>
                      <a:r>
                        <a:rPr sz="770" b="0" i="0">
                          <a:solidFill>
                            <a:srgbClr val="374151"/>
                          </a:solidFill>
                          <a:latin typeface="Calibri"/>
                        </a:rPr>
                        <a:t>7.5%</a:t>
                      </a:r>
                    </a:p>
                  </a:txBody>
                  <a:tcPr marL="45720" marR="45720" marT="18288" marB="18288" anchor="ctr">
                    <a:solidFill>
                      <a:srgbClr val="F5F5F5"/>
                    </a:solidFill>
                  </a:tcPr>
                </a:tc>
                <a:tc>
                  <a:txBody>
                    <a:bodyPr/>
                    <a:lstStyle/>
                    <a:p>
                      <a:pPr algn="ctr"/>
                      <a:r>
                        <a:rPr sz="770" b="0" i="0">
                          <a:solidFill>
                            <a:srgbClr val="374151"/>
                          </a:solidFill>
                          <a:latin typeface="Calibri"/>
                        </a:rPr>
                        <a:t>5.2%</a:t>
                      </a:r>
                    </a:p>
                  </a:txBody>
                  <a:tcPr marL="45720" marR="45720" marT="18288" marB="18288" anchor="ctr">
                    <a:solidFill>
                      <a:srgbClr val="F5F5F5"/>
                    </a:solidFill>
                  </a:tcPr>
                </a:tc>
                <a:extLst>
                  <a:ext uri="{0D108BD9-81ED-4DB2-BD59-A6C34878D82A}">
                    <a16:rowId xmlns:a16="http://schemas.microsoft.com/office/drawing/2014/main" val="10002"/>
                  </a:ext>
                </a:extLst>
              </a:tr>
              <a:tr h="187452">
                <a:tc>
                  <a:txBody>
                    <a:bodyPr/>
                    <a:lstStyle/>
                    <a:p>
                      <a:pPr algn="ctr"/>
                      <a:r>
                        <a:rPr sz="770" b="1" i="0">
                          <a:solidFill>
                            <a:srgbClr val="1F2937"/>
                          </a:solidFill>
                          <a:latin typeface="Calibri"/>
                        </a:rPr>
                        <a:t>0.5</a:t>
                      </a:r>
                    </a:p>
                  </a:txBody>
                  <a:tcPr marL="45720" marR="45720" marT="18288" marB="18288" anchor="ctr">
                    <a:solidFill>
                      <a:srgbClr val="FFFFFF"/>
                    </a:solidFill>
                  </a:tcPr>
                </a:tc>
                <a:tc>
                  <a:txBody>
                    <a:bodyPr/>
                    <a:lstStyle/>
                    <a:p>
                      <a:pPr algn="ctr"/>
                      <a:r>
                        <a:rPr sz="770" b="0" i="0">
                          <a:solidFill>
                            <a:srgbClr val="374151"/>
                          </a:solidFill>
                          <a:latin typeface="Calibri"/>
                        </a:rPr>
                        <a:t>26.3%</a:t>
                      </a:r>
                    </a:p>
                  </a:txBody>
                  <a:tcPr marL="45720" marR="45720" marT="18288" marB="18288" anchor="ctr">
                    <a:solidFill>
                      <a:srgbClr val="FFFFFF"/>
                    </a:solidFill>
                  </a:tcPr>
                </a:tc>
                <a:tc>
                  <a:txBody>
                    <a:bodyPr/>
                    <a:lstStyle/>
                    <a:p>
                      <a:pPr algn="ctr"/>
                      <a:r>
                        <a:rPr sz="770" b="0" i="0">
                          <a:solidFill>
                            <a:srgbClr val="374151"/>
                          </a:solidFill>
                          <a:latin typeface="Calibri"/>
                        </a:rPr>
                        <a:t>11.0%</a:t>
                      </a:r>
                    </a:p>
                  </a:txBody>
                  <a:tcPr marL="45720" marR="45720" marT="18288" marB="18288" anchor="ctr">
                    <a:solidFill>
                      <a:srgbClr val="FFFFFF"/>
                    </a:solidFill>
                  </a:tcPr>
                </a:tc>
                <a:tc>
                  <a:txBody>
                    <a:bodyPr/>
                    <a:lstStyle/>
                    <a:p>
                      <a:pPr algn="ctr"/>
                      <a:r>
                        <a:rPr sz="770" b="1" i="0">
                          <a:solidFill>
                            <a:srgbClr val="1D4ED8"/>
                          </a:solidFill>
                          <a:latin typeface="Calibri"/>
                        </a:rPr>
                        <a:t>9.0%</a:t>
                      </a:r>
                    </a:p>
                  </a:txBody>
                  <a:tcPr marL="45720" marR="45720" marT="18288" marB="18288" anchor="ctr">
                    <a:solidFill>
                      <a:srgbClr val="FFFFFF"/>
                    </a:solidFill>
                  </a:tcPr>
                </a:tc>
                <a:tc>
                  <a:txBody>
                    <a:bodyPr/>
                    <a:lstStyle/>
                    <a:p>
                      <a:pPr algn="ctr"/>
                      <a:r>
                        <a:rPr sz="770" b="0" i="0">
                          <a:solidFill>
                            <a:srgbClr val="374151"/>
                          </a:solidFill>
                          <a:latin typeface="Calibri"/>
                        </a:rPr>
                        <a:t>7.7%</a:t>
                      </a:r>
                    </a:p>
                  </a:txBody>
                  <a:tcPr marL="45720" marR="45720" marT="18288" marB="18288" anchor="ctr">
                    <a:solidFill>
                      <a:srgbClr val="FFFFFF"/>
                    </a:solidFill>
                  </a:tcPr>
                </a:tc>
                <a:tc>
                  <a:txBody>
                    <a:bodyPr/>
                    <a:lstStyle/>
                    <a:p>
                      <a:pPr algn="ctr"/>
                      <a:r>
                        <a:rPr sz="770" b="0" i="0">
                          <a:solidFill>
                            <a:srgbClr val="374151"/>
                          </a:solidFill>
                          <a:latin typeface="Calibri"/>
                        </a:rPr>
                        <a:t>5.7%</a:t>
                      </a:r>
                    </a:p>
                  </a:txBody>
                  <a:tcPr marL="45720" marR="45720" marT="18288" marB="18288" anchor="ctr">
                    <a:solidFill>
                      <a:srgbClr val="FFFFFF"/>
                    </a:solidFill>
                  </a:tcPr>
                </a:tc>
                <a:extLst>
                  <a:ext uri="{0D108BD9-81ED-4DB2-BD59-A6C34878D82A}">
                    <a16:rowId xmlns:a16="http://schemas.microsoft.com/office/drawing/2014/main" val="10003"/>
                  </a:ext>
                </a:extLst>
              </a:tr>
              <a:tr h="187452">
                <a:tc>
                  <a:txBody>
                    <a:bodyPr/>
                    <a:lstStyle/>
                    <a:p>
                      <a:pPr algn="ctr"/>
                      <a:r>
                        <a:rPr sz="770" b="1" i="0">
                          <a:solidFill>
                            <a:srgbClr val="1F2937"/>
                          </a:solidFill>
                          <a:latin typeface="Calibri"/>
                        </a:rPr>
                        <a:t>1.0</a:t>
                      </a:r>
                    </a:p>
                  </a:txBody>
                  <a:tcPr marL="45720" marR="45720" marT="18288" marB="18288" anchor="ctr">
                    <a:solidFill>
                      <a:srgbClr val="F5F5F5"/>
                    </a:solidFill>
                  </a:tcPr>
                </a:tc>
                <a:tc>
                  <a:txBody>
                    <a:bodyPr/>
                    <a:lstStyle/>
                    <a:p>
                      <a:pPr algn="ctr"/>
                      <a:r>
                        <a:rPr sz="770" b="0" i="0">
                          <a:solidFill>
                            <a:srgbClr val="374151"/>
                          </a:solidFill>
                          <a:latin typeface="Calibri"/>
                        </a:rPr>
                        <a:t>22.0%</a:t>
                      </a:r>
                    </a:p>
                  </a:txBody>
                  <a:tcPr marL="45720" marR="45720" marT="18288" marB="18288" anchor="ctr">
                    <a:solidFill>
                      <a:srgbClr val="F5F5F5"/>
                    </a:solidFill>
                  </a:tcPr>
                </a:tc>
                <a:tc>
                  <a:txBody>
                    <a:bodyPr/>
                    <a:lstStyle/>
                    <a:p>
                      <a:pPr algn="ctr"/>
                      <a:r>
                        <a:rPr sz="770" b="0" i="0">
                          <a:solidFill>
                            <a:srgbClr val="374151"/>
                          </a:solidFill>
                          <a:latin typeface="Calibri"/>
                        </a:rPr>
                        <a:t>10.5%</a:t>
                      </a:r>
                    </a:p>
                  </a:txBody>
                  <a:tcPr marL="45720" marR="45720" marT="18288" marB="18288" anchor="ctr">
                    <a:solidFill>
                      <a:srgbClr val="F5F5F5"/>
                    </a:solidFill>
                  </a:tcPr>
                </a:tc>
                <a:tc>
                  <a:txBody>
                    <a:bodyPr/>
                    <a:lstStyle/>
                    <a:p>
                      <a:pPr algn="ctr"/>
                      <a:r>
                        <a:rPr sz="770" b="1" i="0">
                          <a:solidFill>
                            <a:srgbClr val="1D4ED8"/>
                          </a:solidFill>
                          <a:latin typeface="Calibri"/>
                        </a:rPr>
                        <a:t>9.0%</a:t>
                      </a:r>
                    </a:p>
                  </a:txBody>
                  <a:tcPr marL="45720" marR="45720" marT="18288" marB="18288" anchor="ctr">
                    <a:solidFill>
                      <a:srgbClr val="F5F5F5"/>
                    </a:solidFill>
                  </a:tcPr>
                </a:tc>
                <a:tc>
                  <a:txBody>
                    <a:bodyPr/>
                    <a:lstStyle/>
                    <a:p>
                      <a:pPr algn="ctr"/>
                      <a:r>
                        <a:rPr sz="770" b="0" i="0">
                          <a:solidFill>
                            <a:srgbClr val="374151"/>
                          </a:solidFill>
                          <a:latin typeface="Calibri"/>
                        </a:rPr>
                        <a:t>8.0%</a:t>
                      </a:r>
                    </a:p>
                  </a:txBody>
                  <a:tcPr marL="45720" marR="45720" marT="18288" marB="18288" anchor="ctr">
                    <a:solidFill>
                      <a:srgbClr val="F5F5F5"/>
                    </a:solidFill>
                  </a:tcPr>
                </a:tc>
                <a:tc>
                  <a:txBody>
                    <a:bodyPr/>
                    <a:lstStyle/>
                    <a:p>
                      <a:pPr algn="ctr"/>
                      <a:r>
                        <a:rPr sz="770" b="0" i="0">
                          <a:solidFill>
                            <a:srgbClr val="374151"/>
                          </a:solidFill>
                          <a:latin typeface="Calibri"/>
                        </a:rPr>
                        <a:t>6.5%</a:t>
                      </a:r>
                    </a:p>
                  </a:txBody>
                  <a:tcPr marL="45720" marR="45720" marT="18288" marB="18288" anchor="ctr">
                    <a:solidFill>
                      <a:srgbClr val="F5F5F5"/>
                    </a:solidFill>
                  </a:tcPr>
                </a:tc>
                <a:extLst>
                  <a:ext uri="{0D108BD9-81ED-4DB2-BD59-A6C34878D82A}">
                    <a16:rowId xmlns:a16="http://schemas.microsoft.com/office/drawing/2014/main" val="10004"/>
                  </a:ext>
                </a:extLst>
              </a:tr>
              <a:tr h="187452">
                <a:tc>
                  <a:txBody>
                    <a:bodyPr/>
                    <a:lstStyle/>
                    <a:p>
                      <a:pPr algn="ctr"/>
                      <a:r>
                        <a:rPr sz="770" b="1" i="0">
                          <a:solidFill>
                            <a:srgbClr val="1F2937"/>
                          </a:solidFill>
                          <a:latin typeface="Calibri"/>
                        </a:rPr>
                        <a:t>10.0</a:t>
                      </a:r>
                    </a:p>
                  </a:txBody>
                  <a:tcPr marL="45720" marR="45720" marT="18288" marB="18288" anchor="ctr">
                    <a:solidFill>
                      <a:srgbClr val="FFFFFF"/>
                    </a:solidFill>
                  </a:tcPr>
                </a:tc>
                <a:tc>
                  <a:txBody>
                    <a:bodyPr/>
                    <a:lstStyle/>
                    <a:p>
                      <a:pPr algn="ctr"/>
                      <a:r>
                        <a:rPr sz="770" b="0" i="0">
                          <a:solidFill>
                            <a:srgbClr val="374151"/>
                          </a:solidFill>
                          <a:latin typeface="Calibri"/>
                        </a:rPr>
                        <a:t>11.4%</a:t>
                      </a:r>
                    </a:p>
                  </a:txBody>
                  <a:tcPr marL="45720" marR="45720" marT="18288" marB="18288" anchor="ctr">
                    <a:solidFill>
                      <a:srgbClr val="FFFFFF"/>
                    </a:solidFill>
                  </a:tcPr>
                </a:tc>
                <a:tc>
                  <a:txBody>
                    <a:bodyPr/>
                    <a:lstStyle/>
                    <a:p>
                      <a:pPr algn="ctr"/>
                      <a:r>
                        <a:rPr sz="770" b="0" i="0">
                          <a:solidFill>
                            <a:srgbClr val="374151"/>
                          </a:solidFill>
                          <a:latin typeface="Calibri"/>
                        </a:rPr>
                        <a:t>9.3%</a:t>
                      </a:r>
                    </a:p>
                  </a:txBody>
                  <a:tcPr marL="45720" marR="45720" marT="18288" marB="18288" anchor="ctr">
                    <a:solidFill>
                      <a:srgbClr val="FFFFFF"/>
                    </a:solidFill>
                  </a:tcPr>
                </a:tc>
                <a:tc>
                  <a:txBody>
                    <a:bodyPr/>
                    <a:lstStyle/>
                    <a:p>
                      <a:pPr algn="ctr"/>
                      <a:r>
                        <a:rPr sz="770" b="1" i="0">
                          <a:solidFill>
                            <a:srgbClr val="1D4ED8"/>
                          </a:solidFill>
                          <a:latin typeface="Calibri"/>
                        </a:rPr>
                        <a:t>9.0%</a:t>
                      </a:r>
                    </a:p>
                  </a:txBody>
                  <a:tcPr marL="45720" marR="45720" marT="18288" marB="18288" anchor="ctr">
                    <a:solidFill>
                      <a:srgbClr val="FFFFFF"/>
                    </a:solidFill>
                  </a:tcPr>
                </a:tc>
                <a:tc>
                  <a:txBody>
                    <a:bodyPr/>
                    <a:lstStyle/>
                    <a:p>
                      <a:pPr algn="ctr"/>
                      <a:r>
                        <a:rPr sz="770" b="0" i="0">
                          <a:solidFill>
                            <a:srgbClr val="374151"/>
                          </a:solidFill>
                          <a:latin typeface="Calibri"/>
                        </a:rPr>
                        <a:t>8.8%</a:t>
                      </a:r>
                    </a:p>
                  </a:txBody>
                  <a:tcPr marL="45720" marR="45720" marT="18288" marB="18288" anchor="ctr">
                    <a:solidFill>
                      <a:srgbClr val="FFFFFF"/>
                    </a:solidFill>
                  </a:tcPr>
                </a:tc>
                <a:tc>
                  <a:txBody>
                    <a:bodyPr/>
                    <a:lstStyle/>
                    <a:p>
                      <a:pPr algn="ctr"/>
                      <a:r>
                        <a:rPr sz="770" b="0" i="0">
                          <a:solidFill>
                            <a:srgbClr val="374151"/>
                          </a:solidFill>
                          <a:latin typeface="Calibri"/>
                        </a:rPr>
                        <a:t>8.5%</a:t>
                      </a:r>
                    </a:p>
                  </a:txBody>
                  <a:tcPr marL="45720" marR="45720" marT="18288" marB="18288"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Anchor Lookback Feature Extraction">
    <p:bg>
      <p:bgPr>
        <a:solidFill>
          <a:srgbClr val="FFFFFF"/>
        </a:solidFill>
        <a:effectLst/>
      </p:bgPr>
    </p:bg>
    <p:spTree>
      <p:nvGrpSpPr>
        <p:cNvPr id="1" name=""/>
        <p:cNvGrpSpPr/>
        <p:nvPr/>
      </p:nvGrpSpPr>
      <p:grpSpPr>
        <a:xfrm>
          <a:off x="0" y="0"/>
          <a:ext cx="0" cy="0"/>
          <a:chOff x="0" y="0"/>
          <a:chExt cx="0" cy="0"/>
        </a:xfrm>
      </p:grpSpPr>
      <p:sp>
        <p:nvSpPr>
          <p:cNvPr id="2" name="hdr"/>
          <p:cNvSpPr>
            <a:spLocks noGrp="1"/>
          </p:cNvSpPr>
          <p:nvPr/>
        </p:nvSpPr>
        <p:spPr>
          <a:xfrm>
            <a:off x="0" y="0"/>
            <a:ext cx="9144000" cy="390000"/>
          </a:xfrm>
          <a:prstGeom prst="rect">
            <a:avLst/>
          </a:prstGeom>
          <a:solidFill>
            <a:srgbClr val="1E3A5F"/>
          </a:solidFill>
          <a:ln/>
        </p:spPr>
        <p:txBody>
          <a:bodyPr wrap="square" lIns="182880" tIns="45720" rIns="182880" bIns="45720" rtlCol="0" anchor="ctr"/>
          <a:lstStyle/>
          <a:p>
            <a:pPr marL="0" indent="0">
              <a:buNone/>
            </a:pPr>
            <a:r>
              <a:rPr lang="en-US" sz="1700" b="1" dirty="0">
                <a:solidFill>
                  <a:srgbClr val="FFFFFF"/>
                </a:solidFill>
                <a:latin typeface="Calibri"/>
              </a:rPr>
              <a:t>Data Simulation: Anchor-Based Lookback Window + Feature Extraction</a:t>
            </a:r>
          </a:p>
        </p:txBody>
      </p:sp>
      <p:sp>
        <p:nvSpPr>
          <p:cNvPr id="3" name="sub"/>
          <p:cNvSpPr>
            <a:spLocks noGrp="1"/>
          </p:cNvSpPr>
          <p:nvPr/>
        </p:nvSpPr>
        <p:spPr>
          <a:xfrm>
            <a:off x="228600" y="415000"/>
            <a:ext cx="8687400" cy="175000"/>
          </a:xfrm>
          <a:prstGeom prst="rect">
            <a:avLst/>
          </a:prstGeom>
          <a:solidFill>
            <a:srgbClr val="2E6DA4"/>
          </a:solidFill>
          <a:ln/>
        </p:spPr>
        <p:txBody>
          <a:bodyPr wrap="square" lIns="182880" tIns="45720" rIns="182880" bIns="45720" rtlCol="0" anchor="ctr"/>
          <a:lstStyle/>
          <a:p>
            <a:pPr marL="0" indent="0">
              <a:buNone/>
            </a:pPr>
            <a:r>
              <a:rPr lang="en-US" sz="1000" b="1" dirty="0">
                <a:solidFill>
                  <a:srgbClr val="FFFFFF"/>
                </a:solidFill>
                <a:latin typeface="Calibri"/>
              </a:rPr>
              <a:t>One row per patient (MIMIC-IV last hospital admission)  |  Features: admission to anchor-48h  |  Label: AKI=1 or 0</a:t>
            </a:r>
          </a:p>
        </p:txBody>
      </p:sp>
      <p:sp>
        <p:nvSpPr>
          <p:cNvPr id="4" name="aki_lbl"/>
          <p:cNvSpPr>
            <a:spLocks noGrp="1"/>
          </p:cNvSpPr>
          <p:nvPr/>
        </p:nvSpPr>
        <p:spPr>
          <a:xfrm>
            <a:off x="228600" y="618000"/>
            <a:ext cx="8687400" cy="185000"/>
          </a:xfrm>
          <a:prstGeom prst="rect">
            <a:avLst/>
          </a:prstGeom>
          <a:solidFill>
            <a:srgbClr val="1D6B3E"/>
          </a:solidFill>
          <a:ln/>
        </p:spPr>
        <p:txBody>
          <a:bodyPr wrap="square" lIns="182880" tIns="45720" rIns="182880" bIns="45720" rtlCol="0" anchor="ctr"/>
          <a:lstStyle/>
          <a:p>
            <a:pPr marL="0" indent="0">
              <a:buNone/>
            </a:pPr>
            <a:r>
              <a:rPr lang="en-US" sz="1100" b="1" dirty="0">
                <a:solidFill>
                  <a:srgbClr val="FFFFFF"/>
                </a:solidFill>
                <a:latin typeface="Calibri"/>
              </a:rPr>
              <a:t>AKI Patient (label=1)  —  Anchor = first KDIGO+ SCr  (+0.3 mg/dL in 48h  OR  1.5x baseline SCr)</a:t>
            </a:r>
          </a:p>
        </p:txBody>
      </p:sp>
      <p:sp>
        <p:nvSpPr>
          <p:cNvPr id="5" name="aki_adm"/>
          <p:cNvSpPr>
            <a:spLocks noGrp="1"/>
          </p:cNvSpPr>
          <p:nvPr/>
        </p:nvSpPr>
        <p:spPr>
          <a:xfrm>
            <a:off x="228600" y="825000"/>
            <a:ext cx="780000" cy="185000"/>
          </a:xfrm>
          <a:prstGeom prst="rect">
            <a:avLst/>
          </a:prstGeom>
          <a:solidFill>
            <a:srgbClr val="2E6DA4"/>
          </a:solidFill>
          <a:ln/>
        </p:spPr>
        <p:txBody>
          <a:bodyPr wrap="square" lIns="91440" tIns="30000" rIns="91440" bIns="30000" rtlCol="0" anchor="ctr"/>
          <a:lstStyle/>
          <a:p>
            <a:pPr marL="0" indent="0">
              <a:buNone/>
            </a:pPr>
            <a:r>
              <a:rPr lang="en-US" sz="950" b="1" dirty="0">
                <a:solidFill>
                  <a:srgbClr val="FFFFFF"/>
                </a:solidFill>
                <a:latin typeface="Calibri"/>
              </a:rPr>
              <a:t>Admission</a:t>
            </a:r>
          </a:p>
        </p:txBody>
      </p:sp>
      <p:sp>
        <p:nvSpPr>
          <p:cNvPr id="6" name="aki_feat"/>
          <p:cNvSpPr>
            <a:spLocks noGrp="1"/>
          </p:cNvSpPr>
          <p:nvPr/>
        </p:nvSpPr>
        <p:spPr>
          <a:xfrm>
            <a:off x="1018600" y="825000"/>
            <a:ext cx="4700000" cy="185000"/>
          </a:xfrm>
          <a:prstGeom prst="rect">
            <a:avLst/>
          </a:prstGeom>
          <a:solidFill>
            <a:srgbClr val="378ADD"/>
          </a:solidFill>
          <a:ln/>
        </p:spPr>
        <p:txBody>
          <a:bodyPr wrap="square" lIns="91440" tIns="30000" rIns="91440" bIns="30000" rtlCol="0" anchor="ctr"/>
          <a:lstStyle/>
          <a:p>
            <a:pPr marL="0" indent="0">
              <a:buNone/>
            </a:pPr>
            <a:r>
              <a:rPr lang="en-US" sz="950" b="1" dirty="0">
                <a:solidFill>
                  <a:srgbClr val="FFFFFF"/>
                </a:solidFill>
                <a:latin typeface="Calibri"/>
              </a:rPr>
              <a:t>Feature collection window  (labs, vitals, demographics, comorbidities, meds)</a:t>
            </a:r>
          </a:p>
        </p:txBody>
      </p:sp>
      <p:sp>
        <p:nvSpPr>
          <p:cNvPr id="7" name="aki_buf"/>
          <p:cNvSpPr>
            <a:spLocks noGrp="1"/>
          </p:cNvSpPr>
          <p:nvPr/>
        </p:nvSpPr>
        <p:spPr>
          <a:xfrm>
            <a:off x="5728600" y="825000"/>
            <a:ext cx="1280000" cy="185000"/>
          </a:xfrm>
          <a:prstGeom prst="rect">
            <a:avLst/>
          </a:prstGeom>
          <a:solidFill>
            <a:srgbClr val="BA7517"/>
          </a:solidFill>
          <a:ln/>
        </p:spPr>
        <p:txBody>
          <a:bodyPr wrap="square" lIns="91440" tIns="30000" rIns="91440" bIns="30000" rtlCol="0" anchor="ctr"/>
          <a:lstStyle/>
          <a:p>
            <a:pPr marL="0" indent="0">
              <a:buNone/>
            </a:pPr>
            <a:r>
              <a:rPr lang="en-US" sz="950" b="1" dirty="0">
                <a:solidFill>
                  <a:srgbClr val="FFFFFF"/>
                </a:solidFill>
                <a:latin typeface="Calibri"/>
              </a:rPr>
              <a:t>48h buffer</a:t>
            </a:r>
          </a:p>
        </p:txBody>
      </p:sp>
      <p:sp>
        <p:nvSpPr>
          <p:cNvPr id="8" name="aki_anch"/>
          <p:cNvSpPr>
            <a:spLocks noGrp="1"/>
          </p:cNvSpPr>
          <p:nvPr/>
        </p:nvSpPr>
        <p:spPr>
          <a:xfrm>
            <a:off x="7018600" y="825000"/>
            <a:ext cx="1380000" cy="185000"/>
          </a:xfrm>
          <a:prstGeom prst="rect">
            <a:avLst/>
          </a:prstGeom>
          <a:solidFill>
            <a:srgbClr val="C0392B"/>
          </a:solidFill>
          <a:ln/>
        </p:spPr>
        <p:txBody>
          <a:bodyPr wrap="square" lIns="91440" tIns="30000" rIns="91440" bIns="30000" rtlCol="0" anchor="ctr"/>
          <a:lstStyle/>
          <a:p>
            <a:pPr marL="0" indent="0">
              <a:buNone/>
            </a:pPr>
            <a:r>
              <a:rPr lang="en-US" sz="950" b="1" dirty="0">
                <a:solidFill>
                  <a:srgbClr val="FFFFFF"/>
                </a:solidFill>
                <a:latin typeface="Calibri"/>
              </a:rPr>
              <a:t>AKI onset = anchor</a:t>
            </a:r>
          </a:p>
        </p:txBody>
      </p:sp>
      <p:sp>
        <p:nvSpPr>
          <p:cNvPr id="9" name="aki_ax"/>
          <p:cNvSpPr>
            <a:spLocks noGrp="1"/>
          </p:cNvSpPr>
          <p:nvPr/>
        </p:nvSpPr>
        <p:spPr>
          <a:xfrm>
            <a:off x="228600" y="1033000"/>
            <a:ext cx="8687400" cy="145000"/>
          </a:xfrm>
          <a:prstGeom prst="rect">
            <a:avLst/>
          </a:prstGeom>
          <a:solidFill>
            <a:srgbClr val="FFFFFF"/>
          </a:solidFill>
          <a:ln/>
        </p:spPr>
        <p:txBody>
          <a:bodyPr wrap="square" lIns="182880" tIns="45720" rIns="182880" bIns="45720" rtlCol="0" anchor="ctr"/>
          <a:lstStyle/>
          <a:p>
            <a:pPr marL="0" indent="0">
              <a:buNone/>
            </a:pPr>
            <a:r>
              <a:rPr lang="en-US" sz="860" b="1" dirty="0">
                <a:solidFill>
                  <a:srgbClr val="555555"/>
                </a:solidFill>
                <a:latin typeface="Calibri"/>
              </a:rPr>
              <a:t>Admission                                                         anchor - 48h                     anchor (first KDIGO+ SCr)</a:t>
            </a:r>
          </a:p>
        </p:txBody>
      </p:sp>
      <p:sp>
        <p:nvSpPr>
          <p:cNvPr id="10" name="aki_excl"/>
          <p:cNvSpPr>
            <a:spLocks noGrp="1"/>
          </p:cNvSpPr>
          <p:nvPr/>
        </p:nvSpPr>
        <p:spPr>
          <a:xfrm>
            <a:off x="228600" y="1195000"/>
            <a:ext cx="8687400" cy="155000"/>
          </a:xfrm>
          <a:prstGeom prst="rect">
            <a:avLst/>
          </a:prstGeom>
          <a:solidFill>
            <a:srgbClr val="FDECEA"/>
          </a:solidFill>
          <a:ln/>
        </p:spPr>
        <p:txBody>
          <a:bodyPr wrap="square" lIns="182880" tIns="45720" rIns="182880" bIns="45720" rtlCol="0" anchor="ctr"/>
          <a:lstStyle/>
          <a:p>
            <a:pPr marL="0" indent="0">
              <a:buNone/>
            </a:pPr>
            <a:r>
              <a:rPr lang="en-US" sz="970" b="1" dirty="0">
                <a:solidFill>
                  <a:srgbClr val="C0392B"/>
                </a:solidFill>
                <a:latin typeface="Calibri"/>
              </a:rPr>
              <a:t>Excluded: AKI onset within 48h of admission — no predictive window</a:t>
            </a:r>
          </a:p>
        </p:txBody>
      </p:sp>
      <p:sp>
        <p:nvSpPr>
          <p:cNvPr id="11" name="naki_lbl"/>
          <p:cNvSpPr>
            <a:spLocks noGrp="1"/>
          </p:cNvSpPr>
          <p:nvPr/>
        </p:nvSpPr>
        <p:spPr>
          <a:xfrm>
            <a:off x="228600" y="1378000"/>
            <a:ext cx="8687400" cy="185000"/>
          </a:xfrm>
          <a:prstGeom prst="rect">
            <a:avLst/>
          </a:prstGeom>
          <a:solidFill>
            <a:srgbClr val="7B3F00"/>
          </a:solidFill>
          <a:ln/>
        </p:spPr>
        <p:txBody>
          <a:bodyPr wrap="square" lIns="182880" tIns="45720" rIns="182880" bIns="45720" rtlCol="0" anchor="ctr"/>
          <a:lstStyle/>
          <a:p>
            <a:pPr marL="0" indent="0">
              <a:buNone/>
            </a:pPr>
            <a:r>
              <a:rPr lang="en-US" sz="1100" b="1" dirty="0">
                <a:solidFill>
                  <a:srgbClr val="FFFFFF"/>
                </a:solidFill>
                <a:latin typeface="Calibri"/>
              </a:rPr>
              <a:t>Non-AKI Patient (label=0)  —  Anchor = last SCr that does NOT meet KDIGO  (in practice: final SCr of admission)</a:t>
            </a:r>
          </a:p>
        </p:txBody>
      </p:sp>
      <p:sp>
        <p:nvSpPr>
          <p:cNvPr id="12" name="naki_adm"/>
          <p:cNvSpPr>
            <a:spLocks noGrp="1"/>
          </p:cNvSpPr>
          <p:nvPr/>
        </p:nvSpPr>
        <p:spPr>
          <a:xfrm>
            <a:off x="228600" y="1585000"/>
            <a:ext cx="780000" cy="185000"/>
          </a:xfrm>
          <a:prstGeom prst="rect">
            <a:avLst/>
          </a:prstGeom>
          <a:solidFill>
            <a:srgbClr val="2E6DA4"/>
          </a:solidFill>
          <a:ln/>
        </p:spPr>
        <p:txBody>
          <a:bodyPr wrap="square" lIns="91440" tIns="30000" rIns="91440" bIns="30000" rtlCol="0" anchor="ctr"/>
          <a:lstStyle/>
          <a:p>
            <a:pPr marL="0" indent="0">
              <a:buNone/>
            </a:pPr>
            <a:r>
              <a:rPr lang="en-US" sz="950" b="1" dirty="0">
                <a:solidFill>
                  <a:srgbClr val="FFFFFF"/>
                </a:solidFill>
                <a:latin typeface="Calibri"/>
              </a:rPr>
              <a:t>Admission</a:t>
            </a:r>
          </a:p>
        </p:txBody>
      </p:sp>
      <p:sp>
        <p:nvSpPr>
          <p:cNvPr id="13" name="naki_feat"/>
          <p:cNvSpPr>
            <a:spLocks noGrp="1"/>
          </p:cNvSpPr>
          <p:nvPr/>
        </p:nvSpPr>
        <p:spPr>
          <a:xfrm>
            <a:off x="1018600" y="1585000"/>
            <a:ext cx="4700000" cy="185000"/>
          </a:xfrm>
          <a:prstGeom prst="rect">
            <a:avLst/>
          </a:prstGeom>
          <a:solidFill>
            <a:srgbClr val="378ADD"/>
          </a:solidFill>
          <a:ln/>
        </p:spPr>
        <p:txBody>
          <a:bodyPr wrap="square" lIns="91440" tIns="30000" rIns="91440" bIns="30000" rtlCol="0" anchor="ctr"/>
          <a:lstStyle/>
          <a:p>
            <a:pPr marL="0" indent="0">
              <a:buNone/>
            </a:pPr>
            <a:r>
              <a:rPr lang="en-US" sz="950" b="1" dirty="0">
                <a:solidFill>
                  <a:srgbClr val="FFFFFF"/>
                </a:solidFill>
                <a:latin typeface="Calibri"/>
              </a:rPr>
              <a:t>Feature collection window  (same set as AKI patients)</a:t>
            </a:r>
          </a:p>
        </p:txBody>
      </p:sp>
      <p:sp>
        <p:nvSpPr>
          <p:cNvPr id="14" name="naki_buf"/>
          <p:cNvSpPr>
            <a:spLocks noGrp="1"/>
          </p:cNvSpPr>
          <p:nvPr/>
        </p:nvSpPr>
        <p:spPr>
          <a:xfrm>
            <a:off x="5728600" y="1585000"/>
            <a:ext cx="1280000" cy="185000"/>
          </a:xfrm>
          <a:prstGeom prst="rect">
            <a:avLst/>
          </a:prstGeom>
          <a:solidFill>
            <a:srgbClr val="BA7517"/>
          </a:solidFill>
          <a:ln/>
        </p:spPr>
        <p:txBody>
          <a:bodyPr wrap="square" lIns="91440" tIns="30000" rIns="91440" bIns="30000" rtlCol="0" anchor="ctr"/>
          <a:lstStyle/>
          <a:p>
            <a:pPr marL="0" indent="0">
              <a:buNone/>
            </a:pPr>
            <a:r>
              <a:rPr lang="en-US" sz="950" b="1" dirty="0">
                <a:solidFill>
                  <a:srgbClr val="FFFFFF"/>
                </a:solidFill>
                <a:latin typeface="Calibri"/>
              </a:rPr>
              <a:t>48h buffer</a:t>
            </a:r>
          </a:p>
        </p:txBody>
      </p:sp>
      <p:sp>
        <p:nvSpPr>
          <p:cNvPr id="15" name="naki_anch"/>
          <p:cNvSpPr>
            <a:spLocks noGrp="1"/>
          </p:cNvSpPr>
          <p:nvPr/>
        </p:nvSpPr>
        <p:spPr>
          <a:xfrm>
            <a:off x="7018600" y="1585000"/>
            <a:ext cx="1380000" cy="185000"/>
          </a:xfrm>
          <a:prstGeom prst="rect">
            <a:avLst/>
          </a:prstGeom>
          <a:solidFill>
            <a:srgbClr val="7B3F00"/>
          </a:solidFill>
          <a:ln/>
        </p:spPr>
        <p:txBody>
          <a:bodyPr wrap="square" lIns="91440" tIns="30000" rIns="91440" bIns="30000" rtlCol="0" anchor="ctr"/>
          <a:lstStyle/>
          <a:p>
            <a:pPr marL="0" indent="0">
              <a:buNone/>
            </a:pPr>
            <a:r>
              <a:rPr lang="en-US" sz="950" b="1" dirty="0">
                <a:solidFill>
                  <a:srgbClr val="FFFFFF"/>
                </a:solidFill>
                <a:latin typeface="Calibri"/>
              </a:rPr>
              <a:t>Last SCr = anchor</a:t>
            </a:r>
          </a:p>
        </p:txBody>
      </p:sp>
      <p:sp>
        <p:nvSpPr>
          <p:cNvPr id="16" name="naki_excl"/>
          <p:cNvSpPr>
            <a:spLocks noGrp="1"/>
          </p:cNvSpPr>
          <p:nvPr/>
        </p:nvSpPr>
        <p:spPr>
          <a:xfrm>
            <a:off x="228600" y="1790000"/>
            <a:ext cx="8687400" cy="155000"/>
          </a:xfrm>
          <a:prstGeom prst="rect">
            <a:avLst/>
          </a:prstGeom>
          <a:solidFill>
            <a:srgbClr val="FFF3CD"/>
          </a:solidFill>
          <a:ln/>
        </p:spPr>
        <p:txBody>
          <a:bodyPr wrap="square" lIns="182880" tIns="45720" rIns="182880" bIns="45720" rtlCol="0" anchor="ctr"/>
          <a:lstStyle/>
          <a:p>
            <a:pPr marL="0" indent="0">
              <a:buNone/>
            </a:pPr>
            <a:r>
              <a:rPr lang="en-US" sz="970" b="1" dirty="0">
                <a:solidFill>
                  <a:srgbClr val="7B3F00"/>
                </a:solidFill>
                <a:latin typeface="Calibri"/>
              </a:rPr>
              <a:t>Excluded: last SCr within 48h of admission  |  Anchor = final SCr reading</a:t>
            </a:r>
          </a:p>
        </p:txBody>
      </p:sp>
      <p:sp>
        <p:nvSpPr>
          <p:cNvPr id="17" name="feat_hdr"/>
          <p:cNvSpPr>
            <a:spLocks noGrp="1"/>
          </p:cNvSpPr>
          <p:nvPr/>
        </p:nvSpPr>
        <p:spPr>
          <a:xfrm>
            <a:off x="228600" y="1975000"/>
            <a:ext cx="8687400" cy="190000"/>
          </a:xfrm>
          <a:prstGeom prst="rect">
            <a:avLst/>
          </a:prstGeom>
          <a:solidFill>
            <a:srgbClr val="1E3A5F"/>
          </a:solidFill>
          <a:ln/>
        </p:spPr>
        <p:txBody>
          <a:bodyPr wrap="square" lIns="182880" tIns="45720" rIns="182880" bIns="45720" rtlCol="0" anchor="ctr"/>
          <a:lstStyle/>
          <a:p>
            <a:pPr marL="0" indent="0">
              <a:buNone/>
            </a:pPr>
            <a:r>
              <a:rPr lang="en-US" sz="1150" b="1" dirty="0">
                <a:solidFill>
                  <a:srgbClr val="FFFFFF"/>
                </a:solidFill>
                <a:latin typeface="Calibri"/>
              </a:rPr>
              <a:t>Feature Extraction — Within the Collection Window</a:t>
            </a:r>
          </a:p>
        </p:txBody>
      </p:sp>
      <p:sp>
        <p:nvSpPr>
          <p:cNvPr id="18" name="feat_left"/>
          <p:cNvSpPr>
            <a:spLocks noGrp="1"/>
          </p:cNvSpPr>
          <p:nvPr/>
        </p:nvSpPr>
        <p:spPr>
          <a:xfrm>
            <a:off x="228600" y="2185000"/>
            <a:ext cx="4200000" cy="1340000"/>
          </a:xfrm>
          <a:prstGeom prst="rect">
            <a:avLst/>
          </a:prstGeom>
          <a:solidFill>
            <a:srgbClr val="F0F4FA"/>
          </a:solidFill>
          <a:ln/>
        </p:spPr>
        <p:txBody>
          <a:bodyPr wrap="square" lIns="182880" tIns="91440" rIns="182880" bIns="91440" rtlCol="0" anchor="t"/>
          <a:lstStyle/>
          <a:p>
            <a:pPr marL="0" indent="0">
              <a:buNone/>
            </a:pPr>
            <a:r>
              <a:rPr lang="en-US" sz="1050" b="1" dirty="0">
                <a:solidFill>
                  <a:srgbClr val="2E6DA4"/>
                </a:solidFill>
                <a:latin typeface="Calibri"/>
              </a:rPr>
              <a:t>5 statistical summaries per lab:</a:t>
            </a:r>
          </a:p>
          <a:p>
            <a:pPr marL="182880" indent="0">
              <a:buNone/>
            </a:pPr>
            <a:r>
              <a:rPr lang="en-US" sz="950" b="0" dirty="0">
                <a:solidFill>
                  <a:srgbClr val="000000"/>
                </a:solidFill>
                <a:latin typeface="Calibri"/>
              </a:rPr>
              <a:t>max, min, mean, most_recent, hours_since</a:t>
            </a:r>
          </a:p>
          <a:p>
            <a:pPr marL="182880" indent="0">
              <a:buNone/>
            </a:pPr>
            <a:r>
              <a:rPr lang="en-US" sz="950" b="0" dirty="0">
                <a:solidFill>
                  <a:srgbClr val="000000"/>
                </a:solidFill>
                <a:latin typeface="Calibri"/>
              </a:rPr>
              <a:t>Applied to: creatinine, BUN, lactate, WBC, platelets (and metabolic/hemodynamic at sites that have them)</a:t>
            </a:r>
          </a:p>
          <a:p>
            <a:pPr marL="0" indent="0">
              <a:buNone/>
            </a:pPr>
            <a:r>
              <a:rPr lang="en-US" sz="800" b="0" dirty="0">
                <a:solidFill>
                  <a:srgbClr val="000000"/>
                </a:solidFill>
                <a:latin typeface="Calibri"/>
              </a:rPr>
              <a:t> </a:t>
            </a:r>
          </a:p>
          <a:p>
            <a:pPr marL="0" indent="0">
              <a:buNone/>
            </a:pPr>
            <a:r>
              <a:rPr lang="en-US" sz="1050" b="1" dirty="0">
                <a:solidFill>
                  <a:srgbClr val="2E6DA4"/>
                </a:solidFill>
                <a:latin typeface="Calibri"/>
              </a:rPr>
              <a:t>Why summaries not raw time series?</a:t>
            </a:r>
          </a:p>
          <a:p>
            <a:pPr marL="182880" indent="0">
              <a:buNone/>
            </a:pPr>
            <a:r>
              <a:rPr lang="en-US" sz="950" b="0" dirty="0">
                <a:solidFill>
                  <a:srgbClr val="000000"/>
                </a:solidFill>
                <a:latin typeface="Calibri"/>
              </a:rPr>
              <a:t>Sites have different measurement frequencies — fixed-length summary vectors are the only format compatible across heterogeneous EHR systems.</a:t>
            </a:r>
          </a:p>
          <a:p>
            <a:pPr marL="0" indent="0">
              <a:buNone/>
            </a:pPr>
            <a:r>
              <a:rPr lang="en-US" sz="800" b="0" dirty="0">
                <a:solidFill>
                  <a:srgbClr val="000000"/>
                </a:solidFill>
                <a:latin typeface="Calibri"/>
              </a:rPr>
              <a:t> </a:t>
            </a:r>
          </a:p>
          <a:p>
            <a:pPr marL="0" indent="0">
              <a:buNone/>
            </a:pPr>
            <a:r>
              <a:rPr lang="en-US" sz="1050" b="1" dirty="0">
                <a:solidFill>
                  <a:srgbClr val="2E6DA4"/>
                </a:solidFill>
                <a:latin typeface="Calibri"/>
              </a:rPr>
              <a:t>hours_since = recency sentinel:</a:t>
            </a:r>
          </a:p>
          <a:p>
            <a:pPr marL="182880" indent="0">
              <a:buNone/>
            </a:pPr>
            <a:r>
              <a:rPr lang="en-US" sz="950" b="0" dirty="0">
                <a:solidFill>
                  <a:srgbClr val="000000"/>
                </a:solidFill>
                <a:latin typeface="Calibri"/>
              </a:rPr>
              <a:t>0 = just measured. NaN imputed to 0 = never measured. Signals ICU vs community lab ordering frequency.</a:t>
            </a:r>
          </a:p>
        </p:txBody>
      </p:sp>
      <p:sp>
        <p:nvSpPr>
          <p:cNvPr id="19" name="feat_right"/>
          <p:cNvSpPr>
            <a:spLocks noGrp="1"/>
          </p:cNvSpPr>
          <p:nvPr/>
        </p:nvSpPr>
        <p:spPr>
          <a:xfrm>
            <a:off x="4700000" y="2185000"/>
            <a:ext cx="4216000" cy="1340000"/>
          </a:xfrm>
          <a:prstGeom prst="rect">
            <a:avLst/>
          </a:prstGeom>
          <a:solidFill>
            <a:srgbClr val="F0F4FA"/>
          </a:solidFill>
          <a:ln/>
        </p:spPr>
        <p:txBody>
          <a:bodyPr wrap="square" lIns="182880" tIns="91440" rIns="182880" bIns="91440" rtlCol="0" anchor="t"/>
          <a:lstStyle/>
          <a:p>
            <a:pPr marL="0" indent="0">
              <a:buNone/>
            </a:pPr>
            <a:r>
              <a:rPr lang="en-US" sz="1050" b="1" dirty="0">
                <a:solidFill>
                  <a:srgbClr val="2E6DA4"/>
                </a:solidFill>
                <a:latin typeface="Calibri"/>
              </a:rPr>
              <a:t>Baseline SCr — hierarchical KDIGO definition:</a:t>
            </a:r>
          </a:p>
          <a:p>
            <a:pPr marL="182880" indent="0">
              <a:buNone/>
            </a:pPr>
            <a:r>
              <a:rPr lang="en-US" sz="950" b="0" dirty="0">
                <a:solidFill>
                  <a:srgbClr val="000000"/>
                </a:solidFill>
                <a:latin typeface="Calibri"/>
              </a:rPr>
              <a:t>P1: min(most recent SCr within 7 days, first 24h min SCr)</a:t>
            </a:r>
          </a:p>
          <a:p>
            <a:pPr marL="182880" indent="0">
              <a:buNone/>
            </a:pPr>
            <a:r>
              <a:rPr lang="en-US" sz="950" b="0" dirty="0">
                <a:solidFill>
                  <a:srgbClr val="000000"/>
                </a:solidFill>
                <a:latin typeface="Calibri"/>
              </a:rPr>
              <a:t>P2: min(avg SCr 7-365 days pre-admission, first 24h min SCr)</a:t>
            </a:r>
          </a:p>
          <a:p>
            <a:pPr marL="182880" indent="0">
              <a:buNone/>
            </a:pPr>
            <a:r>
              <a:rPr lang="en-US" sz="950" b="0" dirty="0">
                <a:solidFill>
                  <a:srgbClr val="000000"/>
                </a:solidFill>
                <a:latin typeface="Calibri"/>
              </a:rPr>
              <a:t>P3: MDRD estimate (non-CKD only). CKD without history excluded.</a:t>
            </a:r>
          </a:p>
          <a:p>
            <a:pPr marL="0" indent="0">
              <a:buNone/>
            </a:pPr>
            <a:r>
              <a:rPr lang="en-US" sz="800" b="0" dirty="0">
                <a:solidFill>
                  <a:srgbClr val="000000"/>
                </a:solidFill>
                <a:latin typeface="Calibri"/>
              </a:rPr>
              <a:t> </a:t>
            </a:r>
          </a:p>
          <a:p>
            <a:pPr marL="0" indent="0">
              <a:buNone/>
            </a:pPr>
            <a:r>
              <a:rPr lang="en-US" sz="1050" b="1" dirty="0">
                <a:solidFill>
                  <a:srgbClr val="BA7517"/>
                </a:solidFill>
                <a:latin typeface="Calibri"/>
              </a:rPr>
              <a:t>Feature masking per site (heterogeneity source 2):</a:t>
            </a:r>
          </a:p>
          <a:p>
            <a:pPr marL="182880" indent="0">
              <a:buNone/>
            </a:pPr>
            <a:r>
              <a:rPr lang="en-US" sz="950" b="0" dirty="0">
                <a:solidFill>
                  <a:srgbClr val="000000"/>
                </a:solidFill>
                <a:latin typeface="Calibri"/>
              </a:rPr>
              <a:t>site_A ICU: renal+inflammatory+clinical  [39 feat]</a:t>
            </a:r>
          </a:p>
          <a:p>
            <a:pPr marL="182880" indent="0">
              <a:buNone/>
            </a:pPr>
            <a:r>
              <a:rPr lang="en-US" sz="950" b="0" dirty="0">
                <a:solidFill>
                  <a:srgbClr val="000000"/>
                </a:solidFill>
                <a:latin typeface="Calibri"/>
              </a:rPr>
              <a:t>site_C Anchor: all 5 groups  [109 feat]</a:t>
            </a:r>
          </a:p>
          <a:p>
            <a:pPr marL="182880" indent="0">
              <a:buNone/>
            </a:pPr>
            <a:r>
              <a:rPr lang="en-US" sz="950" b="0" dirty="0">
                <a:solidFill>
                  <a:srgbClr val="000000"/>
                </a:solidFill>
                <a:latin typeface="Calibri"/>
              </a:rPr>
              <a:t>site_D Community: metabolic+clinical only  [47 feat]</a:t>
            </a:r>
          </a:p>
          <a:p>
            <a:pPr marL="182880" indent="0">
              <a:buNone/>
            </a:pPr>
            <a:r>
              <a:rPr lang="en-US" sz="950" b="0" dirty="0">
                <a:solidFill>
                  <a:srgbClr val="000000"/>
                </a:solidFill>
                <a:latin typeface="Calibri"/>
              </a:rPr>
              <a:t>site_E Rural: renal+clinical  [24 feat — no inflammatory]</a:t>
            </a:r>
          </a:p>
        </p:txBody>
      </p:sp>
      <p:sp>
        <p:nvSpPr>
          <p:cNvPr id="20" name="why48"/>
          <p:cNvSpPr>
            <a:spLocks noGrp="1"/>
          </p:cNvSpPr>
          <p:nvPr/>
        </p:nvSpPr>
        <p:spPr>
          <a:xfrm>
            <a:off x="228600" y="3555000"/>
            <a:ext cx="8687400" cy="400000"/>
          </a:xfrm>
          <a:prstGeom prst="rect">
            <a:avLst/>
          </a:prstGeom>
          <a:solidFill>
            <a:srgbClr val="E8F0FB"/>
          </a:solidFill>
          <a:ln/>
        </p:spPr>
        <p:txBody>
          <a:bodyPr wrap="square" lIns="182880" tIns="91440" rIns="182880" bIns="91440" rtlCol="0" anchor="t"/>
          <a:lstStyle/>
          <a:p>
            <a:pPr marL="0" indent="0">
              <a:buNone/>
            </a:pPr>
            <a:r>
              <a:rPr lang="en-US" sz="1050" b="1" dirty="0">
                <a:solidFill>
                  <a:srgbClr val="1E3A5F"/>
                </a:solidFill>
                <a:latin typeface="Calibri"/>
              </a:rPr>
              <a:t>Why 48h buffer?  Anti-leakage guard.</a:t>
            </a:r>
          </a:p>
          <a:p>
            <a:pPr marL="0" indent="0">
              <a:buNone/>
            </a:pPr>
            <a:r>
              <a:rPr lang="en-US" sz="950" b="0" dirty="0">
                <a:solidFill>
                  <a:srgbClr val="000000"/>
                </a:solidFill>
                <a:latin typeface="Calibri"/>
              </a:rPr>
              <a:t>KDIGO defines AKI as a SCr rise within 48h. Including the final 48h before anchor would include the rising creatinine that defines AKI — leaking the label into features. The buffer forces prediction from earlier trajectory signals. Mirrors real deployment: flag patients before creatinine has started rising.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2"/>
        <p:cNvGrpSpPr/>
        <p:nvPr/>
      </p:nvGrpSpPr>
      <p:grpSpPr>
        <a:xfrm>
          <a:off x="0" y="0"/>
          <a:ext cx="0" cy="0"/>
          <a:chOff x="0" y="0"/>
          <a:chExt cx="0" cy="0"/>
        </a:xfrm>
      </p:grpSpPr>
      <p:sp>
        <p:nvSpPr>
          <p:cNvPr id="323" name="Google Shape;323;p12"/>
          <p:cNvSpPr/>
          <p:nvPr/>
        </p:nvSpPr>
        <p:spPr>
          <a:xfrm>
            <a:off x="320040" y="73152"/>
            <a:ext cx="850392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2100"/>
              <a:buFont typeface="Calibri"/>
              <a:buNone/>
            </a:pPr>
            <a:r>
              <a:rPr lang="en-US" sz="2100" b="1">
                <a:solidFill>
                  <a:srgbClr val="1F2937"/>
                </a:solidFill>
                <a:latin typeface="Calibri"/>
                <a:ea typeface="Calibri"/>
                <a:cs typeface="Calibri"/>
                <a:sym typeface="Calibri"/>
              </a:rPr>
              <a:t>Data Simulation Step 3: Dirichlet Sampling and Artificial Class Bias per Site</a:t>
            </a:r>
            <a:endParaRPr sz="2100">
              <a:solidFill>
                <a:schemeClr val="dk1"/>
              </a:solidFill>
              <a:latin typeface="Calibri"/>
              <a:ea typeface="Calibri"/>
              <a:cs typeface="Calibri"/>
              <a:sym typeface="Calibri"/>
            </a:endParaRPr>
          </a:p>
        </p:txBody>
      </p:sp>
      <p:sp>
        <p:nvSpPr>
          <p:cNvPr id="338" name="Google Shape;338;p12"/>
          <p:cNvSpPr/>
          <p:nvPr/>
        </p:nvSpPr>
        <p:spPr>
          <a:xfrm>
            <a:off x="0" y="763325"/>
            <a:ext cx="9144000" cy="36576"/>
          </a:xfrm>
          <a:prstGeom prst="rect">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9" name="TextBox 338"/>
          <p:cNvSpPr txBox="1"/>
          <p:nvPr/>
        </p:nvSpPr>
        <p:spPr>
          <a:xfrm>
            <a:off x="320040" y="960120"/>
            <a:ext cx="4160520" cy="182880"/>
          </a:xfrm>
          <a:prstGeom prst="rect">
            <a:avLst/>
          </a:prstGeom>
          <a:noFill/>
        </p:spPr>
        <p:txBody>
          <a:bodyPr wrap="square" lIns="0" tIns="0" rIns="0" bIns="0">
            <a:spAutoFit/>
          </a:bodyPr>
          <a:lstStyle/>
          <a:p>
            <a:pPr algn="l">
              <a:spcBef>
                <a:spcPts val="0"/>
              </a:spcBef>
              <a:buNone/>
            </a:pPr>
            <a:r>
              <a:rPr sz="950" b="0" i="0">
                <a:solidFill>
                  <a:srgbClr val="374151"/>
                </a:solidFill>
                <a:latin typeface="Calibri"/>
              </a:rPr>
              <a:t>ARCHETYPE PREVALENCE PER SITE  —  APPROACH 2</a:t>
            </a:r>
          </a:p>
        </p:txBody>
      </p:sp>
      <p:cxnSp>
        <p:nvCxnSpPr>
          <p:cNvPr id="340" name="Connector 339"/>
          <p:cNvCxnSpPr/>
          <p:nvPr/>
        </p:nvCxnSpPr>
        <p:spPr>
          <a:xfrm>
            <a:off x="320040" y="1179576"/>
            <a:ext cx="4160519" cy="0"/>
          </a:xfrm>
          <a:prstGeom prst="line">
            <a:avLst/>
          </a:prstGeom>
          <a:ln w="9525">
            <a:solidFill>
              <a:srgbClr val="AAAAAA"/>
            </a:solidFill>
          </a:ln>
        </p:spPr>
        <p:style>
          <a:lnRef idx="2">
            <a:schemeClr val="accent1"/>
          </a:lnRef>
          <a:fillRef idx="0">
            <a:schemeClr val="accent1"/>
          </a:fillRef>
          <a:effectRef idx="1">
            <a:schemeClr val="accent1"/>
          </a:effectRef>
          <a:fontRef idx="minor">
            <a:schemeClr val="tx1"/>
          </a:fontRef>
        </p:style>
      </p:cxnSp>
      <p:sp>
        <p:nvSpPr>
          <p:cNvPr id="341" name="TextBox 340"/>
          <p:cNvSpPr txBox="1"/>
          <p:nvPr/>
        </p:nvSpPr>
        <p:spPr>
          <a:xfrm>
            <a:off x="320040" y="1234440"/>
            <a:ext cx="4160520" cy="292608"/>
          </a:xfrm>
          <a:prstGeom prst="rect">
            <a:avLst/>
          </a:prstGeom>
          <a:noFill/>
        </p:spPr>
        <p:txBody>
          <a:bodyPr wrap="square" lIns="0" tIns="0" rIns="0" bIns="0">
            <a:spAutoFit/>
          </a:bodyPr>
          <a:lstStyle/>
          <a:p>
            <a:pPr algn="l">
              <a:spcBef>
                <a:spcPts val="0"/>
              </a:spcBef>
              <a:buNone/>
            </a:pPr>
            <a:r>
              <a:rPr sz="900" b="0" i="0">
                <a:solidFill>
                  <a:srgbClr val="374151"/>
                </a:solidFill>
                <a:latin typeface="Calibri"/>
              </a:rPr>
              <a:t>Each site (except the anchor) is assigned a fixed archetype prevalence reflecting its clinical setting:</a:t>
            </a:r>
          </a:p>
        </p:txBody>
      </p:sp>
      <p:graphicFrame>
        <p:nvGraphicFramePr>
          <p:cNvPr id="342" name="Table 341"/>
          <p:cNvGraphicFramePr>
            <a:graphicFrameLocks noGrp="1"/>
          </p:cNvGraphicFramePr>
          <p:nvPr/>
        </p:nvGraphicFramePr>
        <p:xfrm>
          <a:off x="320040" y="1627632"/>
          <a:ext cx="4160519" cy="2212848"/>
        </p:xfrm>
        <a:graphic>
          <a:graphicData uri="http://schemas.openxmlformats.org/drawingml/2006/table">
            <a:tbl>
              <a:tblPr firstRow="1" bandRow="1">
                <a:tableStyleId>{5C22544A-7EE6-4342-B048-85BDC9FD1C3A}</a:tableStyleId>
              </a:tblPr>
              <a:tblGrid>
                <a:gridCol w="7772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2606039">
                  <a:extLst>
                    <a:ext uri="{9D8B030D-6E8A-4147-A177-3AD203B41FA5}">
                      <a16:colId xmlns:a16="http://schemas.microsoft.com/office/drawing/2014/main" val="20002"/>
                    </a:ext>
                  </a:extLst>
                </a:gridCol>
              </a:tblGrid>
              <a:tr h="292608">
                <a:tc>
                  <a:txBody>
                    <a:bodyPr/>
                    <a:lstStyle/>
                    <a:p>
                      <a:pPr algn="ctr"/>
                      <a:r>
                        <a:rPr sz="950" b="1" i="0">
                          <a:solidFill>
                            <a:srgbClr val="FFFFFF"/>
                          </a:solidFill>
                          <a:latin typeface="Calibri"/>
                        </a:rPr>
                        <a:t>Site</a:t>
                      </a:r>
                    </a:p>
                  </a:txBody>
                  <a:tcPr marL="54864" marR="54864" marT="27432" marB="27432" anchor="ctr">
                    <a:solidFill>
                      <a:srgbClr val="1D4ED8"/>
                    </a:solidFill>
                  </a:tcPr>
                </a:tc>
                <a:tc>
                  <a:txBody>
                    <a:bodyPr/>
                    <a:lstStyle/>
                    <a:p>
                      <a:pPr algn="ctr"/>
                      <a:r>
                        <a:rPr sz="950" b="1" i="0">
                          <a:solidFill>
                            <a:srgbClr val="FFFFFF"/>
                          </a:solidFill>
                          <a:latin typeface="Calibri"/>
                        </a:rPr>
                        <a:t>Archetype %</a:t>
                      </a:r>
                    </a:p>
                  </a:txBody>
                  <a:tcPr marL="54864" marR="54864" marT="27432" marB="27432" anchor="ctr">
                    <a:solidFill>
                      <a:srgbClr val="1D4ED8"/>
                    </a:solidFill>
                  </a:tcPr>
                </a:tc>
                <a:tc>
                  <a:txBody>
                    <a:bodyPr/>
                    <a:lstStyle/>
                    <a:p>
                      <a:pPr algn="ctr"/>
                      <a:r>
                        <a:rPr sz="950" b="1" i="0">
                          <a:solidFill>
                            <a:srgbClr val="FFFFFF"/>
                          </a:solidFill>
                          <a:latin typeface="Calibri"/>
                        </a:rPr>
                        <a:t>Clinical justification</a:t>
                      </a:r>
                    </a:p>
                  </a:txBody>
                  <a:tcPr marL="54864" marR="54864" marT="27432" marB="27432" anchor="ctr">
                    <a:solidFill>
                      <a:srgbClr val="1D4ED8"/>
                    </a:solidFill>
                  </a:tcPr>
                </a:tc>
                <a:extLst>
                  <a:ext uri="{0D108BD9-81ED-4DB2-BD59-A6C34878D82A}">
                    <a16:rowId xmlns:a16="http://schemas.microsoft.com/office/drawing/2014/main" val="10000"/>
                  </a:ext>
                </a:extLst>
              </a:tr>
              <a:tr h="384048">
                <a:tc>
                  <a:txBody>
                    <a:bodyPr/>
                    <a:lstStyle/>
                    <a:p>
                      <a:pPr algn="l"/>
                      <a:r>
                        <a:rPr sz="900" b="1" i="0">
                          <a:solidFill>
                            <a:srgbClr val="1D4ED8"/>
                          </a:solidFill>
                          <a:latin typeface="Calibri"/>
                        </a:rPr>
                        <a:t>Site C</a:t>
                      </a:r>
                    </a:p>
                  </a:txBody>
                  <a:tcPr marL="54864" marR="54864" marT="27432" marB="27432" anchor="ctr">
                    <a:solidFill>
                      <a:srgbClr val="EFF6FF"/>
                    </a:solidFill>
                  </a:tcPr>
                </a:tc>
                <a:tc>
                  <a:txBody>
                    <a:bodyPr/>
                    <a:lstStyle/>
                    <a:p>
                      <a:pPr algn="ctr"/>
                      <a:r>
                        <a:rPr sz="1000" b="1" i="0">
                          <a:solidFill>
                            <a:srgbClr val="1D4ED8"/>
                          </a:solidFill>
                          <a:latin typeface="Calibri"/>
                        </a:rPr>
                        <a:t>9.0%</a:t>
                      </a:r>
                    </a:p>
                  </a:txBody>
                  <a:tcPr marL="54864" marR="54864" marT="27432" marB="27432" anchor="ctr">
                    <a:solidFill>
                      <a:srgbClr val="EFF6FF"/>
                    </a:solidFill>
                  </a:tcPr>
                </a:tc>
                <a:tc>
                  <a:txBody>
                    <a:bodyPr/>
                    <a:lstStyle/>
                    <a:p>
                      <a:pPr algn="l"/>
                      <a:r>
                        <a:rPr sz="850" b="0" i="0">
                          <a:solidFill>
                            <a:srgbClr val="374151"/>
                          </a:solidFill>
                          <a:latin typeface="Calibri"/>
                        </a:rPr>
                        <a:t>Academic anchor — true Approach 2 cohort rate (measured, not a literature pick)</a:t>
                      </a:r>
                    </a:p>
                  </a:txBody>
                  <a:tcPr marL="54864" marR="54864" marT="27432" marB="27432" anchor="ctr">
                    <a:solidFill>
                      <a:srgbClr val="EFF6FF"/>
                    </a:solidFill>
                  </a:tcPr>
                </a:tc>
                <a:extLst>
                  <a:ext uri="{0D108BD9-81ED-4DB2-BD59-A6C34878D82A}">
                    <a16:rowId xmlns:a16="http://schemas.microsoft.com/office/drawing/2014/main" val="10001"/>
                  </a:ext>
                </a:extLst>
              </a:tr>
              <a:tr h="384048">
                <a:tc>
                  <a:txBody>
                    <a:bodyPr/>
                    <a:lstStyle/>
                    <a:p>
                      <a:pPr algn="l"/>
                      <a:r>
                        <a:rPr sz="900" b="0" i="0">
                          <a:solidFill>
                            <a:srgbClr val="1F2937"/>
                          </a:solidFill>
                          <a:latin typeface="Calibri"/>
                        </a:rPr>
                        <a:t>Site A</a:t>
                      </a:r>
                    </a:p>
                  </a:txBody>
                  <a:tcPr marL="54864" marR="54864" marT="27432" marB="27432" anchor="ctr">
                    <a:solidFill>
                      <a:srgbClr val="F5F5F5"/>
                    </a:solidFill>
                  </a:tcPr>
                </a:tc>
                <a:tc>
                  <a:txBody>
                    <a:bodyPr/>
                    <a:lstStyle/>
                    <a:p>
                      <a:pPr algn="ctr"/>
                      <a:r>
                        <a:rPr sz="1000" b="1" i="0">
                          <a:solidFill>
                            <a:srgbClr val="1D4ED8"/>
                          </a:solidFill>
                          <a:latin typeface="Calibri"/>
                        </a:rPr>
                        <a:t>35%</a:t>
                      </a:r>
                    </a:p>
                  </a:txBody>
                  <a:tcPr marL="54864" marR="54864" marT="27432" marB="27432" anchor="ctr">
                    <a:solidFill>
                      <a:srgbClr val="F5F5F5"/>
                    </a:solidFill>
                  </a:tcPr>
                </a:tc>
                <a:tc>
                  <a:txBody>
                    <a:bodyPr/>
                    <a:lstStyle/>
                    <a:p>
                      <a:pPr algn="l"/>
                      <a:r>
                        <a:rPr sz="850" b="0" i="0">
                          <a:solidFill>
                            <a:srgbClr val="374151"/>
                          </a:solidFill>
                          <a:latin typeface="Calibri"/>
                        </a:rPr>
                        <a:t>ICU — sickest patients; lit. range 20–50%, chose 35%</a:t>
                      </a:r>
                    </a:p>
                  </a:txBody>
                  <a:tcPr marL="54864" marR="54864" marT="27432" marB="27432" anchor="ctr">
                    <a:solidFill>
                      <a:srgbClr val="F5F5F5"/>
                    </a:solidFill>
                  </a:tcPr>
                </a:tc>
                <a:extLst>
                  <a:ext uri="{0D108BD9-81ED-4DB2-BD59-A6C34878D82A}">
                    <a16:rowId xmlns:a16="http://schemas.microsoft.com/office/drawing/2014/main" val="10002"/>
                  </a:ext>
                </a:extLst>
              </a:tr>
              <a:tr h="384048">
                <a:tc>
                  <a:txBody>
                    <a:bodyPr/>
                    <a:lstStyle/>
                    <a:p>
                      <a:pPr algn="l"/>
                      <a:r>
                        <a:rPr sz="900" b="0" i="0">
                          <a:solidFill>
                            <a:srgbClr val="1F2937"/>
                          </a:solidFill>
                          <a:latin typeface="Calibri"/>
                        </a:rPr>
                        <a:t>Site B</a:t>
                      </a:r>
                    </a:p>
                  </a:txBody>
                  <a:tcPr marL="54864" marR="54864" marT="27432" marB="27432" anchor="ctr">
                    <a:solidFill>
                      <a:srgbClr val="FFFFFF"/>
                    </a:solidFill>
                  </a:tcPr>
                </a:tc>
                <a:tc>
                  <a:txBody>
                    <a:bodyPr/>
                    <a:lstStyle/>
                    <a:p>
                      <a:pPr algn="ctr"/>
                      <a:r>
                        <a:rPr sz="1000" b="1" i="0">
                          <a:solidFill>
                            <a:srgbClr val="1D4ED8"/>
                          </a:solidFill>
                          <a:latin typeface="Calibri"/>
                        </a:rPr>
                        <a:t>12%</a:t>
                      </a:r>
                    </a:p>
                  </a:txBody>
                  <a:tcPr marL="54864" marR="54864" marT="27432" marB="27432" anchor="ctr">
                    <a:solidFill>
                      <a:srgbClr val="FFFFFF"/>
                    </a:solidFill>
                  </a:tcPr>
                </a:tc>
                <a:tc>
                  <a:txBody>
                    <a:bodyPr/>
                    <a:lstStyle/>
                    <a:p>
                      <a:pPr algn="l"/>
                      <a:r>
                        <a:rPr sz="850" b="0" i="0">
                          <a:solidFill>
                            <a:srgbClr val="374151"/>
                          </a:solidFill>
                          <a:latin typeface="Calibri"/>
                        </a:rPr>
                        <a:t>General Ward; lit. range 12–17%, lower end</a:t>
                      </a:r>
                    </a:p>
                  </a:txBody>
                  <a:tcPr marL="54864" marR="54864" marT="27432" marB="27432" anchor="ctr">
                    <a:solidFill>
                      <a:srgbClr val="FFFFFF"/>
                    </a:solidFill>
                  </a:tcPr>
                </a:tc>
                <a:extLst>
                  <a:ext uri="{0D108BD9-81ED-4DB2-BD59-A6C34878D82A}">
                    <a16:rowId xmlns:a16="http://schemas.microsoft.com/office/drawing/2014/main" val="10003"/>
                  </a:ext>
                </a:extLst>
              </a:tr>
              <a:tr h="384048">
                <a:tc>
                  <a:txBody>
                    <a:bodyPr/>
                    <a:lstStyle/>
                    <a:p>
                      <a:pPr algn="l"/>
                      <a:r>
                        <a:rPr sz="900" b="0" i="0">
                          <a:solidFill>
                            <a:srgbClr val="1F2937"/>
                          </a:solidFill>
                          <a:latin typeface="Calibri"/>
                        </a:rPr>
                        <a:t>Site D</a:t>
                      </a:r>
                    </a:p>
                  </a:txBody>
                  <a:tcPr marL="54864" marR="54864" marT="27432" marB="27432" anchor="ctr">
                    <a:solidFill>
                      <a:srgbClr val="F5F5F5"/>
                    </a:solidFill>
                  </a:tcPr>
                </a:tc>
                <a:tc>
                  <a:txBody>
                    <a:bodyPr/>
                    <a:lstStyle/>
                    <a:p>
                      <a:pPr algn="ctr"/>
                      <a:r>
                        <a:rPr sz="1000" b="1" i="0">
                          <a:solidFill>
                            <a:srgbClr val="1D4ED8"/>
                          </a:solidFill>
                          <a:latin typeface="Calibri"/>
                        </a:rPr>
                        <a:t>7%</a:t>
                      </a:r>
                    </a:p>
                  </a:txBody>
                  <a:tcPr marL="54864" marR="54864" marT="27432" marB="27432" anchor="ctr">
                    <a:solidFill>
                      <a:srgbClr val="F5F5F5"/>
                    </a:solidFill>
                  </a:tcPr>
                </a:tc>
                <a:tc>
                  <a:txBody>
                    <a:bodyPr/>
                    <a:lstStyle/>
                    <a:p>
                      <a:pPr algn="l"/>
                      <a:r>
                        <a:rPr sz="850" b="0" i="0">
                          <a:solidFill>
                            <a:srgbClr val="374151"/>
                          </a:solidFill>
                          <a:latin typeface="Calibri"/>
                        </a:rPr>
                        <a:t>Community; lit. range 5–10%, lower end</a:t>
                      </a:r>
                    </a:p>
                  </a:txBody>
                  <a:tcPr marL="54864" marR="54864" marT="27432" marB="27432" anchor="ctr">
                    <a:solidFill>
                      <a:srgbClr val="F5F5F5"/>
                    </a:solidFill>
                  </a:tcPr>
                </a:tc>
                <a:extLst>
                  <a:ext uri="{0D108BD9-81ED-4DB2-BD59-A6C34878D82A}">
                    <a16:rowId xmlns:a16="http://schemas.microsoft.com/office/drawing/2014/main" val="10004"/>
                  </a:ext>
                </a:extLst>
              </a:tr>
              <a:tr h="384048">
                <a:tc>
                  <a:txBody>
                    <a:bodyPr/>
                    <a:lstStyle/>
                    <a:p>
                      <a:pPr algn="l"/>
                      <a:r>
                        <a:rPr sz="900" b="0" i="0">
                          <a:solidFill>
                            <a:srgbClr val="1F2937"/>
                          </a:solidFill>
                          <a:latin typeface="Calibri"/>
                        </a:rPr>
                        <a:t>Site E</a:t>
                      </a:r>
                    </a:p>
                  </a:txBody>
                  <a:tcPr marL="54864" marR="54864" marT="27432" marB="27432" anchor="ctr">
                    <a:solidFill>
                      <a:srgbClr val="FFFFFF"/>
                    </a:solidFill>
                  </a:tcPr>
                </a:tc>
                <a:tc>
                  <a:txBody>
                    <a:bodyPr/>
                    <a:lstStyle/>
                    <a:p>
                      <a:pPr algn="ctr"/>
                      <a:r>
                        <a:rPr sz="1000" b="1" i="0">
                          <a:solidFill>
                            <a:srgbClr val="1D4ED8"/>
                          </a:solidFill>
                          <a:latin typeface="Calibri"/>
                        </a:rPr>
                        <a:t>4%</a:t>
                      </a:r>
                    </a:p>
                  </a:txBody>
                  <a:tcPr marL="54864" marR="54864" marT="27432" marB="27432" anchor="ctr">
                    <a:solidFill>
                      <a:srgbClr val="FFFFFF"/>
                    </a:solidFill>
                  </a:tcPr>
                </a:tc>
                <a:tc>
                  <a:txBody>
                    <a:bodyPr/>
                    <a:lstStyle/>
                    <a:p>
                      <a:pPr algn="l"/>
                      <a:r>
                        <a:rPr sz="850" b="0" i="0">
                          <a:solidFill>
                            <a:srgbClr val="374151"/>
                          </a:solidFill>
                          <a:latin typeface="Calibri"/>
                        </a:rPr>
                        <a:t>Rural/resource-limited; lit. range 3–7%, lower end</a:t>
                      </a:r>
                    </a:p>
                  </a:txBody>
                  <a:tcPr marL="54864" marR="54864"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343" name="TextBox 342"/>
          <p:cNvSpPr txBox="1"/>
          <p:nvPr/>
        </p:nvSpPr>
        <p:spPr>
          <a:xfrm>
            <a:off x="320040" y="4160520"/>
            <a:ext cx="4160520" cy="548640"/>
          </a:xfrm>
          <a:prstGeom prst="rect">
            <a:avLst/>
          </a:prstGeom>
          <a:noFill/>
        </p:spPr>
        <p:txBody>
          <a:bodyPr wrap="square" lIns="0" tIns="0" rIns="0" bIns="0">
            <a:spAutoFit/>
          </a:bodyPr>
          <a:lstStyle/>
          <a:p>
            <a:pPr algn="l">
              <a:spcBef>
                <a:spcPts val="0"/>
              </a:spcBef>
              <a:buNone/>
            </a:pPr>
            <a:r>
              <a:rPr sz="830" b="1" i="1">
                <a:solidFill>
                  <a:srgbClr val="6B7280"/>
                </a:solidFill>
                <a:latin typeface="Calibri"/>
              </a:rPr>
              <a:t>No more Site F: </a:t>
            </a:r>
            <a:r>
              <a:rPr sz="830" b="0" i="1">
                <a:solidFill>
                  <a:srgbClr val="6B7280"/>
                </a:solidFill>
                <a:latin typeface="Calibri"/>
              </a:rPr>
              <a:t>Approach 2 dropped the semi-supervised site — only 5 sites remain (A, B, C, D, E).</a:t>
            </a:r>
          </a:p>
        </p:txBody>
      </p:sp>
      <p:sp>
        <p:nvSpPr>
          <p:cNvPr id="344" name="TextBox 343"/>
          <p:cNvSpPr txBox="1"/>
          <p:nvPr/>
        </p:nvSpPr>
        <p:spPr>
          <a:xfrm>
            <a:off x="4709160" y="960120"/>
            <a:ext cx="4114800" cy="182880"/>
          </a:xfrm>
          <a:prstGeom prst="rect">
            <a:avLst/>
          </a:prstGeom>
          <a:noFill/>
        </p:spPr>
        <p:txBody>
          <a:bodyPr wrap="square" lIns="0" tIns="0" rIns="0" bIns="0">
            <a:spAutoFit/>
          </a:bodyPr>
          <a:lstStyle/>
          <a:p>
            <a:pPr algn="l">
              <a:spcBef>
                <a:spcPts val="0"/>
              </a:spcBef>
              <a:buNone/>
            </a:pPr>
            <a:r>
              <a:rPr sz="950" b="0" i="0">
                <a:solidFill>
                  <a:srgbClr val="374151"/>
                </a:solidFill>
                <a:latin typeface="Calibri"/>
              </a:rPr>
              <a:t>ALPHA BLENDS ARCHETYPE TOWARD GLOBAL RATE</a:t>
            </a:r>
          </a:p>
        </p:txBody>
      </p:sp>
      <p:cxnSp>
        <p:nvCxnSpPr>
          <p:cNvPr id="345" name="Connector 344"/>
          <p:cNvCxnSpPr/>
          <p:nvPr/>
        </p:nvCxnSpPr>
        <p:spPr>
          <a:xfrm>
            <a:off x="4709160" y="1179576"/>
            <a:ext cx="4114800" cy="0"/>
          </a:xfrm>
          <a:prstGeom prst="line">
            <a:avLst/>
          </a:prstGeom>
          <a:ln w="9525">
            <a:solidFill>
              <a:srgbClr val="AAAAAA"/>
            </a:solidFill>
          </a:ln>
        </p:spPr>
        <p:style>
          <a:lnRef idx="2">
            <a:schemeClr val="accent1"/>
          </a:lnRef>
          <a:fillRef idx="0">
            <a:schemeClr val="accent1"/>
          </a:fillRef>
          <a:effectRef idx="1">
            <a:schemeClr val="accent1"/>
          </a:effectRef>
          <a:fontRef idx="minor">
            <a:schemeClr val="tx1"/>
          </a:fontRef>
        </p:style>
      </p:cxnSp>
      <p:sp>
        <p:nvSpPr>
          <p:cNvPr id="346" name="TextBox 345"/>
          <p:cNvSpPr txBox="1"/>
          <p:nvPr/>
        </p:nvSpPr>
        <p:spPr>
          <a:xfrm>
            <a:off x="4709160" y="1234440"/>
            <a:ext cx="4114800" cy="365760"/>
          </a:xfrm>
          <a:prstGeom prst="rect">
            <a:avLst/>
          </a:prstGeom>
          <a:noFill/>
        </p:spPr>
        <p:txBody>
          <a:bodyPr wrap="square" lIns="0" tIns="0" rIns="0" bIns="0">
            <a:spAutoFit/>
          </a:bodyPr>
          <a:lstStyle/>
          <a:p>
            <a:pPr algn="l">
              <a:spcBef>
                <a:spcPts val="0"/>
              </a:spcBef>
              <a:buNone/>
            </a:pPr>
            <a:r>
              <a:rPr sz="900" b="0" i="0">
                <a:solidFill>
                  <a:srgbClr val="374151"/>
                </a:solidFill>
                <a:latin typeface="Calibri"/>
              </a:rPr>
              <a:t>A deterministic blend weight — not a raw Dirichlet concentration draw:</a:t>
            </a:r>
          </a:p>
        </p:txBody>
      </p:sp>
      <p:sp>
        <p:nvSpPr>
          <p:cNvPr id="347" name="Rectangle 346"/>
          <p:cNvSpPr/>
          <p:nvPr/>
        </p:nvSpPr>
        <p:spPr>
          <a:xfrm>
            <a:off x="4709160" y="1627632"/>
            <a:ext cx="4114800" cy="566928"/>
          </a:xfrm>
          <a:prstGeom prst="rect">
            <a:avLst/>
          </a:prstGeom>
          <a:solidFill>
            <a:srgbClr val="F3F4F6"/>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tIns="54864" rtlCol="0" anchor="ctr"/>
          <a:lstStyle/>
          <a:p>
            <a:pPr algn="l"/>
            <a:r>
              <a:rPr sz="1050" b="1">
                <a:solidFill>
                  <a:srgbClr val="1F2937"/>
                </a:solidFill>
                <a:latin typeface="Courier New"/>
              </a:rPr>
              <a:t>blend = α / (α + 1)</a:t>
            </a:r>
          </a:p>
          <a:p>
            <a:pPr algn="l">
              <a:spcBef>
                <a:spcPts val="300"/>
              </a:spcBef>
            </a:pPr>
            <a:r>
              <a:rPr sz="1050" b="1">
                <a:solidFill>
                  <a:srgbClr val="1F2937"/>
                </a:solidFill>
                <a:latin typeface="Courier New"/>
              </a:rPr>
              <a:t>target_prev = (1−blend)×archetype + blend×global_rate</a:t>
            </a:r>
          </a:p>
        </p:txBody>
      </p:sp>
      <p:sp>
        <p:nvSpPr>
          <p:cNvPr id="348" name="TextBox 347"/>
          <p:cNvSpPr txBox="1"/>
          <p:nvPr/>
        </p:nvSpPr>
        <p:spPr>
          <a:xfrm>
            <a:off x="4709160" y="2286000"/>
            <a:ext cx="4114800" cy="502920"/>
          </a:xfrm>
          <a:prstGeom prst="rect">
            <a:avLst/>
          </a:prstGeom>
          <a:noFill/>
        </p:spPr>
        <p:txBody>
          <a:bodyPr wrap="square" lIns="0" tIns="0" rIns="0" bIns="0">
            <a:spAutoFit/>
          </a:bodyPr>
          <a:lstStyle/>
          <a:p>
            <a:pPr algn="l">
              <a:spcBef>
                <a:spcPts val="0"/>
              </a:spcBef>
              <a:buNone/>
            </a:pPr>
            <a:r>
              <a:rPr sz="830" b="1" i="1">
                <a:solidFill>
                  <a:srgbClr val="6B7280"/>
                </a:solidFill>
                <a:latin typeface="Calibri"/>
              </a:rPr>
              <a:t>Result: </a:t>
            </a:r>
            <a:r>
              <a:rPr sz="830" b="0" i="1">
                <a:solidFill>
                  <a:srgbClr val="6B7280"/>
                </a:solidFill>
                <a:latin typeface="Calibri"/>
              </a:rPr>
              <a:t>α→0 holds each site at its archetype; α→∞ converges all sites to the global ~9.0% rate. Chosen for guaranteed monotonic convergence.</a:t>
            </a:r>
          </a:p>
        </p:txBody>
      </p:sp>
      <p:sp>
        <p:nvSpPr>
          <p:cNvPr id="349" name="TextBox 348"/>
          <p:cNvSpPr txBox="1"/>
          <p:nvPr/>
        </p:nvSpPr>
        <p:spPr>
          <a:xfrm>
            <a:off x="4709160" y="2907792"/>
            <a:ext cx="4114800" cy="182880"/>
          </a:xfrm>
          <a:prstGeom prst="rect">
            <a:avLst/>
          </a:prstGeom>
          <a:noFill/>
        </p:spPr>
        <p:txBody>
          <a:bodyPr wrap="square" lIns="0" tIns="0" rIns="0" bIns="0">
            <a:spAutoFit/>
          </a:bodyPr>
          <a:lstStyle/>
          <a:p>
            <a:pPr algn="l">
              <a:spcBef>
                <a:spcPts val="0"/>
              </a:spcBef>
              <a:buNone/>
            </a:pPr>
            <a:r>
              <a:rPr sz="950" b="0" i="0">
                <a:solidFill>
                  <a:srgbClr val="374151"/>
                </a:solidFill>
                <a:latin typeface="Calibri"/>
              </a:rPr>
              <a:t>ALPHA SWEEP: TARGET AKI PREVALENCE BY SITE</a:t>
            </a:r>
          </a:p>
        </p:txBody>
      </p:sp>
      <p:cxnSp>
        <p:nvCxnSpPr>
          <p:cNvPr id="350" name="Connector 349"/>
          <p:cNvCxnSpPr/>
          <p:nvPr/>
        </p:nvCxnSpPr>
        <p:spPr>
          <a:xfrm>
            <a:off x="4709160" y="3127248"/>
            <a:ext cx="4114800" cy="0"/>
          </a:xfrm>
          <a:prstGeom prst="line">
            <a:avLst/>
          </a:prstGeom>
          <a:ln w="9525">
            <a:solidFill>
              <a:srgbClr val="AAAAAA"/>
            </a:solidFill>
          </a:ln>
        </p:spPr>
        <p:style>
          <a:lnRef idx="2">
            <a:schemeClr val="accent1"/>
          </a:lnRef>
          <a:fillRef idx="0">
            <a:schemeClr val="accent1"/>
          </a:fillRef>
          <a:effectRef idx="1">
            <a:schemeClr val="accent1"/>
          </a:effectRef>
          <a:fontRef idx="minor">
            <a:schemeClr val="tx1"/>
          </a:fontRef>
        </p:style>
      </p:cxnSp>
      <p:graphicFrame>
        <p:nvGraphicFramePr>
          <p:cNvPr id="351" name="Table 350"/>
          <p:cNvGraphicFramePr>
            <a:graphicFrameLocks noGrp="1"/>
          </p:cNvGraphicFramePr>
          <p:nvPr/>
        </p:nvGraphicFramePr>
        <p:xfrm>
          <a:off x="4709160" y="3182112"/>
          <a:ext cx="4114800" cy="1289304"/>
        </p:xfrm>
        <a:graphic>
          <a:graphicData uri="http://schemas.openxmlformats.org/drawingml/2006/table">
            <a:tbl>
              <a:tblPr firstRow="1" bandRow="1">
                <a:tableStyleId>{5C22544A-7EE6-4342-B048-85BDC9FD1C3A}</a:tableStyleId>
              </a:tblPr>
              <a:tblGrid>
                <a:gridCol w="502920">
                  <a:extLst>
                    <a:ext uri="{9D8B030D-6E8A-4147-A177-3AD203B41FA5}">
                      <a16:colId xmlns:a16="http://schemas.microsoft.com/office/drawing/2014/main" val="20000"/>
                    </a:ext>
                  </a:extLst>
                </a:gridCol>
                <a:gridCol w="722376">
                  <a:extLst>
                    <a:ext uri="{9D8B030D-6E8A-4147-A177-3AD203B41FA5}">
                      <a16:colId xmlns:a16="http://schemas.microsoft.com/office/drawing/2014/main" val="20001"/>
                    </a:ext>
                  </a:extLst>
                </a:gridCol>
                <a:gridCol w="722376">
                  <a:extLst>
                    <a:ext uri="{9D8B030D-6E8A-4147-A177-3AD203B41FA5}">
                      <a16:colId xmlns:a16="http://schemas.microsoft.com/office/drawing/2014/main" val="20002"/>
                    </a:ext>
                  </a:extLst>
                </a:gridCol>
                <a:gridCol w="722376">
                  <a:extLst>
                    <a:ext uri="{9D8B030D-6E8A-4147-A177-3AD203B41FA5}">
                      <a16:colId xmlns:a16="http://schemas.microsoft.com/office/drawing/2014/main" val="20003"/>
                    </a:ext>
                  </a:extLst>
                </a:gridCol>
                <a:gridCol w="722376">
                  <a:extLst>
                    <a:ext uri="{9D8B030D-6E8A-4147-A177-3AD203B41FA5}">
                      <a16:colId xmlns:a16="http://schemas.microsoft.com/office/drawing/2014/main" val="20004"/>
                    </a:ext>
                  </a:extLst>
                </a:gridCol>
                <a:gridCol w="722376">
                  <a:extLst>
                    <a:ext uri="{9D8B030D-6E8A-4147-A177-3AD203B41FA5}">
                      <a16:colId xmlns:a16="http://schemas.microsoft.com/office/drawing/2014/main" val="20005"/>
                    </a:ext>
                  </a:extLst>
                </a:gridCol>
              </a:tblGrid>
              <a:tr h="237744">
                <a:tc>
                  <a:txBody>
                    <a:bodyPr/>
                    <a:lstStyle/>
                    <a:p>
                      <a:pPr algn="ctr"/>
                      <a:r>
                        <a:rPr sz="850" b="1" i="0">
                          <a:solidFill>
                            <a:srgbClr val="FFFFFF"/>
                          </a:solidFill>
                          <a:latin typeface="Calibri"/>
                        </a:rPr>
                        <a:t>α</a:t>
                      </a:r>
                    </a:p>
                  </a:txBody>
                  <a:tcPr marL="54864" marR="54864" marT="27432" marB="27432" anchor="ctr">
                    <a:solidFill>
                      <a:srgbClr val="1D4ED8"/>
                    </a:solidFill>
                  </a:tcPr>
                </a:tc>
                <a:tc>
                  <a:txBody>
                    <a:bodyPr/>
                    <a:lstStyle/>
                    <a:p>
                      <a:pPr algn="ctr"/>
                      <a:r>
                        <a:rPr sz="850" b="1" i="0">
                          <a:solidFill>
                            <a:srgbClr val="FFFFFF"/>
                          </a:solidFill>
                          <a:latin typeface="Calibri"/>
                        </a:rPr>
                        <a:t>site_A</a:t>
                      </a:r>
                    </a:p>
                  </a:txBody>
                  <a:tcPr marL="54864" marR="54864" marT="27432" marB="27432" anchor="ctr">
                    <a:solidFill>
                      <a:srgbClr val="1D4ED8"/>
                    </a:solidFill>
                  </a:tcPr>
                </a:tc>
                <a:tc>
                  <a:txBody>
                    <a:bodyPr/>
                    <a:lstStyle/>
                    <a:p>
                      <a:pPr algn="ctr"/>
                      <a:r>
                        <a:rPr sz="850" b="1" i="0">
                          <a:solidFill>
                            <a:srgbClr val="FFFFFF"/>
                          </a:solidFill>
                          <a:latin typeface="Calibri"/>
                        </a:rPr>
                        <a:t>site_B</a:t>
                      </a:r>
                    </a:p>
                  </a:txBody>
                  <a:tcPr marL="54864" marR="54864" marT="27432" marB="27432" anchor="ctr">
                    <a:solidFill>
                      <a:srgbClr val="1D4ED8"/>
                    </a:solidFill>
                  </a:tcPr>
                </a:tc>
                <a:tc>
                  <a:txBody>
                    <a:bodyPr/>
                    <a:lstStyle/>
                    <a:p>
                      <a:pPr algn="ctr"/>
                      <a:r>
                        <a:rPr sz="850" b="1" i="0">
                          <a:solidFill>
                            <a:srgbClr val="FFFFFF"/>
                          </a:solidFill>
                          <a:latin typeface="Calibri"/>
                        </a:rPr>
                        <a:t>site_C</a:t>
                      </a:r>
                    </a:p>
                  </a:txBody>
                  <a:tcPr marL="54864" marR="54864" marT="27432" marB="27432" anchor="ctr">
                    <a:solidFill>
                      <a:srgbClr val="1D4ED8"/>
                    </a:solidFill>
                  </a:tcPr>
                </a:tc>
                <a:tc>
                  <a:txBody>
                    <a:bodyPr/>
                    <a:lstStyle/>
                    <a:p>
                      <a:pPr algn="ctr"/>
                      <a:r>
                        <a:rPr sz="850" b="1" i="0">
                          <a:solidFill>
                            <a:srgbClr val="FFFFFF"/>
                          </a:solidFill>
                          <a:latin typeface="Calibri"/>
                        </a:rPr>
                        <a:t>site_D</a:t>
                      </a:r>
                    </a:p>
                  </a:txBody>
                  <a:tcPr marL="54864" marR="54864" marT="27432" marB="27432" anchor="ctr">
                    <a:solidFill>
                      <a:srgbClr val="1D4ED8"/>
                    </a:solidFill>
                  </a:tcPr>
                </a:tc>
                <a:tc>
                  <a:txBody>
                    <a:bodyPr/>
                    <a:lstStyle/>
                    <a:p>
                      <a:pPr algn="ctr"/>
                      <a:r>
                        <a:rPr sz="850" b="1" i="0">
                          <a:solidFill>
                            <a:srgbClr val="FFFFFF"/>
                          </a:solidFill>
                          <a:latin typeface="Calibri"/>
                        </a:rPr>
                        <a:t>site_E</a:t>
                      </a:r>
                    </a:p>
                  </a:txBody>
                  <a:tcPr marL="54864" marR="54864" marT="27432" marB="27432" anchor="ctr">
                    <a:solidFill>
                      <a:srgbClr val="1D4ED8"/>
                    </a:solidFill>
                  </a:tcPr>
                </a:tc>
                <a:extLst>
                  <a:ext uri="{0D108BD9-81ED-4DB2-BD59-A6C34878D82A}">
                    <a16:rowId xmlns:a16="http://schemas.microsoft.com/office/drawing/2014/main" val="10000"/>
                  </a:ext>
                </a:extLst>
              </a:tr>
              <a:tr h="210312">
                <a:tc>
                  <a:txBody>
                    <a:bodyPr/>
                    <a:lstStyle/>
                    <a:p>
                      <a:pPr algn="ctr"/>
                      <a:r>
                        <a:rPr sz="850" b="1" i="0">
                          <a:solidFill>
                            <a:srgbClr val="1F2937"/>
                          </a:solidFill>
                          <a:latin typeface="Calibri"/>
                        </a:rPr>
                        <a:t>0.1</a:t>
                      </a:r>
                    </a:p>
                  </a:txBody>
                  <a:tcPr marL="54864" marR="54864" marT="27432" marB="27432" anchor="ctr">
                    <a:solidFill>
                      <a:srgbClr val="FFFFFF"/>
                    </a:solidFill>
                  </a:tcPr>
                </a:tc>
                <a:tc>
                  <a:txBody>
                    <a:bodyPr/>
                    <a:lstStyle/>
                    <a:p>
                      <a:pPr algn="ctr"/>
                      <a:r>
                        <a:rPr sz="850" b="0" i="0">
                          <a:solidFill>
                            <a:srgbClr val="374151"/>
                          </a:solidFill>
                          <a:latin typeface="Calibri"/>
                        </a:rPr>
                        <a:t>32.6%</a:t>
                      </a:r>
                    </a:p>
                  </a:txBody>
                  <a:tcPr marL="54864" marR="54864" marT="27432" marB="27432" anchor="ctr">
                    <a:solidFill>
                      <a:srgbClr val="FFFFFF"/>
                    </a:solidFill>
                  </a:tcPr>
                </a:tc>
                <a:tc>
                  <a:txBody>
                    <a:bodyPr/>
                    <a:lstStyle/>
                    <a:p>
                      <a:pPr algn="ctr"/>
                      <a:r>
                        <a:rPr sz="850" b="0" i="0">
                          <a:solidFill>
                            <a:srgbClr val="374151"/>
                          </a:solidFill>
                          <a:latin typeface="Calibri"/>
                        </a:rPr>
                        <a:t>11.7%</a:t>
                      </a:r>
                    </a:p>
                  </a:txBody>
                  <a:tcPr marL="54864" marR="54864" marT="27432" marB="27432" anchor="ctr">
                    <a:solidFill>
                      <a:srgbClr val="FFFFFF"/>
                    </a:solidFill>
                  </a:tcPr>
                </a:tc>
                <a:tc>
                  <a:txBody>
                    <a:bodyPr/>
                    <a:lstStyle/>
                    <a:p>
                      <a:pPr algn="ctr"/>
                      <a:r>
                        <a:rPr sz="850" b="1" i="0">
                          <a:solidFill>
                            <a:srgbClr val="1D4ED8"/>
                          </a:solidFill>
                          <a:latin typeface="Calibri"/>
                        </a:rPr>
                        <a:t>9.0%</a:t>
                      </a:r>
                    </a:p>
                  </a:txBody>
                  <a:tcPr marL="54864" marR="54864" marT="27432" marB="27432" anchor="ctr">
                    <a:solidFill>
                      <a:srgbClr val="FFFFFF"/>
                    </a:solidFill>
                  </a:tcPr>
                </a:tc>
                <a:tc>
                  <a:txBody>
                    <a:bodyPr/>
                    <a:lstStyle/>
                    <a:p>
                      <a:pPr algn="ctr"/>
                      <a:r>
                        <a:rPr sz="850" b="0" i="0">
                          <a:solidFill>
                            <a:srgbClr val="374151"/>
                          </a:solidFill>
                          <a:latin typeface="Calibri"/>
                        </a:rPr>
                        <a:t>7.2%</a:t>
                      </a:r>
                    </a:p>
                  </a:txBody>
                  <a:tcPr marL="54864" marR="54864" marT="27432" marB="27432" anchor="ctr">
                    <a:solidFill>
                      <a:srgbClr val="FFFFFF"/>
                    </a:solidFill>
                  </a:tcPr>
                </a:tc>
                <a:tc>
                  <a:txBody>
                    <a:bodyPr/>
                    <a:lstStyle/>
                    <a:p>
                      <a:pPr algn="ctr"/>
                      <a:r>
                        <a:rPr sz="850" b="0" i="0">
                          <a:solidFill>
                            <a:srgbClr val="374151"/>
                          </a:solidFill>
                          <a:latin typeface="Calibri"/>
                        </a:rPr>
                        <a:t>4.5%</a:t>
                      </a:r>
                    </a:p>
                  </a:txBody>
                  <a:tcPr marL="54864" marR="54864" marT="27432" marB="27432" anchor="ctr">
                    <a:solidFill>
                      <a:srgbClr val="FFFFFF"/>
                    </a:solidFill>
                  </a:tcPr>
                </a:tc>
                <a:extLst>
                  <a:ext uri="{0D108BD9-81ED-4DB2-BD59-A6C34878D82A}">
                    <a16:rowId xmlns:a16="http://schemas.microsoft.com/office/drawing/2014/main" val="10001"/>
                  </a:ext>
                </a:extLst>
              </a:tr>
              <a:tr h="210312">
                <a:tc>
                  <a:txBody>
                    <a:bodyPr/>
                    <a:lstStyle/>
                    <a:p>
                      <a:pPr algn="ctr"/>
                      <a:r>
                        <a:rPr sz="850" b="1" i="0">
                          <a:solidFill>
                            <a:srgbClr val="1F2937"/>
                          </a:solidFill>
                          <a:latin typeface="Calibri"/>
                        </a:rPr>
                        <a:t>0.3</a:t>
                      </a:r>
                    </a:p>
                  </a:txBody>
                  <a:tcPr marL="54864" marR="54864" marT="27432" marB="27432" anchor="ctr">
                    <a:solidFill>
                      <a:srgbClr val="F5F5F5"/>
                    </a:solidFill>
                  </a:tcPr>
                </a:tc>
                <a:tc>
                  <a:txBody>
                    <a:bodyPr/>
                    <a:lstStyle/>
                    <a:p>
                      <a:pPr algn="ctr"/>
                      <a:r>
                        <a:rPr sz="850" b="0" i="0">
                          <a:solidFill>
                            <a:srgbClr val="374151"/>
                          </a:solidFill>
                          <a:latin typeface="Calibri"/>
                        </a:rPr>
                        <a:t>29.0%</a:t>
                      </a:r>
                    </a:p>
                  </a:txBody>
                  <a:tcPr marL="54864" marR="54864" marT="27432" marB="27432" anchor="ctr">
                    <a:solidFill>
                      <a:srgbClr val="F5F5F5"/>
                    </a:solidFill>
                  </a:tcPr>
                </a:tc>
                <a:tc>
                  <a:txBody>
                    <a:bodyPr/>
                    <a:lstStyle/>
                    <a:p>
                      <a:pPr algn="ctr"/>
                      <a:r>
                        <a:rPr sz="850" b="0" i="0">
                          <a:solidFill>
                            <a:srgbClr val="374151"/>
                          </a:solidFill>
                          <a:latin typeface="Calibri"/>
                        </a:rPr>
                        <a:t>11.3%</a:t>
                      </a:r>
                    </a:p>
                  </a:txBody>
                  <a:tcPr marL="54864" marR="54864" marT="27432" marB="27432" anchor="ctr">
                    <a:solidFill>
                      <a:srgbClr val="F5F5F5"/>
                    </a:solidFill>
                  </a:tcPr>
                </a:tc>
                <a:tc>
                  <a:txBody>
                    <a:bodyPr/>
                    <a:lstStyle/>
                    <a:p>
                      <a:pPr algn="ctr"/>
                      <a:r>
                        <a:rPr sz="850" b="1" i="0">
                          <a:solidFill>
                            <a:srgbClr val="1D4ED8"/>
                          </a:solidFill>
                          <a:latin typeface="Calibri"/>
                        </a:rPr>
                        <a:t>9.0%</a:t>
                      </a:r>
                    </a:p>
                  </a:txBody>
                  <a:tcPr marL="54864" marR="54864" marT="27432" marB="27432" anchor="ctr">
                    <a:solidFill>
                      <a:srgbClr val="F5F5F5"/>
                    </a:solidFill>
                  </a:tcPr>
                </a:tc>
                <a:tc>
                  <a:txBody>
                    <a:bodyPr/>
                    <a:lstStyle/>
                    <a:p>
                      <a:pPr algn="ctr"/>
                      <a:r>
                        <a:rPr sz="850" b="0" i="0">
                          <a:solidFill>
                            <a:srgbClr val="374151"/>
                          </a:solidFill>
                          <a:latin typeface="Calibri"/>
                        </a:rPr>
                        <a:t>7.5%</a:t>
                      </a:r>
                    </a:p>
                  </a:txBody>
                  <a:tcPr marL="54864" marR="54864" marT="27432" marB="27432" anchor="ctr">
                    <a:solidFill>
                      <a:srgbClr val="F5F5F5"/>
                    </a:solidFill>
                  </a:tcPr>
                </a:tc>
                <a:tc>
                  <a:txBody>
                    <a:bodyPr/>
                    <a:lstStyle/>
                    <a:p>
                      <a:pPr algn="ctr"/>
                      <a:r>
                        <a:rPr sz="850" b="0" i="0">
                          <a:solidFill>
                            <a:srgbClr val="374151"/>
                          </a:solidFill>
                          <a:latin typeface="Calibri"/>
                        </a:rPr>
                        <a:t>5.2%</a:t>
                      </a:r>
                    </a:p>
                  </a:txBody>
                  <a:tcPr marL="54864" marR="54864" marT="27432" marB="27432" anchor="ctr">
                    <a:solidFill>
                      <a:srgbClr val="F5F5F5"/>
                    </a:solidFill>
                  </a:tcPr>
                </a:tc>
                <a:extLst>
                  <a:ext uri="{0D108BD9-81ED-4DB2-BD59-A6C34878D82A}">
                    <a16:rowId xmlns:a16="http://schemas.microsoft.com/office/drawing/2014/main" val="10002"/>
                  </a:ext>
                </a:extLst>
              </a:tr>
              <a:tr h="210312">
                <a:tc>
                  <a:txBody>
                    <a:bodyPr/>
                    <a:lstStyle/>
                    <a:p>
                      <a:pPr algn="ctr"/>
                      <a:r>
                        <a:rPr sz="850" b="1" i="0">
                          <a:solidFill>
                            <a:srgbClr val="1F2937"/>
                          </a:solidFill>
                          <a:latin typeface="Calibri"/>
                        </a:rPr>
                        <a:t>0.5</a:t>
                      </a:r>
                    </a:p>
                  </a:txBody>
                  <a:tcPr marL="54864" marR="54864" marT="27432" marB="27432" anchor="ctr">
                    <a:solidFill>
                      <a:srgbClr val="FFFFFF"/>
                    </a:solidFill>
                  </a:tcPr>
                </a:tc>
                <a:tc>
                  <a:txBody>
                    <a:bodyPr/>
                    <a:lstStyle/>
                    <a:p>
                      <a:pPr algn="ctr"/>
                      <a:r>
                        <a:rPr sz="850" b="0" i="0">
                          <a:solidFill>
                            <a:srgbClr val="374151"/>
                          </a:solidFill>
                          <a:latin typeface="Calibri"/>
                        </a:rPr>
                        <a:t>26.3%</a:t>
                      </a:r>
                    </a:p>
                  </a:txBody>
                  <a:tcPr marL="54864" marR="54864" marT="27432" marB="27432" anchor="ctr">
                    <a:solidFill>
                      <a:srgbClr val="FFFFFF"/>
                    </a:solidFill>
                  </a:tcPr>
                </a:tc>
                <a:tc>
                  <a:txBody>
                    <a:bodyPr/>
                    <a:lstStyle/>
                    <a:p>
                      <a:pPr algn="ctr"/>
                      <a:r>
                        <a:rPr sz="850" b="0" i="0">
                          <a:solidFill>
                            <a:srgbClr val="374151"/>
                          </a:solidFill>
                          <a:latin typeface="Calibri"/>
                        </a:rPr>
                        <a:t>11.0%</a:t>
                      </a:r>
                    </a:p>
                  </a:txBody>
                  <a:tcPr marL="54864" marR="54864" marT="27432" marB="27432" anchor="ctr">
                    <a:solidFill>
                      <a:srgbClr val="FFFFFF"/>
                    </a:solidFill>
                  </a:tcPr>
                </a:tc>
                <a:tc>
                  <a:txBody>
                    <a:bodyPr/>
                    <a:lstStyle/>
                    <a:p>
                      <a:pPr algn="ctr"/>
                      <a:r>
                        <a:rPr sz="850" b="1" i="0">
                          <a:solidFill>
                            <a:srgbClr val="1D4ED8"/>
                          </a:solidFill>
                          <a:latin typeface="Calibri"/>
                        </a:rPr>
                        <a:t>9.0%</a:t>
                      </a:r>
                    </a:p>
                  </a:txBody>
                  <a:tcPr marL="54864" marR="54864" marT="27432" marB="27432" anchor="ctr">
                    <a:solidFill>
                      <a:srgbClr val="FFFFFF"/>
                    </a:solidFill>
                  </a:tcPr>
                </a:tc>
                <a:tc>
                  <a:txBody>
                    <a:bodyPr/>
                    <a:lstStyle/>
                    <a:p>
                      <a:pPr algn="ctr"/>
                      <a:r>
                        <a:rPr sz="850" b="0" i="0">
                          <a:solidFill>
                            <a:srgbClr val="374151"/>
                          </a:solidFill>
                          <a:latin typeface="Calibri"/>
                        </a:rPr>
                        <a:t>7.7%</a:t>
                      </a:r>
                    </a:p>
                  </a:txBody>
                  <a:tcPr marL="54864" marR="54864" marT="27432" marB="27432" anchor="ctr">
                    <a:solidFill>
                      <a:srgbClr val="FFFFFF"/>
                    </a:solidFill>
                  </a:tcPr>
                </a:tc>
                <a:tc>
                  <a:txBody>
                    <a:bodyPr/>
                    <a:lstStyle/>
                    <a:p>
                      <a:pPr algn="ctr"/>
                      <a:r>
                        <a:rPr sz="850" b="0" i="0">
                          <a:solidFill>
                            <a:srgbClr val="374151"/>
                          </a:solidFill>
                          <a:latin typeface="Calibri"/>
                        </a:rPr>
                        <a:t>5.7%</a:t>
                      </a:r>
                    </a:p>
                  </a:txBody>
                  <a:tcPr marL="54864" marR="54864" marT="27432" marB="27432" anchor="ctr">
                    <a:solidFill>
                      <a:srgbClr val="FFFFFF"/>
                    </a:solidFill>
                  </a:tcPr>
                </a:tc>
                <a:extLst>
                  <a:ext uri="{0D108BD9-81ED-4DB2-BD59-A6C34878D82A}">
                    <a16:rowId xmlns:a16="http://schemas.microsoft.com/office/drawing/2014/main" val="10003"/>
                  </a:ext>
                </a:extLst>
              </a:tr>
              <a:tr h="210312">
                <a:tc>
                  <a:txBody>
                    <a:bodyPr/>
                    <a:lstStyle/>
                    <a:p>
                      <a:pPr algn="ctr"/>
                      <a:r>
                        <a:rPr sz="850" b="1" i="0">
                          <a:solidFill>
                            <a:srgbClr val="1F2937"/>
                          </a:solidFill>
                          <a:latin typeface="Calibri"/>
                        </a:rPr>
                        <a:t>1.0</a:t>
                      </a:r>
                    </a:p>
                  </a:txBody>
                  <a:tcPr marL="54864" marR="54864" marT="27432" marB="27432" anchor="ctr">
                    <a:solidFill>
                      <a:srgbClr val="F5F5F5"/>
                    </a:solidFill>
                  </a:tcPr>
                </a:tc>
                <a:tc>
                  <a:txBody>
                    <a:bodyPr/>
                    <a:lstStyle/>
                    <a:p>
                      <a:pPr algn="ctr"/>
                      <a:r>
                        <a:rPr sz="850" b="0" i="0">
                          <a:solidFill>
                            <a:srgbClr val="374151"/>
                          </a:solidFill>
                          <a:latin typeface="Calibri"/>
                        </a:rPr>
                        <a:t>22.0%</a:t>
                      </a:r>
                    </a:p>
                  </a:txBody>
                  <a:tcPr marL="54864" marR="54864" marT="27432" marB="27432" anchor="ctr">
                    <a:solidFill>
                      <a:srgbClr val="F5F5F5"/>
                    </a:solidFill>
                  </a:tcPr>
                </a:tc>
                <a:tc>
                  <a:txBody>
                    <a:bodyPr/>
                    <a:lstStyle/>
                    <a:p>
                      <a:pPr algn="ctr"/>
                      <a:r>
                        <a:rPr sz="850" b="0" i="0">
                          <a:solidFill>
                            <a:srgbClr val="374151"/>
                          </a:solidFill>
                          <a:latin typeface="Calibri"/>
                        </a:rPr>
                        <a:t>10.5%</a:t>
                      </a:r>
                    </a:p>
                  </a:txBody>
                  <a:tcPr marL="54864" marR="54864" marT="27432" marB="27432" anchor="ctr">
                    <a:solidFill>
                      <a:srgbClr val="F5F5F5"/>
                    </a:solidFill>
                  </a:tcPr>
                </a:tc>
                <a:tc>
                  <a:txBody>
                    <a:bodyPr/>
                    <a:lstStyle/>
                    <a:p>
                      <a:pPr algn="ctr"/>
                      <a:r>
                        <a:rPr sz="850" b="1" i="0">
                          <a:solidFill>
                            <a:srgbClr val="1D4ED8"/>
                          </a:solidFill>
                          <a:latin typeface="Calibri"/>
                        </a:rPr>
                        <a:t>9.0%</a:t>
                      </a:r>
                    </a:p>
                  </a:txBody>
                  <a:tcPr marL="54864" marR="54864" marT="27432" marB="27432" anchor="ctr">
                    <a:solidFill>
                      <a:srgbClr val="F5F5F5"/>
                    </a:solidFill>
                  </a:tcPr>
                </a:tc>
                <a:tc>
                  <a:txBody>
                    <a:bodyPr/>
                    <a:lstStyle/>
                    <a:p>
                      <a:pPr algn="ctr"/>
                      <a:r>
                        <a:rPr sz="850" b="0" i="0">
                          <a:solidFill>
                            <a:srgbClr val="374151"/>
                          </a:solidFill>
                          <a:latin typeface="Calibri"/>
                        </a:rPr>
                        <a:t>8.0%</a:t>
                      </a:r>
                    </a:p>
                  </a:txBody>
                  <a:tcPr marL="54864" marR="54864" marT="27432" marB="27432" anchor="ctr">
                    <a:solidFill>
                      <a:srgbClr val="F5F5F5"/>
                    </a:solidFill>
                  </a:tcPr>
                </a:tc>
                <a:tc>
                  <a:txBody>
                    <a:bodyPr/>
                    <a:lstStyle/>
                    <a:p>
                      <a:pPr algn="ctr"/>
                      <a:r>
                        <a:rPr sz="850" b="0" i="0">
                          <a:solidFill>
                            <a:srgbClr val="374151"/>
                          </a:solidFill>
                          <a:latin typeface="Calibri"/>
                        </a:rPr>
                        <a:t>6.5%</a:t>
                      </a:r>
                    </a:p>
                  </a:txBody>
                  <a:tcPr marL="54864" marR="54864" marT="27432" marB="27432" anchor="ctr">
                    <a:solidFill>
                      <a:srgbClr val="F5F5F5"/>
                    </a:solidFill>
                  </a:tcPr>
                </a:tc>
                <a:extLst>
                  <a:ext uri="{0D108BD9-81ED-4DB2-BD59-A6C34878D82A}">
                    <a16:rowId xmlns:a16="http://schemas.microsoft.com/office/drawing/2014/main" val="10004"/>
                  </a:ext>
                </a:extLst>
              </a:tr>
              <a:tr h="210312">
                <a:tc>
                  <a:txBody>
                    <a:bodyPr/>
                    <a:lstStyle/>
                    <a:p>
                      <a:pPr algn="ctr"/>
                      <a:r>
                        <a:rPr sz="850" b="1" i="0">
                          <a:solidFill>
                            <a:srgbClr val="1F2937"/>
                          </a:solidFill>
                          <a:latin typeface="Calibri"/>
                        </a:rPr>
                        <a:t>10.0</a:t>
                      </a:r>
                    </a:p>
                  </a:txBody>
                  <a:tcPr marL="54864" marR="54864" marT="27432" marB="27432" anchor="ctr">
                    <a:solidFill>
                      <a:srgbClr val="FFFFFF"/>
                    </a:solidFill>
                  </a:tcPr>
                </a:tc>
                <a:tc>
                  <a:txBody>
                    <a:bodyPr/>
                    <a:lstStyle/>
                    <a:p>
                      <a:pPr algn="ctr"/>
                      <a:r>
                        <a:rPr sz="850" b="0" i="0">
                          <a:solidFill>
                            <a:srgbClr val="374151"/>
                          </a:solidFill>
                          <a:latin typeface="Calibri"/>
                        </a:rPr>
                        <a:t>11.4%</a:t>
                      </a:r>
                    </a:p>
                  </a:txBody>
                  <a:tcPr marL="54864" marR="54864" marT="27432" marB="27432" anchor="ctr">
                    <a:solidFill>
                      <a:srgbClr val="FFFFFF"/>
                    </a:solidFill>
                  </a:tcPr>
                </a:tc>
                <a:tc>
                  <a:txBody>
                    <a:bodyPr/>
                    <a:lstStyle/>
                    <a:p>
                      <a:pPr algn="ctr"/>
                      <a:r>
                        <a:rPr sz="850" b="0" i="0">
                          <a:solidFill>
                            <a:srgbClr val="374151"/>
                          </a:solidFill>
                          <a:latin typeface="Calibri"/>
                        </a:rPr>
                        <a:t>9.3%</a:t>
                      </a:r>
                    </a:p>
                  </a:txBody>
                  <a:tcPr marL="54864" marR="54864" marT="27432" marB="27432" anchor="ctr">
                    <a:solidFill>
                      <a:srgbClr val="FFFFFF"/>
                    </a:solidFill>
                  </a:tcPr>
                </a:tc>
                <a:tc>
                  <a:txBody>
                    <a:bodyPr/>
                    <a:lstStyle/>
                    <a:p>
                      <a:pPr algn="ctr"/>
                      <a:r>
                        <a:rPr sz="850" b="1" i="0">
                          <a:solidFill>
                            <a:srgbClr val="1D4ED8"/>
                          </a:solidFill>
                          <a:latin typeface="Calibri"/>
                        </a:rPr>
                        <a:t>9.0%</a:t>
                      </a:r>
                    </a:p>
                  </a:txBody>
                  <a:tcPr marL="54864" marR="54864" marT="27432" marB="27432" anchor="ctr">
                    <a:solidFill>
                      <a:srgbClr val="FFFFFF"/>
                    </a:solidFill>
                  </a:tcPr>
                </a:tc>
                <a:tc>
                  <a:txBody>
                    <a:bodyPr/>
                    <a:lstStyle/>
                    <a:p>
                      <a:pPr algn="ctr"/>
                      <a:r>
                        <a:rPr sz="850" b="0" i="0">
                          <a:solidFill>
                            <a:srgbClr val="374151"/>
                          </a:solidFill>
                          <a:latin typeface="Calibri"/>
                        </a:rPr>
                        <a:t>8.8%</a:t>
                      </a:r>
                    </a:p>
                  </a:txBody>
                  <a:tcPr marL="54864" marR="54864" marT="27432" marB="27432" anchor="ctr">
                    <a:solidFill>
                      <a:srgbClr val="FFFFFF"/>
                    </a:solidFill>
                  </a:tcPr>
                </a:tc>
                <a:tc>
                  <a:txBody>
                    <a:bodyPr/>
                    <a:lstStyle/>
                    <a:p>
                      <a:pPr algn="ctr"/>
                      <a:r>
                        <a:rPr sz="850" b="0" i="0">
                          <a:solidFill>
                            <a:srgbClr val="374151"/>
                          </a:solidFill>
                          <a:latin typeface="Calibri"/>
                        </a:rPr>
                        <a:t>8.5%</a:t>
                      </a:r>
                    </a:p>
                  </a:txBody>
                  <a:tcPr marL="54864" marR="54864"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pic>
        <p:nvPicPr>
          <p:cNvPr id="3" name="Picture 2" descr="chart2_alpha_effect.png"/>
          <p:cNvPicPr>
            <a:picLocks noChangeAspect="1"/>
          </p:cNvPicPr>
          <p:nvPr/>
        </p:nvPicPr>
        <p:blipFill>
          <a:blip r:embed="rId3"/>
          <a:stretch>
            <a:fillRect/>
          </a:stretch>
        </p:blipFill>
        <p:spPr>
          <a:xfrm>
            <a:off x="1924216" y="2836166"/>
            <a:ext cx="6205993" cy="2219113"/>
          </a:xfrm>
          <a:prstGeom prst="rect">
            <a:avLst/>
          </a:prstGeom>
        </p:spPr>
      </p:pic>
      <p:pic>
        <p:nvPicPr>
          <p:cNvPr id="4" name="Picture 3" descr="class_distribution_by_alpha.png"/>
          <p:cNvPicPr>
            <a:picLocks noChangeAspect="1"/>
          </p:cNvPicPr>
          <p:nvPr/>
        </p:nvPicPr>
        <p:blipFill>
          <a:blip r:embed="rId4"/>
          <a:stretch>
            <a:fillRect/>
          </a:stretch>
        </p:blipFill>
        <p:spPr>
          <a:xfrm>
            <a:off x="205740" y="777240"/>
            <a:ext cx="8732520" cy="17727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8503920" cy="502920"/>
          </a:xfrm>
          <a:prstGeom prst="rect">
            <a:avLst/>
          </a:prstGeom>
          <a:noFill/>
        </p:spPr>
        <p:txBody>
          <a:bodyPr wrap="square" lIns="0" tIns="0" rIns="0" bIns="0">
            <a:spAutoFit/>
          </a:bodyPr>
          <a:lstStyle/>
          <a:p>
            <a:r>
              <a:rPr sz="2100" b="1">
                <a:solidFill>
                  <a:srgbClr val="1F2937"/>
                </a:solidFill>
                <a:latin typeface="Calibri"/>
              </a:rPr>
              <a:t>FL-Gain Index: Formula and Predicted Site Roles</a:t>
            </a:r>
          </a:p>
        </p:txBody>
      </p:sp>
      <p:sp>
        <p:nvSpPr>
          <p:cNvPr id="3" name="Rectangle 2"/>
          <p:cNvSpPr/>
          <p:nvPr/>
        </p:nvSpPr>
        <p:spPr>
          <a:xfrm>
            <a:off x="0" y="763524"/>
            <a:ext cx="9144000" cy="3657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868680"/>
            <a:ext cx="8503920" cy="201168"/>
          </a:xfrm>
          <a:prstGeom prst="rect">
            <a:avLst/>
          </a:prstGeom>
          <a:noFill/>
        </p:spPr>
        <p:txBody>
          <a:bodyPr wrap="square" lIns="0" tIns="0" rIns="0" bIns="0">
            <a:spAutoFit/>
          </a:bodyPr>
          <a:lstStyle/>
          <a:p>
            <a:r>
              <a:rPr sz="1000" i="1">
                <a:solidFill>
                  <a:srgbClr val="6B7280"/>
                </a:solidFill>
                <a:latin typeface="Calibri"/>
              </a:rPr>
              <a:t>A pre-training composite score estimating which sites stand to benefit most from federation</a:t>
            </a:r>
          </a:p>
        </p:txBody>
      </p:sp>
      <p:sp>
        <p:nvSpPr>
          <p:cNvPr id="5" name="TextBox 4"/>
          <p:cNvSpPr txBox="1"/>
          <p:nvPr/>
        </p:nvSpPr>
        <p:spPr>
          <a:xfrm>
            <a:off x="320040" y="1005840"/>
            <a:ext cx="4069080" cy="182880"/>
          </a:xfrm>
          <a:prstGeom prst="rect">
            <a:avLst/>
          </a:prstGeom>
          <a:noFill/>
        </p:spPr>
        <p:txBody>
          <a:bodyPr wrap="square" lIns="0" tIns="0" rIns="0" bIns="0">
            <a:spAutoFit/>
          </a:bodyPr>
          <a:lstStyle/>
          <a:p>
            <a:pPr algn="l">
              <a:spcBef>
                <a:spcPts val="0"/>
              </a:spcBef>
              <a:buNone/>
            </a:pPr>
            <a:r>
              <a:rPr sz="950" b="1" i="0">
                <a:solidFill>
                  <a:srgbClr val="374151"/>
                </a:solidFill>
                <a:latin typeface="Calibri"/>
              </a:rPr>
              <a:t>THREE WEIGHTED COMPONENTS (EACH IN [0,1])</a:t>
            </a:r>
          </a:p>
        </p:txBody>
      </p:sp>
      <p:cxnSp>
        <p:nvCxnSpPr>
          <p:cNvPr id="6" name="Connector 5"/>
          <p:cNvCxnSpPr/>
          <p:nvPr/>
        </p:nvCxnSpPr>
        <p:spPr>
          <a:xfrm>
            <a:off x="320040" y="1216152"/>
            <a:ext cx="4069080" cy="0"/>
          </a:xfrm>
          <a:prstGeom prst="line">
            <a:avLst/>
          </a:prstGeom>
          <a:ln w="9525">
            <a:solidFill>
              <a:srgbClr val="AAAAA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20040" y="1280160"/>
            <a:ext cx="4069080" cy="1737360"/>
          </a:xfrm>
          <a:prstGeom prst="rect">
            <a:avLst/>
          </a:prstGeom>
          <a:noFill/>
        </p:spPr>
        <p:txBody>
          <a:bodyPr wrap="square" lIns="0" tIns="0" rIns="0" bIns="0">
            <a:spAutoFit/>
          </a:bodyPr>
          <a:lstStyle/>
          <a:p>
            <a:pPr algn="l">
              <a:spcBef>
                <a:spcPts val="0"/>
              </a:spcBef>
              <a:buNone/>
            </a:pPr>
            <a:r>
              <a:rPr sz="869" b="1" i="0">
                <a:solidFill>
                  <a:srgbClr val="374151"/>
                </a:solidFill>
                <a:latin typeface="Calibri"/>
              </a:rPr>
              <a:t>positive_case_scarcity  (w=0.30)  </a:t>
            </a:r>
          </a:p>
          <a:p>
            <a:pPr algn="l">
              <a:spcBef>
                <a:spcPts val="200"/>
              </a:spcBef>
              <a:buNone/>
            </a:pPr>
            <a:r>
              <a:rPr sz="830" b="0" i="0">
                <a:solidFill>
                  <a:srgbClr val="6B7280"/>
                </a:solidFill>
                <a:latin typeface="Calibri"/>
              </a:rPr>
              <a:t>1 − (site's share of total AKI-positive cases). Low case-share → high scarcity → benefitter. Stays meaningful even when N is equal across sites.</a:t>
            </a:r>
          </a:p>
          <a:p>
            <a:pPr algn="l">
              <a:spcBef>
                <a:spcPts val="800"/>
              </a:spcBef>
              <a:buNone/>
            </a:pPr>
            <a:r>
              <a:rPr sz="869" b="1" i="0">
                <a:solidFill>
                  <a:srgbClr val="374151"/>
                </a:solidFill>
                <a:latin typeface="Calibri"/>
              </a:rPr>
              <a:t>class_imbalance  (w=0.30)  </a:t>
            </a:r>
          </a:p>
          <a:p>
            <a:pPr algn="l">
              <a:spcBef>
                <a:spcPts val="200"/>
              </a:spcBef>
              <a:buNone/>
            </a:pPr>
            <a:r>
              <a:rPr sz="830" b="0" i="0">
                <a:solidFill>
                  <a:srgbClr val="6B7280"/>
                </a:solidFill>
                <a:latin typeface="Calibri"/>
              </a:rPr>
              <a:t>1 − minority_class_fraction. More skewed AKI prevalence → higher imbalance → harder local learning.</a:t>
            </a:r>
          </a:p>
          <a:p>
            <a:pPr algn="l">
              <a:spcBef>
                <a:spcPts val="800"/>
              </a:spcBef>
              <a:buNone/>
            </a:pPr>
            <a:r>
              <a:rPr sz="869" b="1" i="0">
                <a:solidFill>
                  <a:srgbClr val="374151"/>
                </a:solidFill>
                <a:latin typeface="Calibri"/>
              </a:rPr>
              <a:t>feature_sparsity  (w=0.40, strongest driver)  </a:t>
            </a:r>
          </a:p>
          <a:p>
            <a:pPr algn="l">
              <a:spcBef>
                <a:spcPts val="200"/>
              </a:spcBef>
              <a:buNone/>
            </a:pPr>
            <a:r>
              <a:rPr sz="830" b="0" i="0">
                <a:solidFill>
                  <a:srgbClr val="6B7280"/>
                </a:solidFill>
                <a:latin typeface="Calibri"/>
              </a:rPr>
              <a:t>1 − (site_features / total_features). Fewer available columns → higher sparsity → more to gain from a richer global representation.</a:t>
            </a:r>
          </a:p>
        </p:txBody>
      </p:sp>
      <p:sp>
        <p:nvSpPr>
          <p:cNvPr id="8" name="Rectangle 7"/>
          <p:cNvSpPr/>
          <p:nvPr/>
        </p:nvSpPr>
        <p:spPr>
          <a:xfrm>
            <a:off x="320040" y="3127248"/>
            <a:ext cx="4069080" cy="502920"/>
          </a:xfrm>
          <a:prstGeom prst="rect">
            <a:avLst/>
          </a:prstGeom>
          <a:solidFill>
            <a:srgbClr val="F3F4F6"/>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tIns="91440" rtlCol="0" anchor="ctr"/>
          <a:lstStyle/>
          <a:p>
            <a:pPr algn="l"/>
            <a:r>
              <a:rPr sz="1000" b="1">
                <a:solidFill>
                  <a:srgbClr val="1F2937"/>
                </a:solidFill>
                <a:latin typeface="Courier New"/>
              </a:rPr>
              <a:t>fl_gain = 0.30×scarcity + 0.30×imbalance + 0.40×sparsity</a:t>
            </a:r>
          </a:p>
        </p:txBody>
      </p:sp>
      <p:sp>
        <p:nvSpPr>
          <p:cNvPr id="9" name="TextBox 8"/>
          <p:cNvSpPr txBox="1"/>
          <p:nvPr/>
        </p:nvSpPr>
        <p:spPr>
          <a:xfrm>
            <a:off x="320040" y="3822191"/>
            <a:ext cx="4069080" cy="182880"/>
          </a:xfrm>
          <a:prstGeom prst="rect">
            <a:avLst/>
          </a:prstGeom>
          <a:noFill/>
        </p:spPr>
        <p:txBody>
          <a:bodyPr wrap="square" lIns="0" tIns="0" rIns="0" bIns="0">
            <a:spAutoFit/>
          </a:bodyPr>
          <a:lstStyle/>
          <a:p>
            <a:pPr algn="l">
              <a:spcBef>
                <a:spcPts val="0"/>
              </a:spcBef>
              <a:buNone/>
            </a:pPr>
            <a:r>
              <a:rPr sz="950" b="1" i="0">
                <a:solidFill>
                  <a:srgbClr val="374151"/>
                </a:solidFill>
                <a:latin typeface="Calibri"/>
              </a:rPr>
              <a:t>ROLE THRESHOLDS</a:t>
            </a:r>
          </a:p>
        </p:txBody>
      </p:sp>
      <p:cxnSp>
        <p:nvCxnSpPr>
          <p:cNvPr id="10" name="Connector 9"/>
          <p:cNvCxnSpPr/>
          <p:nvPr/>
        </p:nvCxnSpPr>
        <p:spPr>
          <a:xfrm>
            <a:off x="320040" y="4032504"/>
            <a:ext cx="4069080" cy="0"/>
          </a:xfrm>
          <a:prstGeom prst="line">
            <a:avLst/>
          </a:prstGeom>
          <a:ln w="9525">
            <a:solidFill>
              <a:srgbClr val="AAAAAA"/>
            </a:solidFill>
          </a:ln>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320040" y="4096512"/>
          <a:ext cx="4069080" cy="109728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tblGrid>
              <a:tr h="274320">
                <a:tc>
                  <a:txBody>
                    <a:bodyPr/>
                    <a:lstStyle/>
                    <a:p>
                      <a:pPr algn="ctr"/>
                      <a:r>
                        <a:rPr sz="850" b="1" i="0">
                          <a:solidFill>
                            <a:srgbClr val="FFFFFF"/>
                          </a:solidFill>
                          <a:latin typeface="Calibri"/>
                        </a:rPr>
                        <a:t>Range</a:t>
                      </a:r>
                    </a:p>
                  </a:txBody>
                  <a:tcPr marL="45720" marR="45720" marT="18288" marB="18288" anchor="ctr">
                    <a:solidFill>
                      <a:srgbClr val="1D4ED8"/>
                    </a:solidFill>
                  </a:tcPr>
                </a:tc>
                <a:tc>
                  <a:txBody>
                    <a:bodyPr/>
                    <a:lstStyle/>
                    <a:p>
                      <a:pPr algn="ctr"/>
                      <a:r>
                        <a:rPr sz="850" b="1" i="0">
                          <a:solidFill>
                            <a:srgbClr val="FFFFFF"/>
                          </a:solidFill>
                          <a:latin typeface="Calibri"/>
                        </a:rPr>
                        <a:t>Predicted role</a:t>
                      </a:r>
                    </a:p>
                  </a:txBody>
                  <a:tcPr marL="45720" marR="45720" marT="18288" marB="18288" anchor="ctr">
                    <a:solidFill>
                      <a:srgbClr val="1D4ED8"/>
                    </a:solidFill>
                  </a:tcPr>
                </a:tc>
                <a:extLst>
                  <a:ext uri="{0D108BD9-81ED-4DB2-BD59-A6C34878D82A}">
                    <a16:rowId xmlns:a16="http://schemas.microsoft.com/office/drawing/2014/main" val="10000"/>
                  </a:ext>
                </a:extLst>
              </a:tr>
              <a:tr h="274320">
                <a:tc>
                  <a:txBody>
                    <a:bodyPr/>
                    <a:lstStyle/>
                    <a:p>
                      <a:pPr algn="l"/>
                      <a:r>
                        <a:rPr sz="830" b="0" i="0">
                          <a:solidFill>
                            <a:srgbClr val="374151"/>
                          </a:solidFill>
                          <a:latin typeface="Calibri"/>
                        </a:rPr>
                        <a:t>fl_gain ≥ 0.68</a:t>
                      </a:r>
                    </a:p>
                  </a:txBody>
                  <a:tcPr marL="45720" marR="45720" marT="18288" marB="18288" anchor="ctr">
                    <a:solidFill>
                      <a:srgbClr val="FFFFFF"/>
                    </a:solidFill>
                  </a:tcPr>
                </a:tc>
                <a:tc>
                  <a:txBody>
                    <a:bodyPr/>
                    <a:lstStyle/>
                    <a:p>
                      <a:pPr algn="l"/>
                      <a:r>
                        <a:rPr sz="830" b="1" i="0">
                          <a:solidFill>
                            <a:srgbClr val="B91C1C"/>
                          </a:solidFill>
                          <a:latin typeface="Calibri"/>
                        </a:rPr>
                        <a:t>Primary Benefitter</a:t>
                      </a:r>
                    </a:p>
                  </a:txBody>
                  <a:tcPr marL="45720" marR="45720" marT="18288" marB="18288" anchor="ctr">
                    <a:solidFill>
                      <a:srgbClr val="FFFFFF"/>
                    </a:solidFill>
                  </a:tcPr>
                </a:tc>
                <a:extLst>
                  <a:ext uri="{0D108BD9-81ED-4DB2-BD59-A6C34878D82A}">
                    <a16:rowId xmlns:a16="http://schemas.microsoft.com/office/drawing/2014/main" val="10001"/>
                  </a:ext>
                </a:extLst>
              </a:tr>
              <a:tr h="274320">
                <a:tc>
                  <a:txBody>
                    <a:bodyPr/>
                    <a:lstStyle/>
                    <a:p>
                      <a:pPr algn="l"/>
                      <a:r>
                        <a:rPr sz="830" b="0" i="0">
                          <a:solidFill>
                            <a:srgbClr val="374151"/>
                          </a:solidFill>
                          <a:latin typeface="Calibri"/>
                        </a:rPr>
                        <a:t>0.52 ≤ fl_gain &lt; 0.68</a:t>
                      </a:r>
                    </a:p>
                  </a:txBody>
                  <a:tcPr marL="45720" marR="45720" marT="18288" marB="18288" anchor="ctr">
                    <a:solidFill>
                      <a:srgbClr val="F5F5F5"/>
                    </a:solidFill>
                  </a:tcPr>
                </a:tc>
                <a:tc>
                  <a:txBody>
                    <a:bodyPr/>
                    <a:lstStyle/>
                    <a:p>
                      <a:pPr algn="l"/>
                      <a:r>
                        <a:rPr sz="830" b="1" i="0">
                          <a:solidFill>
                            <a:srgbClr val="C46A1F"/>
                          </a:solidFill>
                          <a:latin typeface="Calibri"/>
                        </a:rPr>
                        <a:t>Conditional Benefitter</a:t>
                      </a:r>
                    </a:p>
                  </a:txBody>
                  <a:tcPr marL="45720" marR="45720" marT="18288" marB="18288" anchor="ctr">
                    <a:solidFill>
                      <a:srgbClr val="F5F5F5"/>
                    </a:solidFill>
                  </a:tcPr>
                </a:tc>
                <a:extLst>
                  <a:ext uri="{0D108BD9-81ED-4DB2-BD59-A6C34878D82A}">
                    <a16:rowId xmlns:a16="http://schemas.microsoft.com/office/drawing/2014/main" val="10002"/>
                  </a:ext>
                </a:extLst>
              </a:tr>
              <a:tr h="274320">
                <a:tc>
                  <a:txBody>
                    <a:bodyPr/>
                    <a:lstStyle/>
                    <a:p>
                      <a:pPr algn="l"/>
                      <a:r>
                        <a:rPr sz="830" b="0" i="0">
                          <a:solidFill>
                            <a:srgbClr val="374151"/>
                          </a:solidFill>
                          <a:latin typeface="Calibri"/>
                        </a:rPr>
                        <a:t>fl_gain &lt; 0.52</a:t>
                      </a:r>
                    </a:p>
                  </a:txBody>
                  <a:tcPr marL="45720" marR="45720" marT="18288" marB="18288" anchor="ctr">
                    <a:solidFill>
                      <a:srgbClr val="FFFFFF"/>
                    </a:solidFill>
                  </a:tcPr>
                </a:tc>
                <a:tc>
                  <a:txBody>
                    <a:bodyPr/>
                    <a:lstStyle/>
                    <a:p>
                      <a:pPr algn="l"/>
                      <a:r>
                        <a:rPr sz="830" b="1" i="0">
                          <a:solidFill>
                            <a:srgbClr val="4C72B0"/>
                          </a:solidFill>
                          <a:latin typeface="Calibri"/>
                        </a:rPr>
                        <a:t>Contributor</a:t>
                      </a:r>
                    </a:p>
                  </a:txBody>
                  <a:tcPr marL="45720" marR="45720"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2" name="TextBox 11"/>
          <p:cNvSpPr txBox="1"/>
          <p:nvPr/>
        </p:nvSpPr>
        <p:spPr>
          <a:xfrm>
            <a:off x="4617720" y="1005840"/>
            <a:ext cx="4206240" cy="182880"/>
          </a:xfrm>
          <a:prstGeom prst="rect">
            <a:avLst/>
          </a:prstGeom>
          <a:noFill/>
        </p:spPr>
        <p:txBody>
          <a:bodyPr wrap="square" lIns="0" tIns="0" rIns="0" bIns="0">
            <a:spAutoFit/>
          </a:bodyPr>
          <a:lstStyle/>
          <a:p>
            <a:pPr algn="l">
              <a:spcBef>
                <a:spcPts val="0"/>
              </a:spcBef>
              <a:buNone/>
            </a:pPr>
            <a:r>
              <a:rPr sz="950" b="1" i="0">
                <a:solidFill>
                  <a:srgbClr val="374151"/>
                </a:solidFill>
                <a:latin typeface="Calibri"/>
              </a:rPr>
              <a:t>PER-SITE COMPONENT BREAKDOWN  (α=0.3, γ=0.75)</a:t>
            </a:r>
          </a:p>
        </p:txBody>
      </p:sp>
      <p:cxnSp>
        <p:nvCxnSpPr>
          <p:cNvPr id="13" name="Connector 12"/>
          <p:cNvCxnSpPr/>
          <p:nvPr/>
        </p:nvCxnSpPr>
        <p:spPr>
          <a:xfrm>
            <a:off x="4617720" y="1216152"/>
            <a:ext cx="4206239" cy="0"/>
          </a:xfrm>
          <a:prstGeom prst="line">
            <a:avLst/>
          </a:prstGeom>
          <a:ln w="9525">
            <a:solidFill>
              <a:srgbClr val="AAAAAA"/>
            </a:solidFill>
          </a:ln>
        </p:spPr>
        <p:style>
          <a:lnRef idx="2">
            <a:schemeClr val="accent1"/>
          </a:lnRef>
          <a:fillRef idx="0">
            <a:schemeClr val="accent1"/>
          </a:fillRef>
          <a:effectRef idx="1">
            <a:schemeClr val="accent1"/>
          </a:effectRef>
          <a:fontRef idx="minor">
            <a:schemeClr val="tx1"/>
          </a:fontRef>
        </p:style>
      </p:cxnSp>
      <p:graphicFrame>
        <p:nvGraphicFramePr>
          <p:cNvPr id="14" name="Table 13"/>
          <p:cNvGraphicFramePr>
            <a:graphicFrameLocks noGrp="1"/>
          </p:cNvGraphicFramePr>
          <p:nvPr/>
        </p:nvGraphicFramePr>
        <p:xfrm>
          <a:off x="4617720" y="1298448"/>
          <a:ext cx="4389120" cy="1687063"/>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713232">
                  <a:extLst>
                    <a:ext uri="{9D8B030D-6E8A-4147-A177-3AD203B41FA5}">
                      <a16:colId xmlns:a16="http://schemas.microsoft.com/office/drawing/2014/main" val="20001"/>
                    </a:ext>
                  </a:extLst>
                </a:gridCol>
                <a:gridCol w="713232">
                  <a:extLst>
                    <a:ext uri="{9D8B030D-6E8A-4147-A177-3AD203B41FA5}">
                      <a16:colId xmlns:a16="http://schemas.microsoft.com/office/drawing/2014/main" val="20002"/>
                    </a:ext>
                  </a:extLst>
                </a:gridCol>
                <a:gridCol w="768096">
                  <a:extLst>
                    <a:ext uri="{9D8B030D-6E8A-4147-A177-3AD203B41FA5}">
                      <a16:colId xmlns:a16="http://schemas.microsoft.com/office/drawing/2014/main" val="20003"/>
                    </a:ext>
                  </a:extLst>
                </a:gridCol>
                <a:gridCol w="713232">
                  <a:extLst>
                    <a:ext uri="{9D8B030D-6E8A-4147-A177-3AD203B41FA5}">
                      <a16:colId xmlns:a16="http://schemas.microsoft.com/office/drawing/2014/main" val="20004"/>
                    </a:ext>
                  </a:extLst>
                </a:gridCol>
                <a:gridCol w="841248">
                  <a:extLst>
                    <a:ext uri="{9D8B030D-6E8A-4147-A177-3AD203B41FA5}">
                      <a16:colId xmlns:a16="http://schemas.microsoft.com/office/drawing/2014/main" val="20005"/>
                    </a:ext>
                  </a:extLst>
                </a:gridCol>
              </a:tblGrid>
              <a:tr h="384048">
                <a:tc>
                  <a:txBody>
                    <a:bodyPr/>
                    <a:lstStyle/>
                    <a:p>
                      <a:pPr algn="ctr"/>
                      <a:r>
                        <a:rPr sz="770" b="1" i="0">
                          <a:solidFill>
                            <a:srgbClr val="FFFFFF"/>
                          </a:solidFill>
                          <a:latin typeface="Calibri"/>
                        </a:rPr>
                        <a:t>Site</a:t>
                      </a:r>
                    </a:p>
                  </a:txBody>
                  <a:tcPr marL="45720" marR="45720" marT="18288" marB="18288" anchor="ctr">
                    <a:solidFill>
                      <a:srgbClr val="1D4ED8"/>
                    </a:solidFill>
                  </a:tcPr>
                </a:tc>
                <a:tc>
                  <a:txBody>
                    <a:bodyPr/>
                    <a:lstStyle/>
                    <a:p>
                      <a:pPr algn="ctr"/>
                      <a:r>
                        <a:rPr sz="770" b="1" i="0">
                          <a:solidFill>
                            <a:srgbClr val="FFFFFF"/>
                          </a:solidFill>
                          <a:latin typeface="Calibri"/>
                        </a:rPr>
                        <a:t>Case
scarcity</a:t>
                      </a:r>
                    </a:p>
                  </a:txBody>
                  <a:tcPr marL="45720" marR="45720" marT="18288" marB="18288" anchor="ctr">
                    <a:solidFill>
                      <a:srgbClr val="1D4ED8"/>
                    </a:solidFill>
                  </a:tcPr>
                </a:tc>
                <a:tc>
                  <a:txBody>
                    <a:bodyPr/>
                    <a:lstStyle/>
                    <a:p>
                      <a:pPr algn="ctr"/>
                      <a:r>
                        <a:rPr sz="770" b="1" i="0">
                          <a:solidFill>
                            <a:srgbClr val="FFFFFF"/>
                          </a:solidFill>
                          <a:latin typeface="Calibri"/>
                        </a:rPr>
                        <a:t>Class
imbal.</a:t>
                      </a:r>
                    </a:p>
                  </a:txBody>
                  <a:tcPr marL="45720" marR="45720" marT="18288" marB="18288" anchor="ctr">
                    <a:solidFill>
                      <a:srgbClr val="1D4ED8"/>
                    </a:solidFill>
                  </a:tcPr>
                </a:tc>
                <a:tc>
                  <a:txBody>
                    <a:bodyPr/>
                    <a:lstStyle/>
                    <a:p>
                      <a:pPr algn="ctr"/>
                      <a:r>
                        <a:rPr sz="770" b="1" i="0">
                          <a:solidFill>
                            <a:srgbClr val="FFFFFF"/>
                          </a:solidFill>
                          <a:latin typeface="Calibri"/>
                        </a:rPr>
                        <a:t>Feature
sparsity</a:t>
                      </a:r>
                    </a:p>
                  </a:txBody>
                  <a:tcPr marL="45720" marR="45720" marT="18288" marB="18288" anchor="ctr">
                    <a:solidFill>
                      <a:srgbClr val="1D4ED8"/>
                    </a:solidFill>
                  </a:tcPr>
                </a:tc>
                <a:tc>
                  <a:txBody>
                    <a:bodyPr/>
                    <a:lstStyle/>
                    <a:p>
                      <a:pPr algn="ctr"/>
                      <a:r>
                        <a:rPr sz="770" b="1" i="0">
                          <a:solidFill>
                            <a:srgbClr val="FFFFFF"/>
                          </a:solidFill>
                          <a:latin typeface="Calibri"/>
                        </a:rPr>
                        <a:t>FL-gain</a:t>
                      </a:r>
                    </a:p>
                  </a:txBody>
                  <a:tcPr marL="45720" marR="45720" marT="18288" marB="18288" anchor="ctr">
                    <a:solidFill>
                      <a:srgbClr val="1D4ED8"/>
                    </a:solidFill>
                  </a:tcPr>
                </a:tc>
                <a:tc>
                  <a:txBody>
                    <a:bodyPr/>
                    <a:lstStyle/>
                    <a:p>
                      <a:pPr algn="ctr"/>
                      <a:r>
                        <a:rPr sz="770" b="1" i="0">
                          <a:solidFill>
                            <a:srgbClr val="FFFFFF"/>
                          </a:solidFill>
                          <a:latin typeface="Calibri"/>
                        </a:rPr>
                        <a:t>Predicted role</a:t>
                      </a:r>
                    </a:p>
                  </a:txBody>
                  <a:tcPr marL="45720" marR="45720" marT="18288" marB="18288" anchor="ctr">
                    <a:solidFill>
                      <a:srgbClr val="1D4ED8"/>
                    </a:solidFill>
                  </a:tcPr>
                </a:tc>
                <a:extLst>
                  <a:ext uri="{0D108BD9-81ED-4DB2-BD59-A6C34878D82A}">
                    <a16:rowId xmlns:a16="http://schemas.microsoft.com/office/drawing/2014/main" val="10000"/>
                  </a:ext>
                </a:extLst>
              </a:tr>
              <a:tr h="260603">
                <a:tc>
                  <a:txBody>
                    <a:bodyPr/>
                    <a:lstStyle/>
                    <a:p>
                      <a:pPr algn="l"/>
                      <a:r>
                        <a:rPr sz="800" b="1" i="0">
                          <a:solidFill>
                            <a:srgbClr val="1F2937"/>
                          </a:solidFill>
                          <a:latin typeface="Calibri"/>
                        </a:rPr>
                        <a:t>site_E</a:t>
                      </a:r>
                    </a:p>
                  </a:txBody>
                  <a:tcPr marL="45720" marR="45720" marT="18288" marB="18288" anchor="ctr">
                    <a:solidFill>
                      <a:srgbClr val="FFFFFF"/>
                    </a:solidFill>
                  </a:tcPr>
                </a:tc>
                <a:tc>
                  <a:txBody>
                    <a:bodyPr/>
                    <a:lstStyle/>
                    <a:p>
                      <a:pPr algn="ctr"/>
                      <a:r>
                        <a:rPr sz="800" b="0" i="0">
                          <a:solidFill>
                            <a:srgbClr val="374151"/>
                          </a:solidFill>
                          <a:latin typeface="Calibri"/>
                        </a:rPr>
                        <a:t>0.909</a:t>
                      </a:r>
                    </a:p>
                  </a:txBody>
                  <a:tcPr marL="45720" marR="45720" marT="18288" marB="18288" anchor="ctr">
                    <a:solidFill>
                      <a:srgbClr val="FFFFFF"/>
                    </a:solidFill>
                  </a:tcPr>
                </a:tc>
                <a:tc>
                  <a:txBody>
                    <a:bodyPr/>
                    <a:lstStyle/>
                    <a:p>
                      <a:pPr algn="ctr"/>
                      <a:r>
                        <a:rPr sz="800" b="0" i="0">
                          <a:solidFill>
                            <a:srgbClr val="374151"/>
                          </a:solidFill>
                          <a:latin typeface="Calibri"/>
                        </a:rPr>
                        <a:t>0.949</a:t>
                      </a:r>
                    </a:p>
                  </a:txBody>
                  <a:tcPr marL="45720" marR="45720" marT="18288" marB="18288" anchor="ctr">
                    <a:solidFill>
                      <a:srgbClr val="FFFFFF"/>
                    </a:solidFill>
                  </a:tcPr>
                </a:tc>
                <a:tc>
                  <a:txBody>
                    <a:bodyPr/>
                    <a:lstStyle/>
                    <a:p>
                      <a:pPr algn="ctr"/>
                      <a:r>
                        <a:rPr sz="800" b="0" i="0">
                          <a:solidFill>
                            <a:srgbClr val="374151"/>
                          </a:solidFill>
                          <a:latin typeface="Calibri"/>
                        </a:rPr>
                        <a:t>0.786</a:t>
                      </a:r>
                    </a:p>
                  </a:txBody>
                  <a:tcPr marL="45720" marR="45720" marT="18288" marB="18288" anchor="ctr">
                    <a:solidFill>
                      <a:srgbClr val="FFFFFF"/>
                    </a:solidFill>
                  </a:tcPr>
                </a:tc>
                <a:tc>
                  <a:txBody>
                    <a:bodyPr/>
                    <a:lstStyle/>
                    <a:p>
                      <a:pPr algn="ctr"/>
                      <a:r>
                        <a:rPr sz="830" b="1" i="0">
                          <a:solidFill>
                            <a:srgbClr val="1D4ED8"/>
                          </a:solidFill>
                          <a:latin typeface="Calibri"/>
                        </a:rPr>
                        <a:t>0.871</a:t>
                      </a:r>
                    </a:p>
                  </a:txBody>
                  <a:tcPr marL="45720" marR="45720" marT="18288" marB="18288" anchor="ctr">
                    <a:solidFill>
                      <a:srgbClr val="FFFFFF"/>
                    </a:solidFill>
                  </a:tcPr>
                </a:tc>
                <a:tc>
                  <a:txBody>
                    <a:bodyPr/>
                    <a:lstStyle/>
                    <a:p>
                      <a:pPr algn="ctr"/>
                      <a:r>
                        <a:rPr sz="770" b="1" i="0">
                          <a:solidFill>
                            <a:srgbClr val="B91C1C"/>
                          </a:solidFill>
                          <a:latin typeface="Calibri"/>
                        </a:rPr>
                        <a:t>Primary</a:t>
                      </a:r>
                    </a:p>
                  </a:txBody>
                  <a:tcPr marL="45720" marR="45720" marT="18288" marB="18288" anchor="ctr">
                    <a:solidFill>
                      <a:srgbClr val="FFFFFF"/>
                    </a:solidFill>
                  </a:tcPr>
                </a:tc>
                <a:extLst>
                  <a:ext uri="{0D108BD9-81ED-4DB2-BD59-A6C34878D82A}">
                    <a16:rowId xmlns:a16="http://schemas.microsoft.com/office/drawing/2014/main" val="10001"/>
                  </a:ext>
                </a:extLst>
              </a:tr>
              <a:tr h="260603">
                <a:tc>
                  <a:txBody>
                    <a:bodyPr/>
                    <a:lstStyle/>
                    <a:p>
                      <a:pPr algn="l"/>
                      <a:r>
                        <a:rPr sz="800" b="1" i="0">
                          <a:solidFill>
                            <a:srgbClr val="1F2937"/>
                          </a:solidFill>
                          <a:latin typeface="Calibri"/>
                        </a:rPr>
                        <a:t>site_D</a:t>
                      </a:r>
                    </a:p>
                  </a:txBody>
                  <a:tcPr marL="45720" marR="45720" marT="18288" marB="18288" anchor="ctr">
                    <a:solidFill>
                      <a:srgbClr val="F5F5F5"/>
                    </a:solidFill>
                  </a:tcPr>
                </a:tc>
                <a:tc>
                  <a:txBody>
                    <a:bodyPr/>
                    <a:lstStyle/>
                    <a:p>
                      <a:pPr algn="ctr"/>
                      <a:r>
                        <a:rPr sz="800" b="0" i="0">
                          <a:solidFill>
                            <a:srgbClr val="374151"/>
                          </a:solidFill>
                          <a:latin typeface="Calibri"/>
                        </a:rPr>
                        <a:t>0.868</a:t>
                      </a:r>
                    </a:p>
                  </a:txBody>
                  <a:tcPr marL="45720" marR="45720" marT="18288" marB="18288" anchor="ctr">
                    <a:solidFill>
                      <a:srgbClr val="F5F5F5"/>
                    </a:solidFill>
                  </a:tcPr>
                </a:tc>
                <a:tc>
                  <a:txBody>
                    <a:bodyPr/>
                    <a:lstStyle/>
                    <a:p>
                      <a:pPr algn="ctr"/>
                      <a:r>
                        <a:rPr sz="800" b="0" i="0">
                          <a:solidFill>
                            <a:srgbClr val="374151"/>
                          </a:solidFill>
                          <a:latin typeface="Calibri"/>
                        </a:rPr>
                        <a:t>0.925</a:t>
                      </a:r>
                    </a:p>
                  </a:txBody>
                  <a:tcPr marL="45720" marR="45720" marT="18288" marB="18288" anchor="ctr">
                    <a:solidFill>
                      <a:srgbClr val="F5F5F5"/>
                    </a:solidFill>
                  </a:tcPr>
                </a:tc>
                <a:tc>
                  <a:txBody>
                    <a:bodyPr/>
                    <a:lstStyle/>
                    <a:p>
                      <a:pPr algn="ctr"/>
                      <a:r>
                        <a:rPr sz="800" b="0" i="0">
                          <a:solidFill>
                            <a:srgbClr val="374151"/>
                          </a:solidFill>
                          <a:latin typeface="Calibri"/>
                        </a:rPr>
                        <a:t>0.580</a:t>
                      </a:r>
                    </a:p>
                  </a:txBody>
                  <a:tcPr marL="45720" marR="45720" marT="18288" marB="18288" anchor="ctr">
                    <a:solidFill>
                      <a:srgbClr val="F5F5F5"/>
                    </a:solidFill>
                  </a:tcPr>
                </a:tc>
                <a:tc>
                  <a:txBody>
                    <a:bodyPr/>
                    <a:lstStyle/>
                    <a:p>
                      <a:pPr algn="ctr"/>
                      <a:r>
                        <a:rPr sz="830" b="1" i="0">
                          <a:solidFill>
                            <a:srgbClr val="1D4ED8"/>
                          </a:solidFill>
                          <a:latin typeface="Calibri"/>
                        </a:rPr>
                        <a:t>0.770</a:t>
                      </a:r>
                    </a:p>
                  </a:txBody>
                  <a:tcPr marL="45720" marR="45720" marT="18288" marB="18288" anchor="ctr">
                    <a:solidFill>
                      <a:srgbClr val="F5F5F5"/>
                    </a:solidFill>
                  </a:tcPr>
                </a:tc>
                <a:tc>
                  <a:txBody>
                    <a:bodyPr/>
                    <a:lstStyle/>
                    <a:p>
                      <a:pPr algn="ctr"/>
                      <a:r>
                        <a:rPr sz="770" b="1" i="0">
                          <a:solidFill>
                            <a:srgbClr val="B91C1C"/>
                          </a:solidFill>
                          <a:latin typeface="Calibri"/>
                        </a:rPr>
                        <a:t>Primary</a:t>
                      </a:r>
                    </a:p>
                  </a:txBody>
                  <a:tcPr marL="45720" marR="45720" marT="18288" marB="18288" anchor="ctr">
                    <a:solidFill>
                      <a:srgbClr val="F5F5F5"/>
                    </a:solidFill>
                  </a:tcPr>
                </a:tc>
                <a:extLst>
                  <a:ext uri="{0D108BD9-81ED-4DB2-BD59-A6C34878D82A}">
                    <a16:rowId xmlns:a16="http://schemas.microsoft.com/office/drawing/2014/main" val="10002"/>
                  </a:ext>
                </a:extLst>
              </a:tr>
              <a:tr h="260603">
                <a:tc>
                  <a:txBody>
                    <a:bodyPr/>
                    <a:lstStyle/>
                    <a:p>
                      <a:pPr algn="l"/>
                      <a:r>
                        <a:rPr sz="800" b="1" i="0">
                          <a:solidFill>
                            <a:srgbClr val="1F2937"/>
                          </a:solidFill>
                          <a:latin typeface="Calibri"/>
                        </a:rPr>
                        <a:t>site_B</a:t>
                      </a:r>
                    </a:p>
                  </a:txBody>
                  <a:tcPr marL="45720" marR="45720" marT="18288" marB="18288" anchor="ctr">
                    <a:solidFill>
                      <a:srgbClr val="FFFFFF"/>
                    </a:solidFill>
                  </a:tcPr>
                </a:tc>
                <a:tc>
                  <a:txBody>
                    <a:bodyPr/>
                    <a:lstStyle/>
                    <a:p>
                      <a:pPr algn="ctr"/>
                      <a:r>
                        <a:rPr sz="800" b="0" i="0">
                          <a:solidFill>
                            <a:srgbClr val="374151"/>
                          </a:solidFill>
                          <a:latin typeface="Calibri"/>
                        </a:rPr>
                        <a:t>0.799</a:t>
                      </a:r>
                    </a:p>
                  </a:txBody>
                  <a:tcPr marL="45720" marR="45720" marT="18288" marB="18288" anchor="ctr">
                    <a:solidFill>
                      <a:srgbClr val="FFFFFF"/>
                    </a:solidFill>
                  </a:tcPr>
                </a:tc>
                <a:tc>
                  <a:txBody>
                    <a:bodyPr/>
                    <a:lstStyle/>
                    <a:p>
                      <a:pPr algn="ctr"/>
                      <a:r>
                        <a:rPr sz="800" b="0" i="0">
                          <a:solidFill>
                            <a:srgbClr val="374151"/>
                          </a:solidFill>
                          <a:latin typeface="Calibri"/>
                        </a:rPr>
                        <a:t>0.887</a:t>
                      </a:r>
                    </a:p>
                  </a:txBody>
                  <a:tcPr marL="45720" marR="45720" marT="18288" marB="18288" anchor="ctr">
                    <a:solidFill>
                      <a:srgbClr val="FFFFFF"/>
                    </a:solidFill>
                  </a:tcPr>
                </a:tc>
                <a:tc>
                  <a:txBody>
                    <a:bodyPr/>
                    <a:lstStyle/>
                    <a:p>
                      <a:pPr algn="ctr"/>
                      <a:r>
                        <a:rPr sz="800" b="0" i="0">
                          <a:solidFill>
                            <a:srgbClr val="374151"/>
                          </a:solidFill>
                          <a:latin typeface="Calibri"/>
                        </a:rPr>
                        <a:t>0.473</a:t>
                      </a:r>
                    </a:p>
                  </a:txBody>
                  <a:tcPr marL="45720" marR="45720" marT="18288" marB="18288" anchor="ctr">
                    <a:solidFill>
                      <a:srgbClr val="FFFFFF"/>
                    </a:solidFill>
                  </a:tcPr>
                </a:tc>
                <a:tc>
                  <a:txBody>
                    <a:bodyPr/>
                    <a:lstStyle/>
                    <a:p>
                      <a:pPr algn="ctr"/>
                      <a:r>
                        <a:rPr sz="830" b="1" i="0">
                          <a:solidFill>
                            <a:srgbClr val="1D4ED8"/>
                          </a:solidFill>
                          <a:latin typeface="Calibri"/>
                        </a:rPr>
                        <a:t>0.695</a:t>
                      </a:r>
                    </a:p>
                  </a:txBody>
                  <a:tcPr marL="45720" marR="45720" marT="18288" marB="18288" anchor="ctr">
                    <a:solidFill>
                      <a:srgbClr val="FFFFFF"/>
                    </a:solidFill>
                  </a:tcPr>
                </a:tc>
                <a:tc>
                  <a:txBody>
                    <a:bodyPr/>
                    <a:lstStyle/>
                    <a:p>
                      <a:pPr algn="ctr"/>
                      <a:r>
                        <a:rPr sz="770" b="1" i="0">
                          <a:solidFill>
                            <a:srgbClr val="B91C1C"/>
                          </a:solidFill>
                          <a:latin typeface="Calibri"/>
                        </a:rPr>
                        <a:t>Primary</a:t>
                      </a:r>
                    </a:p>
                  </a:txBody>
                  <a:tcPr marL="45720" marR="45720" marT="18288" marB="18288" anchor="ctr">
                    <a:solidFill>
                      <a:srgbClr val="FFFFFF"/>
                    </a:solidFill>
                  </a:tcPr>
                </a:tc>
                <a:extLst>
                  <a:ext uri="{0D108BD9-81ED-4DB2-BD59-A6C34878D82A}">
                    <a16:rowId xmlns:a16="http://schemas.microsoft.com/office/drawing/2014/main" val="10003"/>
                  </a:ext>
                </a:extLst>
              </a:tr>
              <a:tr h="260603">
                <a:tc>
                  <a:txBody>
                    <a:bodyPr/>
                    <a:lstStyle/>
                    <a:p>
                      <a:pPr algn="l"/>
                      <a:r>
                        <a:rPr sz="800" b="1" i="0">
                          <a:solidFill>
                            <a:srgbClr val="1F2937"/>
                          </a:solidFill>
                          <a:latin typeface="Calibri"/>
                        </a:rPr>
                        <a:t>site_A</a:t>
                      </a:r>
                    </a:p>
                  </a:txBody>
                  <a:tcPr marL="45720" marR="45720" marT="18288" marB="18288" anchor="ctr">
                    <a:solidFill>
                      <a:srgbClr val="F5F5F5"/>
                    </a:solidFill>
                  </a:tcPr>
                </a:tc>
                <a:tc>
                  <a:txBody>
                    <a:bodyPr/>
                    <a:lstStyle/>
                    <a:p>
                      <a:pPr algn="ctr"/>
                      <a:r>
                        <a:rPr sz="800" b="0" i="0">
                          <a:solidFill>
                            <a:srgbClr val="374151"/>
                          </a:solidFill>
                          <a:latin typeface="Calibri"/>
                        </a:rPr>
                        <a:t>0.585</a:t>
                      </a:r>
                    </a:p>
                  </a:txBody>
                  <a:tcPr marL="45720" marR="45720" marT="18288" marB="18288" anchor="ctr">
                    <a:solidFill>
                      <a:srgbClr val="F5F5F5"/>
                    </a:solidFill>
                  </a:tcPr>
                </a:tc>
                <a:tc>
                  <a:txBody>
                    <a:bodyPr/>
                    <a:lstStyle/>
                    <a:p>
                      <a:pPr algn="ctr"/>
                      <a:r>
                        <a:rPr sz="800" b="0" i="0">
                          <a:solidFill>
                            <a:srgbClr val="374151"/>
                          </a:solidFill>
                          <a:latin typeface="Calibri"/>
                        </a:rPr>
                        <a:t>0.766</a:t>
                      </a:r>
                    </a:p>
                  </a:txBody>
                  <a:tcPr marL="45720" marR="45720" marT="18288" marB="18288" anchor="ctr">
                    <a:solidFill>
                      <a:srgbClr val="F5F5F5"/>
                    </a:solidFill>
                  </a:tcPr>
                </a:tc>
                <a:tc>
                  <a:txBody>
                    <a:bodyPr/>
                    <a:lstStyle/>
                    <a:p>
                      <a:pPr algn="ctr"/>
                      <a:r>
                        <a:rPr sz="800" b="0" i="0">
                          <a:solidFill>
                            <a:srgbClr val="374151"/>
                          </a:solidFill>
                          <a:latin typeface="Calibri"/>
                        </a:rPr>
                        <a:t>0.652</a:t>
                      </a:r>
                    </a:p>
                  </a:txBody>
                  <a:tcPr marL="45720" marR="45720" marT="18288" marB="18288" anchor="ctr">
                    <a:solidFill>
                      <a:srgbClr val="F5F5F5"/>
                    </a:solidFill>
                  </a:tcPr>
                </a:tc>
                <a:tc>
                  <a:txBody>
                    <a:bodyPr/>
                    <a:lstStyle/>
                    <a:p>
                      <a:pPr algn="ctr"/>
                      <a:r>
                        <a:rPr sz="830" b="1" i="0">
                          <a:solidFill>
                            <a:srgbClr val="1D4ED8"/>
                          </a:solidFill>
                          <a:latin typeface="Calibri"/>
                        </a:rPr>
                        <a:t>0.666</a:t>
                      </a:r>
                    </a:p>
                  </a:txBody>
                  <a:tcPr marL="45720" marR="45720" marT="18288" marB="18288" anchor="ctr">
                    <a:solidFill>
                      <a:srgbClr val="F5F5F5"/>
                    </a:solidFill>
                  </a:tcPr>
                </a:tc>
                <a:tc>
                  <a:txBody>
                    <a:bodyPr/>
                    <a:lstStyle/>
                    <a:p>
                      <a:pPr algn="ctr"/>
                      <a:r>
                        <a:rPr sz="770" b="1" i="0">
                          <a:solidFill>
                            <a:srgbClr val="C46A1F"/>
                          </a:solidFill>
                          <a:latin typeface="Calibri"/>
                        </a:rPr>
                        <a:t>Conditional</a:t>
                      </a:r>
                    </a:p>
                  </a:txBody>
                  <a:tcPr marL="45720" marR="45720" marT="18288" marB="18288" anchor="ctr">
                    <a:solidFill>
                      <a:srgbClr val="F5F5F5"/>
                    </a:solidFill>
                  </a:tcPr>
                </a:tc>
                <a:extLst>
                  <a:ext uri="{0D108BD9-81ED-4DB2-BD59-A6C34878D82A}">
                    <a16:rowId xmlns:a16="http://schemas.microsoft.com/office/drawing/2014/main" val="10004"/>
                  </a:ext>
                </a:extLst>
              </a:tr>
              <a:tr h="260603">
                <a:tc>
                  <a:txBody>
                    <a:bodyPr/>
                    <a:lstStyle/>
                    <a:p>
                      <a:pPr algn="l"/>
                      <a:r>
                        <a:rPr sz="800" b="1" i="0">
                          <a:solidFill>
                            <a:srgbClr val="1F2937"/>
                          </a:solidFill>
                          <a:latin typeface="Calibri"/>
                        </a:rPr>
                        <a:t>site_C</a:t>
                      </a:r>
                    </a:p>
                  </a:txBody>
                  <a:tcPr marL="45720" marR="45720" marT="18288" marB="18288" anchor="ctr">
                    <a:solidFill>
                      <a:srgbClr val="FFFFFF"/>
                    </a:solidFill>
                  </a:tcPr>
                </a:tc>
                <a:tc>
                  <a:txBody>
                    <a:bodyPr/>
                    <a:lstStyle/>
                    <a:p>
                      <a:pPr algn="ctr"/>
                      <a:r>
                        <a:rPr sz="800" b="0" i="0">
                          <a:solidFill>
                            <a:srgbClr val="374151"/>
                          </a:solidFill>
                          <a:latin typeface="Calibri"/>
                        </a:rPr>
                        <a:t>0.840</a:t>
                      </a:r>
                    </a:p>
                  </a:txBody>
                  <a:tcPr marL="45720" marR="45720" marT="18288" marB="18288" anchor="ctr">
                    <a:solidFill>
                      <a:srgbClr val="FFFFFF"/>
                    </a:solidFill>
                  </a:tcPr>
                </a:tc>
                <a:tc>
                  <a:txBody>
                    <a:bodyPr/>
                    <a:lstStyle/>
                    <a:p>
                      <a:pPr algn="ctr"/>
                      <a:r>
                        <a:rPr sz="800" b="0" i="0">
                          <a:solidFill>
                            <a:srgbClr val="374151"/>
                          </a:solidFill>
                          <a:latin typeface="Calibri"/>
                        </a:rPr>
                        <a:t>0.910</a:t>
                      </a:r>
                    </a:p>
                  </a:txBody>
                  <a:tcPr marL="45720" marR="45720" marT="18288" marB="18288" anchor="ctr">
                    <a:solidFill>
                      <a:srgbClr val="FFFFFF"/>
                    </a:solidFill>
                  </a:tcPr>
                </a:tc>
                <a:tc>
                  <a:txBody>
                    <a:bodyPr/>
                    <a:lstStyle/>
                    <a:p>
                      <a:pPr algn="ctr"/>
                      <a:r>
                        <a:rPr sz="800" b="0" i="0">
                          <a:solidFill>
                            <a:srgbClr val="374151"/>
                          </a:solidFill>
                          <a:latin typeface="Calibri"/>
                        </a:rPr>
                        <a:t>0.027</a:t>
                      </a:r>
                    </a:p>
                  </a:txBody>
                  <a:tcPr marL="45720" marR="45720" marT="18288" marB="18288" anchor="ctr">
                    <a:solidFill>
                      <a:srgbClr val="FFFFFF"/>
                    </a:solidFill>
                  </a:tcPr>
                </a:tc>
                <a:tc>
                  <a:txBody>
                    <a:bodyPr/>
                    <a:lstStyle/>
                    <a:p>
                      <a:pPr algn="ctr"/>
                      <a:r>
                        <a:rPr sz="830" b="1" i="0">
                          <a:solidFill>
                            <a:srgbClr val="1D4ED8"/>
                          </a:solidFill>
                          <a:latin typeface="Calibri"/>
                        </a:rPr>
                        <a:t>0.536</a:t>
                      </a:r>
                    </a:p>
                  </a:txBody>
                  <a:tcPr marL="45720" marR="45720" marT="18288" marB="18288" anchor="ctr">
                    <a:solidFill>
                      <a:srgbClr val="FFFFFF"/>
                    </a:solidFill>
                  </a:tcPr>
                </a:tc>
                <a:tc>
                  <a:txBody>
                    <a:bodyPr/>
                    <a:lstStyle/>
                    <a:p>
                      <a:pPr algn="ctr"/>
                      <a:r>
                        <a:rPr sz="770" b="1" i="0">
                          <a:solidFill>
                            <a:srgbClr val="C46A1F"/>
                          </a:solidFill>
                          <a:latin typeface="Calibri"/>
                        </a:rPr>
                        <a:t>Conditional</a:t>
                      </a:r>
                    </a:p>
                  </a:txBody>
                  <a:tcPr marL="45720" marR="45720"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15" name="TextBox 14"/>
          <p:cNvSpPr txBox="1"/>
          <p:nvPr/>
        </p:nvSpPr>
        <p:spPr>
          <a:xfrm>
            <a:off x="4617720" y="3154680"/>
            <a:ext cx="4206240" cy="822960"/>
          </a:xfrm>
          <a:prstGeom prst="rect">
            <a:avLst/>
          </a:prstGeom>
          <a:noFill/>
        </p:spPr>
        <p:txBody>
          <a:bodyPr wrap="square" lIns="0" tIns="0" rIns="0" bIns="0">
            <a:spAutoFit/>
          </a:bodyPr>
          <a:lstStyle/>
          <a:p>
            <a:pPr>
              <a:buNone/>
            </a:pPr>
            <a:r>
              <a:rPr sz="830" b="1" i="1">
                <a:solidFill>
                  <a:srgbClr val="374151"/>
                </a:solidFill>
                <a:latin typeface="Calibri"/>
              </a:rPr>
              <a:t>Why site_C ranks lowest despite high scarcity/imbalance: </a:t>
            </a:r>
            <a:r>
              <a:rPr sz="830" b="0" i="1">
                <a:solidFill>
                  <a:srgbClr val="6B7280"/>
                </a:solidFill>
                <a:latin typeface="Calibri"/>
              </a:rPr>
              <a:t>feature_sparsity is weighted highest (0.40) and site_C has the full 109-feature set (sparsity ≈ 0.03) — pulling its index down to “conditional”. v2.2 update: site_C actually gained ΔAUROC=+0.026 under FedAdaptProto v2.2, exceeding what its “conditional” label suggested. Multi-cluster prototypes likely benefit site_C by letting it anchor to a richer shared cluster than v1's single averaged centroid.</a:t>
            </a:r>
          </a:p>
        </p:txBody>
      </p:sp>
      <p:sp>
        <p:nvSpPr>
          <p:cNvPr id="16" name="TextBox 15"/>
          <p:cNvSpPr txBox="1"/>
          <p:nvPr/>
        </p:nvSpPr>
        <p:spPr>
          <a:xfrm>
            <a:off x="4617720" y="4114800"/>
            <a:ext cx="4206240" cy="365760"/>
          </a:xfrm>
          <a:prstGeom prst="rect">
            <a:avLst/>
          </a:prstGeom>
          <a:noFill/>
        </p:spPr>
        <p:txBody>
          <a:bodyPr wrap="square" lIns="0" tIns="0" rIns="0" bIns="0">
            <a:spAutoFit/>
          </a:bodyPr>
          <a:lstStyle/>
          <a:p>
            <a:pPr algn="l">
              <a:spcBef>
                <a:spcPts val="0"/>
              </a:spcBef>
              <a:buNone/>
            </a:pPr>
            <a:r>
              <a:rPr sz="800" b="0" i="1">
                <a:solidFill>
                  <a:srgbClr val="6B7280"/>
                </a:solidFill>
                <a:latin typeface="Calibri"/>
              </a:rPr>
              <a:t>0.0 = rich data, balanced/high AKI rate, full features → low predicted FL benefit. 1.0 = scarce data, rare AKI, few features → high predicted FL benefit.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8503920" cy="502920"/>
          </a:xfrm>
          <a:prstGeom prst="rect">
            <a:avLst/>
          </a:prstGeom>
          <a:noFill/>
        </p:spPr>
        <p:txBody>
          <a:bodyPr wrap="square" lIns="0" tIns="0" rIns="0" bIns="0">
            <a:spAutoFit/>
          </a:bodyPr>
          <a:lstStyle/>
          <a:p>
            <a:r>
              <a:rPr sz="1900" b="1">
                <a:solidFill>
                  <a:srgbClr val="1F2937"/>
                </a:solidFill>
                <a:latin typeface="Calibri"/>
              </a:rPr>
              <a:t>FL-Gain Index Validation: Full Sweep, Stratified by Heterogeneity</a:t>
            </a:r>
          </a:p>
        </p:txBody>
      </p:sp>
      <p:sp>
        <p:nvSpPr>
          <p:cNvPr id="3" name="Rectangle 2"/>
          <p:cNvSpPr/>
          <p:nvPr/>
        </p:nvSpPr>
        <p:spPr>
          <a:xfrm>
            <a:off x="0" y="685800"/>
            <a:ext cx="9144000" cy="3657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49808"/>
            <a:ext cx="8503920" cy="201168"/>
          </a:xfrm>
          <a:prstGeom prst="rect">
            <a:avLst/>
          </a:prstGeom>
          <a:noFill/>
        </p:spPr>
        <p:txBody>
          <a:bodyPr wrap="square" lIns="0" tIns="0" rIns="0" bIns="0">
            <a:spAutoFit/>
          </a:bodyPr>
          <a:lstStyle/>
          <a:p>
            <a:r>
              <a:rPr sz="950" i="1">
                <a:solidFill>
                  <a:srgbClr val="6B7280"/>
                </a:solidFill>
                <a:latin typeface="Calibri"/>
              </a:rPr>
              <a:t>n = 500 observations (5 methods × 5 alphas × 4 gammas × 5 sites). Index is significantly predictive when heterogeneity exists, sign flips at near-IID</a:t>
            </a:r>
          </a:p>
        </p:txBody>
      </p:sp>
      <p:sp>
        <p:nvSpPr>
          <p:cNvPr id="5" name="TextBox 4"/>
          <p:cNvSpPr txBox="1"/>
          <p:nvPr/>
        </p:nvSpPr>
        <p:spPr>
          <a:xfrm>
            <a:off x="320040" y="1005840"/>
            <a:ext cx="8503920" cy="201168"/>
          </a:xfrm>
          <a:prstGeom prst="rect">
            <a:avLst/>
          </a:prstGeom>
          <a:noFill/>
        </p:spPr>
        <p:txBody>
          <a:bodyPr wrap="square" lIns="0" tIns="0" rIns="0" bIns="0">
            <a:spAutoFit/>
          </a:bodyPr>
          <a:lstStyle/>
          <a:p>
            <a:r>
              <a:rPr sz="950" b="1">
                <a:solidFill>
                  <a:srgbClr val="374151"/>
                </a:solidFill>
                <a:latin typeface="Calibri"/>
              </a:rPr>
              <a:t>CORRELATION BY REGIME  (pooled across all 5 methods)</a:t>
            </a:r>
          </a:p>
        </p:txBody>
      </p:sp>
      <p:cxnSp>
        <p:nvCxnSpPr>
          <p:cNvPr id="6" name="Connector 5"/>
          <p:cNvCxnSpPr/>
          <p:nvPr/>
        </p:nvCxnSpPr>
        <p:spPr>
          <a:xfrm>
            <a:off x="320040" y="1216152"/>
            <a:ext cx="8503920" cy="0"/>
          </a:xfrm>
          <a:prstGeom prst="line">
            <a:avLst/>
          </a:prstGeom>
          <a:ln w="9525">
            <a:solidFill>
              <a:srgbClr val="AAAAAA"/>
            </a:solidFill>
          </a:ln>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20040" y="1298448"/>
          <a:ext cx="8503918" cy="996696"/>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1874519">
                  <a:extLst>
                    <a:ext uri="{9D8B030D-6E8A-4147-A177-3AD203B41FA5}">
                      <a16:colId xmlns:a16="http://schemas.microsoft.com/office/drawing/2014/main" val="20002"/>
                    </a:ext>
                  </a:extLst>
                </a:gridCol>
                <a:gridCol w="1874519">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246888">
                <a:tc>
                  <a:txBody>
                    <a:bodyPr/>
                    <a:lstStyle/>
                    <a:p>
                      <a:pPr algn="ctr"/>
                      <a:r>
                        <a:rPr sz="850" b="1" i="0">
                          <a:solidFill>
                            <a:srgbClr val="FFFFFF"/>
                          </a:solidFill>
                          <a:latin typeface="Calibri"/>
                        </a:rPr>
                        <a:t>Regime</a:t>
                      </a:r>
                    </a:p>
                  </a:txBody>
                  <a:tcPr marL="45720" marR="45720" marT="18288" marB="18288" anchor="ctr">
                    <a:solidFill>
                      <a:srgbClr val="1D4ED8"/>
                    </a:solidFill>
                  </a:tcPr>
                </a:tc>
                <a:tc>
                  <a:txBody>
                    <a:bodyPr/>
                    <a:lstStyle/>
                    <a:p>
                      <a:pPr algn="ctr"/>
                      <a:r>
                        <a:rPr sz="850" b="1" i="0">
                          <a:solidFill>
                            <a:srgbClr val="FFFFFF"/>
                          </a:solidFill>
                          <a:latin typeface="Calibri"/>
                        </a:rPr>
                        <a:t>n</a:t>
                      </a:r>
                    </a:p>
                  </a:txBody>
                  <a:tcPr marL="45720" marR="45720" marT="18288" marB="18288" anchor="ctr">
                    <a:solidFill>
                      <a:srgbClr val="1D4ED8"/>
                    </a:solidFill>
                  </a:tcPr>
                </a:tc>
                <a:tc>
                  <a:txBody>
                    <a:bodyPr/>
                    <a:lstStyle/>
                    <a:p>
                      <a:pPr algn="ctr"/>
                      <a:r>
                        <a:rPr sz="850" b="1" i="0">
                          <a:solidFill>
                            <a:srgbClr val="FFFFFF"/>
                          </a:solidFill>
                          <a:latin typeface="Calibri"/>
                        </a:rPr>
                        <a:t>Spearman ρ (p)</a:t>
                      </a:r>
                    </a:p>
                  </a:txBody>
                  <a:tcPr marL="45720" marR="45720" marT="18288" marB="18288" anchor="ctr">
                    <a:solidFill>
                      <a:srgbClr val="1D4ED8"/>
                    </a:solidFill>
                  </a:tcPr>
                </a:tc>
                <a:tc>
                  <a:txBody>
                    <a:bodyPr/>
                    <a:lstStyle/>
                    <a:p>
                      <a:pPr algn="ctr"/>
                      <a:r>
                        <a:rPr sz="850" b="1" i="0">
                          <a:solidFill>
                            <a:srgbClr val="FFFFFF"/>
                          </a:solidFill>
                          <a:latin typeface="Calibri"/>
                        </a:rPr>
                        <a:t>Pearson r (p)</a:t>
                      </a:r>
                    </a:p>
                  </a:txBody>
                  <a:tcPr marL="45720" marR="45720" marT="18288" marB="18288" anchor="ctr">
                    <a:solidFill>
                      <a:srgbClr val="1D4ED8"/>
                    </a:solidFill>
                  </a:tcPr>
                </a:tc>
                <a:tc>
                  <a:txBody>
                    <a:bodyPr/>
                    <a:lstStyle/>
                    <a:p>
                      <a:pPr algn="ctr"/>
                      <a:r>
                        <a:rPr sz="850" b="1" i="0">
                          <a:solidFill>
                            <a:srgbClr val="FFFFFF"/>
                          </a:solidFill>
                          <a:latin typeface="Calibri"/>
                        </a:rPr>
                        <a:t>Interpretation</a:t>
                      </a:r>
                    </a:p>
                  </a:txBody>
                  <a:tcPr marL="45720" marR="45720" marT="18288" marB="18288" anchor="ctr">
                    <a:solidFill>
                      <a:srgbClr val="1D4ED8"/>
                    </a:solidFill>
                  </a:tcPr>
                </a:tc>
                <a:extLst>
                  <a:ext uri="{0D108BD9-81ED-4DB2-BD59-A6C34878D82A}">
                    <a16:rowId xmlns:a16="http://schemas.microsoft.com/office/drawing/2014/main" val="10000"/>
                  </a:ext>
                </a:extLst>
              </a:tr>
              <a:tr h="237744">
                <a:tc>
                  <a:txBody>
                    <a:bodyPr/>
                    <a:lstStyle/>
                    <a:p>
                      <a:pPr algn="l"/>
                      <a:r>
                        <a:rPr sz="830" b="1" i="0">
                          <a:solidFill>
                            <a:srgbClr val="1F2937"/>
                          </a:solidFill>
                          <a:latin typeface="Calibri"/>
                        </a:rPr>
                        <a:t>Strong heterogeneity  (α ≤ 0.5)</a:t>
                      </a:r>
                    </a:p>
                  </a:txBody>
                  <a:tcPr marL="45720" marR="45720" marT="18288" marB="18288" anchor="ctr">
                    <a:solidFill>
                      <a:srgbClr val="FFFFFF"/>
                    </a:solidFill>
                  </a:tcPr>
                </a:tc>
                <a:tc>
                  <a:txBody>
                    <a:bodyPr/>
                    <a:lstStyle/>
                    <a:p>
                      <a:pPr algn="ctr"/>
                      <a:r>
                        <a:rPr sz="850" b="0" i="0">
                          <a:solidFill>
                            <a:srgbClr val="374151"/>
                          </a:solidFill>
                          <a:latin typeface="Calibri"/>
                        </a:rPr>
                        <a:t>300</a:t>
                      </a:r>
                    </a:p>
                  </a:txBody>
                  <a:tcPr marL="45720" marR="45720" marT="18288" marB="18288" anchor="ctr">
                    <a:solidFill>
                      <a:srgbClr val="FFFFFF"/>
                    </a:solidFill>
                  </a:tcPr>
                </a:tc>
                <a:tc>
                  <a:txBody>
                    <a:bodyPr/>
                    <a:lstStyle/>
                    <a:p>
                      <a:pPr algn="ctr"/>
                      <a:r>
                        <a:rPr sz="830" b="1" i="0">
                          <a:solidFill>
                            <a:srgbClr val="15803D"/>
                          </a:solidFill>
                          <a:latin typeface="Calibri"/>
                        </a:rPr>
                        <a:t>+0.342 (p &lt; 0.0001) ***</a:t>
                      </a:r>
                    </a:p>
                  </a:txBody>
                  <a:tcPr marL="45720" marR="45720" marT="18288" marB="18288" anchor="ctr">
                    <a:solidFill>
                      <a:srgbClr val="FFFFFF"/>
                    </a:solidFill>
                  </a:tcPr>
                </a:tc>
                <a:tc>
                  <a:txBody>
                    <a:bodyPr/>
                    <a:lstStyle/>
                    <a:p>
                      <a:pPr algn="ctr"/>
                      <a:r>
                        <a:rPr sz="830" b="1" i="0">
                          <a:solidFill>
                            <a:srgbClr val="15803D"/>
                          </a:solidFill>
                          <a:latin typeface="Calibri"/>
                        </a:rPr>
                        <a:t>+0.279 (p &lt; 0.0001) ***</a:t>
                      </a:r>
                    </a:p>
                  </a:txBody>
                  <a:tcPr marL="45720" marR="45720" marT="18288" marB="18288" anchor="ctr">
                    <a:solidFill>
                      <a:srgbClr val="FFFFFF"/>
                    </a:solidFill>
                  </a:tcPr>
                </a:tc>
                <a:tc>
                  <a:txBody>
                    <a:bodyPr/>
                    <a:lstStyle/>
                    <a:p>
                      <a:pPr algn="l"/>
                      <a:r>
                        <a:rPr sz="780" b="0" i="0">
                          <a:solidFill>
                            <a:srgbClr val="374151"/>
                          </a:solidFill>
                          <a:latin typeface="Calibri"/>
                        </a:rPr>
                        <a:t>Index significantly predicts FL benefit</a:t>
                      </a:r>
                    </a:p>
                  </a:txBody>
                  <a:tcPr marL="45720" marR="45720" marT="18288" marB="18288" anchor="ctr">
                    <a:solidFill>
                      <a:srgbClr val="FFFFFF"/>
                    </a:solidFill>
                  </a:tcPr>
                </a:tc>
                <a:extLst>
                  <a:ext uri="{0D108BD9-81ED-4DB2-BD59-A6C34878D82A}">
                    <a16:rowId xmlns:a16="http://schemas.microsoft.com/office/drawing/2014/main" val="10001"/>
                  </a:ext>
                </a:extLst>
              </a:tr>
              <a:tr h="237744">
                <a:tc>
                  <a:txBody>
                    <a:bodyPr/>
                    <a:lstStyle/>
                    <a:p>
                      <a:pPr algn="l"/>
                      <a:r>
                        <a:rPr sz="830" b="1" i="0">
                          <a:solidFill>
                            <a:srgbClr val="1F2937"/>
                          </a:solidFill>
                          <a:latin typeface="Calibri"/>
                        </a:rPr>
                        <a:t>Moderate heterogeneity  (α = 1.0)</a:t>
                      </a:r>
                    </a:p>
                  </a:txBody>
                  <a:tcPr marL="45720" marR="45720" marT="18288" marB="18288" anchor="ctr">
                    <a:solidFill>
                      <a:srgbClr val="F5F5F5"/>
                    </a:solidFill>
                  </a:tcPr>
                </a:tc>
                <a:tc>
                  <a:txBody>
                    <a:bodyPr/>
                    <a:lstStyle/>
                    <a:p>
                      <a:pPr algn="ctr"/>
                      <a:r>
                        <a:rPr sz="850" b="0" i="0">
                          <a:solidFill>
                            <a:srgbClr val="374151"/>
                          </a:solidFill>
                          <a:latin typeface="Calibri"/>
                        </a:rPr>
                        <a:t>100</a:t>
                      </a:r>
                    </a:p>
                  </a:txBody>
                  <a:tcPr marL="45720" marR="45720" marT="18288" marB="18288" anchor="ctr">
                    <a:solidFill>
                      <a:srgbClr val="F5F5F5"/>
                    </a:solidFill>
                  </a:tcPr>
                </a:tc>
                <a:tc>
                  <a:txBody>
                    <a:bodyPr/>
                    <a:lstStyle/>
                    <a:p>
                      <a:pPr algn="ctr"/>
                      <a:r>
                        <a:rPr sz="830" b="1" i="0">
                          <a:solidFill>
                            <a:srgbClr val="15803D"/>
                          </a:solidFill>
                          <a:latin typeface="Calibri"/>
                        </a:rPr>
                        <a:t>+0.360 (p = 0.0002) ***</a:t>
                      </a:r>
                    </a:p>
                  </a:txBody>
                  <a:tcPr marL="45720" marR="45720" marT="18288" marB="18288" anchor="ctr">
                    <a:solidFill>
                      <a:srgbClr val="F5F5F5"/>
                    </a:solidFill>
                  </a:tcPr>
                </a:tc>
                <a:tc>
                  <a:txBody>
                    <a:bodyPr/>
                    <a:lstStyle/>
                    <a:p>
                      <a:pPr algn="ctr"/>
                      <a:r>
                        <a:rPr sz="830" b="1" i="0">
                          <a:solidFill>
                            <a:srgbClr val="15803D"/>
                          </a:solidFill>
                          <a:latin typeface="Calibri"/>
                        </a:rPr>
                        <a:t>+0.277 (p = 0.0053) **</a:t>
                      </a:r>
                    </a:p>
                  </a:txBody>
                  <a:tcPr marL="45720" marR="45720" marT="18288" marB="18288" anchor="ctr">
                    <a:solidFill>
                      <a:srgbClr val="F5F5F5"/>
                    </a:solidFill>
                  </a:tcPr>
                </a:tc>
                <a:tc>
                  <a:txBody>
                    <a:bodyPr/>
                    <a:lstStyle/>
                    <a:p>
                      <a:pPr algn="l"/>
                      <a:r>
                        <a:rPr sz="780" b="0" i="0">
                          <a:solidFill>
                            <a:srgbClr val="374151"/>
                          </a:solidFill>
                          <a:latin typeface="Calibri"/>
                        </a:rPr>
                        <a:t>Index still significantly predicts</a:t>
                      </a:r>
                    </a:p>
                  </a:txBody>
                  <a:tcPr marL="45720" marR="45720" marT="18288" marB="18288" anchor="ctr">
                    <a:solidFill>
                      <a:srgbClr val="F5F5F5"/>
                    </a:solidFill>
                  </a:tcPr>
                </a:tc>
                <a:extLst>
                  <a:ext uri="{0D108BD9-81ED-4DB2-BD59-A6C34878D82A}">
                    <a16:rowId xmlns:a16="http://schemas.microsoft.com/office/drawing/2014/main" val="10002"/>
                  </a:ext>
                </a:extLst>
              </a:tr>
              <a:tr h="237744">
                <a:tc>
                  <a:txBody>
                    <a:bodyPr/>
                    <a:lstStyle/>
                    <a:p>
                      <a:pPr algn="l"/>
                      <a:r>
                        <a:rPr sz="830" b="1" i="0">
                          <a:solidFill>
                            <a:srgbClr val="1F2937"/>
                          </a:solidFill>
                          <a:latin typeface="Calibri"/>
                        </a:rPr>
                        <a:t>Near-IID  (α = 10)</a:t>
                      </a:r>
                    </a:p>
                  </a:txBody>
                  <a:tcPr marL="45720" marR="45720" marT="18288" marB="18288" anchor="ctr">
                    <a:solidFill>
                      <a:srgbClr val="FFFFFF"/>
                    </a:solidFill>
                  </a:tcPr>
                </a:tc>
                <a:tc>
                  <a:txBody>
                    <a:bodyPr/>
                    <a:lstStyle/>
                    <a:p>
                      <a:pPr algn="ctr"/>
                      <a:r>
                        <a:rPr sz="850" b="0" i="0">
                          <a:solidFill>
                            <a:srgbClr val="374151"/>
                          </a:solidFill>
                          <a:latin typeface="Calibri"/>
                        </a:rPr>
                        <a:t>100</a:t>
                      </a:r>
                    </a:p>
                  </a:txBody>
                  <a:tcPr marL="45720" marR="45720" marT="18288" marB="18288" anchor="ctr">
                    <a:solidFill>
                      <a:srgbClr val="FFFFFF"/>
                    </a:solidFill>
                  </a:tcPr>
                </a:tc>
                <a:tc>
                  <a:txBody>
                    <a:bodyPr/>
                    <a:lstStyle/>
                    <a:p>
                      <a:pPr algn="ctr"/>
                      <a:r>
                        <a:rPr sz="830" b="1" i="0">
                          <a:solidFill>
                            <a:srgbClr val="B91C1C"/>
                          </a:solidFill>
                          <a:latin typeface="Calibri"/>
                        </a:rPr>
                        <a:t>−0.130 (p = 0.196) n.s.</a:t>
                      </a:r>
                    </a:p>
                  </a:txBody>
                  <a:tcPr marL="45720" marR="45720" marT="18288" marB="18288" anchor="ctr">
                    <a:solidFill>
                      <a:srgbClr val="FFFFFF"/>
                    </a:solidFill>
                  </a:tcPr>
                </a:tc>
                <a:tc>
                  <a:txBody>
                    <a:bodyPr/>
                    <a:lstStyle/>
                    <a:p>
                      <a:pPr algn="ctr"/>
                      <a:r>
                        <a:rPr sz="830" b="1" i="0">
                          <a:solidFill>
                            <a:srgbClr val="C46A1F"/>
                          </a:solidFill>
                          <a:latin typeface="Calibri"/>
                        </a:rPr>
                        <a:t>−0.027 (p = 0.786) n.s.</a:t>
                      </a:r>
                    </a:p>
                  </a:txBody>
                  <a:tcPr marL="45720" marR="45720" marT="18288" marB="18288" anchor="ctr">
                    <a:solidFill>
                      <a:srgbClr val="FFFFFF"/>
                    </a:solidFill>
                  </a:tcPr>
                </a:tc>
                <a:tc>
                  <a:txBody>
                    <a:bodyPr/>
                    <a:lstStyle/>
                    <a:p>
                      <a:pPr algn="l"/>
                      <a:r>
                        <a:rPr sz="780" b="0" i="0">
                          <a:solidFill>
                            <a:srgbClr val="374151"/>
                          </a:solidFill>
                          <a:latin typeface="Calibri"/>
                        </a:rPr>
                        <a:t>Sign flips, not significant — no heterogeneity to predict</a:t>
                      </a:r>
                    </a:p>
                  </a:txBody>
                  <a:tcPr marL="45720" marR="45720"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320040" y="2331720"/>
            <a:ext cx="8503920" cy="502920"/>
          </a:xfrm>
          <a:prstGeom prst="rect">
            <a:avLst/>
          </a:prstGeom>
          <a:noFill/>
        </p:spPr>
        <p:txBody>
          <a:bodyPr wrap="square" lIns="0" tIns="0" rIns="0" bIns="0">
            <a:spAutoFit/>
          </a:bodyPr>
          <a:lstStyle/>
          <a:p>
            <a:pPr>
              <a:buNone/>
            </a:pPr>
            <a:r>
              <a:rPr sz="830" b="1">
                <a:solidFill>
                  <a:srgbClr val="374151"/>
                </a:solidFill>
                <a:latin typeface="Calibri"/>
              </a:rPr>
              <a:t>Key finding: </a:t>
            </a:r>
            <a:r>
              <a:rPr sz="830" b="0">
                <a:solidFill>
                  <a:srgbClr val="6B7280"/>
                </a:solidFill>
                <a:latin typeface="Calibri"/>
              </a:rPr>
              <a:t>with the full 100-run sweep (n=500 paired observations), the FL-gain index is highly statistically significant for predicting FL benefit when meaningful site heterogeneity exists (p &lt; 0.0001 at α ≤ 0.5; p = 0.0002 at α = 1.0). Near-IID conditions (α = 10) show the correlation sign flips and loses significance, confirming the index is mechanistically tracking heterogeneity-driven FL benefit, not an artifact. Per-method analysis (Slide 16) shows the index is most predictive for methods with adaptive components (SCAFFOLD ρ=+0.44, FedAdapt ρ=+0.46, FedAdaptProto ρ=+0.38, all p&lt;0.001) and weaker for plain averaging baselines.</a:t>
            </a:r>
          </a:p>
        </p:txBody>
      </p:sp>
      <p:pic>
        <p:nvPicPr>
          <p:cNvPr id="9" name="Picture 8" descr="fl_gain_pooled_n500.png"/>
          <p:cNvPicPr>
            <a:picLocks noChangeAspect="1"/>
          </p:cNvPicPr>
          <p:nvPr/>
        </p:nvPicPr>
        <p:blipFill>
          <a:blip r:embed="rId2"/>
          <a:stretch>
            <a:fillRect/>
          </a:stretch>
        </p:blipFill>
        <p:spPr>
          <a:xfrm>
            <a:off x="758773" y="2907792"/>
            <a:ext cx="7626452" cy="218998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2"/>
        <p:cNvGrpSpPr/>
        <p:nvPr/>
      </p:nvGrpSpPr>
      <p:grpSpPr>
        <a:xfrm>
          <a:off x="0" y="0"/>
          <a:ext cx="0" cy="0"/>
          <a:chOff x="0" y="0"/>
          <a:chExt cx="0" cy="0"/>
        </a:xfrm>
      </p:grpSpPr>
      <p:sp>
        <p:nvSpPr>
          <p:cNvPr id="2" name="TextBox 1"/>
          <p:cNvSpPr txBox="1"/>
          <p:nvPr/>
        </p:nvSpPr>
        <p:spPr>
          <a:xfrm>
            <a:off x="320040" y="73152"/>
            <a:ext cx="8503920" cy="548640"/>
          </a:xfrm>
          <a:prstGeom prst="rect">
            <a:avLst/>
          </a:prstGeom>
          <a:noFill/>
        </p:spPr>
        <p:txBody>
          <a:bodyPr wrap="square" lIns="0" tIns="0" rIns="0" bIns="0">
            <a:spAutoFit/>
          </a:bodyPr>
          <a:lstStyle/>
          <a:p>
            <a:pPr algn="l">
              <a:spcBef>
                <a:spcPts val="0"/>
              </a:spcBef>
              <a:buNone/>
            </a:pPr>
            <a:r>
              <a:rPr sz="2100" b="1" i="0">
                <a:solidFill>
                  <a:srgbClr val="1F2937"/>
                </a:solidFill>
                <a:latin typeface="Calibri"/>
              </a:rPr>
              <a:t>Simulation Pipeline so far</a:t>
            </a:r>
          </a:p>
        </p:txBody>
      </p:sp>
      <p:sp>
        <p:nvSpPr>
          <p:cNvPr id="3" name="Rectangle 2"/>
          <p:cNvSpPr/>
          <p:nvPr/>
        </p:nvSpPr>
        <p:spPr>
          <a:xfrm>
            <a:off x="0" y="763524"/>
            <a:ext cx="9144000" cy="3657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841248"/>
            <a:ext cx="8503920" cy="201168"/>
          </a:xfrm>
          <a:prstGeom prst="rect">
            <a:avLst/>
          </a:prstGeom>
          <a:noFill/>
        </p:spPr>
        <p:txBody>
          <a:bodyPr wrap="square" lIns="0" tIns="0" rIns="0" bIns="0">
            <a:spAutoFit/>
          </a:bodyPr>
          <a:lstStyle/>
          <a:p>
            <a:pPr algn="l">
              <a:spcBef>
                <a:spcPts val="0"/>
              </a:spcBef>
              <a:buNone/>
            </a:pPr>
            <a:r>
              <a:rPr sz="1000" b="0" i="1">
                <a:solidFill>
                  <a:srgbClr val="6B7280"/>
                </a:solidFill>
                <a:latin typeface="Calibri"/>
              </a:rPr>
              <a:t>From a single MIMIC-IV patient file to 5 heterogeneous federated site CSVs (Approach 2)</a:t>
            </a:r>
          </a:p>
        </p:txBody>
      </p:sp>
      <p:sp>
        <p:nvSpPr>
          <p:cNvPr id="5" name="Rectangle 4"/>
          <p:cNvSpPr/>
          <p:nvPr/>
        </p:nvSpPr>
        <p:spPr>
          <a:xfrm>
            <a:off x="320040" y="1115568"/>
            <a:ext cx="2029968" cy="1234440"/>
          </a:xfrm>
          <a:prstGeom prst="rect">
            <a:avLst/>
          </a:prstGeom>
          <a:solidFill>
            <a:srgbClr val="FFFFFF"/>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115568"/>
            <a:ext cx="2029968" cy="292608"/>
          </a:xfrm>
          <a:prstGeom prst="rect">
            <a:avLst/>
          </a:prstGeom>
          <a:solidFill>
            <a:srgbClr val="37415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tlCol="0" anchor="ctr"/>
          <a:lstStyle/>
          <a:p>
            <a:pPr algn="l"/>
            <a:r>
              <a:rPr sz="950" b="1">
                <a:solidFill>
                  <a:srgbClr val="FFFFFF"/>
                </a:solidFill>
                <a:latin typeface="Calibri"/>
              </a:rPr>
              <a:t>1   LOAD MIMIC-IV</a:t>
            </a:r>
          </a:p>
        </p:txBody>
      </p:sp>
      <p:sp>
        <p:nvSpPr>
          <p:cNvPr id="7" name="TextBox 6"/>
          <p:cNvSpPr txBox="1"/>
          <p:nvPr/>
        </p:nvSpPr>
        <p:spPr>
          <a:xfrm>
            <a:off x="411479" y="1499616"/>
            <a:ext cx="1847088" cy="777240"/>
          </a:xfrm>
          <a:prstGeom prst="rect">
            <a:avLst/>
          </a:prstGeom>
          <a:noFill/>
        </p:spPr>
        <p:txBody>
          <a:bodyPr wrap="square" lIns="0" tIns="0" rIns="0" bIns="0">
            <a:spAutoFit/>
          </a:bodyPr>
          <a:lstStyle/>
          <a:p>
            <a:pPr algn="l">
              <a:spcBef>
                <a:spcPts val="0"/>
              </a:spcBef>
              <a:buNone/>
            </a:pPr>
            <a:r>
              <a:rPr sz="800" b="0" i="0">
                <a:solidFill>
                  <a:srgbClr val="374151"/>
                </a:solidFill>
                <a:latin typeface="Calibri"/>
              </a:rPr>
              <a:t>aki_anchor_based_48h_lookback.csv</a:t>
            </a:r>
          </a:p>
          <a:p>
            <a:pPr algn="l">
              <a:spcBef>
                <a:spcPts val="400"/>
              </a:spcBef>
              <a:buNone/>
            </a:pPr>
            <a:r>
              <a:rPr sz="800" b="0" i="0">
                <a:solidFill>
                  <a:srgbClr val="374151"/>
                </a:solidFill>
                <a:latin typeface="Calibri"/>
              </a:rPr>
              <a:t>107,203 patients</a:t>
            </a:r>
          </a:p>
          <a:p>
            <a:pPr algn="l">
              <a:spcBef>
                <a:spcPts val="400"/>
              </a:spcBef>
              <a:buNone/>
            </a:pPr>
            <a:r>
              <a:rPr sz="800" b="0" i="0">
                <a:solidFill>
                  <a:srgbClr val="374151"/>
                </a:solidFill>
                <a:latin typeface="Calibri"/>
              </a:rPr>
              <a:t>AKI rate ~9.0%  (anchor)</a:t>
            </a:r>
          </a:p>
        </p:txBody>
      </p:sp>
      <p:sp>
        <p:nvSpPr>
          <p:cNvPr id="8" name="TextBox 7"/>
          <p:cNvSpPr txBox="1"/>
          <p:nvPr/>
        </p:nvSpPr>
        <p:spPr>
          <a:xfrm>
            <a:off x="2350008" y="1623060"/>
            <a:ext cx="109728" cy="219456"/>
          </a:xfrm>
          <a:prstGeom prst="rect">
            <a:avLst/>
          </a:prstGeom>
          <a:noFill/>
        </p:spPr>
        <p:txBody>
          <a:bodyPr wrap="none" lIns="0" rIns="0">
            <a:spAutoFit/>
          </a:bodyPr>
          <a:lstStyle/>
          <a:p>
            <a:pPr algn="ctr"/>
            <a:r>
              <a:rPr sz="1200" b="1">
                <a:solidFill>
                  <a:srgbClr val="6B7280"/>
                </a:solidFill>
              </a:rPr>
              <a:t>→</a:t>
            </a:r>
          </a:p>
        </p:txBody>
      </p:sp>
      <p:sp>
        <p:nvSpPr>
          <p:cNvPr id="9" name="Rectangle 8"/>
          <p:cNvSpPr/>
          <p:nvPr/>
        </p:nvSpPr>
        <p:spPr>
          <a:xfrm>
            <a:off x="2459736" y="1115568"/>
            <a:ext cx="2029968" cy="1234440"/>
          </a:xfrm>
          <a:prstGeom prst="rect">
            <a:avLst/>
          </a:prstGeom>
          <a:solidFill>
            <a:srgbClr val="FFFFFF"/>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459736" y="1115568"/>
            <a:ext cx="2029968" cy="292608"/>
          </a:xfrm>
          <a:prstGeom prst="rect">
            <a:avLst/>
          </a:prstGeom>
          <a:solidFill>
            <a:srgbClr val="37415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tlCol="0" anchor="ctr"/>
          <a:lstStyle/>
          <a:p>
            <a:pPr algn="l"/>
            <a:r>
              <a:rPr sz="950" b="1">
                <a:solidFill>
                  <a:srgbClr val="FFFFFF"/>
                </a:solidFill>
                <a:latin typeface="Calibri"/>
              </a:rPr>
              <a:t>2   FEATURE GROUPING</a:t>
            </a:r>
          </a:p>
        </p:txBody>
      </p:sp>
      <p:sp>
        <p:nvSpPr>
          <p:cNvPr id="11" name="TextBox 10"/>
          <p:cNvSpPr txBox="1"/>
          <p:nvPr/>
        </p:nvSpPr>
        <p:spPr>
          <a:xfrm>
            <a:off x="2551176" y="1499616"/>
            <a:ext cx="1847088" cy="777240"/>
          </a:xfrm>
          <a:prstGeom prst="rect">
            <a:avLst/>
          </a:prstGeom>
          <a:noFill/>
        </p:spPr>
        <p:txBody>
          <a:bodyPr wrap="square" lIns="0" tIns="0" rIns="0" bIns="0">
            <a:spAutoFit/>
          </a:bodyPr>
          <a:lstStyle/>
          <a:p>
            <a:pPr algn="l">
              <a:spcBef>
                <a:spcPts val="0"/>
              </a:spcBef>
              <a:buNone/>
            </a:pPr>
            <a:r>
              <a:rPr sz="800" b="0" i="0">
                <a:solidFill>
                  <a:srgbClr val="374151"/>
                </a:solidFill>
                <a:latin typeface="Calibri"/>
              </a:rPr>
              <a:t>Renal (12)  ·  Hemodynamic (35)</a:t>
            </a:r>
          </a:p>
          <a:p>
            <a:pPr algn="l">
              <a:spcBef>
                <a:spcPts val="400"/>
              </a:spcBef>
              <a:buNone/>
            </a:pPr>
            <a:r>
              <a:rPr sz="800" b="0" i="0">
                <a:solidFill>
                  <a:srgbClr val="374151"/>
                </a:solidFill>
                <a:latin typeface="Calibri"/>
              </a:rPr>
              <a:t>Inflammatory (15)  ·  Metabolic (35)</a:t>
            </a:r>
          </a:p>
          <a:p>
            <a:pPr algn="l">
              <a:spcBef>
                <a:spcPts val="400"/>
              </a:spcBef>
              <a:buNone/>
            </a:pPr>
            <a:r>
              <a:rPr sz="800" b="0" i="0">
                <a:solidFill>
                  <a:srgbClr val="374151"/>
                </a:solidFill>
                <a:latin typeface="Calibri"/>
              </a:rPr>
              <a:t>Clinical (12)   =  109 total</a:t>
            </a:r>
          </a:p>
        </p:txBody>
      </p:sp>
      <p:sp>
        <p:nvSpPr>
          <p:cNvPr id="12" name="TextBox 11"/>
          <p:cNvSpPr txBox="1"/>
          <p:nvPr/>
        </p:nvSpPr>
        <p:spPr>
          <a:xfrm>
            <a:off x="4489704" y="1623060"/>
            <a:ext cx="109728" cy="219456"/>
          </a:xfrm>
          <a:prstGeom prst="rect">
            <a:avLst/>
          </a:prstGeom>
          <a:noFill/>
        </p:spPr>
        <p:txBody>
          <a:bodyPr wrap="none" lIns="0" rIns="0">
            <a:spAutoFit/>
          </a:bodyPr>
          <a:lstStyle/>
          <a:p>
            <a:pPr algn="ctr"/>
            <a:r>
              <a:rPr sz="1200" b="1">
                <a:solidFill>
                  <a:srgbClr val="6B7280"/>
                </a:solidFill>
              </a:rPr>
              <a:t>→</a:t>
            </a:r>
          </a:p>
        </p:txBody>
      </p:sp>
      <p:sp>
        <p:nvSpPr>
          <p:cNvPr id="13" name="Rectangle 12"/>
          <p:cNvSpPr/>
          <p:nvPr/>
        </p:nvSpPr>
        <p:spPr>
          <a:xfrm>
            <a:off x="4599432" y="1115568"/>
            <a:ext cx="2029968" cy="1234440"/>
          </a:xfrm>
          <a:prstGeom prst="rect">
            <a:avLst/>
          </a:prstGeom>
          <a:solidFill>
            <a:srgbClr val="FFFFFF"/>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99432" y="1115568"/>
            <a:ext cx="2029968" cy="292608"/>
          </a:xfrm>
          <a:prstGeom prst="rect">
            <a:avLst/>
          </a:prstGeom>
          <a:solidFill>
            <a:srgbClr val="37415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tlCol="0" anchor="ctr"/>
          <a:lstStyle/>
          <a:p>
            <a:pPr algn="l"/>
            <a:r>
              <a:rPr sz="950" b="1">
                <a:solidFill>
                  <a:srgbClr val="FFFFFF"/>
                </a:solidFill>
                <a:latin typeface="Calibri"/>
              </a:rPr>
              <a:t>3   PREVALENCE-BLEND SAMPLING</a:t>
            </a:r>
          </a:p>
        </p:txBody>
      </p:sp>
      <p:sp>
        <p:nvSpPr>
          <p:cNvPr id="15" name="TextBox 14"/>
          <p:cNvSpPr txBox="1"/>
          <p:nvPr/>
        </p:nvSpPr>
        <p:spPr>
          <a:xfrm>
            <a:off x="4690872" y="1499616"/>
            <a:ext cx="1847088" cy="777240"/>
          </a:xfrm>
          <a:prstGeom prst="rect">
            <a:avLst/>
          </a:prstGeom>
          <a:noFill/>
        </p:spPr>
        <p:txBody>
          <a:bodyPr wrap="square" lIns="0" tIns="0" rIns="0" bIns="0">
            <a:spAutoFit/>
          </a:bodyPr>
          <a:lstStyle/>
          <a:p>
            <a:pPr algn="l">
              <a:spcBef>
                <a:spcPts val="0"/>
              </a:spcBef>
              <a:buNone/>
            </a:pPr>
            <a:r>
              <a:rPr sz="800" b="0" i="0">
                <a:solidFill>
                  <a:srgbClr val="374151"/>
                </a:solidFill>
                <a:latin typeface="Calibri"/>
              </a:rPr>
              <a:t>blend = α/(α+1)</a:t>
            </a:r>
          </a:p>
          <a:p>
            <a:pPr algn="l">
              <a:spcBef>
                <a:spcPts val="400"/>
              </a:spcBef>
              <a:buNone/>
            </a:pPr>
            <a:r>
              <a:rPr sz="800" b="0" i="0">
                <a:solidFill>
                  <a:srgbClr val="374151"/>
                </a:solidFill>
                <a:latin typeface="Calibri"/>
              </a:rPr>
              <a:t>target = (1−blend)×archetype</a:t>
            </a:r>
          </a:p>
          <a:p>
            <a:pPr algn="l">
              <a:spcBef>
                <a:spcPts val="400"/>
              </a:spcBef>
              <a:buNone/>
            </a:pPr>
            <a:r>
              <a:rPr sz="800" b="0" i="0">
                <a:solidFill>
                  <a:srgbClr val="374151"/>
                </a:solidFill>
                <a:latin typeface="Calibri"/>
              </a:rPr>
              <a:t>        + blend×global (9.0%)</a:t>
            </a:r>
          </a:p>
          <a:p>
            <a:pPr algn="l">
              <a:spcBef>
                <a:spcPts val="400"/>
              </a:spcBef>
              <a:buNone/>
            </a:pPr>
            <a:r>
              <a:rPr sz="800" b="0" i="0">
                <a:solidFill>
                  <a:srgbClr val="374151"/>
                </a:solidFill>
                <a:latin typeface="Calibri"/>
              </a:rPr>
              <a:t>N = 33,000 / site</a:t>
            </a:r>
          </a:p>
        </p:txBody>
      </p:sp>
      <p:sp>
        <p:nvSpPr>
          <p:cNvPr id="16" name="TextBox 15"/>
          <p:cNvSpPr txBox="1"/>
          <p:nvPr/>
        </p:nvSpPr>
        <p:spPr>
          <a:xfrm>
            <a:off x="6629400" y="1623060"/>
            <a:ext cx="109728" cy="219456"/>
          </a:xfrm>
          <a:prstGeom prst="rect">
            <a:avLst/>
          </a:prstGeom>
          <a:noFill/>
        </p:spPr>
        <p:txBody>
          <a:bodyPr wrap="none" lIns="0" rIns="0">
            <a:spAutoFit/>
          </a:bodyPr>
          <a:lstStyle/>
          <a:p>
            <a:pPr algn="ctr"/>
            <a:r>
              <a:rPr sz="1200" b="1">
                <a:solidFill>
                  <a:srgbClr val="6B7280"/>
                </a:solidFill>
              </a:rPr>
              <a:t>→</a:t>
            </a:r>
          </a:p>
        </p:txBody>
      </p:sp>
      <p:sp>
        <p:nvSpPr>
          <p:cNvPr id="17" name="Rectangle 16"/>
          <p:cNvSpPr/>
          <p:nvPr/>
        </p:nvSpPr>
        <p:spPr>
          <a:xfrm>
            <a:off x="6739128" y="1115568"/>
            <a:ext cx="2029968" cy="1234440"/>
          </a:xfrm>
          <a:prstGeom prst="rect">
            <a:avLst/>
          </a:prstGeom>
          <a:solidFill>
            <a:srgbClr val="FFFFFF"/>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739128" y="1115568"/>
            <a:ext cx="2029968" cy="292608"/>
          </a:xfrm>
          <a:prstGeom prst="rect">
            <a:avLst/>
          </a:prstGeom>
          <a:solidFill>
            <a:srgbClr val="37415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tlCol="0" anchor="ctr"/>
          <a:lstStyle/>
          <a:p>
            <a:pPr algn="l"/>
            <a:r>
              <a:rPr sz="950" b="1">
                <a:solidFill>
                  <a:srgbClr val="FFFFFF"/>
                </a:solidFill>
                <a:latin typeface="Calibri"/>
              </a:rPr>
              <a:t>4   COVARIATE SHIFT + MASKING</a:t>
            </a:r>
          </a:p>
        </p:txBody>
      </p:sp>
      <p:sp>
        <p:nvSpPr>
          <p:cNvPr id="19" name="TextBox 18"/>
          <p:cNvSpPr txBox="1"/>
          <p:nvPr/>
        </p:nvSpPr>
        <p:spPr>
          <a:xfrm>
            <a:off x="6830568" y="1499616"/>
            <a:ext cx="1847088" cy="777240"/>
          </a:xfrm>
          <a:prstGeom prst="rect">
            <a:avLst/>
          </a:prstGeom>
          <a:noFill/>
        </p:spPr>
        <p:txBody>
          <a:bodyPr wrap="square" lIns="0" tIns="0" rIns="0" bIns="0">
            <a:spAutoFit/>
          </a:bodyPr>
          <a:lstStyle/>
          <a:p>
            <a:pPr algn="l">
              <a:spcBef>
                <a:spcPts val="0"/>
              </a:spcBef>
              <a:buNone/>
            </a:pPr>
            <a:r>
              <a:rPr sz="800" b="0" i="0">
                <a:solidFill>
                  <a:srgbClr val="374151"/>
                </a:solidFill>
                <a:latin typeface="Calibri"/>
              </a:rPr>
              <a:t>Mean shift + spread scale (γ)</a:t>
            </a:r>
          </a:p>
          <a:p>
            <a:pPr algn="l">
              <a:spcBef>
                <a:spcPts val="400"/>
              </a:spcBef>
              <a:buNone/>
            </a:pPr>
            <a:r>
              <a:rPr sz="800" b="0" i="0">
                <a:solidFill>
                  <a:srgbClr val="374151"/>
                </a:solidFill>
                <a:latin typeface="Calibri"/>
              </a:rPr>
              <a:t>per site's acuity_bias</a:t>
            </a:r>
          </a:p>
          <a:p>
            <a:pPr algn="l">
              <a:spcBef>
                <a:spcPts val="400"/>
              </a:spcBef>
              <a:buNone/>
            </a:pPr>
            <a:r>
              <a:rPr sz="800" b="0" i="0">
                <a:solidFill>
                  <a:srgbClr val="374151"/>
                </a:solidFill>
                <a:latin typeface="Calibri"/>
              </a:rPr>
              <a:t>Drop cols outside site's groups</a:t>
            </a:r>
          </a:p>
        </p:txBody>
      </p:sp>
      <p:sp>
        <p:nvSpPr>
          <p:cNvPr id="20" name="TextBox 19"/>
          <p:cNvSpPr txBox="1"/>
          <p:nvPr/>
        </p:nvSpPr>
        <p:spPr>
          <a:xfrm>
            <a:off x="320040" y="2404872"/>
            <a:ext cx="8503920" cy="182880"/>
          </a:xfrm>
          <a:prstGeom prst="rect">
            <a:avLst/>
          </a:prstGeom>
          <a:noFill/>
        </p:spPr>
        <p:txBody>
          <a:bodyPr wrap="square" lIns="0" tIns="0" rIns="0" bIns="0">
            <a:spAutoFit/>
          </a:bodyPr>
          <a:lstStyle/>
          <a:p>
            <a:pPr algn="l">
              <a:spcBef>
                <a:spcPts val="0"/>
              </a:spcBef>
              <a:buNone/>
            </a:pPr>
            <a:r>
              <a:rPr sz="830" b="0" i="1">
                <a:solidFill>
                  <a:srgbClr val="6B7280"/>
                </a:solidFill>
                <a:latin typeface="Calibri"/>
              </a:rPr>
              <a:t>↓   5 Site CSVs:  site_A_alpha{α}_gamma{γ}.csv  ·  site_B_...  ·  site_C_...  ·  site_D_...  ·  site_E_...   (no site_F — dropped in Approach 2)</a:t>
            </a:r>
          </a:p>
        </p:txBody>
      </p:sp>
      <p:graphicFrame>
        <p:nvGraphicFramePr>
          <p:cNvPr id="21" name="Table 20"/>
          <p:cNvGraphicFramePr>
            <a:graphicFrameLocks noGrp="1"/>
          </p:cNvGraphicFramePr>
          <p:nvPr/>
        </p:nvGraphicFramePr>
        <p:xfrm>
          <a:off x="320040" y="2679192"/>
          <a:ext cx="8503920" cy="1357884"/>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3200400">
                  <a:extLst>
                    <a:ext uri="{9D8B030D-6E8A-4147-A177-3AD203B41FA5}">
                      <a16:colId xmlns:a16="http://schemas.microsoft.com/office/drawing/2014/main" val="20006"/>
                    </a:ext>
                  </a:extLst>
                </a:gridCol>
              </a:tblGrid>
              <a:tr h="237744">
                <a:tc>
                  <a:txBody>
                    <a:bodyPr/>
                    <a:lstStyle/>
                    <a:p>
                      <a:pPr algn="ctr"/>
                      <a:r>
                        <a:rPr sz="800" b="1" i="0">
                          <a:solidFill>
                            <a:srgbClr val="FFFFFF"/>
                          </a:solidFill>
                          <a:latin typeface="Calibri"/>
                        </a:rPr>
                        <a:t>Site</a:t>
                      </a:r>
                    </a:p>
                  </a:txBody>
                  <a:tcPr marL="45720" marR="45720" marT="18288" marB="18288" anchor="ctr">
                    <a:solidFill>
                      <a:srgbClr val="1D4ED8"/>
                    </a:solidFill>
                  </a:tcPr>
                </a:tc>
                <a:tc>
                  <a:txBody>
                    <a:bodyPr/>
                    <a:lstStyle/>
                    <a:p>
                      <a:pPr algn="ctr"/>
                      <a:r>
                        <a:rPr sz="800" b="1" i="0">
                          <a:solidFill>
                            <a:srgbClr val="FFFFFF"/>
                          </a:solidFill>
                          <a:latin typeface="Calibri"/>
                        </a:rPr>
                        <a:t>Description</a:t>
                      </a:r>
                    </a:p>
                  </a:txBody>
                  <a:tcPr marL="45720" marR="45720" marT="18288" marB="18288" anchor="ctr">
                    <a:solidFill>
                      <a:srgbClr val="1D4ED8"/>
                    </a:solidFill>
                  </a:tcPr>
                </a:tc>
                <a:tc>
                  <a:txBody>
                    <a:bodyPr/>
                    <a:lstStyle/>
                    <a:p>
                      <a:pPr algn="ctr"/>
                      <a:r>
                        <a:rPr sz="800" b="1" i="0">
                          <a:solidFill>
                            <a:srgbClr val="FFFFFF"/>
                          </a:solidFill>
                          <a:latin typeface="Calibri"/>
                        </a:rPr>
                        <a:t>AKI prevalence</a:t>
                      </a:r>
                    </a:p>
                  </a:txBody>
                  <a:tcPr marL="45720" marR="45720" marT="18288" marB="18288" anchor="ctr">
                    <a:solidFill>
                      <a:srgbClr val="1D4ED8"/>
                    </a:solidFill>
                  </a:tcPr>
                </a:tc>
                <a:tc>
                  <a:txBody>
                    <a:bodyPr/>
                    <a:lstStyle/>
                    <a:p>
                      <a:pPr algn="ctr"/>
                      <a:r>
                        <a:rPr sz="800" b="1" i="0">
                          <a:solidFill>
                            <a:srgbClr val="FFFFFF"/>
                          </a:solidFill>
                          <a:latin typeface="Calibri"/>
                        </a:rPr>
                        <a:t>Labels?</a:t>
                      </a:r>
                    </a:p>
                  </a:txBody>
                  <a:tcPr marL="45720" marR="45720" marT="18288" marB="18288" anchor="ctr">
                    <a:solidFill>
                      <a:srgbClr val="1D4ED8"/>
                    </a:solidFill>
                  </a:tcPr>
                </a:tc>
                <a:tc>
                  <a:txBody>
                    <a:bodyPr/>
                    <a:lstStyle/>
                    <a:p>
                      <a:pPr algn="ctr"/>
                      <a:r>
                        <a:rPr sz="800" b="1" i="0">
                          <a:solidFill>
                            <a:srgbClr val="FFFFFF"/>
                          </a:solidFill>
                          <a:latin typeface="Calibri"/>
                        </a:rPr>
                        <a:t>N patients</a:t>
                      </a:r>
                    </a:p>
                  </a:txBody>
                  <a:tcPr marL="45720" marR="45720" marT="18288" marB="18288" anchor="ctr">
                    <a:solidFill>
                      <a:srgbClr val="1D4ED8"/>
                    </a:solidFill>
                  </a:tcPr>
                </a:tc>
                <a:tc>
                  <a:txBody>
                    <a:bodyPr/>
                    <a:lstStyle/>
                    <a:p>
                      <a:pPr algn="ctr"/>
                      <a:r>
                        <a:rPr sz="800" b="1" i="0">
                          <a:solidFill>
                            <a:srgbClr val="FFFFFF"/>
                          </a:solidFill>
                          <a:latin typeface="Calibri"/>
                        </a:rPr>
                        <a:t>N feat.</a:t>
                      </a:r>
                    </a:p>
                  </a:txBody>
                  <a:tcPr marL="45720" marR="45720" marT="18288" marB="18288" anchor="ctr">
                    <a:solidFill>
                      <a:srgbClr val="1D4ED8"/>
                    </a:solidFill>
                  </a:tcPr>
                </a:tc>
                <a:tc>
                  <a:txBody>
                    <a:bodyPr/>
                    <a:lstStyle/>
                    <a:p>
                      <a:pPr algn="ctr"/>
                      <a:r>
                        <a:rPr sz="800" b="1" i="0">
                          <a:solidFill>
                            <a:srgbClr val="FFFFFF"/>
                          </a:solidFill>
                          <a:latin typeface="Calibri"/>
                        </a:rPr>
                        <a:t>Feature groups</a:t>
                      </a:r>
                    </a:p>
                  </a:txBody>
                  <a:tcPr marL="45720" marR="45720" marT="18288" marB="18288" anchor="ctr">
                    <a:solidFill>
                      <a:srgbClr val="1D4ED8"/>
                    </a:solidFill>
                  </a:tcPr>
                </a:tc>
                <a:extLst>
                  <a:ext uri="{0D108BD9-81ED-4DB2-BD59-A6C34878D82A}">
                    <a16:rowId xmlns:a16="http://schemas.microsoft.com/office/drawing/2014/main" val="10000"/>
                  </a:ext>
                </a:extLst>
              </a:tr>
              <a:tr h="224028">
                <a:tc>
                  <a:txBody>
                    <a:bodyPr/>
                    <a:lstStyle/>
                    <a:p>
                      <a:pPr algn="l"/>
                      <a:r>
                        <a:rPr sz="800" b="1" i="0">
                          <a:solidFill>
                            <a:srgbClr val="1D4ED8"/>
                          </a:solidFill>
                          <a:latin typeface="Calibri"/>
                        </a:rPr>
                        <a:t>Site C</a:t>
                      </a:r>
                    </a:p>
                  </a:txBody>
                  <a:tcPr marL="45720" marR="45720" marT="18288" marB="18288" anchor="ctr">
                    <a:solidFill>
                      <a:srgbClr val="EFF6FF"/>
                    </a:solidFill>
                  </a:tcPr>
                </a:tc>
                <a:tc>
                  <a:txBody>
                    <a:bodyPr/>
                    <a:lstStyle/>
                    <a:p>
                      <a:pPr algn="l"/>
                      <a:r>
                        <a:rPr sz="770" b="0" i="0">
                          <a:solidFill>
                            <a:srgbClr val="374151"/>
                          </a:solidFill>
                          <a:latin typeface="Calibri"/>
                        </a:rPr>
                        <a:t>Academic anchor</a:t>
                      </a:r>
                    </a:p>
                  </a:txBody>
                  <a:tcPr marL="45720" marR="45720" marT="18288" marB="18288" anchor="ctr">
                    <a:solidFill>
                      <a:srgbClr val="EFF6FF"/>
                    </a:solidFill>
                  </a:tcPr>
                </a:tc>
                <a:tc>
                  <a:txBody>
                    <a:bodyPr/>
                    <a:lstStyle/>
                    <a:p>
                      <a:pPr algn="ctr"/>
                      <a:r>
                        <a:rPr sz="770" b="0" i="0">
                          <a:solidFill>
                            <a:srgbClr val="374151"/>
                          </a:solidFill>
                          <a:latin typeface="Calibri"/>
                        </a:rPr>
                        <a:t>9.0% (true rate)</a:t>
                      </a:r>
                    </a:p>
                  </a:txBody>
                  <a:tcPr marL="45720" marR="45720" marT="18288" marB="18288" anchor="ctr">
                    <a:solidFill>
                      <a:srgbClr val="EFF6FF"/>
                    </a:solidFill>
                  </a:tcPr>
                </a:tc>
                <a:tc>
                  <a:txBody>
                    <a:bodyPr/>
                    <a:lstStyle/>
                    <a:p>
                      <a:pPr algn="ctr"/>
                      <a:r>
                        <a:rPr sz="770" b="0" i="0">
                          <a:solidFill>
                            <a:srgbClr val="374151"/>
                          </a:solidFill>
                          <a:latin typeface="Calibri"/>
                        </a:rPr>
                        <a:t>Yes</a:t>
                      </a:r>
                    </a:p>
                  </a:txBody>
                  <a:tcPr marL="45720" marR="45720" marT="18288" marB="18288" anchor="ctr">
                    <a:solidFill>
                      <a:srgbClr val="EFF6FF"/>
                    </a:solidFill>
                  </a:tcPr>
                </a:tc>
                <a:tc>
                  <a:txBody>
                    <a:bodyPr/>
                    <a:lstStyle/>
                    <a:p>
                      <a:pPr algn="ctr"/>
                      <a:r>
                        <a:rPr sz="770" b="0" i="0">
                          <a:solidFill>
                            <a:srgbClr val="374151"/>
                          </a:solidFill>
                          <a:latin typeface="Calibri"/>
                        </a:rPr>
                        <a:t>33,000</a:t>
                      </a:r>
                    </a:p>
                  </a:txBody>
                  <a:tcPr marL="45720" marR="45720" marT="18288" marB="18288" anchor="ctr">
                    <a:solidFill>
                      <a:srgbClr val="EFF6FF"/>
                    </a:solidFill>
                  </a:tcPr>
                </a:tc>
                <a:tc>
                  <a:txBody>
                    <a:bodyPr/>
                    <a:lstStyle/>
                    <a:p>
                      <a:pPr algn="ctr"/>
                      <a:r>
                        <a:rPr sz="770" b="0" i="0">
                          <a:solidFill>
                            <a:srgbClr val="374151"/>
                          </a:solidFill>
                          <a:latin typeface="Calibri"/>
                        </a:rPr>
                        <a:t>109</a:t>
                      </a:r>
                    </a:p>
                  </a:txBody>
                  <a:tcPr marL="45720" marR="45720" marT="18288" marB="18288" anchor="ctr">
                    <a:solidFill>
                      <a:srgbClr val="EFF6FF"/>
                    </a:solidFill>
                  </a:tcPr>
                </a:tc>
                <a:tc>
                  <a:txBody>
                    <a:bodyPr/>
                    <a:lstStyle/>
                    <a:p>
                      <a:pPr algn="l"/>
                      <a:r>
                        <a:rPr sz="770" b="0" i="0">
                          <a:solidFill>
                            <a:srgbClr val="374151"/>
                          </a:solidFill>
                          <a:latin typeface="Calibri"/>
                        </a:rPr>
                        <a:t>All 5 groups</a:t>
                      </a:r>
                    </a:p>
                  </a:txBody>
                  <a:tcPr marL="45720" marR="45720" marT="18288" marB="18288" anchor="ctr">
                    <a:solidFill>
                      <a:srgbClr val="EFF6FF"/>
                    </a:solidFill>
                  </a:tcPr>
                </a:tc>
                <a:extLst>
                  <a:ext uri="{0D108BD9-81ED-4DB2-BD59-A6C34878D82A}">
                    <a16:rowId xmlns:a16="http://schemas.microsoft.com/office/drawing/2014/main" val="10001"/>
                  </a:ext>
                </a:extLst>
              </a:tr>
              <a:tr h="224028">
                <a:tc>
                  <a:txBody>
                    <a:bodyPr/>
                    <a:lstStyle/>
                    <a:p>
                      <a:pPr algn="l"/>
                      <a:r>
                        <a:rPr sz="800" b="0" i="0">
                          <a:solidFill>
                            <a:srgbClr val="1F2937"/>
                          </a:solidFill>
                          <a:latin typeface="Calibri"/>
                        </a:rPr>
                        <a:t>Site A</a:t>
                      </a:r>
                    </a:p>
                  </a:txBody>
                  <a:tcPr marL="45720" marR="45720" marT="18288" marB="18288" anchor="ctr">
                    <a:solidFill>
                      <a:srgbClr val="F5F5F5"/>
                    </a:solidFill>
                  </a:tcPr>
                </a:tc>
                <a:tc>
                  <a:txBody>
                    <a:bodyPr/>
                    <a:lstStyle/>
                    <a:p>
                      <a:pPr algn="l"/>
                      <a:r>
                        <a:rPr sz="770" b="0" i="0">
                          <a:solidFill>
                            <a:srgbClr val="374151"/>
                          </a:solidFill>
                          <a:latin typeface="Calibri"/>
                        </a:rPr>
                        <a:t>ICU / Tertiary</a:t>
                      </a:r>
                    </a:p>
                  </a:txBody>
                  <a:tcPr marL="45720" marR="45720" marT="18288" marB="18288" anchor="ctr">
                    <a:solidFill>
                      <a:srgbClr val="F5F5F5"/>
                    </a:solidFill>
                  </a:tcPr>
                </a:tc>
                <a:tc>
                  <a:txBody>
                    <a:bodyPr/>
                    <a:lstStyle/>
                    <a:p>
                      <a:pPr algn="ctr"/>
                      <a:r>
                        <a:rPr sz="770" b="0" i="0">
                          <a:solidFill>
                            <a:srgbClr val="374151"/>
                          </a:solidFill>
                          <a:latin typeface="Calibri"/>
                        </a:rPr>
                        <a:t>35% archetype</a:t>
                      </a:r>
                    </a:p>
                  </a:txBody>
                  <a:tcPr marL="45720" marR="45720" marT="18288" marB="18288" anchor="ctr">
                    <a:solidFill>
                      <a:srgbClr val="F5F5F5"/>
                    </a:solidFill>
                  </a:tcPr>
                </a:tc>
                <a:tc>
                  <a:txBody>
                    <a:bodyPr/>
                    <a:lstStyle/>
                    <a:p>
                      <a:pPr algn="ctr"/>
                      <a:r>
                        <a:rPr sz="770" b="0" i="0">
                          <a:solidFill>
                            <a:srgbClr val="374151"/>
                          </a:solidFill>
                          <a:latin typeface="Calibri"/>
                        </a:rPr>
                        <a:t>Yes</a:t>
                      </a:r>
                    </a:p>
                  </a:txBody>
                  <a:tcPr marL="45720" marR="45720" marT="18288" marB="18288" anchor="ctr">
                    <a:solidFill>
                      <a:srgbClr val="F5F5F5"/>
                    </a:solidFill>
                  </a:tcPr>
                </a:tc>
                <a:tc>
                  <a:txBody>
                    <a:bodyPr/>
                    <a:lstStyle/>
                    <a:p>
                      <a:pPr algn="ctr"/>
                      <a:r>
                        <a:rPr sz="770" b="0" i="0">
                          <a:solidFill>
                            <a:srgbClr val="374151"/>
                          </a:solidFill>
                          <a:latin typeface="Calibri"/>
                        </a:rPr>
                        <a:t>33,000</a:t>
                      </a:r>
                    </a:p>
                  </a:txBody>
                  <a:tcPr marL="45720" marR="45720" marT="18288" marB="18288" anchor="ctr">
                    <a:solidFill>
                      <a:srgbClr val="F5F5F5"/>
                    </a:solidFill>
                  </a:tcPr>
                </a:tc>
                <a:tc>
                  <a:txBody>
                    <a:bodyPr/>
                    <a:lstStyle/>
                    <a:p>
                      <a:pPr algn="ctr"/>
                      <a:r>
                        <a:rPr sz="770" b="0" i="0">
                          <a:solidFill>
                            <a:srgbClr val="374151"/>
                          </a:solidFill>
                          <a:latin typeface="Calibri"/>
                        </a:rPr>
                        <a:t>39</a:t>
                      </a:r>
                    </a:p>
                  </a:txBody>
                  <a:tcPr marL="45720" marR="45720" marT="18288" marB="18288" anchor="ctr">
                    <a:solidFill>
                      <a:srgbClr val="F5F5F5"/>
                    </a:solidFill>
                  </a:tcPr>
                </a:tc>
                <a:tc>
                  <a:txBody>
                    <a:bodyPr/>
                    <a:lstStyle/>
                    <a:p>
                      <a:pPr algn="l"/>
                      <a:r>
                        <a:rPr sz="770" b="0" i="0">
                          <a:solidFill>
                            <a:srgbClr val="374151"/>
                          </a:solidFill>
                          <a:latin typeface="Calibri"/>
                        </a:rPr>
                        <a:t>Renal+Inflam.+Clinical</a:t>
                      </a:r>
                    </a:p>
                  </a:txBody>
                  <a:tcPr marL="45720" marR="45720" marT="18288" marB="18288" anchor="ctr">
                    <a:solidFill>
                      <a:srgbClr val="F5F5F5"/>
                    </a:solidFill>
                  </a:tcPr>
                </a:tc>
                <a:extLst>
                  <a:ext uri="{0D108BD9-81ED-4DB2-BD59-A6C34878D82A}">
                    <a16:rowId xmlns:a16="http://schemas.microsoft.com/office/drawing/2014/main" val="10002"/>
                  </a:ext>
                </a:extLst>
              </a:tr>
              <a:tr h="224028">
                <a:tc>
                  <a:txBody>
                    <a:bodyPr/>
                    <a:lstStyle/>
                    <a:p>
                      <a:pPr algn="l"/>
                      <a:r>
                        <a:rPr sz="800" b="0" i="0">
                          <a:solidFill>
                            <a:srgbClr val="1F2937"/>
                          </a:solidFill>
                          <a:latin typeface="Calibri"/>
                        </a:rPr>
                        <a:t>Site B</a:t>
                      </a:r>
                    </a:p>
                  </a:txBody>
                  <a:tcPr marL="45720" marR="45720" marT="18288" marB="18288" anchor="ctr">
                    <a:solidFill>
                      <a:srgbClr val="FFFFFF"/>
                    </a:solidFill>
                  </a:tcPr>
                </a:tc>
                <a:tc>
                  <a:txBody>
                    <a:bodyPr/>
                    <a:lstStyle/>
                    <a:p>
                      <a:pPr algn="l"/>
                      <a:r>
                        <a:rPr sz="770" b="0" i="0">
                          <a:solidFill>
                            <a:srgbClr val="374151"/>
                          </a:solidFill>
                          <a:latin typeface="Calibri"/>
                        </a:rPr>
                        <a:t>General Ward</a:t>
                      </a:r>
                    </a:p>
                  </a:txBody>
                  <a:tcPr marL="45720" marR="45720" marT="18288" marB="18288" anchor="ctr">
                    <a:solidFill>
                      <a:srgbClr val="FFFFFF"/>
                    </a:solidFill>
                  </a:tcPr>
                </a:tc>
                <a:tc>
                  <a:txBody>
                    <a:bodyPr/>
                    <a:lstStyle/>
                    <a:p>
                      <a:pPr algn="ctr"/>
                      <a:r>
                        <a:rPr sz="770" b="0" i="0">
                          <a:solidFill>
                            <a:srgbClr val="374151"/>
                          </a:solidFill>
                          <a:latin typeface="Calibri"/>
                        </a:rPr>
                        <a:t>12% archetype</a:t>
                      </a:r>
                    </a:p>
                  </a:txBody>
                  <a:tcPr marL="45720" marR="45720" marT="18288" marB="18288" anchor="ctr">
                    <a:solidFill>
                      <a:srgbClr val="FFFFFF"/>
                    </a:solidFill>
                  </a:tcPr>
                </a:tc>
                <a:tc>
                  <a:txBody>
                    <a:bodyPr/>
                    <a:lstStyle/>
                    <a:p>
                      <a:pPr algn="ctr"/>
                      <a:r>
                        <a:rPr sz="770" b="0" i="0">
                          <a:solidFill>
                            <a:srgbClr val="374151"/>
                          </a:solidFill>
                          <a:latin typeface="Calibri"/>
                        </a:rPr>
                        <a:t>Yes</a:t>
                      </a:r>
                    </a:p>
                  </a:txBody>
                  <a:tcPr marL="45720" marR="45720" marT="18288" marB="18288" anchor="ctr">
                    <a:solidFill>
                      <a:srgbClr val="FFFFFF"/>
                    </a:solidFill>
                  </a:tcPr>
                </a:tc>
                <a:tc>
                  <a:txBody>
                    <a:bodyPr/>
                    <a:lstStyle/>
                    <a:p>
                      <a:pPr algn="ctr"/>
                      <a:r>
                        <a:rPr sz="770" b="0" i="0">
                          <a:solidFill>
                            <a:srgbClr val="374151"/>
                          </a:solidFill>
                          <a:latin typeface="Calibri"/>
                        </a:rPr>
                        <a:t>33,000</a:t>
                      </a:r>
                    </a:p>
                  </a:txBody>
                  <a:tcPr marL="45720" marR="45720" marT="18288" marB="18288" anchor="ctr">
                    <a:solidFill>
                      <a:srgbClr val="FFFFFF"/>
                    </a:solidFill>
                  </a:tcPr>
                </a:tc>
                <a:tc>
                  <a:txBody>
                    <a:bodyPr/>
                    <a:lstStyle/>
                    <a:p>
                      <a:pPr algn="ctr"/>
                      <a:r>
                        <a:rPr sz="770" b="0" i="0">
                          <a:solidFill>
                            <a:srgbClr val="374151"/>
                          </a:solidFill>
                          <a:latin typeface="Calibri"/>
                        </a:rPr>
                        <a:t>59</a:t>
                      </a:r>
                    </a:p>
                  </a:txBody>
                  <a:tcPr marL="45720" marR="45720" marT="18288" marB="18288" anchor="ctr">
                    <a:solidFill>
                      <a:srgbClr val="FFFFFF"/>
                    </a:solidFill>
                  </a:tcPr>
                </a:tc>
                <a:tc>
                  <a:txBody>
                    <a:bodyPr/>
                    <a:lstStyle/>
                    <a:p>
                      <a:pPr algn="l"/>
                      <a:r>
                        <a:rPr sz="770" b="0" i="0">
                          <a:solidFill>
                            <a:srgbClr val="374151"/>
                          </a:solidFill>
                          <a:latin typeface="Calibri"/>
                        </a:rPr>
                        <a:t>Renal+Metabolic+Clinical</a:t>
                      </a:r>
                    </a:p>
                  </a:txBody>
                  <a:tcPr marL="45720" marR="45720" marT="18288" marB="18288" anchor="ctr">
                    <a:solidFill>
                      <a:srgbClr val="FFFFFF"/>
                    </a:solidFill>
                  </a:tcPr>
                </a:tc>
                <a:extLst>
                  <a:ext uri="{0D108BD9-81ED-4DB2-BD59-A6C34878D82A}">
                    <a16:rowId xmlns:a16="http://schemas.microsoft.com/office/drawing/2014/main" val="10003"/>
                  </a:ext>
                </a:extLst>
              </a:tr>
              <a:tr h="224028">
                <a:tc>
                  <a:txBody>
                    <a:bodyPr/>
                    <a:lstStyle/>
                    <a:p>
                      <a:pPr algn="l"/>
                      <a:r>
                        <a:rPr sz="800" b="0" i="0">
                          <a:solidFill>
                            <a:srgbClr val="1F2937"/>
                          </a:solidFill>
                          <a:latin typeface="Calibri"/>
                        </a:rPr>
                        <a:t>Site D</a:t>
                      </a:r>
                    </a:p>
                  </a:txBody>
                  <a:tcPr marL="45720" marR="45720" marT="18288" marB="18288" anchor="ctr">
                    <a:solidFill>
                      <a:srgbClr val="F5F5F5"/>
                    </a:solidFill>
                  </a:tcPr>
                </a:tc>
                <a:tc>
                  <a:txBody>
                    <a:bodyPr/>
                    <a:lstStyle/>
                    <a:p>
                      <a:pPr algn="l"/>
                      <a:r>
                        <a:rPr sz="770" b="0" i="0">
                          <a:solidFill>
                            <a:srgbClr val="374151"/>
                          </a:solidFill>
                          <a:latin typeface="Calibri"/>
                        </a:rPr>
                        <a:t>Community Clinic</a:t>
                      </a:r>
                    </a:p>
                  </a:txBody>
                  <a:tcPr marL="45720" marR="45720" marT="18288" marB="18288" anchor="ctr">
                    <a:solidFill>
                      <a:srgbClr val="F5F5F5"/>
                    </a:solidFill>
                  </a:tcPr>
                </a:tc>
                <a:tc>
                  <a:txBody>
                    <a:bodyPr/>
                    <a:lstStyle/>
                    <a:p>
                      <a:pPr algn="ctr"/>
                      <a:r>
                        <a:rPr sz="770" b="0" i="0">
                          <a:solidFill>
                            <a:srgbClr val="374151"/>
                          </a:solidFill>
                          <a:latin typeface="Calibri"/>
                        </a:rPr>
                        <a:t>7% archetype</a:t>
                      </a:r>
                    </a:p>
                  </a:txBody>
                  <a:tcPr marL="45720" marR="45720" marT="18288" marB="18288" anchor="ctr">
                    <a:solidFill>
                      <a:srgbClr val="F5F5F5"/>
                    </a:solidFill>
                  </a:tcPr>
                </a:tc>
                <a:tc>
                  <a:txBody>
                    <a:bodyPr/>
                    <a:lstStyle/>
                    <a:p>
                      <a:pPr algn="ctr"/>
                      <a:r>
                        <a:rPr sz="770" b="0" i="0">
                          <a:solidFill>
                            <a:srgbClr val="374151"/>
                          </a:solidFill>
                          <a:latin typeface="Calibri"/>
                        </a:rPr>
                        <a:t>Yes</a:t>
                      </a:r>
                    </a:p>
                  </a:txBody>
                  <a:tcPr marL="45720" marR="45720" marT="18288" marB="18288" anchor="ctr">
                    <a:solidFill>
                      <a:srgbClr val="F5F5F5"/>
                    </a:solidFill>
                  </a:tcPr>
                </a:tc>
                <a:tc>
                  <a:txBody>
                    <a:bodyPr/>
                    <a:lstStyle/>
                    <a:p>
                      <a:pPr algn="ctr"/>
                      <a:r>
                        <a:rPr sz="770" b="0" i="0">
                          <a:solidFill>
                            <a:srgbClr val="374151"/>
                          </a:solidFill>
                          <a:latin typeface="Calibri"/>
                        </a:rPr>
                        <a:t>33,000</a:t>
                      </a:r>
                    </a:p>
                  </a:txBody>
                  <a:tcPr marL="45720" marR="45720" marT="18288" marB="18288" anchor="ctr">
                    <a:solidFill>
                      <a:srgbClr val="F5F5F5"/>
                    </a:solidFill>
                  </a:tcPr>
                </a:tc>
                <a:tc>
                  <a:txBody>
                    <a:bodyPr/>
                    <a:lstStyle/>
                    <a:p>
                      <a:pPr algn="ctr"/>
                      <a:r>
                        <a:rPr sz="770" b="0" i="0">
                          <a:solidFill>
                            <a:srgbClr val="374151"/>
                          </a:solidFill>
                          <a:latin typeface="Calibri"/>
                        </a:rPr>
                        <a:t>47</a:t>
                      </a:r>
                    </a:p>
                  </a:txBody>
                  <a:tcPr marL="45720" marR="45720" marT="18288" marB="18288" anchor="ctr">
                    <a:solidFill>
                      <a:srgbClr val="F5F5F5"/>
                    </a:solidFill>
                  </a:tcPr>
                </a:tc>
                <a:tc>
                  <a:txBody>
                    <a:bodyPr/>
                    <a:lstStyle/>
                    <a:p>
                      <a:pPr algn="l"/>
                      <a:r>
                        <a:rPr sz="770" b="0" i="0">
                          <a:solidFill>
                            <a:srgbClr val="374151"/>
                          </a:solidFill>
                          <a:latin typeface="Calibri"/>
                        </a:rPr>
                        <a:t>Metabolic+Clinical</a:t>
                      </a:r>
                    </a:p>
                  </a:txBody>
                  <a:tcPr marL="45720" marR="45720" marT="18288" marB="18288" anchor="ctr">
                    <a:solidFill>
                      <a:srgbClr val="F5F5F5"/>
                    </a:solidFill>
                  </a:tcPr>
                </a:tc>
                <a:extLst>
                  <a:ext uri="{0D108BD9-81ED-4DB2-BD59-A6C34878D82A}">
                    <a16:rowId xmlns:a16="http://schemas.microsoft.com/office/drawing/2014/main" val="10004"/>
                  </a:ext>
                </a:extLst>
              </a:tr>
              <a:tr h="224028">
                <a:tc>
                  <a:txBody>
                    <a:bodyPr/>
                    <a:lstStyle/>
                    <a:p>
                      <a:pPr algn="l"/>
                      <a:r>
                        <a:rPr sz="800" b="0" i="0">
                          <a:solidFill>
                            <a:srgbClr val="1F2937"/>
                          </a:solidFill>
                          <a:latin typeface="Calibri"/>
                        </a:rPr>
                        <a:t>Site E</a:t>
                      </a:r>
                    </a:p>
                  </a:txBody>
                  <a:tcPr marL="45720" marR="45720" marT="18288" marB="18288" anchor="ctr">
                    <a:solidFill>
                      <a:srgbClr val="FFFFFF"/>
                    </a:solidFill>
                  </a:tcPr>
                </a:tc>
                <a:tc>
                  <a:txBody>
                    <a:bodyPr/>
                    <a:lstStyle/>
                    <a:p>
                      <a:pPr algn="l"/>
                      <a:r>
                        <a:rPr sz="770" b="0" i="0">
                          <a:solidFill>
                            <a:srgbClr val="374151"/>
                          </a:solidFill>
                          <a:latin typeface="Calibri"/>
                        </a:rPr>
                        <a:t>Rural / Resource-ltd</a:t>
                      </a:r>
                    </a:p>
                  </a:txBody>
                  <a:tcPr marL="45720" marR="45720" marT="18288" marB="18288" anchor="ctr">
                    <a:solidFill>
                      <a:srgbClr val="FFFFFF"/>
                    </a:solidFill>
                  </a:tcPr>
                </a:tc>
                <a:tc>
                  <a:txBody>
                    <a:bodyPr/>
                    <a:lstStyle/>
                    <a:p>
                      <a:pPr algn="ctr"/>
                      <a:r>
                        <a:rPr sz="770" b="0" i="0">
                          <a:solidFill>
                            <a:srgbClr val="374151"/>
                          </a:solidFill>
                          <a:latin typeface="Calibri"/>
                        </a:rPr>
                        <a:t>4% archetype</a:t>
                      </a:r>
                    </a:p>
                  </a:txBody>
                  <a:tcPr marL="45720" marR="45720" marT="18288" marB="18288" anchor="ctr">
                    <a:solidFill>
                      <a:srgbClr val="FFFFFF"/>
                    </a:solidFill>
                  </a:tcPr>
                </a:tc>
                <a:tc>
                  <a:txBody>
                    <a:bodyPr/>
                    <a:lstStyle/>
                    <a:p>
                      <a:pPr algn="ctr"/>
                      <a:r>
                        <a:rPr sz="770" b="0" i="0">
                          <a:solidFill>
                            <a:srgbClr val="374151"/>
                          </a:solidFill>
                          <a:latin typeface="Calibri"/>
                        </a:rPr>
                        <a:t>Yes</a:t>
                      </a:r>
                    </a:p>
                  </a:txBody>
                  <a:tcPr marL="45720" marR="45720" marT="18288" marB="18288" anchor="ctr">
                    <a:solidFill>
                      <a:srgbClr val="FFFFFF"/>
                    </a:solidFill>
                  </a:tcPr>
                </a:tc>
                <a:tc>
                  <a:txBody>
                    <a:bodyPr/>
                    <a:lstStyle/>
                    <a:p>
                      <a:pPr algn="ctr"/>
                      <a:r>
                        <a:rPr sz="770" b="0" i="0">
                          <a:solidFill>
                            <a:srgbClr val="374151"/>
                          </a:solidFill>
                          <a:latin typeface="Calibri"/>
                        </a:rPr>
                        <a:t>33,000</a:t>
                      </a:r>
                    </a:p>
                  </a:txBody>
                  <a:tcPr marL="45720" marR="45720" marT="18288" marB="18288" anchor="ctr">
                    <a:solidFill>
                      <a:srgbClr val="FFFFFF"/>
                    </a:solidFill>
                  </a:tcPr>
                </a:tc>
                <a:tc>
                  <a:txBody>
                    <a:bodyPr/>
                    <a:lstStyle/>
                    <a:p>
                      <a:pPr algn="ctr"/>
                      <a:r>
                        <a:rPr sz="770" b="0" i="0">
                          <a:solidFill>
                            <a:srgbClr val="374151"/>
                          </a:solidFill>
                          <a:latin typeface="Calibri"/>
                        </a:rPr>
                        <a:t>24</a:t>
                      </a:r>
                    </a:p>
                  </a:txBody>
                  <a:tcPr marL="45720" marR="45720" marT="18288" marB="18288" anchor="ctr">
                    <a:solidFill>
                      <a:srgbClr val="FFFFFF"/>
                    </a:solidFill>
                  </a:tcPr>
                </a:tc>
                <a:tc>
                  <a:txBody>
                    <a:bodyPr/>
                    <a:lstStyle/>
                    <a:p>
                      <a:pPr algn="l"/>
                      <a:r>
                        <a:rPr sz="770" b="0" i="0">
                          <a:solidFill>
                            <a:srgbClr val="374151"/>
                          </a:solidFill>
                          <a:latin typeface="Calibri"/>
                        </a:rPr>
                        <a:t>Renal+Clinical</a:t>
                      </a:r>
                    </a:p>
                  </a:txBody>
                  <a:tcPr marL="45720" marR="45720"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22" name="TextBox 21"/>
          <p:cNvSpPr txBox="1"/>
          <p:nvPr/>
        </p:nvSpPr>
        <p:spPr>
          <a:xfrm>
            <a:off x="320040" y="4091940"/>
            <a:ext cx="8503920" cy="182880"/>
          </a:xfrm>
          <a:prstGeom prst="rect">
            <a:avLst/>
          </a:prstGeom>
          <a:noFill/>
        </p:spPr>
        <p:txBody>
          <a:bodyPr wrap="square" lIns="0" tIns="0" rIns="0" bIns="0">
            <a:spAutoFit/>
          </a:bodyPr>
          <a:lstStyle/>
          <a:p>
            <a:pPr algn="l">
              <a:spcBef>
                <a:spcPts val="0"/>
              </a:spcBef>
              <a:buNone/>
            </a:pPr>
            <a:r>
              <a:rPr sz="760" b="0" i="1">
                <a:solidFill>
                  <a:srgbClr val="6B7280"/>
                </a:solidFill>
                <a:latin typeface="Calibri"/>
              </a:rPr>
              <a:t>mimic_ftl_simulation_phase2_approach2.py  ·  run with --sweep for α∈{0.1,0.3,0.5,1.0,10.0} × γ∈{0,0.5,0.75,1.0}  ·  outputs per-site CSVs + FL-gain index + adapter metadata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8503920" cy="548640"/>
          </a:xfrm>
          <a:prstGeom prst="rect">
            <a:avLst/>
          </a:prstGeom>
          <a:noFill/>
        </p:spPr>
        <p:txBody>
          <a:bodyPr wrap="square" lIns="0" tIns="0" rIns="0" bIns="0">
            <a:spAutoFit/>
          </a:bodyPr>
          <a:lstStyle/>
          <a:p>
            <a:pPr algn="l">
              <a:spcBef>
                <a:spcPts val="0"/>
              </a:spcBef>
              <a:buNone/>
            </a:pPr>
            <a:r>
              <a:rPr sz="2100" b="1" i="0">
                <a:solidFill>
                  <a:srgbClr val="1F2937"/>
                </a:solidFill>
                <a:latin typeface="Calibri"/>
              </a:rPr>
              <a:t>Data Simulation Step 4: Covariate Shift</a:t>
            </a:r>
          </a:p>
        </p:txBody>
      </p:sp>
      <p:sp>
        <p:nvSpPr>
          <p:cNvPr id="3" name="Rectangle 2"/>
          <p:cNvSpPr/>
          <p:nvPr/>
        </p:nvSpPr>
        <p:spPr>
          <a:xfrm>
            <a:off x="0" y="763524"/>
            <a:ext cx="9144000" cy="3657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822960"/>
            <a:ext cx="8503920" cy="182880"/>
          </a:xfrm>
          <a:prstGeom prst="rect">
            <a:avLst/>
          </a:prstGeom>
          <a:noFill/>
        </p:spPr>
        <p:txBody>
          <a:bodyPr wrap="square" lIns="0" tIns="0" rIns="0" bIns="0">
            <a:spAutoFit/>
          </a:bodyPr>
          <a:lstStyle/>
          <a:p>
            <a:pPr algn="l">
              <a:spcBef>
                <a:spcPts val="0"/>
              </a:spcBef>
              <a:buNone/>
            </a:pPr>
            <a:r>
              <a:rPr sz="950" b="0" i="1">
                <a:solidFill>
                  <a:srgbClr val="6B7280"/>
                </a:solidFill>
                <a:latin typeface="Calibri"/>
              </a:rPr>
              <a:t>γ controls real-patient selection weighted by acuity — no patient's feature values are ever modified</a:t>
            </a:r>
          </a:p>
        </p:txBody>
      </p:sp>
      <p:sp>
        <p:nvSpPr>
          <p:cNvPr id="5" name="TextBox 4"/>
          <p:cNvSpPr txBox="1"/>
          <p:nvPr/>
        </p:nvSpPr>
        <p:spPr>
          <a:xfrm>
            <a:off x="320040" y="1033271"/>
            <a:ext cx="8503920" cy="502920"/>
          </a:xfrm>
          <a:prstGeom prst="rect">
            <a:avLst/>
          </a:prstGeom>
          <a:noFill/>
        </p:spPr>
        <p:txBody>
          <a:bodyPr wrap="square" lIns="0" tIns="0" rIns="0" bIns="0">
            <a:spAutoFit/>
          </a:bodyPr>
          <a:lstStyle/>
          <a:p>
            <a:pPr algn="l">
              <a:spcBef>
                <a:spcPts val="0"/>
              </a:spcBef>
              <a:buNone/>
            </a:pPr>
            <a:r>
              <a:rPr sz="830" b="0" i="0">
                <a:solidFill>
                  <a:srgbClr val="374151"/>
                </a:solidFill>
                <a:latin typeface="Calibri"/>
              </a:rPr>
              <a:t>Dirichlet α induces label shift: P(Y) differs across sites (slides 11–12). Covariate shift means P(X) also differs independently — an ICU site has genuinely sicker real patients, not synthetically altered labs. This is implemented as importance-weighted sampling over real, unmodified patients.</a:t>
            </a:r>
          </a:p>
        </p:txBody>
      </p:sp>
      <p:sp>
        <p:nvSpPr>
          <p:cNvPr id="6" name="Rectangle 5"/>
          <p:cNvSpPr/>
          <p:nvPr/>
        </p:nvSpPr>
        <p:spPr>
          <a:xfrm>
            <a:off x="320040" y="1645920"/>
            <a:ext cx="4160520" cy="274320"/>
          </a:xfrm>
          <a:prstGeom prst="rect">
            <a:avLst/>
          </a:prstGeom>
          <a:solidFill>
            <a:srgbClr val="1E294B"/>
          </a:solidFill>
          <a:ln>
            <a:noFill/>
          </a:ln>
          <a:effectLst/>
        </p:spPr>
        <p:style>
          <a:lnRef idx="1">
            <a:schemeClr val="accent1"/>
          </a:lnRef>
          <a:fillRef idx="3">
            <a:schemeClr val="accent1"/>
          </a:fillRef>
          <a:effectRef idx="2">
            <a:schemeClr val="accent1"/>
          </a:effectRef>
          <a:fontRef idx="minor">
            <a:schemeClr val="lt1"/>
          </a:fontRef>
        </p:style>
        <p:txBody>
          <a:bodyPr lIns="73152" tIns="36576" rtlCol="0" anchor="ctr"/>
          <a:lstStyle/>
          <a:p>
            <a:pPr algn="ctr"/>
            <a:r>
              <a:rPr sz="1000" b="1">
                <a:solidFill>
                  <a:srgbClr val="FFFFFF"/>
                </a:solidFill>
                <a:latin typeface="Calibri"/>
              </a:rPr>
              <a:t>How Selection-Weighted Sampling Works</a:t>
            </a:r>
          </a:p>
        </p:txBody>
      </p:sp>
      <p:sp>
        <p:nvSpPr>
          <p:cNvPr id="7" name="Rectangle 6"/>
          <p:cNvSpPr/>
          <p:nvPr/>
        </p:nvSpPr>
        <p:spPr>
          <a:xfrm>
            <a:off x="320040" y="1920240"/>
            <a:ext cx="4160520" cy="3017520"/>
          </a:xfrm>
          <a:prstGeom prst="rect">
            <a:avLst/>
          </a:prstGeom>
          <a:solidFill>
            <a:srgbClr val="F2F6FD"/>
          </a:solidFill>
          <a:ln w="9525">
            <a:solidFill>
              <a:srgbClr val="C7D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9768" y="2029968"/>
            <a:ext cx="3941063" cy="2834640"/>
          </a:xfrm>
          <a:prstGeom prst="rect">
            <a:avLst/>
          </a:prstGeom>
          <a:noFill/>
        </p:spPr>
        <p:txBody>
          <a:bodyPr wrap="square" lIns="0" tIns="0" rIns="0" bIns="0">
            <a:spAutoFit/>
          </a:bodyPr>
          <a:lstStyle/>
          <a:p>
            <a:pPr algn="l">
              <a:spcBef>
                <a:spcPts val="0"/>
              </a:spcBef>
              <a:buNone/>
            </a:pPr>
            <a:r>
              <a:rPr sz="819" b="0" i="0">
                <a:solidFill>
                  <a:srgbClr val="374151"/>
                </a:solidFill>
                <a:latin typeface="Calibri"/>
              </a:rPr>
              <a:t>Each real patient already has a composite acuity z-score, computed once from their own real creatinine/BUN/lactate/WBC values — purely descriptive, never written back to any feature.</a:t>
            </a:r>
          </a:p>
          <a:p>
            <a:pPr algn="l">
              <a:spcBef>
                <a:spcPts val="600"/>
              </a:spcBef>
              <a:buNone/>
            </a:pPr>
            <a:r>
              <a:rPr sz="819" b="0" i="0">
                <a:solidFill>
                  <a:srgbClr val="374151"/>
                </a:solidFill>
                <a:latin typeface="Calibri"/>
              </a:rPr>
              <a:t>Each site then draws its 33,000 patients with probability weighted toward that target acuity region — same prevalence sampling as before (α), but now also acuity-weighted by γ:</a:t>
            </a:r>
          </a:p>
          <a:p>
            <a:pPr algn="l">
              <a:spcBef>
                <a:spcPts val="800"/>
              </a:spcBef>
              <a:buNone/>
            </a:pPr>
            <a:r>
              <a:rPr sz="950" b="1" i="0">
                <a:solidFill>
                  <a:srgbClr val="1F2937"/>
                </a:solidFill>
                <a:latin typeface="Courier New"/>
              </a:rPr>
              <a:t>target_mean = γ × acuity_bias</a:t>
            </a:r>
          </a:p>
          <a:p>
            <a:pPr algn="l">
              <a:spcBef>
                <a:spcPts val="300"/>
              </a:spcBef>
              <a:buNone/>
            </a:pPr>
            <a:r>
              <a:rPr sz="950" b="1" i="0">
                <a:solidFill>
                  <a:srgbClr val="1F2937"/>
                </a:solidFill>
                <a:latin typeface="Courier New"/>
              </a:rPr>
              <a:t>target_std = 1.0 + γ×(spread_scale−1.0)</a:t>
            </a:r>
          </a:p>
          <a:p>
            <a:pPr algn="l">
              <a:spcBef>
                <a:spcPts val="300"/>
              </a:spcBef>
              <a:buNone/>
            </a:pPr>
            <a:r>
              <a:rPr sz="900" b="1" i="0">
                <a:solidFill>
                  <a:srgbClr val="1F2937"/>
                </a:solidFill>
                <a:latin typeface="Courier New"/>
              </a:rPr>
              <a:t>weight(patient) ∝ Normal_pdf(acuity_z; target_mean, target_std)</a:t>
            </a:r>
          </a:p>
          <a:p>
            <a:pPr algn="l">
              <a:spcBef>
                <a:spcPts val="800"/>
              </a:spcBef>
              <a:buNone/>
            </a:pPr>
            <a:r>
              <a:rPr sz="819" b="0" i="0">
                <a:solidFill>
                  <a:srgbClr val="374151"/>
                </a:solidFill>
                <a:latin typeface="Calibri"/>
              </a:rPr>
              <a:t>γ=0  →  target=N(0,1)  →  matches the natural population → ~uniform sampling.  γ=1  →  selection concentrates on real patients near acuity_bias, with width set by spread_scale.</a:t>
            </a:r>
          </a:p>
          <a:p>
            <a:pPr algn="l">
              <a:spcBef>
                <a:spcPts val="800"/>
              </a:spcBef>
              <a:buNone/>
            </a:pPr>
            <a:r>
              <a:rPr sz="800" b="0" i="1">
                <a:solidFill>
                  <a:srgbClr val="6B7280"/>
                </a:solidFill>
                <a:latin typeface="Calibri"/>
              </a:rPr>
              <a:t>site_C (anchor): acuity_bias=0, spread_scale=1.0 → target stays N(0,1) at every γ — never perturbed, with no special-case code needed.</a:t>
            </a:r>
          </a:p>
        </p:txBody>
      </p:sp>
      <p:sp>
        <p:nvSpPr>
          <p:cNvPr id="9" name="Rectangle 8"/>
          <p:cNvSpPr/>
          <p:nvPr/>
        </p:nvSpPr>
        <p:spPr>
          <a:xfrm>
            <a:off x="4617720" y="1645920"/>
            <a:ext cx="4206240" cy="274320"/>
          </a:xfrm>
          <a:prstGeom prst="rect">
            <a:avLst/>
          </a:prstGeom>
          <a:solidFill>
            <a:srgbClr val="14532E"/>
          </a:solidFill>
          <a:ln>
            <a:noFill/>
          </a:ln>
          <a:effectLst/>
        </p:spPr>
        <p:style>
          <a:lnRef idx="1">
            <a:schemeClr val="accent1"/>
          </a:lnRef>
          <a:fillRef idx="3">
            <a:schemeClr val="accent1"/>
          </a:fillRef>
          <a:effectRef idx="2">
            <a:schemeClr val="accent1"/>
          </a:effectRef>
          <a:fontRef idx="minor">
            <a:schemeClr val="lt1"/>
          </a:fontRef>
        </p:style>
        <p:txBody>
          <a:bodyPr lIns="73152" tIns="36576" rtlCol="0" anchor="ctr"/>
          <a:lstStyle/>
          <a:p>
            <a:pPr algn="ctr"/>
            <a:r>
              <a:rPr sz="1000" b="1">
                <a:solidFill>
                  <a:srgbClr val="FFFFFF"/>
                </a:solidFill>
                <a:latin typeface="Calibri"/>
              </a:rPr>
              <a:t>Verified: Real Acuity Shift via Selection Alone</a:t>
            </a:r>
          </a:p>
        </p:txBody>
      </p:sp>
      <p:sp>
        <p:nvSpPr>
          <p:cNvPr id="10" name="Rectangle 9"/>
          <p:cNvSpPr/>
          <p:nvPr/>
        </p:nvSpPr>
        <p:spPr>
          <a:xfrm>
            <a:off x="4617720" y="1920240"/>
            <a:ext cx="4206240" cy="3017520"/>
          </a:xfrm>
          <a:prstGeom prst="rect">
            <a:avLst/>
          </a:prstGeom>
          <a:solidFill>
            <a:srgbClr val="F1F9F3"/>
          </a:solidFill>
          <a:ln w="9525">
            <a:solidFill>
              <a:srgbClr val="C9E3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27448" y="2029968"/>
            <a:ext cx="3986783" cy="502920"/>
          </a:xfrm>
          <a:prstGeom prst="rect">
            <a:avLst/>
          </a:prstGeom>
          <a:noFill/>
        </p:spPr>
        <p:txBody>
          <a:bodyPr wrap="square" lIns="0" tIns="0" rIns="0" bIns="0">
            <a:spAutoFit/>
          </a:bodyPr>
          <a:lstStyle/>
          <a:p>
            <a:pPr algn="l">
              <a:spcBef>
                <a:spcPts val="0"/>
              </a:spcBef>
              <a:buNone/>
            </a:pPr>
            <a:r>
              <a:rPr sz="819" b="0" i="0">
                <a:solidFill>
                  <a:srgbClr val="374151"/>
                </a:solidFill>
                <a:latin typeface="Calibri"/>
              </a:rPr>
              <a:t>Measured directly from a real run (α=0.3, γ=1.0): each site's selected patients' real acuity_z (population mean=0.009, std=0.623):</a:t>
            </a:r>
          </a:p>
        </p:txBody>
      </p:sp>
      <p:graphicFrame>
        <p:nvGraphicFramePr>
          <p:cNvPr id="12" name="Table 11"/>
          <p:cNvGraphicFramePr>
            <a:graphicFrameLocks noGrp="1"/>
          </p:cNvGraphicFramePr>
          <p:nvPr/>
        </p:nvGraphicFramePr>
        <p:xfrm>
          <a:off x="4727448" y="2606040"/>
          <a:ext cx="3986783" cy="1335024"/>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289303">
                  <a:extLst>
                    <a:ext uri="{9D8B030D-6E8A-4147-A177-3AD203B41FA5}">
                      <a16:colId xmlns:a16="http://schemas.microsoft.com/office/drawing/2014/main" val="20002"/>
                    </a:ext>
                  </a:extLst>
                </a:gridCol>
              </a:tblGrid>
              <a:tr h="237744">
                <a:tc>
                  <a:txBody>
                    <a:bodyPr/>
                    <a:lstStyle/>
                    <a:p>
                      <a:pPr algn="ctr"/>
                      <a:r>
                        <a:rPr sz="770" b="1" i="0">
                          <a:solidFill>
                            <a:srgbClr val="FFFFFF"/>
                          </a:solidFill>
                          <a:latin typeface="Calibri"/>
                        </a:rPr>
                        <a:t>Site</a:t>
                      </a:r>
                    </a:p>
                  </a:txBody>
                  <a:tcPr marL="45720" marR="45720" marT="18288" marB="18288" anchor="ctr">
                    <a:solidFill>
                      <a:srgbClr val="1D4ED8"/>
                    </a:solidFill>
                  </a:tcPr>
                </a:tc>
                <a:tc>
                  <a:txBody>
                    <a:bodyPr/>
                    <a:lstStyle/>
                    <a:p>
                      <a:pPr algn="ctr"/>
                      <a:r>
                        <a:rPr sz="770" b="1" i="0">
                          <a:solidFill>
                            <a:srgbClr val="FFFFFF"/>
                          </a:solidFill>
                          <a:latin typeface="Calibri"/>
                        </a:rPr>
                        <a:t>acuity_bias (config)</a:t>
                      </a:r>
                    </a:p>
                  </a:txBody>
                  <a:tcPr marL="45720" marR="45720" marT="18288" marB="18288" anchor="ctr">
                    <a:solidFill>
                      <a:srgbClr val="1D4ED8"/>
                    </a:solidFill>
                  </a:tcPr>
                </a:tc>
                <a:tc>
                  <a:txBody>
                    <a:bodyPr/>
                    <a:lstStyle/>
                    <a:p>
                      <a:pPr algn="ctr"/>
                      <a:r>
                        <a:rPr sz="770" b="1" i="0">
                          <a:solidFill>
                            <a:srgbClr val="FFFFFF"/>
                          </a:solidFill>
                          <a:latin typeface="Calibri"/>
                        </a:rPr>
                        <a:t>Selected real acuity_z</a:t>
                      </a:r>
                    </a:p>
                  </a:txBody>
                  <a:tcPr marL="45720" marR="45720" marT="18288" marB="18288" anchor="ctr">
                    <a:solidFill>
                      <a:srgbClr val="1D4ED8"/>
                    </a:solidFill>
                  </a:tcPr>
                </a:tc>
                <a:extLst>
                  <a:ext uri="{0D108BD9-81ED-4DB2-BD59-A6C34878D82A}">
                    <a16:rowId xmlns:a16="http://schemas.microsoft.com/office/drawing/2014/main" val="10000"/>
                  </a:ext>
                </a:extLst>
              </a:tr>
              <a:tr h="219456">
                <a:tc>
                  <a:txBody>
                    <a:bodyPr/>
                    <a:lstStyle/>
                    <a:p>
                      <a:pPr algn="l"/>
                      <a:r>
                        <a:rPr sz="800" b="1" i="0">
                          <a:solidFill>
                            <a:srgbClr val="1F2937"/>
                          </a:solidFill>
                          <a:latin typeface="Calibri"/>
                        </a:rPr>
                        <a:t>site_A</a:t>
                      </a:r>
                    </a:p>
                  </a:txBody>
                  <a:tcPr marL="45720" marR="45720" marT="18288" marB="18288" anchor="ctr">
                    <a:solidFill>
                      <a:srgbClr val="FFFFFF"/>
                    </a:solidFill>
                  </a:tcPr>
                </a:tc>
                <a:tc>
                  <a:txBody>
                    <a:bodyPr/>
                    <a:lstStyle/>
                    <a:p>
                      <a:pPr algn="ctr"/>
                      <a:r>
                        <a:rPr sz="800" b="0" i="0">
                          <a:solidFill>
                            <a:srgbClr val="374151"/>
                          </a:solidFill>
                          <a:latin typeface="Calibri"/>
                        </a:rPr>
                        <a:t>+2.0 (sicker)</a:t>
                      </a:r>
                    </a:p>
                  </a:txBody>
                  <a:tcPr marL="45720" marR="45720" marT="18288" marB="18288" anchor="ctr">
                    <a:solidFill>
                      <a:srgbClr val="FFFFFF"/>
                    </a:solidFill>
                  </a:tcPr>
                </a:tc>
                <a:tc>
                  <a:txBody>
                    <a:bodyPr/>
                    <a:lstStyle/>
                    <a:p>
                      <a:pPr algn="ctr"/>
                      <a:r>
                        <a:rPr sz="800" b="1" i="0">
                          <a:solidFill>
                            <a:srgbClr val="1D4ED8"/>
                          </a:solidFill>
                          <a:latin typeface="Calibri"/>
                        </a:rPr>
                        <a:t>+0.400</a:t>
                      </a:r>
                    </a:p>
                  </a:txBody>
                  <a:tcPr marL="45720" marR="45720" marT="18288" marB="18288" anchor="ctr">
                    <a:solidFill>
                      <a:srgbClr val="FFFFFF"/>
                    </a:solidFill>
                  </a:tcPr>
                </a:tc>
                <a:extLst>
                  <a:ext uri="{0D108BD9-81ED-4DB2-BD59-A6C34878D82A}">
                    <a16:rowId xmlns:a16="http://schemas.microsoft.com/office/drawing/2014/main" val="10001"/>
                  </a:ext>
                </a:extLst>
              </a:tr>
              <a:tr h="219456">
                <a:tc>
                  <a:txBody>
                    <a:bodyPr/>
                    <a:lstStyle/>
                    <a:p>
                      <a:pPr algn="l"/>
                      <a:r>
                        <a:rPr sz="800" b="1" i="0">
                          <a:solidFill>
                            <a:srgbClr val="1F2937"/>
                          </a:solidFill>
                          <a:latin typeface="Calibri"/>
                        </a:rPr>
                        <a:t>site_B</a:t>
                      </a:r>
                    </a:p>
                  </a:txBody>
                  <a:tcPr marL="45720" marR="45720" marT="18288" marB="18288" anchor="ctr">
                    <a:solidFill>
                      <a:srgbClr val="F5F5F5"/>
                    </a:solidFill>
                  </a:tcPr>
                </a:tc>
                <a:tc>
                  <a:txBody>
                    <a:bodyPr/>
                    <a:lstStyle/>
                    <a:p>
                      <a:pPr algn="ctr"/>
                      <a:r>
                        <a:rPr sz="800" b="0" i="0">
                          <a:solidFill>
                            <a:srgbClr val="374151"/>
                          </a:solidFill>
                          <a:latin typeface="Calibri"/>
                        </a:rPr>
                        <a:t>+0.5</a:t>
                      </a:r>
                    </a:p>
                  </a:txBody>
                  <a:tcPr marL="45720" marR="45720" marT="18288" marB="18288" anchor="ctr">
                    <a:solidFill>
                      <a:srgbClr val="F5F5F5"/>
                    </a:solidFill>
                  </a:tcPr>
                </a:tc>
                <a:tc>
                  <a:txBody>
                    <a:bodyPr/>
                    <a:lstStyle/>
                    <a:p>
                      <a:pPr algn="ctr"/>
                      <a:r>
                        <a:rPr sz="800" b="1" i="0">
                          <a:solidFill>
                            <a:srgbClr val="1D4ED8"/>
                          </a:solidFill>
                          <a:latin typeface="Calibri"/>
                        </a:rPr>
                        <a:t>+0.044</a:t>
                      </a:r>
                    </a:p>
                  </a:txBody>
                  <a:tcPr marL="45720" marR="45720" marT="18288" marB="18288" anchor="ctr">
                    <a:solidFill>
                      <a:srgbClr val="F5F5F5"/>
                    </a:solidFill>
                  </a:tcPr>
                </a:tc>
                <a:extLst>
                  <a:ext uri="{0D108BD9-81ED-4DB2-BD59-A6C34878D82A}">
                    <a16:rowId xmlns:a16="http://schemas.microsoft.com/office/drawing/2014/main" val="10002"/>
                  </a:ext>
                </a:extLst>
              </a:tr>
              <a:tr h="219456">
                <a:tc>
                  <a:txBody>
                    <a:bodyPr/>
                    <a:lstStyle/>
                    <a:p>
                      <a:pPr algn="l"/>
                      <a:r>
                        <a:rPr sz="800" b="1" i="0">
                          <a:solidFill>
                            <a:srgbClr val="1F2937"/>
                          </a:solidFill>
                          <a:latin typeface="Calibri"/>
                        </a:rPr>
                        <a:t>site_C</a:t>
                      </a:r>
                    </a:p>
                  </a:txBody>
                  <a:tcPr marL="45720" marR="45720" marT="18288" marB="18288" anchor="ctr">
                    <a:solidFill>
                      <a:srgbClr val="FFFFFF"/>
                    </a:solidFill>
                  </a:tcPr>
                </a:tc>
                <a:tc>
                  <a:txBody>
                    <a:bodyPr/>
                    <a:lstStyle/>
                    <a:p>
                      <a:pPr algn="ctr"/>
                      <a:r>
                        <a:rPr sz="800" b="0" i="0">
                          <a:solidFill>
                            <a:srgbClr val="374151"/>
                          </a:solidFill>
                          <a:latin typeface="Calibri"/>
                        </a:rPr>
                        <a:t>0.0 (anchor)</a:t>
                      </a:r>
                    </a:p>
                  </a:txBody>
                  <a:tcPr marL="45720" marR="45720" marT="18288" marB="18288" anchor="ctr">
                    <a:solidFill>
                      <a:srgbClr val="FFFFFF"/>
                    </a:solidFill>
                  </a:tcPr>
                </a:tc>
                <a:tc>
                  <a:txBody>
                    <a:bodyPr/>
                    <a:lstStyle/>
                    <a:p>
                      <a:pPr algn="ctr"/>
                      <a:r>
                        <a:rPr sz="800" b="1" i="0">
                          <a:solidFill>
                            <a:srgbClr val="1D4ED8"/>
                          </a:solidFill>
                          <a:latin typeface="Calibri"/>
                        </a:rPr>
                        <a:t>−0.038</a:t>
                      </a:r>
                    </a:p>
                  </a:txBody>
                  <a:tcPr marL="45720" marR="45720" marT="18288" marB="18288" anchor="ctr">
                    <a:solidFill>
                      <a:srgbClr val="FFFFFF"/>
                    </a:solidFill>
                  </a:tcPr>
                </a:tc>
                <a:extLst>
                  <a:ext uri="{0D108BD9-81ED-4DB2-BD59-A6C34878D82A}">
                    <a16:rowId xmlns:a16="http://schemas.microsoft.com/office/drawing/2014/main" val="10003"/>
                  </a:ext>
                </a:extLst>
              </a:tr>
              <a:tr h="219456">
                <a:tc>
                  <a:txBody>
                    <a:bodyPr/>
                    <a:lstStyle/>
                    <a:p>
                      <a:pPr algn="l"/>
                      <a:r>
                        <a:rPr sz="800" b="1" i="0">
                          <a:solidFill>
                            <a:srgbClr val="1F2937"/>
                          </a:solidFill>
                          <a:latin typeface="Calibri"/>
                        </a:rPr>
                        <a:t>site_D</a:t>
                      </a:r>
                    </a:p>
                  </a:txBody>
                  <a:tcPr marL="45720" marR="45720" marT="18288" marB="18288" anchor="ctr">
                    <a:solidFill>
                      <a:srgbClr val="F5F5F5"/>
                    </a:solidFill>
                  </a:tcPr>
                </a:tc>
                <a:tc>
                  <a:txBody>
                    <a:bodyPr/>
                    <a:lstStyle/>
                    <a:p>
                      <a:pPr algn="ctr"/>
                      <a:r>
                        <a:rPr sz="800" b="0" i="0">
                          <a:solidFill>
                            <a:srgbClr val="374151"/>
                          </a:solidFill>
                          <a:latin typeface="Calibri"/>
                        </a:rPr>
                        <a:t>−0.5</a:t>
                      </a:r>
                    </a:p>
                  </a:txBody>
                  <a:tcPr marL="45720" marR="45720" marT="18288" marB="18288" anchor="ctr">
                    <a:solidFill>
                      <a:srgbClr val="F5F5F5"/>
                    </a:solidFill>
                  </a:tcPr>
                </a:tc>
                <a:tc>
                  <a:txBody>
                    <a:bodyPr/>
                    <a:lstStyle/>
                    <a:p>
                      <a:pPr algn="ctr"/>
                      <a:r>
                        <a:rPr sz="800" b="1" i="0">
                          <a:solidFill>
                            <a:srgbClr val="1D4ED8"/>
                          </a:solidFill>
                          <a:latin typeface="Calibri"/>
                        </a:rPr>
                        <a:t>−0.068</a:t>
                      </a:r>
                    </a:p>
                  </a:txBody>
                  <a:tcPr marL="45720" marR="45720" marT="18288" marB="18288" anchor="ctr">
                    <a:solidFill>
                      <a:srgbClr val="F5F5F5"/>
                    </a:solidFill>
                  </a:tcPr>
                </a:tc>
                <a:extLst>
                  <a:ext uri="{0D108BD9-81ED-4DB2-BD59-A6C34878D82A}">
                    <a16:rowId xmlns:a16="http://schemas.microsoft.com/office/drawing/2014/main" val="10004"/>
                  </a:ext>
                </a:extLst>
              </a:tr>
              <a:tr h="219456">
                <a:tc>
                  <a:txBody>
                    <a:bodyPr/>
                    <a:lstStyle/>
                    <a:p>
                      <a:pPr algn="l"/>
                      <a:r>
                        <a:rPr sz="800" b="1" i="0">
                          <a:solidFill>
                            <a:srgbClr val="1F2937"/>
                          </a:solidFill>
                          <a:latin typeface="Calibri"/>
                        </a:rPr>
                        <a:t>site_E</a:t>
                      </a:r>
                    </a:p>
                  </a:txBody>
                  <a:tcPr marL="45720" marR="45720" marT="18288" marB="18288" anchor="ctr">
                    <a:solidFill>
                      <a:srgbClr val="FFFFFF"/>
                    </a:solidFill>
                  </a:tcPr>
                </a:tc>
                <a:tc>
                  <a:txBody>
                    <a:bodyPr/>
                    <a:lstStyle/>
                    <a:p>
                      <a:pPr algn="ctr"/>
                      <a:r>
                        <a:rPr sz="800" b="0" i="0">
                          <a:solidFill>
                            <a:srgbClr val="374151"/>
                          </a:solidFill>
                          <a:latin typeface="Calibri"/>
                        </a:rPr>
                        <a:t>−0.8 (healthier)</a:t>
                      </a:r>
                    </a:p>
                  </a:txBody>
                  <a:tcPr marL="45720" marR="45720" marT="18288" marB="18288" anchor="ctr">
                    <a:solidFill>
                      <a:srgbClr val="FFFFFF"/>
                    </a:solidFill>
                  </a:tcPr>
                </a:tc>
                <a:tc>
                  <a:txBody>
                    <a:bodyPr/>
                    <a:lstStyle/>
                    <a:p>
                      <a:pPr algn="ctr"/>
                      <a:r>
                        <a:rPr sz="800" b="1" i="0">
                          <a:solidFill>
                            <a:srgbClr val="1D4ED8"/>
                          </a:solidFill>
                          <a:latin typeface="Calibri"/>
                        </a:rPr>
                        <a:t>−0.101</a:t>
                      </a:r>
                    </a:p>
                  </a:txBody>
                  <a:tcPr marL="45720" marR="45720"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4727448" y="4160520"/>
            <a:ext cx="3986783" cy="640080"/>
          </a:xfrm>
          <a:prstGeom prst="rect">
            <a:avLst/>
          </a:prstGeom>
          <a:noFill/>
        </p:spPr>
        <p:txBody>
          <a:bodyPr wrap="square" lIns="0" tIns="0" rIns="0" bIns="0">
            <a:spAutoFit/>
          </a:bodyPr>
          <a:lstStyle/>
          <a:p>
            <a:pPr algn="l">
              <a:spcBef>
                <a:spcPts val="0"/>
              </a:spcBef>
              <a:buNone/>
            </a:pPr>
            <a:r>
              <a:rPr sz="819" b="0" i="1">
                <a:solidFill>
                  <a:srgbClr val="6B7280"/>
                </a:solidFill>
                <a:latin typeface="Calibri"/>
              </a:rPr>
              <a:t>Confirms the directionality is correct — sites with positive acuity_bias draw real patients whose actual labs run sicker; negative bias draws genuinely healthier real patients; the anchor stays near the population average.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8503920" cy="548640"/>
          </a:xfrm>
          <a:prstGeom prst="rect">
            <a:avLst/>
          </a:prstGeom>
          <a:noFill/>
        </p:spPr>
        <p:txBody>
          <a:bodyPr wrap="square" lIns="0" tIns="0" rIns="0" bIns="0">
            <a:spAutoFit/>
          </a:bodyPr>
          <a:lstStyle/>
          <a:p>
            <a:pPr algn="l">
              <a:spcBef>
                <a:spcPts val="0"/>
              </a:spcBef>
              <a:buNone/>
            </a:pPr>
            <a:r>
              <a:rPr sz="1900" b="1" i="0">
                <a:solidFill>
                  <a:srgbClr val="1F2937"/>
                </a:solidFill>
                <a:latin typeface="Calibri"/>
              </a:rPr>
              <a:t>Feature Groups &amp; Site Configuration  —  Approach 2 Source Definitions</a:t>
            </a:r>
          </a:p>
        </p:txBody>
      </p:sp>
      <p:sp>
        <p:nvSpPr>
          <p:cNvPr id="3" name="Rectangle 2"/>
          <p:cNvSpPr/>
          <p:nvPr/>
        </p:nvSpPr>
        <p:spPr>
          <a:xfrm>
            <a:off x="0" y="713232"/>
            <a:ext cx="9144000" cy="3657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86384"/>
            <a:ext cx="8503920" cy="182880"/>
          </a:xfrm>
          <a:prstGeom prst="rect">
            <a:avLst/>
          </a:prstGeom>
          <a:noFill/>
        </p:spPr>
        <p:txBody>
          <a:bodyPr wrap="square" lIns="0" tIns="0" rIns="0" bIns="0">
            <a:spAutoFit/>
          </a:bodyPr>
          <a:lstStyle/>
          <a:p>
            <a:pPr algn="l">
              <a:spcBef>
                <a:spcPts val="0"/>
              </a:spcBef>
              <a:buNone/>
            </a:pPr>
            <a:r>
              <a:rPr sz="950" b="0" i="1">
                <a:solidFill>
                  <a:srgbClr val="6B7280"/>
                </a:solidFill>
                <a:latin typeface="Calibri"/>
              </a:rPr>
              <a:t>Raw config from mimic_ftl_simulation_phase2_approach2.py — FEATURE_GROUPS, FIXED_PREVALENCES, SITE_CONFIGS</a:t>
            </a:r>
          </a:p>
        </p:txBody>
      </p:sp>
      <p:sp>
        <p:nvSpPr>
          <p:cNvPr id="5" name="Rectangle 4"/>
          <p:cNvSpPr/>
          <p:nvPr/>
        </p:nvSpPr>
        <p:spPr>
          <a:xfrm>
            <a:off x="320040" y="1078992"/>
            <a:ext cx="5029200" cy="2331720"/>
          </a:xfrm>
          <a:prstGeom prst="rect">
            <a:avLst/>
          </a:prstGeom>
          <a:solidFill>
            <a:srgbClr val="F7F7F8"/>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1152144"/>
            <a:ext cx="4846320" cy="2194560"/>
          </a:xfrm>
          <a:prstGeom prst="rect">
            <a:avLst/>
          </a:prstGeom>
          <a:noFill/>
        </p:spPr>
        <p:txBody>
          <a:bodyPr wrap="square" lIns="0" tIns="0" rIns="0" bIns="0">
            <a:spAutoFit/>
          </a:bodyPr>
          <a:lstStyle/>
          <a:p>
            <a:pPr algn="l">
              <a:spcBef>
                <a:spcPts val="100"/>
              </a:spcBef>
              <a:buNone/>
            </a:pPr>
            <a:r>
              <a:rPr sz="819" b="0" i="0">
                <a:solidFill>
                  <a:srgbClr val="1F2937"/>
                </a:solidFill>
                <a:latin typeface="Courier New"/>
              </a:rPr>
              <a:t>FEATURE_GROUPS = {</a:t>
            </a:r>
          </a:p>
          <a:p>
            <a:pPr algn="l">
              <a:spcBef>
                <a:spcPts val="100"/>
              </a:spcBef>
              <a:buNone/>
            </a:pPr>
            <a:r>
              <a:rPr sz="819" b="0" i="0">
                <a:solidFill>
                  <a:srgbClr val="1F2937"/>
                </a:solidFill>
                <a:latin typeface="Courier New"/>
              </a:rPr>
              <a:t>  "renal":        ["baseline_scr", "hours_to_anchor",</a:t>
            </a:r>
          </a:p>
          <a:p>
            <a:pPr algn="l">
              <a:spcBef>
                <a:spcPts val="100"/>
              </a:spcBef>
              <a:buNone/>
            </a:pPr>
            <a:r>
              <a:rPr sz="819" b="0" i="0">
                <a:solidFill>
                  <a:srgbClr val="1F2937"/>
                </a:solidFill>
                <a:latin typeface="Courier New"/>
              </a:rPr>
              <a:t>                    "creatinine", "bun"],</a:t>
            </a:r>
          </a:p>
          <a:p>
            <a:pPr algn="l">
              <a:spcBef>
                <a:spcPts val="100"/>
              </a:spcBef>
              <a:buNone/>
            </a:pPr>
            <a:r>
              <a:rPr sz="819" b="0" i="0">
                <a:solidFill>
                  <a:srgbClr val="1F2937"/>
                </a:solidFill>
                <a:latin typeface="Courier New"/>
              </a:rPr>
              <a:t>  "inflammatory": ["lactate", "wbc", "platelets"],</a:t>
            </a:r>
          </a:p>
          <a:p>
            <a:pPr algn="l">
              <a:spcBef>
                <a:spcPts val="100"/>
              </a:spcBef>
              <a:buNone/>
            </a:pPr>
            <a:r>
              <a:rPr sz="819" b="0" i="0">
                <a:solidFill>
                  <a:srgbClr val="1F2937"/>
                </a:solidFill>
                <a:latin typeface="Courier New"/>
              </a:rPr>
              <a:t>  "metabolic":    ["sodium", "potassium", "bicarbonate",</a:t>
            </a:r>
          </a:p>
          <a:p>
            <a:pPr algn="l">
              <a:spcBef>
                <a:spcPts val="100"/>
              </a:spcBef>
              <a:buNone/>
            </a:pPr>
            <a:r>
              <a:rPr sz="819" b="0" i="0">
                <a:solidFill>
                  <a:srgbClr val="1F2937"/>
                </a:solidFill>
                <a:latin typeface="Courier New"/>
              </a:rPr>
              <a:t>                    "hemoglobin", "glucose", "albumin",</a:t>
            </a:r>
          </a:p>
          <a:p>
            <a:pPr algn="l">
              <a:spcBef>
                <a:spcPts val="100"/>
              </a:spcBef>
              <a:buNone/>
            </a:pPr>
            <a:r>
              <a:rPr sz="819" b="0" i="0">
                <a:solidFill>
                  <a:srgbClr val="1F2937"/>
                </a:solidFill>
                <a:latin typeface="Courier New"/>
              </a:rPr>
              <a:t>                    "bilirubin"],</a:t>
            </a:r>
          </a:p>
          <a:p>
            <a:pPr algn="l">
              <a:spcBef>
                <a:spcPts val="100"/>
              </a:spcBef>
              <a:buNone/>
            </a:pPr>
            <a:r>
              <a:rPr sz="819" b="0" i="0">
                <a:solidFill>
                  <a:srgbClr val="1F2937"/>
                </a:solidFill>
                <a:latin typeface="Courier New"/>
              </a:rPr>
              <a:t>  "hemodynamic":  ["sbp", "dbp", "heart_rate", "spo2",</a:t>
            </a:r>
          </a:p>
          <a:p>
            <a:pPr algn="l">
              <a:spcBef>
                <a:spcPts val="100"/>
              </a:spcBef>
              <a:buNone/>
            </a:pPr>
            <a:r>
              <a:rPr sz="819" b="0" i="0">
                <a:solidFill>
                  <a:srgbClr val="1F2937"/>
                </a:solidFill>
                <a:latin typeface="Courier New"/>
              </a:rPr>
              <a:t>                    "resp_rate", "temperature", "gcs_total"],</a:t>
            </a:r>
          </a:p>
          <a:p>
            <a:pPr algn="l">
              <a:spcBef>
                <a:spcPts val="100"/>
              </a:spcBef>
              <a:buNone/>
            </a:pPr>
            <a:r>
              <a:rPr sz="819" b="0" i="0">
                <a:solidFill>
                  <a:srgbClr val="1F2937"/>
                </a:solidFill>
                <a:latin typeface="Courier New"/>
              </a:rPr>
              <a:t>  "clinical":     ["admission_type", "gender",</a:t>
            </a:r>
          </a:p>
          <a:p>
            <a:pPr algn="l">
              <a:spcBef>
                <a:spcPts val="100"/>
              </a:spcBef>
              <a:buNone/>
            </a:pPr>
            <a:r>
              <a:rPr sz="819" b="0" i="0">
                <a:solidFill>
                  <a:srgbClr val="1F2937"/>
                </a:solidFill>
                <a:latin typeface="Courier New"/>
              </a:rPr>
              <a:t>                    "age_at_admission", "has_diabetes",</a:t>
            </a:r>
          </a:p>
          <a:p>
            <a:pPr algn="l">
              <a:spcBef>
                <a:spcPts val="100"/>
              </a:spcBef>
              <a:buNone/>
            </a:pPr>
            <a:r>
              <a:rPr sz="819" b="0" i="0">
                <a:solidFill>
                  <a:srgbClr val="1F2937"/>
                </a:solidFill>
                <a:latin typeface="Courier New"/>
              </a:rPr>
              <a:t>                    "has_hypertension", "has_chf", ...],</a:t>
            </a:r>
          </a:p>
          <a:p>
            <a:pPr algn="l">
              <a:spcBef>
                <a:spcPts val="100"/>
              </a:spcBef>
              <a:buNone/>
            </a:pPr>
            <a:r>
              <a:rPr sz="819" b="0" i="0">
                <a:solidFill>
                  <a:srgbClr val="1F2937"/>
                </a:solidFill>
                <a:latin typeface="Courier New"/>
              </a:rPr>
              <a:t>}</a:t>
            </a:r>
          </a:p>
          <a:p>
            <a:pPr algn="l">
              <a:spcBef>
                <a:spcPts val="100"/>
              </a:spcBef>
              <a:buNone/>
            </a:pPr>
            <a:r>
              <a:rPr sz="760" b="0" i="1">
                <a:solidFill>
                  <a:srgbClr val="6B7280"/>
                </a:solidFill>
                <a:latin typeface="Courier New"/>
              </a:rPr>
              <a:t># entries are PREFIXES — e.g. "creatinine" matches</a:t>
            </a:r>
          </a:p>
          <a:p>
            <a:pPr algn="l">
              <a:spcBef>
                <a:spcPts val="100"/>
              </a:spcBef>
              <a:buNone/>
            </a:pPr>
            <a:r>
              <a:rPr sz="760" b="0" i="1">
                <a:solidFill>
                  <a:srgbClr val="6B7280"/>
                </a:solidFill>
                <a:latin typeface="Courier New"/>
              </a:rPr>
              <a:t># creatinine_min/max/mean/most_recent/std (x5 each)</a:t>
            </a:r>
          </a:p>
        </p:txBody>
      </p:sp>
      <p:sp>
        <p:nvSpPr>
          <p:cNvPr id="7" name="Rectangle 6"/>
          <p:cNvSpPr/>
          <p:nvPr/>
        </p:nvSpPr>
        <p:spPr>
          <a:xfrm>
            <a:off x="5532120" y="1078992"/>
            <a:ext cx="3291840" cy="2331720"/>
          </a:xfrm>
          <a:prstGeom prst="rect">
            <a:avLst/>
          </a:prstGeom>
          <a:solidFill>
            <a:srgbClr val="F7F7F8"/>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23560" y="1152144"/>
            <a:ext cx="3108960" cy="2194560"/>
          </a:xfrm>
          <a:prstGeom prst="rect">
            <a:avLst/>
          </a:prstGeom>
          <a:noFill/>
        </p:spPr>
        <p:txBody>
          <a:bodyPr wrap="square" lIns="0" tIns="0" rIns="0" bIns="0">
            <a:spAutoFit/>
          </a:bodyPr>
          <a:lstStyle/>
          <a:p>
            <a:pPr algn="l">
              <a:spcBef>
                <a:spcPts val="100"/>
              </a:spcBef>
              <a:buNone/>
            </a:pPr>
            <a:r>
              <a:rPr sz="819" b="0" i="0">
                <a:solidFill>
                  <a:srgbClr val="1F2937"/>
                </a:solidFill>
                <a:latin typeface="Courier New"/>
              </a:rPr>
              <a:t>FIXED_PREVALENCES = {</a:t>
            </a:r>
          </a:p>
          <a:p>
            <a:pPr algn="l">
              <a:spcBef>
                <a:spcPts val="100"/>
              </a:spcBef>
              <a:buNone/>
            </a:pPr>
            <a:r>
              <a:rPr sz="819" b="0" i="0">
                <a:solidFill>
                  <a:srgbClr val="1F2937"/>
                </a:solidFill>
                <a:latin typeface="Courier New"/>
              </a:rPr>
              <a:t>  "site_A": 0.35,  # ICU, lit. 20–50%</a:t>
            </a:r>
          </a:p>
          <a:p>
            <a:pPr algn="l">
              <a:spcBef>
                <a:spcPts val="100"/>
              </a:spcBef>
              <a:buNone/>
            </a:pPr>
            <a:r>
              <a:rPr sz="819" b="0" i="0">
                <a:solidFill>
                  <a:srgbClr val="1F2937"/>
                </a:solidFill>
                <a:latin typeface="Courier New"/>
              </a:rPr>
              <a:t>  "site_B": 0.12,  # Gen.Ward, lit. 12–17%</a:t>
            </a:r>
          </a:p>
          <a:p>
            <a:pPr algn="l">
              <a:spcBef>
                <a:spcPts val="100"/>
              </a:spcBef>
              <a:buNone/>
            </a:pPr>
            <a:r>
              <a:rPr sz="819" b="0" i="0">
                <a:solidFill>
                  <a:srgbClr val="1F2937"/>
                </a:solidFill>
                <a:latin typeface="Courier New"/>
              </a:rPr>
              <a:t>  "site_C": 0.09,  # anchor, true rate</a:t>
            </a:r>
          </a:p>
          <a:p>
            <a:pPr algn="l">
              <a:spcBef>
                <a:spcPts val="100"/>
              </a:spcBef>
              <a:buNone/>
            </a:pPr>
            <a:r>
              <a:rPr sz="819" b="0" i="0">
                <a:solidFill>
                  <a:srgbClr val="1F2937"/>
                </a:solidFill>
                <a:latin typeface="Courier New"/>
              </a:rPr>
              <a:t>  "site_D": 0.07,  # Community, lit. 5–10%</a:t>
            </a:r>
          </a:p>
          <a:p>
            <a:pPr algn="l">
              <a:spcBef>
                <a:spcPts val="100"/>
              </a:spcBef>
              <a:buNone/>
            </a:pPr>
            <a:r>
              <a:rPr sz="819" b="0" i="0">
                <a:solidFill>
                  <a:srgbClr val="1F2937"/>
                </a:solidFill>
                <a:latin typeface="Courier New"/>
              </a:rPr>
              <a:t>  "site_E": 0.04,  # Rural, lit. 3–7%</a:t>
            </a:r>
          </a:p>
          <a:p>
            <a:pPr algn="l">
              <a:spcBef>
                <a:spcPts val="100"/>
              </a:spcBef>
              <a:buNone/>
            </a:pPr>
            <a:r>
              <a:rPr sz="819" b="0" i="0">
                <a:solidFill>
                  <a:srgbClr val="1F2937"/>
                </a:solidFill>
                <a:latin typeface="Courier New"/>
              </a:rPr>
              <a:t>}</a:t>
            </a:r>
          </a:p>
          <a:p>
            <a:pPr algn="l">
              <a:spcBef>
                <a:spcPts val="100"/>
              </a:spcBef>
              <a:buNone/>
            </a:pPr>
            <a:endParaRPr sz="819" b="0" i="0">
              <a:solidFill>
                <a:srgbClr val="1F2937"/>
              </a:solidFill>
              <a:latin typeface="Courier New"/>
            </a:endParaRPr>
          </a:p>
          <a:p>
            <a:pPr algn="l">
              <a:spcBef>
                <a:spcPts val="100"/>
              </a:spcBef>
              <a:buNone/>
            </a:pPr>
            <a:r>
              <a:rPr sz="760" b="0" i="1">
                <a:solidFill>
                  <a:srgbClr val="6B7280"/>
                </a:solidFill>
                <a:latin typeface="Courier New"/>
              </a:rPr>
              <a:t># label skew controlled by α (blend</a:t>
            </a:r>
          </a:p>
          <a:p>
            <a:pPr algn="l">
              <a:spcBef>
                <a:spcPts val="100"/>
              </a:spcBef>
              <a:buNone/>
            </a:pPr>
            <a:r>
              <a:rPr sz="760" b="0" i="1">
                <a:solidFill>
                  <a:srgbClr val="6B7280"/>
                </a:solidFill>
                <a:latin typeface="Courier New"/>
              </a:rPr>
              <a:t># toward archetype vs. global rate)</a:t>
            </a:r>
          </a:p>
          <a:p>
            <a:pPr algn="l">
              <a:spcBef>
                <a:spcPts val="100"/>
              </a:spcBef>
              <a:buNone/>
            </a:pPr>
            <a:r>
              <a:rPr sz="760" b="0" i="1">
                <a:solidFill>
                  <a:srgbClr val="6B7280"/>
                </a:solidFill>
                <a:latin typeface="Courier New"/>
              </a:rPr>
              <a:t># — NOT a Dirichlet concentration</a:t>
            </a:r>
          </a:p>
          <a:p>
            <a:pPr algn="l">
              <a:spcBef>
                <a:spcPts val="100"/>
              </a:spcBef>
              <a:buNone/>
            </a:pPr>
            <a:r>
              <a:rPr sz="760" b="0" i="1">
                <a:solidFill>
                  <a:srgbClr val="6B7280"/>
                </a:solidFill>
                <a:latin typeface="Courier New"/>
              </a:rPr>
              <a:t># vector draw. See slides 11–12.</a:t>
            </a:r>
          </a:p>
        </p:txBody>
      </p:sp>
      <p:sp>
        <p:nvSpPr>
          <p:cNvPr id="9" name="Rectangle 8"/>
          <p:cNvSpPr/>
          <p:nvPr/>
        </p:nvSpPr>
        <p:spPr>
          <a:xfrm>
            <a:off x="320040" y="3520440"/>
            <a:ext cx="8503920" cy="1508760"/>
          </a:xfrm>
          <a:prstGeom prst="rect">
            <a:avLst/>
          </a:prstGeom>
          <a:solidFill>
            <a:srgbClr val="F7F7F8"/>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80" y="3593592"/>
            <a:ext cx="8321040" cy="1371600"/>
          </a:xfrm>
          <a:prstGeom prst="rect">
            <a:avLst/>
          </a:prstGeom>
          <a:noFill/>
        </p:spPr>
        <p:txBody>
          <a:bodyPr wrap="square" lIns="0" tIns="0" rIns="0" bIns="0">
            <a:spAutoFit/>
          </a:bodyPr>
          <a:lstStyle/>
          <a:p>
            <a:pPr algn="l">
              <a:spcBef>
                <a:spcPts val="200"/>
              </a:spcBef>
              <a:buNone/>
            </a:pPr>
            <a:r>
              <a:rPr sz="800" b="0" i="1">
                <a:solidFill>
                  <a:srgbClr val="6B7280"/>
                </a:solidFill>
                <a:latin typeface="Courier New"/>
              </a:rPr>
              <a:t>SITE_CONFIGS = {  # groups | acuity_bias (Mech. A shift) | spread_scale (Mech. B target)</a:t>
            </a:r>
          </a:p>
          <a:p>
            <a:pPr algn="l">
              <a:spcBef>
                <a:spcPts val="200"/>
              </a:spcBef>
              <a:buNone/>
            </a:pPr>
            <a:r>
              <a:rPr sz="800" b="0" i="0">
                <a:solidFill>
                  <a:srgbClr val="1F2937"/>
                </a:solidFill>
                <a:latin typeface="Courier New"/>
              </a:rPr>
              <a:t>  "site_A": {"groups": [renal, inflam., clinical]},        acuity_bias: +2.0, spread_scale: 0.70   # ICU, sicker+focused</a:t>
            </a:r>
          </a:p>
          <a:p>
            <a:pPr algn="l">
              <a:spcBef>
                <a:spcPts val="200"/>
              </a:spcBef>
              <a:buNone/>
            </a:pPr>
            <a:r>
              <a:rPr sz="800" b="0" i="0">
                <a:solidFill>
                  <a:srgbClr val="1F2937"/>
                </a:solidFill>
                <a:latin typeface="Courier New"/>
              </a:rPr>
              <a:t>  "site_B": {"groups": [renal, metabolic, clinical]},      acuity_bias: +0.5, spread_scale: 1.10   # General ward</a:t>
            </a:r>
          </a:p>
          <a:p>
            <a:pPr algn="l">
              <a:spcBef>
                <a:spcPts val="200"/>
              </a:spcBef>
              <a:buNone/>
            </a:pPr>
            <a:r>
              <a:rPr sz="800" b="0" i="0">
                <a:solidFill>
                  <a:srgbClr val="1F2937"/>
                </a:solidFill>
                <a:latin typeface="Courier New"/>
              </a:rPr>
              <a:t>  "site_C": {"groups": [all 5 groups], is_anchor: True},   acuity_bias:  0.0, spread_scale: 1.00   # never perturbed</a:t>
            </a:r>
          </a:p>
          <a:p>
            <a:pPr algn="l">
              <a:spcBef>
                <a:spcPts val="200"/>
              </a:spcBef>
              <a:buNone/>
            </a:pPr>
            <a:r>
              <a:rPr sz="800" b="0" i="0">
                <a:solidFill>
                  <a:srgbClr val="1F2937"/>
                </a:solidFill>
                <a:latin typeface="Courier New"/>
              </a:rPr>
              <a:t>  "site_D": {"groups": [metabolic, clinical]},             acuity_bias: −0.5, spread_scale: 1.20   # Community</a:t>
            </a:r>
          </a:p>
          <a:p>
            <a:pPr algn="l">
              <a:spcBef>
                <a:spcPts val="200"/>
              </a:spcBef>
              <a:buNone/>
            </a:pPr>
            <a:r>
              <a:rPr sz="800" b="0" i="0">
                <a:solidFill>
                  <a:srgbClr val="1F2937"/>
                </a:solidFill>
                <a:latin typeface="Courier New"/>
              </a:rPr>
              <a:t>  "site_E": {"groups": [renal, clinical]},                 acuity_bias: −0.8, spread_scale: 1.40   # Rural, healthier+wide</a:t>
            </a:r>
          </a:p>
          <a:p>
            <a:pPr algn="l">
              <a:spcBef>
                <a:spcPts val="200"/>
              </a:spcBef>
              <a:buNone/>
            </a:pPr>
            <a:r>
              <a:rPr sz="800" b="0" i="0">
                <a:solidFill>
                  <a:srgbClr val="1F2937"/>
                </a:solidFill>
                <a:latin typeface="Courier New"/>
              </a:rPr>
              <a:t>}</a:t>
            </a:r>
          </a:p>
        </p:txBody>
      </p:sp>
    </p:spTree>
    <p:extLst>
      <p:ext uri="{BB962C8B-B14F-4D97-AF65-F5344CB8AC3E}">
        <p14:creationId xmlns:p14="http://schemas.microsoft.com/office/powerpoint/2010/main" val="39828625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8503920" cy="548640"/>
          </a:xfrm>
          <a:prstGeom prst="rect">
            <a:avLst/>
          </a:prstGeom>
          <a:noFill/>
        </p:spPr>
        <p:txBody>
          <a:bodyPr wrap="square" lIns="0" tIns="0" rIns="0" bIns="0">
            <a:spAutoFit/>
          </a:bodyPr>
          <a:lstStyle/>
          <a:p>
            <a:pPr>
              <a:spcBef>
                <a:spcPts val="0"/>
              </a:spcBef>
              <a:buNone/>
            </a:pPr>
            <a:r>
              <a:rPr sz="2100" b="1" i="0">
                <a:solidFill>
                  <a:srgbClr val="1F2937"/>
                </a:solidFill>
                <a:latin typeface="Calibri"/>
              </a:rPr>
              <a:t>Covariate Shift: Reference Pseudocode (Approach 2)</a:t>
            </a:r>
          </a:p>
        </p:txBody>
      </p:sp>
      <p:sp>
        <p:nvSpPr>
          <p:cNvPr id="3" name="Rectangle 2"/>
          <p:cNvSpPr/>
          <p:nvPr/>
        </p:nvSpPr>
        <p:spPr>
          <a:xfrm>
            <a:off x="0" y="763524"/>
            <a:ext cx="9144000" cy="3657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822960"/>
            <a:ext cx="8503920" cy="201168"/>
          </a:xfrm>
          <a:prstGeom prst="rect">
            <a:avLst/>
          </a:prstGeom>
          <a:noFill/>
        </p:spPr>
        <p:txBody>
          <a:bodyPr wrap="square" lIns="0" tIns="0" rIns="0" bIns="0">
            <a:spAutoFit/>
          </a:bodyPr>
          <a:lstStyle/>
          <a:p>
            <a:pPr>
              <a:spcBef>
                <a:spcPts val="0"/>
              </a:spcBef>
              <a:buNone/>
            </a:pPr>
            <a:r>
              <a:rPr sz="1000" b="0" i="1">
                <a:solidFill>
                  <a:srgbClr val="6B7280"/>
                </a:solidFill>
                <a:latin typeface="Calibri"/>
              </a:rPr>
              <a:t>Exact logic from apply_covariate_shift() in mimic_ftl_simulation_phase2_approach2.py</a:t>
            </a:r>
          </a:p>
        </p:txBody>
      </p:sp>
      <p:sp>
        <p:nvSpPr>
          <p:cNvPr id="5" name="Rectangle 4"/>
          <p:cNvSpPr/>
          <p:nvPr/>
        </p:nvSpPr>
        <p:spPr>
          <a:xfrm>
            <a:off x="320040" y="1188720"/>
            <a:ext cx="4160520" cy="274320"/>
          </a:xfrm>
          <a:prstGeom prst="rect">
            <a:avLst/>
          </a:prstGeom>
          <a:solidFill>
            <a:srgbClr val="1E294B"/>
          </a:solidFill>
          <a:ln>
            <a:noFill/>
          </a:ln>
          <a:effectLst/>
        </p:spPr>
        <p:style>
          <a:lnRef idx="1">
            <a:schemeClr val="accent1"/>
          </a:lnRef>
          <a:fillRef idx="3">
            <a:schemeClr val="accent1"/>
          </a:fillRef>
          <a:effectRef idx="2">
            <a:schemeClr val="accent1"/>
          </a:effectRef>
          <a:fontRef idx="minor">
            <a:schemeClr val="lt1"/>
          </a:fontRef>
        </p:style>
        <p:txBody>
          <a:bodyPr lIns="73152" tIns="36576" rtlCol="0" anchor="ctr"/>
          <a:lstStyle/>
          <a:p>
            <a:pPr algn="ctr"/>
            <a:r>
              <a:rPr sz="1000" b="1">
                <a:solidFill>
                  <a:srgbClr val="FFFFFF"/>
                </a:solidFill>
                <a:latin typeface="Calibri"/>
              </a:rPr>
              <a:t>Mechanism A — mean shift</a:t>
            </a:r>
          </a:p>
        </p:txBody>
      </p:sp>
      <p:sp>
        <p:nvSpPr>
          <p:cNvPr id="6" name="Rectangle 5"/>
          <p:cNvSpPr/>
          <p:nvPr/>
        </p:nvSpPr>
        <p:spPr>
          <a:xfrm>
            <a:off x="320040" y="1463040"/>
            <a:ext cx="4160520" cy="3291840"/>
          </a:xfrm>
          <a:prstGeom prst="rect">
            <a:avLst/>
          </a:prstGeom>
          <a:solidFill>
            <a:srgbClr val="F7F7F8"/>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9768" y="1572768"/>
            <a:ext cx="3941063" cy="3108960"/>
          </a:xfrm>
          <a:prstGeom prst="rect">
            <a:avLst/>
          </a:prstGeom>
          <a:noFill/>
        </p:spPr>
        <p:txBody>
          <a:bodyPr wrap="square" lIns="0" tIns="0" rIns="0" bIns="0">
            <a:spAutoFit/>
          </a:bodyPr>
          <a:lstStyle/>
          <a:p>
            <a:pPr>
              <a:spcBef>
                <a:spcPts val="100"/>
              </a:spcBef>
              <a:buNone/>
            </a:pPr>
            <a:r>
              <a:rPr sz="800" b="0" i="1">
                <a:solidFill>
                  <a:srgbClr val="6B7280"/>
                </a:solidFill>
                <a:latin typeface="Courier New"/>
              </a:rPr>
              <a:t># drawn ONCE per site (not per patient)</a:t>
            </a:r>
          </a:p>
          <a:p>
            <a:pPr>
              <a:spcBef>
                <a:spcPts val="100"/>
              </a:spcBef>
              <a:buNone/>
            </a:pPr>
            <a:r>
              <a:rPr sz="800" b="0" i="0">
                <a:solidFill>
                  <a:srgbClr val="1F2937"/>
                </a:solidFill>
                <a:latin typeface="Courier New"/>
              </a:rPr>
              <a:t>delta_z = rng.normal(</a:t>
            </a:r>
          </a:p>
          <a:p>
            <a:pPr>
              <a:spcBef>
                <a:spcPts val="100"/>
              </a:spcBef>
              <a:buNone/>
            </a:pPr>
            <a:r>
              <a:rPr sz="800" b="0" i="0">
                <a:solidFill>
                  <a:srgbClr val="1F2937"/>
                </a:solidFill>
                <a:latin typeface="Courier New"/>
              </a:rPr>
              <a:t>    loc   = acuity_bias * gamma,</a:t>
            </a:r>
          </a:p>
          <a:p>
            <a:pPr>
              <a:spcBef>
                <a:spcPts val="100"/>
              </a:spcBef>
              <a:buNone/>
            </a:pPr>
            <a:r>
              <a:rPr sz="800" b="0" i="0">
                <a:solidFill>
                  <a:srgbClr val="1F2937"/>
                </a:solidFill>
                <a:latin typeface="Courier New"/>
              </a:rPr>
              <a:t>    scale = 0.1,</a:t>
            </a:r>
          </a:p>
          <a:p>
            <a:pPr>
              <a:spcBef>
                <a:spcPts val="100"/>
              </a:spcBef>
              <a:buNone/>
            </a:pPr>
            <a:r>
              <a:rPr sz="800" b="0" i="0">
                <a:solidFill>
                  <a:srgbClr val="1F2937"/>
                </a:solidFill>
                <a:latin typeface="Courier New"/>
              </a:rPr>
              <a:t>)</a:t>
            </a:r>
          </a:p>
          <a:p>
            <a:pPr>
              <a:spcBef>
                <a:spcPts val="100"/>
              </a:spcBef>
              <a:buNone/>
            </a:pPr>
            <a:endParaRPr sz="800" b="0" i="0">
              <a:solidFill>
                <a:srgbClr val="1F2937"/>
              </a:solidFill>
              <a:latin typeface="Courier New"/>
            </a:endParaRPr>
          </a:p>
          <a:p>
            <a:pPr>
              <a:spcBef>
                <a:spcPts val="100"/>
              </a:spcBef>
              <a:buNone/>
            </a:pPr>
            <a:r>
              <a:rPr sz="800" b="0" i="1">
                <a:solidFill>
                  <a:srgbClr val="6B7280"/>
                </a:solidFill>
                <a:latin typeface="Courier New"/>
              </a:rPr>
              <a:t># applied to every numeric feature,</a:t>
            </a:r>
          </a:p>
          <a:p>
            <a:pPr>
              <a:spcBef>
                <a:spcPts val="100"/>
              </a:spcBef>
              <a:buNone/>
            </a:pPr>
            <a:r>
              <a:rPr sz="800" b="0" i="1">
                <a:solidFill>
                  <a:srgbClr val="6B7280"/>
                </a:solidFill>
                <a:latin typeface="Courier New"/>
              </a:rPr>
              <a:t># every patient already sampled at site</a:t>
            </a:r>
          </a:p>
          <a:p>
            <a:pPr>
              <a:spcBef>
                <a:spcPts val="100"/>
              </a:spcBef>
              <a:buNone/>
            </a:pPr>
            <a:r>
              <a:rPr sz="800" b="0" i="0">
                <a:solidFill>
                  <a:srgbClr val="1F2937"/>
                </a:solidFill>
                <a:latin typeface="Courier New"/>
              </a:rPr>
              <a:t>for col in numeric_cols:</a:t>
            </a:r>
          </a:p>
          <a:p>
            <a:pPr>
              <a:spcBef>
                <a:spcPts val="100"/>
              </a:spcBef>
              <a:buNone/>
            </a:pPr>
            <a:r>
              <a:rPr sz="800" b="0" i="0">
                <a:solidFill>
                  <a:srgbClr val="1F2937"/>
                </a:solidFill>
                <a:latin typeface="Courier New"/>
              </a:rPr>
              <a:t>    mu, sig = global_stats[col]</a:t>
            </a:r>
          </a:p>
          <a:p>
            <a:pPr>
              <a:spcBef>
                <a:spcPts val="100"/>
              </a:spcBef>
              <a:buNone/>
            </a:pPr>
            <a:r>
              <a:rPr sz="800" b="0" i="0">
                <a:solidFill>
                  <a:srgbClr val="1F2937"/>
                </a:solidFill>
                <a:latin typeface="Courier New"/>
              </a:rPr>
              <a:t>    df[col] = df[col] + delta_z * sig</a:t>
            </a:r>
          </a:p>
          <a:p>
            <a:pPr>
              <a:spcBef>
                <a:spcPts val="100"/>
              </a:spcBef>
              <a:buNone/>
            </a:pPr>
            <a:endParaRPr sz="800" b="0" i="0">
              <a:solidFill>
                <a:srgbClr val="1F2937"/>
              </a:solidFill>
              <a:latin typeface="Courier New"/>
            </a:endParaRPr>
          </a:p>
          <a:p>
            <a:pPr>
              <a:spcBef>
                <a:spcPts val="100"/>
              </a:spcBef>
              <a:buNone/>
            </a:pPr>
            <a:r>
              <a:rPr sz="800" b="0" i="0">
                <a:solidFill>
                  <a:srgbClr val="1F2937"/>
                </a:solidFill>
                <a:latin typeface="Courier New"/>
              </a:rPr>
              <a:t>gamma=0        -&gt; delta_z ≈ 0, no shift</a:t>
            </a:r>
          </a:p>
          <a:p>
            <a:pPr>
              <a:spcBef>
                <a:spcPts val="100"/>
              </a:spcBef>
              <a:buNone/>
            </a:pPr>
            <a:r>
              <a:rPr sz="800" b="0" i="0">
                <a:solidFill>
                  <a:srgbClr val="1F2937"/>
                </a:solidFill>
                <a:latin typeface="Courier New"/>
              </a:rPr>
              <a:t>gamma=1        -&gt; delta_z ≈ acuity_bias</a:t>
            </a:r>
          </a:p>
          <a:p>
            <a:pPr>
              <a:spcBef>
                <a:spcPts val="100"/>
              </a:spcBef>
              <a:buNone/>
            </a:pPr>
            <a:r>
              <a:rPr sz="800" b="0" i="0">
                <a:solidFill>
                  <a:srgbClr val="1F2937"/>
                </a:solidFill>
                <a:latin typeface="Courier New"/>
              </a:rPr>
              <a:t>acuity_bias&gt;0  -&gt; shift toward sicker</a:t>
            </a:r>
          </a:p>
          <a:p>
            <a:pPr>
              <a:spcBef>
                <a:spcPts val="100"/>
              </a:spcBef>
              <a:buNone/>
            </a:pPr>
            <a:r>
              <a:rPr sz="800" b="0" i="0">
                <a:solidFill>
                  <a:srgbClr val="1F2937"/>
                </a:solidFill>
                <a:latin typeface="Courier New"/>
              </a:rPr>
              <a:t>acuity_bias&lt;0  -&gt; shift toward healthier</a:t>
            </a:r>
          </a:p>
          <a:p>
            <a:pPr>
              <a:spcBef>
                <a:spcPts val="100"/>
              </a:spcBef>
              <a:buNone/>
            </a:pPr>
            <a:r>
              <a:rPr sz="800" b="0" i="0">
                <a:solidFill>
                  <a:srgbClr val="1F2937"/>
                </a:solidFill>
                <a:latin typeface="Courier New"/>
              </a:rPr>
              <a:t>acuity_bias=0  -&gt; never perturbed (anchor)</a:t>
            </a:r>
          </a:p>
          <a:p>
            <a:pPr>
              <a:spcBef>
                <a:spcPts val="100"/>
              </a:spcBef>
              <a:buNone/>
            </a:pPr>
            <a:endParaRPr sz="800" b="0" i="0">
              <a:solidFill>
                <a:srgbClr val="1F2937"/>
              </a:solidFill>
              <a:latin typeface="Courier New"/>
            </a:endParaRPr>
          </a:p>
          <a:p>
            <a:pPr>
              <a:spcBef>
                <a:spcPts val="100"/>
              </a:spcBef>
              <a:buNone/>
            </a:pPr>
            <a:r>
              <a:rPr sz="800" b="0" i="0">
                <a:solidFill>
                  <a:srgbClr val="1F2937"/>
                </a:solidFill>
                <a:latin typeface="Courier New"/>
              </a:rPr>
              <a:t>global_stats = mean/std of every numeric</a:t>
            </a:r>
          </a:p>
          <a:p>
            <a:pPr>
              <a:spcBef>
                <a:spcPts val="100"/>
              </a:spcBef>
              <a:buNone/>
            </a:pPr>
            <a:r>
              <a:rPr sz="800" b="0" i="0">
                <a:solidFill>
                  <a:srgbClr val="1F2937"/>
                </a:solidFill>
                <a:latin typeface="Courier New"/>
              </a:rPr>
              <a:t>column, computed ONCE from the full</a:t>
            </a:r>
          </a:p>
          <a:p>
            <a:pPr>
              <a:spcBef>
                <a:spcPts val="100"/>
              </a:spcBef>
              <a:buNone/>
            </a:pPr>
            <a:r>
              <a:rPr sz="800" b="0" i="0">
                <a:solidFill>
                  <a:srgbClr val="1F2937"/>
                </a:solidFill>
                <a:latin typeface="Courier New"/>
              </a:rPr>
              <a:t>107,203-patient source file, before any</a:t>
            </a:r>
          </a:p>
          <a:p>
            <a:pPr>
              <a:spcBef>
                <a:spcPts val="100"/>
              </a:spcBef>
              <a:buNone/>
            </a:pPr>
            <a:r>
              <a:rPr sz="800" b="0" i="0">
                <a:solidFill>
                  <a:srgbClr val="1F2937"/>
                </a:solidFill>
                <a:latin typeface="Courier New"/>
              </a:rPr>
              <a:t>site sampling or shifting.</a:t>
            </a:r>
          </a:p>
        </p:txBody>
      </p:sp>
      <p:sp>
        <p:nvSpPr>
          <p:cNvPr id="8" name="Rectangle 7"/>
          <p:cNvSpPr/>
          <p:nvPr/>
        </p:nvSpPr>
        <p:spPr>
          <a:xfrm>
            <a:off x="4617720" y="1188720"/>
            <a:ext cx="4206240" cy="274320"/>
          </a:xfrm>
          <a:prstGeom prst="rect">
            <a:avLst/>
          </a:prstGeom>
          <a:solidFill>
            <a:srgbClr val="14532E"/>
          </a:solidFill>
          <a:ln>
            <a:noFill/>
          </a:ln>
          <a:effectLst/>
        </p:spPr>
        <p:style>
          <a:lnRef idx="1">
            <a:schemeClr val="accent1"/>
          </a:lnRef>
          <a:fillRef idx="3">
            <a:schemeClr val="accent1"/>
          </a:fillRef>
          <a:effectRef idx="2">
            <a:schemeClr val="accent1"/>
          </a:effectRef>
          <a:fontRef idx="minor">
            <a:schemeClr val="lt1"/>
          </a:fontRef>
        </p:style>
        <p:txBody>
          <a:bodyPr lIns="73152" tIns="36576" rtlCol="0" anchor="ctr"/>
          <a:lstStyle/>
          <a:p>
            <a:pPr algn="ctr"/>
            <a:r>
              <a:rPr sz="1000" b="1">
                <a:solidFill>
                  <a:srgbClr val="FFFFFF"/>
                </a:solidFill>
                <a:latin typeface="Calibri"/>
              </a:rPr>
              <a:t>Mechanism B — spread perturbation</a:t>
            </a:r>
          </a:p>
        </p:txBody>
      </p:sp>
      <p:sp>
        <p:nvSpPr>
          <p:cNvPr id="9" name="Rectangle 8"/>
          <p:cNvSpPr/>
          <p:nvPr/>
        </p:nvSpPr>
        <p:spPr>
          <a:xfrm>
            <a:off x="4617720" y="1463040"/>
            <a:ext cx="4206240" cy="3291840"/>
          </a:xfrm>
          <a:prstGeom prst="rect">
            <a:avLst/>
          </a:prstGeom>
          <a:solidFill>
            <a:srgbClr val="F7F7F8"/>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27448" y="1572768"/>
            <a:ext cx="3986783" cy="3108960"/>
          </a:xfrm>
          <a:prstGeom prst="rect">
            <a:avLst/>
          </a:prstGeom>
          <a:noFill/>
        </p:spPr>
        <p:txBody>
          <a:bodyPr wrap="square" lIns="0" tIns="0" rIns="0" bIns="0">
            <a:spAutoFit/>
          </a:bodyPr>
          <a:lstStyle/>
          <a:p>
            <a:pPr>
              <a:spcBef>
                <a:spcPts val="100"/>
              </a:spcBef>
              <a:buNone/>
            </a:pPr>
            <a:r>
              <a:rPr sz="800" b="0" i="1">
                <a:solidFill>
                  <a:srgbClr val="6B7280"/>
                </a:solidFill>
                <a:latin typeface="Courier New"/>
              </a:rPr>
              <a:t># runs immediately after Mechanism A,</a:t>
            </a:r>
          </a:p>
          <a:p>
            <a:pPr>
              <a:spcBef>
                <a:spcPts val="100"/>
              </a:spcBef>
              <a:buNone/>
            </a:pPr>
            <a:r>
              <a:rPr sz="800" b="0" i="1">
                <a:solidFill>
                  <a:srgbClr val="6B7280"/>
                </a:solidFill>
                <a:latin typeface="Courier New"/>
              </a:rPr>
              <a:t># on the already mean-shifted column</a:t>
            </a:r>
          </a:p>
          <a:p>
            <a:pPr>
              <a:spcBef>
                <a:spcPts val="100"/>
              </a:spcBef>
              <a:buNone/>
            </a:pPr>
            <a:r>
              <a:rPr sz="800" b="0" i="0">
                <a:solidFill>
                  <a:srgbClr val="1F2937"/>
                </a:solidFill>
                <a:latin typeface="Courier New"/>
              </a:rPr>
              <a:t>eff_scale = 1.0 + gamma * (</a:t>
            </a:r>
          </a:p>
          <a:p>
            <a:pPr>
              <a:spcBef>
                <a:spcPts val="100"/>
              </a:spcBef>
              <a:buNone/>
            </a:pPr>
            <a:r>
              <a:rPr sz="800" b="0" i="0">
                <a:solidFill>
                  <a:srgbClr val="1F2937"/>
                </a:solidFill>
                <a:latin typeface="Courier New"/>
              </a:rPr>
              <a:t>    spread_scale - 1.0</a:t>
            </a:r>
          </a:p>
          <a:p>
            <a:pPr>
              <a:spcBef>
                <a:spcPts val="100"/>
              </a:spcBef>
              <a:buNone/>
            </a:pPr>
            <a:r>
              <a:rPr sz="800" b="0" i="0">
                <a:solidFill>
                  <a:srgbClr val="1F2937"/>
                </a:solidFill>
                <a:latin typeface="Courier New"/>
              </a:rPr>
              <a:t>)</a:t>
            </a:r>
          </a:p>
          <a:p>
            <a:pPr>
              <a:spcBef>
                <a:spcPts val="100"/>
              </a:spcBef>
              <a:buNone/>
            </a:pPr>
            <a:endParaRPr sz="800" b="0" i="0">
              <a:solidFill>
                <a:srgbClr val="1F2937"/>
              </a:solidFill>
              <a:latin typeface="Courier New"/>
            </a:endParaRPr>
          </a:p>
          <a:p>
            <a:pPr>
              <a:spcBef>
                <a:spcPts val="100"/>
              </a:spcBef>
              <a:buNone/>
            </a:pPr>
            <a:r>
              <a:rPr sz="800" b="0" i="0">
                <a:solidFill>
                  <a:srgbClr val="1F2937"/>
                </a:solidFill>
                <a:latin typeface="Courier New"/>
              </a:rPr>
              <a:t>new_mean = mu + delta_z * sig</a:t>
            </a:r>
          </a:p>
          <a:p>
            <a:pPr>
              <a:spcBef>
                <a:spcPts val="100"/>
              </a:spcBef>
              <a:buNone/>
            </a:pPr>
            <a:r>
              <a:rPr sz="800" b="0" i="0">
                <a:solidFill>
                  <a:srgbClr val="1F2937"/>
                </a:solidFill>
                <a:latin typeface="Courier New"/>
              </a:rPr>
              <a:t>  # NOT the empirical site mean —</a:t>
            </a:r>
          </a:p>
          <a:p>
            <a:pPr>
              <a:spcBef>
                <a:spcPts val="100"/>
              </a:spcBef>
              <a:buNone/>
            </a:pPr>
            <a:r>
              <a:rPr sz="800" b="0" i="0">
                <a:solidFill>
                  <a:srgbClr val="1F2937"/>
                </a:solidFill>
                <a:latin typeface="Courier New"/>
              </a:rPr>
              <a:t>  # the theoretical shifted GLOBAL mean</a:t>
            </a:r>
          </a:p>
          <a:p>
            <a:pPr>
              <a:spcBef>
                <a:spcPts val="100"/>
              </a:spcBef>
              <a:buNone/>
            </a:pPr>
            <a:endParaRPr sz="800" b="0" i="0">
              <a:solidFill>
                <a:srgbClr val="1F2937"/>
              </a:solidFill>
              <a:latin typeface="Courier New"/>
            </a:endParaRPr>
          </a:p>
          <a:p>
            <a:pPr>
              <a:spcBef>
                <a:spcPts val="100"/>
              </a:spcBef>
              <a:buNone/>
            </a:pPr>
            <a:r>
              <a:rPr sz="800" b="0" i="0">
                <a:solidFill>
                  <a:srgbClr val="1F2937"/>
                </a:solidFill>
                <a:latin typeface="Courier New"/>
              </a:rPr>
              <a:t>for col in numeric_cols:</a:t>
            </a:r>
          </a:p>
          <a:p>
            <a:pPr>
              <a:spcBef>
                <a:spcPts val="100"/>
              </a:spcBef>
              <a:buNone/>
            </a:pPr>
            <a:r>
              <a:rPr sz="800" b="0" i="0">
                <a:solidFill>
                  <a:srgbClr val="1F2937"/>
                </a:solidFill>
                <a:latin typeface="Courier New"/>
              </a:rPr>
              <a:t>    dev = df[col] - new_mean</a:t>
            </a:r>
          </a:p>
          <a:p>
            <a:pPr>
              <a:spcBef>
                <a:spcPts val="100"/>
              </a:spcBef>
              <a:buNone/>
            </a:pPr>
            <a:r>
              <a:rPr sz="800" b="0" i="0">
                <a:solidFill>
                  <a:srgbClr val="1F2937"/>
                </a:solidFill>
                <a:latin typeface="Courier New"/>
              </a:rPr>
              <a:t>    df[col] = new_mean + eff_scale * dev</a:t>
            </a:r>
          </a:p>
          <a:p>
            <a:pPr>
              <a:spcBef>
                <a:spcPts val="100"/>
              </a:spcBef>
              <a:buNone/>
            </a:pPr>
            <a:endParaRPr sz="800" b="0" i="0">
              <a:solidFill>
                <a:srgbClr val="1F2937"/>
              </a:solidFill>
              <a:latin typeface="Courier New"/>
            </a:endParaRPr>
          </a:p>
          <a:p>
            <a:pPr>
              <a:spcBef>
                <a:spcPts val="100"/>
              </a:spcBef>
              <a:buNone/>
            </a:pPr>
            <a:r>
              <a:rPr sz="800" b="0" i="0">
                <a:solidFill>
                  <a:srgbClr val="1F2937"/>
                </a:solidFill>
                <a:latin typeface="Courier New"/>
              </a:rPr>
              <a:t>spread_scale=1.0  -&gt; eff_scale=1.0, no change</a:t>
            </a:r>
          </a:p>
          <a:p>
            <a:pPr>
              <a:spcBef>
                <a:spcPts val="100"/>
              </a:spcBef>
              <a:buNone/>
            </a:pPr>
            <a:r>
              <a:rPr sz="800" b="0" i="0">
                <a:solidFill>
                  <a:srgbClr val="1F2937"/>
                </a:solidFill>
                <a:latin typeface="Courier New"/>
              </a:rPr>
              <a:t>spread_scale=0.70 -&gt; eff_scale→0.70 as gamma→1</a:t>
            </a:r>
          </a:p>
          <a:p>
            <a:pPr>
              <a:spcBef>
                <a:spcPts val="100"/>
              </a:spcBef>
              <a:buNone/>
            </a:pPr>
            <a:r>
              <a:rPr sz="800" b="0" i="0">
                <a:solidFill>
                  <a:srgbClr val="1F2937"/>
                </a:solidFill>
                <a:latin typeface="Courier New"/>
              </a:rPr>
              <a:t>spread_scale=1.40 -&gt; eff_scale→1.40 as gamma→1</a:t>
            </a:r>
          </a:p>
          <a:p>
            <a:pPr>
              <a:spcBef>
                <a:spcPts val="100"/>
              </a:spcBef>
              <a:buNone/>
            </a:pPr>
            <a:endParaRPr sz="800" b="0" i="0">
              <a:solidFill>
                <a:srgbClr val="1F2937"/>
              </a:solidFill>
              <a:latin typeface="Courier New"/>
            </a:endParaRPr>
          </a:p>
          <a:p>
            <a:pPr>
              <a:spcBef>
                <a:spcPts val="100"/>
              </a:spcBef>
              <a:buNone/>
            </a:pPr>
            <a:r>
              <a:rPr sz="800" b="0" i="1">
                <a:solidFill>
                  <a:srgbClr val="6B7280"/>
                </a:solidFill>
                <a:latin typeface="Courier New"/>
              </a:rPr>
              <a:t>Key correction vs. earlier draft: centering</a:t>
            </a:r>
          </a:p>
          <a:p>
            <a:pPr>
              <a:spcBef>
                <a:spcPts val="100"/>
              </a:spcBef>
              <a:buNone/>
            </a:pPr>
            <a:r>
              <a:rPr sz="800" b="0" i="1">
                <a:solidFill>
                  <a:srgbClr val="6B7280"/>
                </a:solidFill>
                <a:latin typeface="Courier New"/>
              </a:rPr>
              <a:t>uses GLOBAL mean/std (pooled across all</a:t>
            </a:r>
          </a:p>
          <a:p>
            <a:pPr>
              <a:spcBef>
                <a:spcPts val="100"/>
              </a:spcBef>
              <a:buNone/>
            </a:pPr>
            <a:r>
              <a:rPr sz="800" b="0" i="0">
                <a:solidFill>
                  <a:srgbClr val="1F2937"/>
                </a:solidFill>
                <a:latin typeface="Courier New"/>
              </a:rPr>
              <a:t>107,203 patients), computed once before site</a:t>
            </a:r>
          </a:p>
          <a:p>
            <a:pPr>
              <a:spcBef>
                <a:spcPts val="100"/>
              </a:spcBef>
              <a:buNone/>
            </a:pPr>
            <a:r>
              <a:rPr sz="800" b="0" i="1">
                <a:solidFill>
                  <a:srgbClr val="6B7280"/>
                </a:solidFill>
                <a:latin typeface="Courier New"/>
              </a:rPr>
              <a:t>sampling — not a privacy-preserving site-only</a:t>
            </a:r>
          </a:p>
          <a:p>
            <a:pPr>
              <a:spcBef>
                <a:spcPts val="100"/>
              </a:spcBef>
              <a:buNone/>
            </a:pPr>
            <a:r>
              <a:rPr sz="800" b="0" i="1">
                <a:solidFill>
                  <a:srgbClr val="6B7280"/>
                </a:solidFill>
                <a:latin typeface="Courier New"/>
              </a:rPr>
              <a:t>statistic. This is testbed-generation code,</a:t>
            </a:r>
          </a:p>
          <a:p>
            <a:pPr>
              <a:spcBef>
                <a:spcPts val="100"/>
              </a:spcBef>
              <a:buNone/>
            </a:pPr>
            <a:r>
              <a:rPr sz="800" b="0" i="1">
                <a:solidFill>
                  <a:srgbClr val="6B7280"/>
                </a:solidFill>
                <a:latin typeface="Courier New"/>
              </a:rPr>
              <a:t>not a decentralized computation.</a:t>
            </a:r>
          </a:p>
        </p:txBody>
      </p:sp>
    </p:spTree>
    <p:extLst>
      <p:ext uri="{BB962C8B-B14F-4D97-AF65-F5344CB8AC3E}">
        <p14:creationId xmlns:p14="http://schemas.microsoft.com/office/powerpoint/2010/main" val="28852605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Cov Shift Verification">
    <p:bg>
      <p:bgPr>
        <a:solidFill>
          <a:srgbClr val="FFFFFF"/>
        </a:solidFill>
        <a:effectLst/>
      </p:bgPr>
    </p:bg>
    <p:spTree>
      <p:nvGrpSpPr>
        <p:cNvPr id="1" name=""/>
        <p:cNvGrpSpPr/>
        <p:nvPr/>
      </p:nvGrpSpPr>
      <p:grpSpPr>
        <a:xfrm>
          <a:off x="0" y="0"/>
          <a:ext cx="0" cy="0"/>
          <a:chOff x="0" y="0"/>
          <a:chExt cx="0" cy="0"/>
        </a:xfrm>
      </p:grpSpPr>
      <p:sp>
        <p:nvSpPr>
          <p:cNvPr id="2" name="hdr"/>
          <p:cNvSpPr>
            <a:spLocks noGrp="1"/>
          </p:cNvSpPr>
          <p:nvPr/>
        </p:nvSpPr>
        <p:spPr>
          <a:xfrm>
            <a:off x="0" y="0"/>
            <a:ext cx="9144000" cy="400000"/>
          </a:xfrm>
          <a:prstGeom prst="rect">
            <a:avLst/>
          </a:prstGeom>
          <a:solidFill>
            <a:srgbClr val="1E3A5F"/>
          </a:solidFill>
          <a:ln/>
        </p:spPr>
        <p:txBody>
          <a:bodyPr wrap="square" lIns="182880" tIns="45720" rIns="182880" bIns="45720" rtlCol="0" anchor="ctr"/>
          <a:lstStyle/>
          <a:p>
            <a:pPr marL="0" indent="0">
              <a:buNone/>
            </a:pPr>
            <a:r>
              <a:rPr lang="en-US" sz="1600" b="1" dirty="0">
                <a:solidFill>
                  <a:srgbClr val="FFFFFF"/>
                </a:solidFill>
                <a:latin typeface="Calibri"/>
              </a:rPr>
              <a:t>Covariate Shift Verification — Sampling-Based Mechanism (alpha=0.3, gamma=0.75)</a:t>
            </a:r>
          </a:p>
        </p:txBody>
      </p:sp>
      <p:sp>
        <p:nvSpPr>
          <p:cNvPr id="3" name="lhdr"/>
          <p:cNvSpPr>
            <a:spLocks noGrp="1"/>
          </p:cNvSpPr>
          <p:nvPr/>
        </p:nvSpPr>
        <p:spPr>
          <a:xfrm>
            <a:off x="228600" y="425000"/>
            <a:ext cx="4200000" cy="195000"/>
          </a:xfrm>
          <a:prstGeom prst="rect">
            <a:avLst/>
          </a:prstGeom>
          <a:solidFill>
            <a:srgbClr val="2E6DA4"/>
          </a:solidFill>
          <a:ln/>
        </p:spPr>
        <p:txBody>
          <a:bodyPr wrap="square" lIns="182880" tIns="45720" rIns="182880" bIns="45720" rtlCol="0" anchor="ctr"/>
          <a:lstStyle/>
          <a:p>
            <a:pPr marL="0" indent="0">
              <a:buNone/>
            </a:pPr>
            <a:r>
              <a:rPr lang="en-US" sz="1050" b="1" dirty="0">
                <a:solidFill>
                  <a:srgbClr val="FFFFFF"/>
                </a:solidFill>
                <a:latin typeface="Calibri"/>
              </a:rPr>
              <a:t>Panel A: Acuity z-score per site + AKI prevalence vs alpha</a:t>
            </a:r>
          </a:p>
        </p:txBody>
      </p:sp>
      <p:pic>
        <p:nvPicPr>
          <p:cNvPr id="4" name="img_verif"/>
          <p:cNvPicPr>
            <a:picLocks noChangeAspect="1"/>
          </p:cNvPicPr>
          <p:nvPr/>
        </p:nvPicPr>
        <p:blipFill>
          <a:blip r:embed="rId3"/>
          <a:stretch>
            <a:fillRect/>
          </a:stretch>
        </p:blipFill>
        <p:spPr>
          <a:xfrm>
            <a:off x="228600" y="640000"/>
            <a:ext cx="4200000" cy="2850000"/>
          </a:xfrm>
          <a:prstGeom prst="rect">
            <a:avLst/>
          </a:prstGeom>
        </p:spPr>
      </p:pic>
      <p:sp>
        <p:nvSpPr>
          <p:cNvPr id="5" name="rhdr"/>
          <p:cNvSpPr>
            <a:spLocks noGrp="1"/>
          </p:cNvSpPr>
          <p:nvPr/>
        </p:nvSpPr>
        <p:spPr>
          <a:xfrm>
            <a:off x="4700000" y="425000"/>
            <a:ext cx="4216000" cy="195000"/>
          </a:xfrm>
          <a:prstGeom prst="rect">
            <a:avLst/>
          </a:prstGeom>
          <a:solidFill>
            <a:srgbClr val="2E6DA4"/>
          </a:solidFill>
          <a:ln/>
        </p:spPr>
        <p:txBody>
          <a:bodyPr wrap="square" lIns="182880" tIns="45720" rIns="182880" bIns="45720" rtlCol="0" anchor="ctr"/>
          <a:lstStyle/>
          <a:p>
            <a:pPr marL="0" indent="0">
              <a:buNone/>
            </a:pPr>
            <a:r>
              <a:rPr lang="en-US" sz="1050" b="1" dirty="0">
                <a:solidFill>
                  <a:srgbClr val="FFFFFF"/>
                </a:solidFill>
                <a:latin typeface="Calibri"/>
              </a:rPr>
              <a:t>Panel B: Feature distribution KDE by site — AKI patients only</a:t>
            </a:r>
          </a:p>
        </p:txBody>
      </p:sp>
      <p:pic>
        <p:nvPicPr>
          <p:cNvPr id="6" name="img_kde"/>
          <p:cNvPicPr>
            <a:picLocks noChangeAspect="1"/>
          </p:cNvPicPr>
          <p:nvPr/>
        </p:nvPicPr>
        <p:blipFill>
          <a:blip r:embed="rId4"/>
          <a:stretch>
            <a:fillRect/>
          </a:stretch>
        </p:blipFill>
        <p:spPr>
          <a:xfrm>
            <a:off x="4700000" y="640000"/>
            <a:ext cx="4216000" cy="2850000"/>
          </a:xfrm>
          <a:prstGeom prst="rect">
            <a:avLst/>
          </a:prstGeom>
        </p:spPr>
      </p:pic>
      <p:sp>
        <p:nvSpPr>
          <p:cNvPr id="7" name="mech"/>
          <p:cNvSpPr>
            <a:spLocks noGrp="1"/>
          </p:cNvSpPr>
          <p:nvPr/>
        </p:nvSpPr>
        <p:spPr>
          <a:xfrm>
            <a:off x="228600" y="3530000"/>
            <a:ext cx="8687400" cy="420000"/>
          </a:xfrm>
          <a:prstGeom prst="rect">
            <a:avLst/>
          </a:prstGeom>
          <a:solidFill>
            <a:srgbClr val="E8F0FB"/>
          </a:solidFill>
          <a:ln/>
        </p:spPr>
        <p:txBody>
          <a:bodyPr wrap="square" lIns="182880" tIns="91440" rIns="182880" bIns="91440" rtlCol="0" anchor="t"/>
          <a:lstStyle/>
          <a:p>
            <a:pPr marL="0" indent="0">
              <a:buNone/>
            </a:pPr>
            <a:r>
              <a:rPr lang="en-US" sz="1150" b="1" dirty="0">
                <a:solidFill>
                  <a:srgbClr val="1E3A5F"/>
                </a:solidFill>
                <a:latin typeface="Calibri"/>
              </a:rPr>
              <a:t>Sampling-Based Covariate Shift </a:t>
            </a:r>
          </a:p>
          <a:p>
            <a:pPr marL="0" indent="0">
              <a:buNone/>
            </a:pPr>
            <a:r>
              <a:rPr lang="en-US" sz="1050" b="0" dirty="0">
                <a:solidFill>
                  <a:srgbClr val="000000"/>
                </a:solidFill>
                <a:latin typeface="Calibri"/>
              </a:rPr>
              <a:t>Each site selects real MIMIC-IV patients weighted by acuity score. ICU (site_A, bias=+2.0) oversamples sicker patients — higher creatinine, BUN. Rural (site_E, bias=-0.8) oversamples healthier. No feature values are ever modified. Panel A: site_A AKI patients are +1.11 SD above anchor mean. Panel B: KDE confirms site_A creatinine/BUN distributions shifted rightward vs other sites.</a:t>
            </a:r>
          </a:p>
        </p:txBody>
      </p:sp>
      <p:sp>
        <p:nvSpPr>
          <p:cNvPr id="8" name="gamma"/>
          <p:cNvSpPr>
            <a:spLocks noGrp="1"/>
          </p:cNvSpPr>
          <p:nvPr/>
        </p:nvSpPr>
        <p:spPr>
          <a:xfrm>
            <a:off x="228600" y="3980000"/>
            <a:ext cx="8687400" cy="270000"/>
          </a:xfrm>
          <a:prstGeom prst="rect">
            <a:avLst/>
          </a:prstGeom>
          <a:solidFill>
            <a:srgbClr val="F0F4FA"/>
          </a:solidFill>
          <a:ln/>
        </p:spPr>
        <p:txBody>
          <a:bodyPr wrap="square" lIns="182880" tIns="91440" rIns="182880" bIns="91440" rtlCol="0" anchor="t"/>
          <a:lstStyle/>
          <a:p>
            <a:pPr marL="0" indent="0">
              <a:buNone/>
            </a:pPr>
            <a:r>
              <a:rPr lang="en-US" sz="1050" b="1" dirty="0">
                <a:solidFill>
                  <a:srgbClr val="2E6DA4"/>
                </a:solidFill>
                <a:latin typeface="Calibri"/>
              </a:rPr>
              <a:t>gamma controls acuity bias strength:</a:t>
            </a:r>
          </a:p>
          <a:p>
            <a:pPr marL="0" indent="0">
              <a:buNone/>
            </a:pPr>
            <a:r>
              <a:rPr lang="en-US" sz="1000" b="0" dirty="0">
                <a:solidFill>
                  <a:srgbClr val="000000"/>
                </a:solidFill>
                <a:latin typeface="Calibri"/>
              </a:rPr>
              <a:t>gamma=0: uniform sampling, no covariate shift. gamma=0.75: moderate shift (shown). gamma=1.0: maximum shift. alpha controls label heterogeneity independently via Dirichlet.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Max Heterogeneity">
    <p:bg>
      <p:bgPr>
        <a:solidFill>
          <a:srgbClr val="FFFFFF"/>
        </a:solidFill>
        <a:effectLst/>
      </p:bgPr>
    </p:bg>
    <p:spTree>
      <p:nvGrpSpPr>
        <p:cNvPr id="1" name=""/>
        <p:cNvGrpSpPr/>
        <p:nvPr/>
      </p:nvGrpSpPr>
      <p:grpSpPr>
        <a:xfrm>
          <a:off x="0" y="0"/>
          <a:ext cx="0" cy="0"/>
          <a:chOff x="0" y="0"/>
          <a:chExt cx="0" cy="0"/>
        </a:xfrm>
      </p:grpSpPr>
      <p:sp>
        <p:nvSpPr>
          <p:cNvPr id="2" name="hdr"/>
          <p:cNvSpPr>
            <a:spLocks noGrp="1"/>
          </p:cNvSpPr>
          <p:nvPr/>
        </p:nvSpPr>
        <p:spPr>
          <a:xfrm>
            <a:off x="0" y="0"/>
            <a:ext cx="9144000" cy="400000"/>
          </a:xfrm>
          <a:prstGeom prst="rect">
            <a:avLst/>
          </a:prstGeom>
          <a:solidFill>
            <a:srgbClr val="1E3A5F"/>
          </a:solidFill>
          <a:ln/>
        </p:spPr>
        <p:txBody>
          <a:bodyPr wrap="square" lIns="182880" tIns="45720" rIns="182880" bIns="45720" rtlCol="0" anchor="ctr"/>
          <a:lstStyle/>
          <a:p>
            <a:pPr marL="0" indent="0">
              <a:buNone/>
            </a:pPr>
            <a:r>
              <a:rPr lang="en-US" sz="1600" b="1" dirty="0">
                <a:solidFill>
                  <a:srgbClr val="FFFFFF"/>
                </a:solidFill>
                <a:latin typeface="Calibri"/>
              </a:rPr>
              <a:t>Covariate Shift Verification — Maximum Heterogeneity (alpha=0.1, gamma=0.75)</a:t>
            </a:r>
          </a:p>
        </p:txBody>
      </p:sp>
      <p:sp>
        <p:nvSpPr>
          <p:cNvPr id="3" name="lhdr"/>
          <p:cNvSpPr>
            <a:spLocks noGrp="1"/>
          </p:cNvSpPr>
          <p:nvPr/>
        </p:nvSpPr>
        <p:spPr>
          <a:xfrm>
            <a:off x="228600" y="425000"/>
            <a:ext cx="4200000" cy="195000"/>
          </a:xfrm>
          <a:prstGeom prst="rect">
            <a:avLst/>
          </a:prstGeom>
          <a:solidFill>
            <a:srgbClr val="C0392B"/>
          </a:solidFill>
          <a:ln/>
        </p:spPr>
        <p:txBody>
          <a:bodyPr wrap="square" lIns="182880" tIns="45720" rIns="182880" bIns="45720" rtlCol="0" anchor="ctr"/>
          <a:lstStyle/>
          <a:p>
            <a:pPr marL="0" indent="0">
              <a:buNone/>
            </a:pPr>
            <a:r>
              <a:rPr lang="en-US" sz="1050" b="1" dirty="0">
                <a:solidFill>
                  <a:srgbClr val="FFFFFF"/>
                </a:solidFill>
                <a:latin typeface="Calibri"/>
              </a:rPr>
              <a:t>Panel A: AKI vs Non-AKI feature distributions by site (boxplots)</a:t>
            </a:r>
          </a:p>
        </p:txBody>
      </p:sp>
      <p:pic>
        <p:nvPicPr>
          <p:cNvPr id="4" name="img_box"/>
          <p:cNvPicPr>
            <a:picLocks noChangeAspect="1"/>
          </p:cNvPicPr>
          <p:nvPr/>
        </p:nvPicPr>
        <p:blipFill>
          <a:blip r:embed="rId3"/>
          <a:stretch>
            <a:fillRect/>
          </a:stretch>
        </p:blipFill>
        <p:spPr>
          <a:xfrm>
            <a:off x="228600" y="640000"/>
            <a:ext cx="4200000" cy="2850000"/>
          </a:xfrm>
          <a:prstGeom prst="rect">
            <a:avLst/>
          </a:prstGeom>
        </p:spPr>
      </p:pic>
      <p:sp>
        <p:nvSpPr>
          <p:cNvPr id="5" name="rhdr"/>
          <p:cNvSpPr>
            <a:spLocks noGrp="1"/>
          </p:cNvSpPr>
          <p:nvPr/>
        </p:nvSpPr>
        <p:spPr>
          <a:xfrm>
            <a:off x="4700000" y="425000"/>
            <a:ext cx="4216000" cy="195000"/>
          </a:xfrm>
          <a:prstGeom prst="rect">
            <a:avLst/>
          </a:prstGeom>
          <a:solidFill>
            <a:srgbClr val="C0392B"/>
          </a:solidFill>
          <a:ln/>
        </p:spPr>
        <p:txBody>
          <a:bodyPr wrap="square" lIns="182880" tIns="45720" rIns="182880" bIns="45720" rtlCol="0" anchor="ctr"/>
          <a:lstStyle/>
          <a:p>
            <a:pPr marL="0" indent="0">
              <a:buNone/>
            </a:pPr>
            <a:r>
              <a:rPr lang="en-US" sz="1050" b="1" dirty="0">
                <a:solidFill>
                  <a:srgbClr val="FFFFFF"/>
                </a:solidFill>
                <a:latin typeface="Calibri"/>
              </a:rPr>
              <a:t>Panel B: Simulation summary — alpha=0.1, gamma=0.75 (max label + covariate shift)</a:t>
            </a:r>
          </a:p>
        </p:txBody>
      </p:sp>
      <p:pic>
        <p:nvPicPr>
          <p:cNvPr id="6" name="img_sum"/>
          <p:cNvPicPr>
            <a:picLocks noChangeAspect="1"/>
          </p:cNvPicPr>
          <p:nvPr/>
        </p:nvPicPr>
        <p:blipFill>
          <a:blip r:embed="rId4"/>
          <a:stretch>
            <a:fillRect/>
          </a:stretch>
        </p:blipFill>
        <p:spPr>
          <a:xfrm>
            <a:off x="4700000" y="640000"/>
            <a:ext cx="4216000" cy="2850000"/>
          </a:xfrm>
          <a:prstGeom prst="rect">
            <a:avLst/>
          </a:prstGeom>
        </p:spPr>
      </p:pic>
      <p:sp>
        <p:nvSpPr>
          <p:cNvPr id="7" name="notes"/>
          <p:cNvSpPr>
            <a:spLocks noGrp="1"/>
          </p:cNvSpPr>
          <p:nvPr/>
        </p:nvSpPr>
        <p:spPr>
          <a:xfrm>
            <a:off x="228600" y="3530000"/>
            <a:ext cx="8687400" cy="420000"/>
          </a:xfrm>
          <a:prstGeom prst="rect">
            <a:avLst/>
          </a:prstGeom>
          <a:solidFill>
            <a:srgbClr val="FFF8F0"/>
          </a:solidFill>
          <a:ln/>
        </p:spPr>
        <p:txBody>
          <a:bodyPr wrap="square" lIns="182880" tIns="91440" rIns="182880" bIns="91440" rtlCol="0" anchor="t"/>
          <a:lstStyle/>
          <a:p>
            <a:pPr marL="0" indent="0">
              <a:buNone/>
            </a:pPr>
            <a:r>
              <a:rPr lang="en-US" sz="1150" b="1" dirty="0">
                <a:solidFill>
                  <a:srgbClr val="C0392B"/>
                </a:solidFill>
                <a:latin typeface="Calibri"/>
              </a:rPr>
              <a:t>Maximum Heterogeneity (alpha=0.1)</a:t>
            </a:r>
          </a:p>
          <a:p>
            <a:pPr marL="0" indent="0">
              <a:buNone/>
            </a:pPr>
            <a:r>
              <a:rPr lang="en-US" sz="1050" b="0" dirty="0">
                <a:solidFill>
                  <a:srgbClr val="000000"/>
                </a:solidFill>
                <a:latin typeface="Calibri"/>
              </a:rPr>
              <a:t>At alpha=0.1, sites diverge maximally from global AKI rate (9.0%). site_A ICU fixed at 23.4%, site_E rural drops to 4.5%. Panel A: AKI patients (red) consistently show higher creatinine and BUN than non-AKI (blue) within each site. Between-site shift is subtler — real clinical acuity differences from patient selection, not synthetic amplification.</a:t>
            </a:r>
          </a:p>
        </p:txBody>
      </p:sp>
      <p:sp>
        <p:nvSpPr>
          <p:cNvPr id="8" name="key"/>
          <p:cNvSpPr>
            <a:spLocks noGrp="1"/>
          </p:cNvSpPr>
          <p:nvPr/>
        </p:nvSpPr>
        <p:spPr>
          <a:xfrm>
            <a:off x="228600" y="3980000"/>
            <a:ext cx="8687400" cy="270000"/>
          </a:xfrm>
          <a:prstGeom prst="rect">
            <a:avLst/>
          </a:prstGeom>
          <a:solidFill>
            <a:srgbClr val="F0F4FA"/>
          </a:solidFill>
          <a:ln/>
        </p:spPr>
        <p:txBody>
          <a:bodyPr wrap="square" lIns="182880" tIns="91440" rIns="182880" bIns="91440" rtlCol="0" anchor="t"/>
          <a:lstStyle/>
          <a:p>
            <a:pPr marL="0" indent="0">
              <a:buNone/>
            </a:pPr>
            <a:r>
              <a:rPr lang="en-US" sz="1050" b="1" dirty="0">
                <a:solidFill>
                  <a:srgbClr val="1E3A5F"/>
                </a:solidFill>
                <a:latin typeface="Calibri"/>
              </a:rPr>
              <a:t>Key finding:</a:t>
            </a:r>
          </a:p>
          <a:p>
            <a:pPr marL="0" indent="0">
              <a:buNone/>
            </a:pPr>
            <a:r>
              <a:rPr lang="en-US" sz="1000" b="0" dirty="0">
                <a:solidFill>
                  <a:srgbClr val="000000"/>
                </a:solidFill>
                <a:latin typeface="Calibri"/>
              </a:rPr>
              <a:t>Within-site AKI vs non-AKI separation is clinically meaningful (boxplot medians differ).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LR Baseline">
    <p:bg>
      <p:bgPr>
        <a:solidFill>
          <a:srgbClr val="FFFFFF"/>
        </a:solidFill>
        <a:effectLst/>
      </p:bgPr>
    </p:bg>
    <p:spTree>
      <p:nvGrpSpPr>
        <p:cNvPr id="1" name=""/>
        <p:cNvGrpSpPr/>
        <p:nvPr/>
      </p:nvGrpSpPr>
      <p:grpSpPr>
        <a:xfrm>
          <a:off x="0" y="0"/>
          <a:ext cx="0" cy="0"/>
          <a:chOff x="0" y="0"/>
          <a:chExt cx="0" cy="0"/>
        </a:xfrm>
      </p:grpSpPr>
      <p:sp>
        <p:nvSpPr>
          <p:cNvPr id="2" name="hdr"/>
          <p:cNvSpPr/>
          <p:nvPr/>
        </p:nvSpPr>
        <p:spPr>
          <a:xfrm>
            <a:off x="0" y="0"/>
            <a:ext cx="9144000" cy="420000"/>
          </a:xfrm>
          <a:prstGeom prst="rect">
            <a:avLst/>
          </a:prstGeom>
          <a:solidFill>
            <a:srgbClr val="1E3A5F"/>
          </a:solidFill>
          <a:ln/>
        </p:spPr>
        <p:txBody>
          <a:bodyPr wrap="square" lIns="274638" tIns="91440" rIns="274638" bIns="91440" rtlCol="0" anchor="ctr"/>
          <a:lstStyle/>
          <a:p>
            <a:pPr marL="0" indent="0">
              <a:buNone/>
            </a:pPr>
            <a:r>
              <a:rPr lang="en-US" sz="1800" b="1" dirty="0">
                <a:solidFill>
                  <a:srgbClr val="FFFFFF"/>
                </a:solidFill>
                <a:latin typeface="Calibri"/>
              </a:rPr>
              <a:t>LR Baseline: Why Algorithm Choice Doesn’t Matter for Convex Models</a:t>
            </a:r>
          </a:p>
        </p:txBody>
      </p:sp>
      <p:sp>
        <p:nvSpPr>
          <p:cNvPr id="3" name="lr_res"/>
          <p:cNvSpPr/>
          <p:nvPr/>
        </p:nvSpPr>
        <p:spPr>
          <a:xfrm>
            <a:off x="228600" y="480000"/>
            <a:ext cx="4060000" cy="2000000"/>
          </a:xfrm>
          <a:prstGeom prst="rect">
            <a:avLst/>
          </a:prstGeom>
          <a:solidFill>
            <a:srgbClr val="F8FAFC"/>
          </a:solidFill>
          <a:ln w="9525">
            <a:solidFill>
              <a:srgbClr val="1E3A5F"/>
            </a:solidFill>
          </a:ln>
        </p:spPr>
        <p:txBody>
          <a:bodyPr wrap="square" lIns="137160" tIns="91440" rIns="137160" bIns="91440" rtlCol="0" anchor="t"/>
          <a:lstStyle/>
          <a:p>
            <a:pPr marL="0" indent="0">
              <a:buNone/>
            </a:pPr>
            <a:r>
              <a:rPr lang="en-US" sz="950" b="1" dirty="0">
                <a:solidFill>
                  <a:srgbClr val="1E3A5F"/>
                </a:solidFill>
                <a:latin typeface="Calibri"/>
              </a:rPr>
              <a:t>LR results: covariate shift only (no_label_shift)</a:t>
            </a:r>
          </a:p>
          <a:p>
            <a:pPr marL="0" indent="0">
              <a:buNone/>
            </a:pPr>
            <a:endParaRPr lang="en-US" sz="825" dirty="0"/>
          </a:p>
          <a:p>
            <a:pPr marL="0" indent="0">
              <a:buNone/>
            </a:pPr>
            <a:r>
              <a:rPr lang="en-US" sz="825" b="1" dirty="0">
                <a:solidFill>
                  <a:srgbClr val="374151"/>
                </a:solidFill>
                <a:latin typeface="Calibri"/>
              </a:rPr>
              <a:t>gamma=0.75:</a:t>
            </a:r>
          </a:p>
          <a:p>
            <a:pPr marL="0" indent="0">
              <a:buNone/>
            </a:pPr>
            <a:r>
              <a:rPr lang="en-US" sz="800" dirty="0">
                <a:solidFill>
                  <a:schemeClr val="tx1"/>
                </a:solidFill>
                <a:latin typeface="Calibri"/>
              </a:rPr>
              <a:t>FedAvg   0.8275  |  FedProx  0.8274  |  SCAFFOLD  0.8282</a:t>
            </a:r>
          </a:p>
          <a:p>
            <a:pPr marL="0" indent="0">
              <a:buNone/>
            </a:pPr>
            <a:endParaRPr lang="en-US" sz="825" dirty="0"/>
          </a:p>
          <a:p>
            <a:pPr marL="0" indent="0">
              <a:buNone/>
            </a:pPr>
            <a:r>
              <a:rPr lang="en-US" sz="825" b="1" dirty="0">
                <a:solidFill>
                  <a:srgbClr val="374151"/>
                </a:solidFill>
                <a:latin typeface="Calibri"/>
              </a:rPr>
              <a:t>gamma=1.0:</a:t>
            </a:r>
          </a:p>
          <a:p>
            <a:pPr marL="0" indent="0">
              <a:buNone/>
            </a:pPr>
            <a:r>
              <a:rPr lang="en-US" sz="800" dirty="0">
                <a:solidFill>
                  <a:schemeClr val="tx1"/>
                </a:solidFill>
                <a:latin typeface="Calibri"/>
              </a:rPr>
              <a:t>FedAvg   0.8216  |  FedProx  0.8210  |  SCAFFOLD  0.8226</a:t>
            </a:r>
          </a:p>
          <a:p>
            <a:pPr marL="0" indent="0">
              <a:buNone/>
            </a:pPr>
            <a:endParaRPr lang="en-US" sz="825" dirty="0"/>
          </a:p>
          <a:p>
            <a:pPr marL="0" indent="0">
              <a:buNone/>
            </a:pPr>
            <a:r>
              <a:rPr lang="en-US" sz="825" b="1" dirty="0">
                <a:solidFill>
                  <a:srgbClr val="991B1B"/>
                </a:solidFill>
                <a:latin typeface="Calibri"/>
              </a:rPr>
              <a:t>Max gap between algorithms: 0.0016 — negligible</a:t>
            </a:r>
          </a:p>
        </p:txBody>
      </p:sp>
      <p:sp>
        <p:nvSpPr>
          <p:cNvPr id="4" name="why_lr"/>
          <p:cNvSpPr/>
          <p:nvPr/>
        </p:nvSpPr>
        <p:spPr>
          <a:xfrm>
            <a:off x="4450000" y="480000"/>
            <a:ext cx="4466000" cy="2000000"/>
          </a:xfrm>
          <a:prstGeom prst="rect">
            <a:avLst/>
          </a:prstGeom>
          <a:solidFill>
            <a:srgbClr val="FFF7ED"/>
          </a:solidFill>
          <a:ln w="9525">
            <a:solidFill>
              <a:srgbClr val="C2410C"/>
            </a:solidFill>
          </a:ln>
        </p:spPr>
        <p:txBody>
          <a:bodyPr wrap="square" lIns="137160" tIns="91440" rIns="137160" bIns="91440" rtlCol="0" anchor="t"/>
          <a:lstStyle/>
          <a:p>
            <a:pPr marL="0" indent="0">
              <a:buNone/>
            </a:pPr>
            <a:r>
              <a:rPr lang="en-US" sz="950" b="1" dirty="0">
                <a:solidFill>
                  <a:srgbClr val="7C2D12"/>
                </a:solidFill>
                <a:latin typeface="Calibri"/>
              </a:rPr>
              <a:t>Why LR shows negligible algorithm differences</a:t>
            </a:r>
          </a:p>
          <a:p>
            <a:pPr marL="0" indent="0">
              <a:buNone/>
            </a:pPr>
            <a:endParaRPr lang="en-US" sz="825" dirty="0"/>
          </a:p>
          <a:p>
            <a:pPr marL="0" indent="0">
              <a:buNone/>
            </a:pPr>
            <a:r>
              <a:rPr lang="en-US" sz="825" b="1" dirty="0">
                <a:solidFill>
                  <a:schemeClr val="tx1"/>
                </a:solidFill>
                <a:latin typeface="Calibri"/>
              </a:rPr>
              <a:t>1. Convexity</a:t>
            </a:r>
            <a:r>
              <a:rPr lang="en-US" sz="825" dirty="0">
                <a:solidFill>
                  <a:schemeClr val="tx1"/>
                </a:solidFill>
                <a:latin typeface="Calibri"/>
              </a:rPr>
              <a:t> — single global minimum, all algorithms converge to the same solution</a:t>
            </a:r>
          </a:p>
          <a:p>
            <a:pPr marL="0" indent="0">
              <a:buNone/>
            </a:pPr>
            <a:r>
              <a:rPr lang="en-US" sz="825" b="1" dirty="0">
                <a:solidFill>
                  <a:schemeClr val="tx1"/>
                </a:solidFill>
                <a:latin typeface="Calibri"/>
              </a:rPr>
              <a:t>2. Gradient agreement</a:t>
            </a:r>
            <a:r>
              <a:rPr lang="en-US" sz="825" dirty="0">
                <a:solidFill>
                  <a:schemeClr val="tx1"/>
                </a:solidFill>
                <a:latin typeface="Calibri"/>
              </a:rPr>
              <a:t> — covariate shift moves P(X) not the decision boundary; all sites agree on gradient direction</a:t>
            </a:r>
          </a:p>
          <a:p>
            <a:pPr marL="0" indent="0">
              <a:buNone/>
            </a:pPr>
            <a:r>
              <a:rPr lang="en-US" sz="825" b="1" dirty="0">
                <a:solidFill>
                  <a:schemeClr val="tx1"/>
                </a:solidFill>
                <a:latin typeface="Calibri"/>
              </a:rPr>
              <a:t>3. Low variance</a:t>
            </a:r>
            <a:r>
              <a:rPr lang="en-US" sz="825" dirty="0">
                <a:solidFill>
                  <a:schemeClr val="tx1"/>
                </a:solidFill>
                <a:latin typeface="Calibri"/>
              </a:rPr>
              <a:t> — FedProx and SCAFFOLD correct gradient variance; minimal with convex models</a:t>
            </a:r>
          </a:p>
          <a:p>
            <a:pPr marL="0" indent="0">
              <a:buNone/>
            </a:pPr>
            <a:endParaRPr lang="en-US" sz="825" dirty="0"/>
          </a:p>
          <a:p>
            <a:pPr marL="0" indent="0">
              <a:buNone/>
            </a:pPr>
            <a:r>
              <a:rPr lang="en-US" sz="875" b="1" i="1" dirty="0">
                <a:solidFill>
                  <a:srgbClr val="065A82"/>
                </a:solidFill>
                <a:latin typeface="Calibri"/>
              </a:rPr>
              <a:t>→ Switch to MLP (non-convex) to expose meaningful algorithm differences</a:t>
            </a:r>
          </a:p>
        </p:txBody>
      </p:sp>
      <p:sp>
        <p:nvSpPr>
          <p:cNvPr id="5" name="mlp_design"/>
          <p:cNvSpPr/>
          <p:nvPr/>
        </p:nvSpPr>
        <p:spPr>
          <a:xfrm>
            <a:off x="228600" y="2580000"/>
            <a:ext cx="8686800" cy="2380000"/>
          </a:xfrm>
          <a:prstGeom prst="rect">
            <a:avLst/>
          </a:prstGeom>
          <a:solidFill>
            <a:srgbClr val="EFF6FF"/>
          </a:solidFill>
          <a:ln w="9525">
            <a:solidFill>
              <a:srgbClr val="2563EB"/>
            </a:solidFill>
          </a:ln>
        </p:spPr>
        <p:txBody>
          <a:bodyPr wrap="square" lIns="137160" tIns="91440" rIns="137160" bIns="91440" rtlCol="0" anchor="t"/>
          <a:lstStyle/>
          <a:p>
            <a:pPr marL="0" indent="0">
              <a:buNone/>
            </a:pPr>
            <a:r>
              <a:rPr lang="en-US" sz="1000" b="1" dirty="0">
                <a:solidFill>
                  <a:srgbClr val="1E3A5F"/>
                </a:solidFill>
                <a:latin typeface="Calibri"/>
              </a:rPr>
              <a:t>MLP Experimental Design — 8 Conditions × 6 Algorithms × 20 Seeds</a:t>
            </a:r>
          </a:p>
          <a:p>
            <a:pPr marL="0" indent="0">
              <a:buNone/>
            </a:pPr>
            <a:endParaRPr lang="en-US" sz="875" dirty="0"/>
          </a:p>
          <a:p>
            <a:pPr marL="0" indent="0">
              <a:buNone/>
            </a:pPr>
            <a:r>
              <a:rPr lang="en-US" sz="875" b="1" dirty="0">
                <a:solidFill>
                  <a:schemeClr val="tx1"/>
                </a:solidFill>
                <a:latin typeface="Calibri"/>
              </a:rPr>
              <a:t>Architecture: </a:t>
            </a:r>
            <a:r>
              <a:rPr lang="en-US" sz="875" dirty="0">
                <a:solidFill>
                  <a:schemeClr val="tx1"/>
                </a:solidFill>
                <a:latin typeface="Calibri"/>
              </a:rPr>
              <a:t>MLP 64→32→1 (ReLU, sigmoid output)  ·  100 rounds  ·  10 local epochs  ·  lr=0.01 with warmup + cosine decay  ·  gradient clipping</a:t>
            </a:r>
          </a:p>
          <a:p>
            <a:pPr marL="0" indent="0">
              <a:buNone/>
            </a:pPr>
            <a:r>
              <a:rPr lang="en-US" sz="875" b="1" dirty="0">
                <a:solidFill>
                  <a:schemeClr val="tx1"/>
                </a:solidFill>
                <a:latin typeface="Calibri"/>
              </a:rPr>
              <a:t>Algorithms: </a:t>
            </a:r>
            <a:r>
              <a:rPr lang="en-US" sz="875" dirty="0">
                <a:solidFill>
                  <a:schemeClr val="tx1"/>
                </a:solidFill>
                <a:latin typeface="Calibri"/>
              </a:rPr>
              <a:t>FedAvg  ·  FedProx (μ=0.1)  ·  SCAFFOLD  ·  SCAFFOLD+clip (cv_clip=1.0)  ·  Local-only  ·  Centralised</a:t>
            </a:r>
          </a:p>
          <a:p>
            <a:pPr marL="0" indent="0">
              <a:buNone/>
            </a:pPr>
            <a:r>
              <a:rPr lang="en-US" sz="875" b="1" dirty="0">
                <a:solidFill>
                  <a:schemeClr val="tx1"/>
                </a:solidFill>
                <a:latin typeface="Calibri"/>
              </a:rPr>
              <a:t>Conditions: </a:t>
            </a:r>
            <a:r>
              <a:rPr lang="en-US" sz="875" dirty="0">
                <a:solidFill>
                  <a:schemeClr val="tx1"/>
                </a:solidFill>
                <a:latin typeface="Calibri"/>
              </a:rPr>
              <a:t>IID  ·  Covariate only (γ=0.75)  ·  Label only (α=0.5)  ·  Both  ·  Label extreme (α=0.3)  ·  Both extreme  ·  Label max (α=0.1)  ·  Both max (γ=1.0)</a:t>
            </a:r>
          </a:p>
          <a:p>
            <a:pPr marL="0" indent="0">
              <a:buNone/>
            </a:pPr>
            <a:r>
              <a:rPr lang="en-US" sz="875" b="1" dirty="0">
                <a:solidFill>
                  <a:schemeClr val="tx1"/>
                </a:solidFill>
                <a:latin typeface="Calibri"/>
              </a:rPr>
              <a:t>Reproducibility: </a:t>
            </a:r>
            <a:r>
              <a:rPr lang="en-US" sz="875" dirty="0">
                <a:solidFill>
                  <a:schemeClr val="tx1"/>
                </a:solidFill>
                <a:latin typeface="Calibri"/>
              </a:rPr>
              <a:t>Fixed data seed (DATA_SEED=0) + stratified split eliminates data sampling variance. 20 algo seeds measure weight-init + SGD stochasticity only. Paired t-test vs FedAvg.</a:t>
            </a:r>
          </a:p>
          <a:p>
            <a:pPr marL="0" indent="0">
              <a:buNone/>
            </a:pPr>
            <a:r>
              <a:rPr lang="en-US" sz="875" b="1" dirty="0">
                <a:solidFill>
                  <a:schemeClr val="tx1"/>
                </a:solidFill>
                <a:latin typeface="Calibri"/>
              </a:rPr>
              <a:t>Imputation: </a:t>
            </a:r>
            <a:r>
              <a:rPr lang="en-US" sz="875" dirty="0">
                <a:solidFill>
                  <a:schemeClr val="tx1"/>
                </a:solidFill>
                <a:latin typeface="Calibri"/>
              </a:rPr>
              <a:t>Local-only — within-column NaNs filled with site training median; absent feature groups filled with sentinel value −3.0 (z-score). No anchor statistics shared.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hift Verification">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228600" y="120000"/>
            <a:ext cx="8686800" cy="380000"/>
          </a:xfrm>
          <a:prstGeom prst="rect">
            <a:avLst/>
          </a:prstGeom>
          <a:noFill/>
          <a:ln>
            <a:solidFill>
              <a:schemeClr val="tx1"/>
            </a:solidFill>
          </a:ln>
        </p:spPr>
        <p:txBody>
          <a:bodyPr wrap="square" lIns="137160" tIns="45720" rIns="137160" bIns="45720" rtlCol="0" anchor="ctr"/>
          <a:lstStyle/>
          <a:p>
            <a:pPr marL="0" indent="0">
              <a:buNone/>
            </a:pPr>
            <a:r>
              <a:rPr lang="en-US" sz="1900" b="1" dirty="0">
                <a:solidFill>
                  <a:schemeClr val="tx1"/>
                </a:solidFill>
                <a:latin typeface="Calibri"/>
              </a:rPr>
              <a:t>Covariate Shift Verification: gamma=0.0 vs gamma=0.75 (alpha=0.5)</a:t>
            </a:r>
          </a:p>
        </p:txBody>
      </p:sp>
      <p:pic>
        <p:nvPicPr>
          <p:cNvPr id="4" name="g075"/>
          <p:cNvPicPr>
            <a:picLocks noChangeAspect="1"/>
          </p:cNvPicPr>
          <p:nvPr/>
        </p:nvPicPr>
        <p:blipFill>
          <a:blip r:embed="rId3"/>
          <a:stretch>
            <a:fillRect/>
          </a:stretch>
        </p:blipFill>
        <p:spPr>
          <a:xfrm>
            <a:off x="1909751" y="580000"/>
            <a:ext cx="4295400" cy="2800000"/>
          </a:xfrm>
          <a:prstGeom prst="rect">
            <a:avLst/>
          </a:prstGeom>
        </p:spPr>
      </p:pic>
      <p:sp>
        <p:nvSpPr>
          <p:cNvPr id="5" name="interp"/>
          <p:cNvSpPr/>
          <p:nvPr/>
        </p:nvSpPr>
        <p:spPr>
          <a:xfrm>
            <a:off x="228600" y="3460000"/>
            <a:ext cx="8686800" cy="2400000"/>
          </a:xfrm>
          <a:prstGeom prst="rect">
            <a:avLst/>
          </a:prstGeom>
          <a:solidFill>
            <a:srgbClr val="F9FAFB"/>
          </a:solidFill>
          <a:ln w="9525">
            <a:solidFill>
              <a:srgbClr val="E5E7EB"/>
            </a:solidFill>
          </a:ln>
        </p:spPr>
        <p:txBody>
          <a:bodyPr wrap="square" lIns="137160" tIns="91440" rIns="137160" bIns="91440" rtlCol="0" anchor="t"/>
          <a:lstStyle/>
          <a:p>
            <a:pPr marL="0" indent="0">
              <a:buNone/>
            </a:pPr>
            <a:r>
              <a:rPr lang="en-US" sz="1000" b="1" dirty="0">
                <a:solidFill>
                  <a:srgbClr val="1E3A5F"/>
                </a:solidFill>
                <a:latin typeface="Calibri"/>
              </a:rPr>
              <a:t>Shift verification confirms simulation mechanisms working correctly</a:t>
            </a:r>
          </a:p>
          <a:p>
            <a:pPr marL="0" indent="0">
              <a:buNone/>
            </a:pPr>
            <a:endParaRPr lang="en-US" sz="875" dirty="0"/>
          </a:p>
          <a:p>
            <a:pPr marL="0" indent="0">
              <a:buNone/>
            </a:pPr>
            <a:endParaRPr lang="en-US" sz="875" dirty="0"/>
          </a:p>
          <a:p>
            <a:pPr marL="0" indent="0">
              <a:buNone/>
            </a:pPr>
            <a:r>
              <a:rPr lang="en-US" sz="1200" b="1" dirty="0">
                <a:solidFill>
                  <a:schemeClr val="tx1"/>
                </a:solidFill>
                <a:latin typeface="Calibri"/>
              </a:rPr>
              <a:t>Fig 1 and 2 (gamma=0.75): </a:t>
            </a:r>
            <a:r>
              <a:rPr lang="en-US" sz="1200" dirty="0">
                <a:solidFill>
                  <a:schemeClr val="tx1"/>
                </a:solidFill>
                <a:latin typeface="Calibri"/>
              </a:rPr>
              <a:t> site_A AKI patients at +1.0 SD above anchor, site_E AKI patients at −1.5 SD. Mechanism A (subpopulation sampling) working as designed. Site_A spread compressed to 0.9 (configured 0.75), </a:t>
            </a:r>
            <a:r>
              <a:rPr lang="en-US" sz="1200" dirty="0" err="1">
                <a:solidFill>
                  <a:schemeClr val="tx1"/>
                </a:solidFill>
                <a:latin typeface="Calibri"/>
              </a:rPr>
              <a:t>site_E</a:t>
            </a:r>
            <a:r>
              <a:rPr lang="en-US" sz="1200" dirty="0">
                <a:solidFill>
                  <a:schemeClr val="tx1"/>
                </a:solidFill>
                <a:latin typeface="Calibri"/>
              </a:rPr>
              <a:t> wider than anchor at 1.17 (configured 1.75).</a:t>
            </a:r>
          </a:p>
          <a:p>
            <a:pPr marL="0" indent="0">
              <a:buNone/>
            </a:pPr>
            <a:endParaRPr lang="en-US" sz="1200" dirty="0">
              <a:solidFill>
                <a:schemeClr val="tx1"/>
              </a:solidFill>
            </a:endParaRPr>
          </a:p>
          <a:p>
            <a:pPr marL="0" indent="0">
              <a:buNone/>
            </a:pPr>
            <a:r>
              <a:rPr lang="en-US" sz="1200" b="1" dirty="0">
                <a:solidFill>
                  <a:schemeClr val="tx1"/>
                </a:solidFill>
                <a:latin typeface="Calibri"/>
              </a:rPr>
              <a:t>Fig 3 (gamma=0.75): </a:t>
            </a:r>
            <a:r>
              <a:rPr lang="en-US" sz="1200" dirty="0">
                <a:solidFill>
                  <a:schemeClr val="tx1"/>
                </a:solidFill>
                <a:latin typeface="Calibri"/>
              </a:rPr>
              <a:t>Sign-adjusted mean shift confirms ICU (site_A) sicker than anchor (+0.019) and rural (site_E) healthier (−0.154). </a:t>
            </a:r>
          </a:p>
          <a:p>
            <a:pPr marL="0" indent="0">
              <a:buNone/>
            </a:pPr>
            <a:r>
              <a:rPr lang="en-US" sz="1200" b="1" dirty="0">
                <a:solidFill>
                  <a:schemeClr val="tx1"/>
                </a:solidFill>
                <a:latin typeface="Calibri"/>
              </a:rPr>
              <a:t>Fig 4 </a:t>
            </a:r>
            <a:r>
              <a:rPr lang="en-US" sz="1200" dirty="0">
                <a:solidFill>
                  <a:schemeClr val="tx1"/>
                </a:solidFill>
                <a:latin typeface="Calibri"/>
              </a:rPr>
              <a:t>most points near y=x —&gt; spread perturbation calibrated correctly.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LR Baseline">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228600" y="120000"/>
            <a:ext cx="8686800" cy="380000"/>
          </a:xfrm>
          <a:prstGeom prst="rect">
            <a:avLst/>
          </a:prstGeom>
          <a:noFill/>
          <a:ln/>
        </p:spPr>
        <p:txBody>
          <a:bodyPr wrap="square" lIns="137160" tIns="45720" rIns="137160" bIns="45720" rtlCol="0" anchor="ctr"/>
          <a:lstStyle/>
          <a:p>
            <a:pPr marL="0" indent="0">
              <a:buNone/>
            </a:pPr>
            <a:r>
              <a:rPr lang="en-US" sz="1900" b="1" dirty="0">
                <a:solidFill>
                  <a:schemeClr val="tx1"/>
                </a:solidFill>
                <a:latin typeface="Calibri"/>
              </a:rPr>
              <a:t>LR Baseline: Covariate Shift Only: Training Curves at gamma=0.75 and gamma=1.0</a:t>
            </a:r>
          </a:p>
        </p:txBody>
      </p:sp>
      <p:pic>
        <p:nvPicPr>
          <p:cNvPr id="3" name="c075"/>
          <p:cNvPicPr>
            <a:picLocks noChangeAspect="1"/>
          </p:cNvPicPr>
          <p:nvPr/>
        </p:nvPicPr>
        <p:blipFill>
          <a:blip r:embed="rId3"/>
          <a:stretch>
            <a:fillRect/>
          </a:stretch>
        </p:blipFill>
        <p:spPr>
          <a:xfrm>
            <a:off x="228600" y="560000"/>
            <a:ext cx="4200000" cy="2000000"/>
          </a:xfrm>
          <a:prstGeom prst="rect">
            <a:avLst/>
          </a:prstGeom>
        </p:spPr>
      </p:pic>
      <p:pic>
        <p:nvPicPr>
          <p:cNvPr id="4" name="c100"/>
          <p:cNvPicPr>
            <a:picLocks noChangeAspect="1"/>
          </p:cNvPicPr>
          <p:nvPr/>
        </p:nvPicPr>
        <p:blipFill>
          <a:blip r:embed="rId4"/>
          <a:stretch>
            <a:fillRect/>
          </a:stretch>
        </p:blipFill>
        <p:spPr>
          <a:xfrm>
            <a:off x="4620000" y="560000"/>
            <a:ext cx="4295400" cy="2000000"/>
          </a:xfrm>
          <a:prstGeom prst="rect">
            <a:avLst/>
          </a:prstGeom>
        </p:spPr>
      </p:pic>
      <p:sp>
        <p:nvSpPr>
          <p:cNvPr id="5" name="results"/>
          <p:cNvSpPr/>
          <p:nvPr/>
        </p:nvSpPr>
        <p:spPr>
          <a:xfrm>
            <a:off x="228600" y="2660000"/>
            <a:ext cx="4200000" cy="3200000"/>
          </a:xfrm>
          <a:prstGeom prst="rect">
            <a:avLst/>
          </a:prstGeom>
          <a:noFill/>
          <a:ln w="9525">
            <a:solidFill>
              <a:srgbClr val="BFDBFE"/>
            </a:solidFill>
          </a:ln>
        </p:spPr>
        <p:txBody>
          <a:bodyPr wrap="square" lIns="137160" tIns="91440" rIns="137160" bIns="91440" rtlCol="0" anchor="t"/>
          <a:lstStyle/>
          <a:p>
            <a:pPr marL="0" indent="0">
              <a:buNone/>
            </a:pPr>
            <a:r>
              <a:rPr lang="en-US" sz="975" b="1" dirty="0">
                <a:solidFill>
                  <a:schemeClr val="tx1"/>
                </a:solidFill>
                <a:latin typeface="Calibri"/>
              </a:rPr>
              <a:t>LR results — covariate shift only (--no_label_shift)</a:t>
            </a:r>
          </a:p>
          <a:p>
            <a:pPr marL="0" indent="0">
              <a:buNone/>
            </a:pPr>
            <a:endParaRPr lang="en-US" sz="850" dirty="0">
              <a:solidFill>
                <a:schemeClr val="tx1"/>
              </a:solidFill>
            </a:endParaRPr>
          </a:p>
          <a:p>
            <a:pPr marL="0" indent="0">
              <a:buNone/>
            </a:pPr>
            <a:r>
              <a:rPr lang="en-US" sz="875" b="1" dirty="0">
                <a:solidFill>
                  <a:schemeClr val="tx1"/>
                </a:solidFill>
                <a:latin typeface="Calibri"/>
              </a:rPr>
              <a:t>gamma=0.75:</a:t>
            </a:r>
          </a:p>
          <a:p>
            <a:pPr marL="0" indent="0">
              <a:buNone/>
            </a:pPr>
            <a:r>
              <a:rPr lang="en-US" sz="825" dirty="0" err="1">
                <a:solidFill>
                  <a:schemeClr val="tx1"/>
                </a:solidFill>
                <a:latin typeface="Calibri"/>
              </a:rPr>
              <a:t>FedAvg</a:t>
            </a:r>
            <a:r>
              <a:rPr lang="en-US" sz="825" dirty="0">
                <a:solidFill>
                  <a:schemeClr val="tx1"/>
                </a:solidFill>
                <a:latin typeface="Calibri"/>
              </a:rPr>
              <a:t>   GLOBAL=0.8275</a:t>
            </a:r>
          </a:p>
          <a:p>
            <a:pPr marL="0" indent="0">
              <a:buNone/>
            </a:pPr>
            <a:r>
              <a:rPr lang="en-US" sz="825" dirty="0" err="1">
                <a:solidFill>
                  <a:schemeClr val="tx1"/>
                </a:solidFill>
                <a:latin typeface="Calibri"/>
              </a:rPr>
              <a:t>FedProx</a:t>
            </a:r>
            <a:r>
              <a:rPr lang="en-US" sz="825" dirty="0">
                <a:solidFill>
                  <a:schemeClr val="tx1"/>
                </a:solidFill>
                <a:latin typeface="Calibri"/>
              </a:rPr>
              <a:t>  GLOBAL=0.8274</a:t>
            </a:r>
          </a:p>
          <a:p>
            <a:pPr marL="0" indent="0">
              <a:buNone/>
            </a:pPr>
            <a:r>
              <a:rPr lang="en-US" sz="825" dirty="0">
                <a:solidFill>
                  <a:schemeClr val="tx1"/>
                </a:solidFill>
                <a:latin typeface="Calibri"/>
              </a:rPr>
              <a:t>SCAFFOLD GLOBAL=0.8282</a:t>
            </a:r>
          </a:p>
          <a:p>
            <a:pPr marL="0" indent="0">
              <a:buNone/>
            </a:pPr>
            <a:endParaRPr lang="en-US" sz="850" dirty="0">
              <a:solidFill>
                <a:schemeClr val="tx1"/>
              </a:solidFill>
            </a:endParaRPr>
          </a:p>
          <a:p>
            <a:pPr marL="0" indent="0">
              <a:buNone/>
            </a:pPr>
            <a:r>
              <a:rPr lang="en-US" sz="875" b="1" dirty="0">
                <a:solidFill>
                  <a:schemeClr val="tx1"/>
                </a:solidFill>
                <a:latin typeface="Calibri"/>
              </a:rPr>
              <a:t>gamma=1.0:</a:t>
            </a:r>
          </a:p>
          <a:p>
            <a:pPr marL="0" indent="0">
              <a:buNone/>
            </a:pPr>
            <a:r>
              <a:rPr lang="en-US" sz="825" dirty="0" err="1">
                <a:solidFill>
                  <a:schemeClr val="tx1"/>
                </a:solidFill>
                <a:latin typeface="Calibri"/>
              </a:rPr>
              <a:t>FedAvg</a:t>
            </a:r>
            <a:r>
              <a:rPr lang="en-US" sz="825" dirty="0">
                <a:solidFill>
                  <a:schemeClr val="tx1"/>
                </a:solidFill>
                <a:latin typeface="Calibri"/>
              </a:rPr>
              <a:t>   GLOBAL=0.8216</a:t>
            </a:r>
          </a:p>
          <a:p>
            <a:pPr marL="0" indent="0">
              <a:buNone/>
            </a:pPr>
            <a:r>
              <a:rPr lang="en-US" sz="825" dirty="0" err="1">
                <a:solidFill>
                  <a:schemeClr val="tx1"/>
                </a:solidFill>
                <a:latin typeface="Calibri"/>
              </a:rPr>
              <a:t>FedProx</a:t>
            </a:r>
            <a:r>
              <a:rPr lang="en-US" sz="825" dirty="0">
                <a:solidFill>
                  <a:schemeClr val="tx1"/>
                </a:solidFill>
                <a:latin typeface="Calibri"/>
              </a:rPr>
              <a:t>  GLOBAL=0.8210</a:t>
            </a:r>
          </a:p>
          <a:p>
            <a:pPr marL="0" indent="0">
              <a:buNone/>
            </a:pPr>
            <a:r>
              <a:rPr lang="en-US" sz="825" dirty="0">
                <a:solidFill>
                  <a:schemeClr val="tx1"/>
                </a:solidFill>
                <a:latin typeface="Calibri"/>
              </a:rPr>
              <a:t>SCAFFOLD GLOBAL=0.8226</a:t>
            </a:r>
          </a:p>
          <a:p>
            <a:pPr marL="0" indent="0">
              <a:buNone/>
            </a:pPr>
            <a:endParaRPr lang="en-US" sz="850" dirty="0">
              <a:solidFill>
                <a:schemeClr val="tx1"/>
              </a:solidFill>
            </a:endParaRPr>
          </a:p>
          <a:p>
            <a:pPr marL="0" indent="0">
              <a:buNone/>
            </a:pPr>
            <a:r>
              <a:rPr lang="en-US" sz="825" b="1" i="1" dirty="0">
                <a:solidFill>
                  <a:schemeClr val="tx1"/>
                </a:solidFill>
                <a:latin typeface="Calibri"/>
              </a:rPr>
              <a:t>Max gap between algorithms: 0.0016</a:t>
            </a:r>
          </a:p>
          <a:p>
            <a:pPr marL="0" indent="0">
              <a:buNone/>
            </a:pPr>
            <a:r>
              <a:rPr lang="en-US" sz="825" b="1" i="1" dirty="0">
                <a:solidFill>
                  <a:schemeClr val="tx1"/>
                </a:solidFill>
                <a:latin typeface="Calibri"/>
              </a:rPr>
              <a:t>Motivates switch to MLP</a:t>
            </a:r>
          </a:p>
        </p:txBody>
      </p:sp>
      <p:sp>
        <p:nvSpPr>
          <p:cNvPr id="6" name="why"/>
          <p:cNvSpPr/>
          <p:nvPr/>
        </p:nvSpPr>
        <p:spPr>
          <a:xfrm>
            <a:off x="4620000" y="2660000"/>
            <a:ext cx="4295400" cy="3200000"/>
          </a:xfrm>
          <a:prstGeom prst="rect">
            <a:avLst/>
          </a:prstGeom>
          <a:noFill/>
          <a:ln w="9525">
            <a:solidFill>
              <a:srgbClr val="FDE047"/>
            </a:solidFill>
          </a:ln>
        </p:spPr>
        <p:txBody>
          <a:bodyPr wrap="square" lIns="137160" tIns="91440" rIns="137160" bIns="91440" rtlCol="0" anchor="t"/>
          <a:lstStyle/>
          <a:p>
            <a:pPr marL="0" indent="0">
              <a:buNone/>
            </a:pPr>
            <a:r>
              <a:rPr lang="en-US" sz="975" b="1" dirty="0">
                <a:solidFill>
                  <a:srgbClr val="713F12"/>
                </a:solidFill>
                <a:latin typeface="Calibri"/>
              </a:rPr>
              <a:t>Why LR shows negligible algorithm differences</a:t>
            </a:r>
          </a:p>
          <a:p>
            <a:pPr marL="0" indent="0">
              <a:buNone/>
            </a:pPr>
            <a:endParaRPr lang="en-US" sz="850" dirty="0"/>
          </a:p>
          <a:p>
            <a:pPr marL="0" indent="0">
              <a:buNone/>
            </a:pPr>
            <a:r>
              <a:rPr lang="en-US" sz="850" b="1" dirty="0">
                <a:solidFill>
                  <a:srgbClr val="713F12"/>
                </a:solidFill>
                <a:latin typeface="Calibri"/>
              </a:rPr>
              <a:t>1. Convexity: </a:t>
            </a:r>
            <a:r>
              <a:rPr lang="en-US" sz="825" dirty="0">
                <a:solidFill>
                  <a:srgbClr val="374151"/>
                </a:solidFill>
                <a:latin typeface="Calibri"/>
              </a:rPr>
              <a:t>LR has a single global minimum — no local optima for client drift to exploit. All algorithms converge to the same solution regardless of the path taken.</a:t>
            </a:r>
          </a:p>
          <a:p>
            <a:pPr marL="0" indent="0">
              <a:buNone/>
            </a:pPr>
            <a:endParaRPr lang="en-US" sz="850" dirty="0"/>
          </a:p>
          <a:p>
            <a:pPr marL="0" indent="0">
              <a:buNone/>
            </a:pPr>
            <a:r>
              <a:rPr lang="en-US" sz="850" b="1" dirty="0">
                <a:solidFill>
                  <a:srgbClr val="713F12"/>
                </a:solidFill>
                <a:latin typeface="Calibri"/>
              </a:rPr>
              <a:t>2. Gradient agreement: </a:t>
            </a:r>
            <a:r>
              <a:rPr lang="en-US" sz="825" dirty="0">
                <a:solidFill>
                  <a:srgbClr val="374151"/>
                </a:solidFill>
                <a:latin typeface="Calibri"/>
              </a:rPr>
              <a:t>Covariate shift moves P(X) but not the decision boundary. Creatinine predicts AKI at all sites;  just at different scales. All sites agree on gradient direction.</a:t>
            </a:r>
          </a:p>
          <a:p>
            <a:pPr marL="0" indent="0">
              <a:buNone/>
            </a:pPr>
            <a:endParaRPr lang="en-US" sz="850" dirty="0"/>
          </a:p>
          <a:p>
            <a:pPr marL="0" indent="0">
              <a:buNone/>
            </a:pPr>
            <a:r>
              <a:rPr lang="en-US" sz="850" b="1" dirty="0">
                <a:solidFill>
                  <a:srgbClr val="713F12"/>
                </a:solidFill>
                <a:latin typeface="Calibri"/>
              </a:rPr>
              <a:t>3. Low variance: </a:t>
            </a:r>
            <a:r>
              <a:rPr lang="en-US" sz="825" dirty="0">
                <a:solidFill>
                  <a:srgbClr val="374151"/>
                </a:solidFill>
                <a:latin typeface="Calibri"/>
              </a:rPr>
              <a:t>FedProx and SCAFFOLD correct for gradient variance between rounds. With LR the variance is small and do not improve on FedAvg.</a:t>
            </a:r>
          </a:p>
          <a:p>
            <a:pPr marL="0" indent="0">
              <a:buNone/>
            </a:pPr>
            <a:endParaRPr lang="en-US" sz="850" dirty="0"/>
          </a:p>
          <a:p>
            <a:pPr marL="0" indent="0">
              <a:buNone/>
            </a:pPr>
            <a:r>
              <a:rPr lang="en-US" sz="875" b="1" dirty="0">
                <a:solidFill>
                  <a:srgbClr val="1E3A5F"/>
                </a:solidFill>
                <a:latin typeface="Calibri"/>
              </a:rPr>
              <a:t>→ Switch to MLP (non-convex) to expose meaningful algorithm differences under covariate + label shift.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Full Results Table">
    <p:bg>
      <p:bgPr>
        <a:solidFill>
          <a:srgbClr val="FFFFFF"/>
        </a:solidFill>
        <a:effectLst/>
      </p:bgPr>
    </p:bg>
    <p:spTree>
      <p:nvGrpSpPr>
        <p:cNvPr id="1" name=""/>
        <p:cNvGrpSpPr/>
        <p:nvPr/>
      </p:nvGrpSpPr>
      <p:grpSpPr>
        <a:xfrm>
          <a:off x="0" y="0"/>
          <a:ext cx="0" cy="0"/>
          <a:chOff x="0" y="0"/>
          <a:chExt cx="0" cy="0"/>
        </a:xfrm>
      </p:grpSpPr>
      <p:sp>
        <p:nvSpPr>
          <p:cNvPr id="2" name="hdr"/>
          <p:cNvSpPr>
            <a:spLocks noGrp="1"/>
          </p:cNvSpPr>
          <p:nvPr/>
        </p:nvSpPr>
        <p:spPr>
          <a:xfrm>
            <a:off x="0" y="0"/>
            <a:ext cx="9144000" cy="390000"/>
          </a:xfrm>
          <a:prstGeom prst="rect">
            <a:avLst/>
          </a:prstGeom>
          <a:solidFill>
            <a:srgbClr val="1E3A5F"/>
          </a:solidFill>
          <a:ln/>
        </p:spPr>
        <p:txBody>
          <a:bodyPr wrap="square" lIns="182880" tIns="45720" rIns="182880" bIns="45720" rtlCol="0" anchor="ctr"/>
          <a:lstStyle/>
          <a:p>
            <a:pPr marL="0" indent="0">
              <a:buNone/>
            </a:pPr>
            <a:r>
              <a:rPr lang="en-US" sz="1600" b="1" dirty="0">
                <a:solidFill>
                  <a:srgbClr val="FFFFFF"/>
                </a:solidFill>
                <a:latin typeface="Calibri"/>
              </a:rPr>
              <a:t>FL Method Comparison — Mean AUROC Across 8 Heterogeneity Conditions  (Phase 2 Approach 2, single run)</a:t>
            </a:r>
          </a:p>
        </p:txBody>
      </p:sp>
      <p:sp>
        <p:nvSpPr>
          <p:cNvPr id="3" name="sub"/>
          <p:cNvSpPr>
            <a:spLocks noGrp="1"/>
          </p:cNvSpPr>
          <p:nvPr/>
        </p:nvSpPr>
        <p:spPr>
          <a:xfrm>
            <a:off x="228600" y="415000"/>
            <a:ext cx="8687400" cy="180000"/>
          </a:xfrm>
          <a:prstGeom prst="rect">
            <a:avLst/>
          </a:prstGeom>
          <a:solidFill>
            <a:srgbClr val="2E6DA4"/>
          </a:solidFill>
          <a:ln/>
        </p:spPr>
        <p:txBody>
          <a:bodyPr wrap="square" lIns="182880" tIns="45720" rIns="182880" bIns="45720" rtlCol="0" anchor="ctr"/>
          <a:lstStyle/>
          <a:p>
            <a:pPr marL="0" indent="0">
              <a:buNone/>
            </a:pPr>
            <a:r>
              <a:rPr lang="en-US" sz="1000" b="1" dirty="0">
                <a:solidFill>
                  <a:srgbClr val="FFFFFF"/>
                </a:solidFill>
                <a:latin typeface="Calibri"/>
              </a:rPr>
              <a:t>5 sites, N=33k each  |  Green cell = winning FL method per condition  |  Green delta = FL beats local-only</a:t>
            </a:r>
          </a:p>
        </p:txBody>
      </p:sp>
      <p:sp>
        <p:nvSpPr>
          <p:cNvPr id="4" name="ch0"/>
          <p:cNvSpPr>
            <a:spLocks noGrp="1"/>
          </p:cNvSpPr>
          <p:nvPr/>
        </p:nvSpPr>
        <p:spPr>
          <a:xfrm>
            <a:off x="228600" y="415000"/>
            <a:ext cx="760000" cy="200000"/>
          </a:xfrm>
          <a:prstGeom prst="rect">
            <a:avLst/>
          </a:prstGeom>
          <a:solidFill>
            <a:srgbClr val="1E3A5F"/>
          </a:solidFill>
          <a:ln/>
        </p:spPr>
        <p:txBody>
          <a:bodyPr wrap="square" lIns="60960" tIns="30000" rIns="60960" bIns="30000" rtlCol="0" anchor="ctr"/>
          <a:lstStyle/>
          <a:p>
            <a:pPr marL="0" indent="0">
              <a:buNone/>
            </a:pPr>
            <a:r>
              <a:rPr lang="en-US" sz="950" b="1" dirty="0">
                <a:solidFill>
                  <a:srgbClr val="FFFFFF"/>
                </a:solidFill>
                <a:latin typeface="Calibri"/>
              </a:rPr>
              <a:t>Condition</a:t>
            </a:r>
          </a:p>
        </p:txBody>
      </p:sp>
      <p:sp>
        <p:nvSpPr>
          <p:cNvPr id="5" name="ch1"/>
          <p:cNvSpPr>
            <a:spLocks noGrp="1"/>
          </p:cNvSpPr>
          <p:nvPr/>
        </p:nvSpPr>
        <p:spPr>
          <a:xfrm>
            <a:off x="1000000" y="415000"/>
            <a:ext cx="890000" cy="200000"/>
          </a:xfrm>
          <a:prstGeom prst="rect">
            <a:avLst/>
          </a:prstGeom>
          <a:solidFill>
            <a:srgbClr val="1E3A5F"/>
          </a:solidFill>
          <a:ln/>
        </p:spPr>
        <p:txBody>
          <a:bodyPr wrap="square" lIns="60960" tIns="30000" rIns="60960" bIns="30000" rtlCol="0" anchor="ctr"/>
          <a:lstStyle/>
          <a:p>
            <a:pPr marL="0" indent="0">
              <a:buNone/>
            </a:pPr>
            <a:r>
              <a:rPr lang="en-US" sz="950" b="1" dirty="0">
                <a:solidFill>
                  <a:srgbClr val="FFFFFF"/>
                </a:solidFill>
                <a:latin typeface="Calibri"/>
              </a:rPr>
              <a:t>Params</a:t>
            </a:r>
          </a:p>
        </p:txBody>
      </p:sp>
      <p:sp>
        <p:nvSpPr>
          <p:cNvPr id="6" name="ch2"/>
          <p:cNvSpPr>
            <a:spLocks noGrp="1"/>
          </p:cNvSpPr>
          <p:nvPr/>
        </p:nvSpPr>
        <p:spPr>
          <a:xfrm>
            <a:off x="1900000" y="415000"/>
            <a:ext cx="1620000" cy="200000"/>
          </a:xfrm>
          <a:prstGeom prst="rect">
            <a:avLst/>
          </a:prstGeom>
          <a:solidFill>
            <a:srgbClr val="1E3A5F"/>
          </a:solidFill>
          <a:ln/>
        </p:spPr>
        <p:txBody>
          <a:bodyPr wrap="square" lIns="60960" tIns="30000" rIns="60960" bIns="30000" rtlCol="0" anchor="ctr"/>
          <a:lstStyle/>
          <a:p>
            <a:pPr marL="0" indent="0">
              <a:buNone/>
            </a:pPr>
            <a:r>
              <a:rPr lang="en-US" sz="950" b="1" dirty="0">
                <a:solidFill>
                  <a:srgbClr val="FFFFFF"/>
                </a:solidFill>
                <a:latin typeface="Calibri"/>
              </a:rPr>
              <a:t>Description</a:t>
            </a:r>
          </a:p>
        </p:txBody>
      </p:sp>
      <p:sp>
        <p:nvSpPr>
          <p:cNvPr id="7" name="ch3"/>
          <p:cNvSpPr>
            <a:spLocks noGrp="1"/>
          </p:cNvSpPr>
          <p:nvPr/>
        </p:nvSpPr>
        <p:spPr>
          <a:xfrm>
            <a:off x="3530000" y="415000"/>
            <a:ext cx="680000" cy="200000"/>
          </a:xfrm>
          <a:prstGeom prst="rect">
            <a:avLst/>
          </a:prstGeom>
          <a:solidFill>
            <a:srgbClr val="1E3A5F"/>
          </a:solidFill>
          <a:ln/>
        </p:spPr>
        <p:txBody>
          <a:bodyPr wrap="square" lIns="60960" tIns="30000" rIns="60960" bIns="30000" rtlCol="0" anchor="ctr"/>
          <a:lstStyle/>
          <a:p>
            <a:pPr marL="0" indent="0">
              <a:buNone/>
            </a:pPr>
            <a:r>
              <a:rPr lang="en-US" sz="950" b="1" dirty="0">
                <a:solidFill>
                  <a:srgbClr val="FFFFFF"/>
                </a:solidFill>
                <a:latin typeface="Calibri"/>
              </a:rPr>
              <a:t>FedAvg</a:t>
            </a:r>
          </a:p>
        </p:txBody>
      </p:sp>
      <p:sp>
        <p:nvSpPr>
          <p:cNvPr id="8" name="ch4"/>
          <p:cNvSpPr>
            <a:spLocks noGrp="1"/>
          </p:cNvSpPr>
          <p:nvPr/>
        </p:nvSpPr>
        <p:spPr>
          <a:xfrm>
            <a:off x="4220000" y="415000"/>
            <a:ext cx="680000" cy="200000"/>
          </a:xfrm>
          <a:prstGeom prst="rect">
            <a:avLst/>
          </a:prstGeom>
          <a:solidFill>
            <a:srgbClr val="1E3A5F"/>
          </a:solidFill>
          <a:ln/>
        </p:spPr>
        <p:txBody>
          <a:bodyPr wrap="square" lIns="60960" tIns="30000" rIns="60960" bIns="30000" rtlCol="0" anchor="ctr"/>
          <a:lstStyle/>
          <a:p>
            <a:pPr marL="0" indent="0">
              <a:buNone/>
            </a:pPr>
            <a:r>
              <a:rPr lang="en-US" sz="950" b="1" dirty="0">
                <a:solidFill>
                  <a:srgbClr val="FFFFFF"/>
                </a:solidFill>
                <a:latin typeface="Calibri"/>
              </a:rPr>
              <a:t>FedProx</a:t>
            </a:r>
          </a:p>
        </p:txBody>
      </p:sp>
      <p:sp>
        <p:nvSpPr>
          <p:cNvPr id="9" name="ch5"/>
          <p:cNvSpPr>
            <a:spLocks noGrp="1"/>
          </p:cNvSpPr>
          <p:nvPr/>
        </p:nvSpPr>
        <p:spPr>
          <a:xfrm>
            <a:off x="4910000" y="415000"/>
            <a:ext cx="680000" cy="200000"/>
          </a:xfrm>
          <a:prstGeom prst="rect">
            <a:avLst/>
          </a:prstGeom>
          <a:solidFill>
            <a:srgbClr val="1E3A5F"/>
          </a:solidFill>
          <a:ln/>
        </p:spPr>
        <p:txBody>
          <a:bodyPr wrap="square" lIns="60960" tIns="30000" rIns="60960" bIns="30000" rtlCol="0" anchor="ctr"/>
          <a:lstStyle/>
          <a:p>
            <a:pPr marL="0" indent="0">
              <a:buNone/>
            </a:pPr>
            <a:r>
              <a:rPr lang="en-US" sz="950" b="1" dirty="0">
                <a:solidFill>
                  <a:srgbClr val="FFFFFF"/>
                </a:solidFill>
                <a:latin typeface="Calibri"/>
              </a:rPr>
              <a:t>SCAFFOLD</a:t>
            </a:r>
          </a:p>
        </p:txBody>
      </p:sp>
      <p:sp>
        <p:nvSpPr>
          <p:cNvPr id="10" name="ch6"/>
          <p:cNvSpPr>
            <a:spLocks noGrp="1"/>
          </p:cNvSpPr>
          <p:nvPr/>
        </p:nvSpPr>
        <p:spPr>
          <a:xfrm>
            <a:off x="5600000" y="415000"/>
            <a:ext cx="790000" cy="200000"/>
          </a:xfrm>
          <a:prstGeom prst="rect">
            <a:avLst/>
          </a:prstGeom>
          <a:solidFill>
            <a:srgbClr val="1E3A5F"/>
          </a:solidFill>
          <a:ln/>
        </p:spPr>
        <p:txBody>
          <a:bodyPr wrap="square" lIns="60960" tIns="30000" rIns="60960" bIns="30000" rtlCol="0" anchor="ctr"/>
          <a:lstStyle/>
          <a:p>
            <a:pPr marL="0" indent="0">
              <a:buNone/>
            </a:pPr>
            <a:r>
              <a:rPr lang="en-US" sz="950" b="1" dirty="0">
                <a:solidFill>
                  <a:srgbClr val="FFFFFF"/>
                </a:solidFill>
                <a:latin typeface="Calibri"/>
              </a:rPr>
              <a:t>FedAdapt</a:t>
            </a:r>
          </a:p>
        </p:txBody>
      </p:sp>
      <p:sp>
        <p:nvSpPr>
          <p:cNvPr id="11" name="ch7"/>
          <p:cNvSpPr>
            <a:spLocks noGrp="1"/>
          </p:cNvSpPr>
          <p:nvPr/>
        </p:nvSpPr>
        <p:spPr>
          <a:xfrm>
            <a:off x="6400000" y="415000"/>
            <a:ext cx="890000" cy="200000"/>
          </a:xfrm>
          <a:prstGeom prst="rect">
            <a:avLst/>
          </a:prstGeom>
          <a:solidFill>
            <a:srgbClr val="BA5000"/>
          </a:solidFill>
          <a:ln/>
        </p:spPr>
        <p:txBody>
          <a:bodyPr wrap="square" lIns="60960" tIns="30000" rIns="60960" bIns="30000" rtlCol="0" anchor="ctr"/>
          <a:lstStyle/>
          <a:p>
            <a:pPr marL="0" indent="0">
              <a:buNone/>
            </a:pPr>
            <a:r>
              <a:rPr lang="en-US" sz="950" b="1" dirty="0">
                <a:solidFill>
                  <a:srgbClr val="FFFFFF"/>
                </a:solidFill>
                <a:latin typeface="Calibri"/>
              </a:rPr>
              <a:t>FedAdaptProto</a:t>
            </a:r>
          </a:p>
        </p:txBody>
      </p:sp>
      <p:sp>
        <p:nvSpPr>
          <p:cNvPr id="12" name="ch8"/>
          <p:cNvSpPr>
            <a:spLocks noGrp="1"/>
          </p:cNvSpPr>
          <p:nvPr/>
        </p:nvSpPr>
        <p:spPr>
          <a:xfrm>
            <a:off x="7300000" y="415000"/>
            <a:ext cx="790000" cy="200000"/>
          </a:xfrm>
          <a:prstGeom prst="rect">
            <a:avLst/>
          </a:prstGeom>
          <a:solidFill>
            <a:srgbClr val="555555"/>
          </a:solidFill>
          <a:ln/>
        </p:spPr>
        <p:txBody>
          <a:bodyPr wrap="square" lIns="60960" tIns="30000" rIns="60960" bIns="30000" rtlCol="0" anchor="ctr"/>
          <a:lstStyle/>
          <a:p>
            <a:pPr marL="0" indent="0">
              <a:buNone/>
            </a:pPr>
            <a:r>
              <a:rPr lang="en-US" sz="950" b="1" dirty="0">
                <a:solidFill>
                  <a:srgbClr val="FFFFFF"/>
                </a:solidFill>
                <a:latin typeface="Calibri"/>
              </a:rPr>
              <a:t>Local only</a:t>
            </a:r>
          </a:p>
        </p:txBody>
      </p:sp>
      <p:sp>
        <p:nvSpPr>
          <p:cNvPr id="13" name="ch9"/>
          <p:cNvSpPr>
            <a:spLocks noGrp="1"/>
          </p:cNvSpPr>
          <p:nvPr/>
        </p:nvSpPr>
        <p:spPr>
          <a:xfrm>
            <a:off x="8100000" y="415000"/>
            <a:ext cx="810000" cy="200000"/>
          </a:xfrm>
          <a:prstGeom prst="rect">
            <a:avLst/>
          </a:prstGeom>
          <a:solidFill>
            <a:srgbClr val="1D6B3E"/>
          </a:solidFill>
          <a:ln/>
        </p:spPr>
        <p:txBody>
          <a:bodyPr wrap="square" lIns="60960" tIns="30000" rIns="60960" bIns="30000" rtlCol="0" anchor="ctr"/>
          <a:lstStyle/>
          <a:p>
            <a:pPr marL="0" indent="0">
              <a:buNone/>
            </a:pPr>
            <a:r>
              <a:rPr lang="en-US" sz="950" b="1" dirty="0">
                <a:solidFill>
                  <a:srgbClr val="FFFFFF"/>
                </a:solidFill>
                <a:latin typeface="Calibri"/>
              </a:rPr>
              <a:t>Δ FL-Local</a:t>
            </a:r>
          </a:p>
        </p:txBody>
      </p:sp>
      <p:sp>
        <p:nvSpPr>
          <p:cNvPr id="14" name="cond"/>
          <p:cNvSpPr>
            <a:spLocks noGrp="1"/>
          </p:cNvSpPr>
          <p:nvPr/>
        </p:nvSpPr>
        <p:spPr>
          <a:xfrm>
            <a:off x="228600" y="720000"/>
            <a:ext cx="760000" cy="295000"/>
          </a:xfrm>
          <a:prstGeom prst="rect">
            <a:avLst/>
          </a:prstGeom>
          <a:solidFill>
            <a:srgbClr val="FFFFFF"/>
          </a:solidFill>
          <a:ln/>
        </p:spPr>
        <p:txBody>
          <a:bodyPr wrap="square" lIns="60960" tIns="30000" rIns="60960" bIns="30000" rtlCol="0" anchor="ctr"/>
          <a:lstStyle/>
          <a:p>
            <a:pPr marL="0" indent="0">
              <a:buNone/>
            </a:pPr>
            <a:r>
              <a:rPr lang="en-US" sz="950" b="1" dirty="0">
                <a:solidFill>
                  <a:srgbClr val="1E3A5F"/>
                </a:solidFill>
                <a:latin typeface="Calibri"/>
              </a:rPr>
              <a:t>IID</a:t>
            </a:r>
          </a:p>
        </p:txBody>
      </p:sp>
      <p:sp>
        <p:nvSpPr>
          <p:cNvPr id="15" name="par"/>
          <p:cNvSpPr>
            <a:spLocks noGrp="1"/>
          </p:cNvSpPr>
          <p:nvPr/>
        </p:nvSpPr>
        <p:spPr>
          <a:xfrm>
            <a:off x="1000000" y="720000"/>
            <a:ext cx="890000" cy="295000"/>
          </a:xfrm>
          <a:prstGeom prst="rect">
            <a:avLst/>
          </a:prstGeom>
          <a:solidFill>
            <a:srgbClr val="FFFFFF"/>
          </a:solidFill>
          <a:ln/>
        </p:spPr>
        <p:txBody>
          <a:bodyPr wrap="square" lIns="60960" tIns="30000" rIns="60960" bIns="30000" rtlCol="0" anchor="ctr"/>
          <a:lstStyle/>
          <a:p>
            <a:pPr marL="0" indent="0">
              <a:buNone/>
            </a:pPr>
            <a:r>
              <a:rPr lang="en-US" sz="880" b="0" dirty="0">
                <a:solidFill>
                  <a:srgbClr val="555555"/>
                </a:solidFill>
                <a:latin typeface="Calibri"/>
              </a:rPr>
              <a:t>α=10 γ=0</a:t>
            </a:r>
          </a:p>
        </p:txBody>
      </p:sp>
      <p:sp>
        <p:nvSpPr>
          <p:cNvPr id="16" name="desc"/>
          <p:cNvSpPr>
            <a:spLocks noGrp="1"/>
          </p:cNvSpPr>
          <p:nvPr/>
        </p:nvSpPr>
        <p:spPr>
          <a:xfrm>
            <a:off x="1900000" y="720000"/>
            <a:ext cx="1620000" cy="295000"/>
          </a:xfrm>
          <a:prstGeom prst="rect">
            <a:avLst/>
          </a:prstGeom>
          <a:solidFill>
            <a:srgbClr val="FFFFFF"/>
          </a:solidFill>
          <a:ln/>
        </p:spPr>
        <p:txBody>
          <a:bodyPr wrap="square" lIns="60960" tIns="30000" rIns="60960" bIns="30000" rtlCol="0" anchor="ctr"/>
          <a:lstStyle/>
          <a:p>
            <a:pPr marL="0" indent="0">
              <a:buNone/>
            </a:pPr>
            <a:r>
              <a:rPr lang="en-US" sz="850" b="0" dirty="0">
                <a:solidFill>
                  <a:srgbClr val="000000"/>
                </a:solidFill>
                <a:latin typeface="Calibri"/>
              </a:rPr>
              <a:t>Near-IID baseline — all sites ~9% AKI</a:t>
            </a:r>
          </a:p>
        </p:txBody>
      </p:sp>
      <p:sp>
        <p:nvSpPr>
          <p:cNvPr id="17" name="r0m0"/>
          <p:cNvSpPr>
            <a:spLocks noGrp="1"/>
          </p:cNvSpPr>
          <p:nvPr/>
        </p:nvSpPr>
        <p:spPr>
          <a:xfrm>
            <a:off x="3530000" y="720000"/>
            <a:ext cx="68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0.9102</a:t>
            </a:r>
          </a:p>
        </p:txBody>
      </p:sp>
      <p:sp>
        <p:nvSpPr>
          <p:cNvPr id="18" name="r0m1"/>
          <p:cNvSpPr>
            <a:spLocks noGrp="1"/>
          </p:cNvSpPr>
          <p:nvPr/>
        </p:nvSpPr>
        <p:spPr>
          <a:xfrm>
            <a:off x="4220000" y="720000"/>
            <a:ext cx="68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0.9065</a:t>
            </a:r>
          </a:p>
        </p:txBody>
      </p:sp>
      <p:sp>
        <p:nvSpPr>
          <p:cNvPr id="19" name="r0m2"/>
          <p:cNvSpPr>
            <a:spLocks noGrp="1"/>
          </p:cNvSpPr>
          <p:nvPr/>
        </p:nvSpPr>
        <p:spPr>
          <a:xfrm>
            <a:off x="4910000" y="720000"/>
            <a:ext cx="68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0.9120</a:t>
            </a:r>
          </a:p>
        </p:txBody>
      </p:sp>
      <p:sp>
        <p:nvSpPr>
          <p:cNvPr id="20" name="r0m3"/>
          <p:cNvSpPr>
            <a:spLocks noGrp="1"/>
          </p:cNvSpPr>
          <p:nvPr/>
        </p:nvSpPr>
        <p:spPr>
          <a:xfrm>
            <a:off x="5600000" y="720000"/>
            <a:ext cx="79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0.8957</a:t>
            </a:r>
          </a:p>
        </p:txBody>
      </p:sp>
      <p:sp>
        <p:nvSpPr>
          <p:cNvPr id="21" name="r0m4"/>
          <p:cNvSpPr>
            <a:spLocks noGrp="1"/>
          </p:cNvSpPr>
          <p:nvPr/>
        </p:nvSpPr>
        <p:spPr>
          <a:xfrm>
            <a:off x="6400000" y="720000"/>
            <a:ext cx="89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0.9034</a:t>
            </a:r>
          </a:p>
        </p:txBody>
      </p:sp>
      <p:sp>
        <p:nvSpPr>
          <p:cNvPr id="22" name="r0loc"/>
          <p:cNvSpPr>
            <a:spLocks noGrp="1"/>
          </p:cNvSpPr>
          <p:nvPr/>
        </p:nvSpPr>
        <p:spPr>
          <a:xfrm>
            <a:off x="7300000" y="720000"/>
            <a:ext cx="790000" cy="295000"/>
          </a:xfrm>
          <a:prstGeom prst="rect">
            <a:avLst/>
          </a:prstGeom>
          <a:solidFill>
            <a:srgbClr val="F0F4FA"/>
          </a:solidFill>
          <a:ln/>
        </p:spPr>
        <p:txBody>
          <a:bodyPr wrap="square" lIns="60960" tIns="30000" rIns="60960" bIns="30000" rtlCol="0" anchor="ctr"/>
          <a:lstStyle/>
          <a:p>
            <a:pPr marL="0" indent="0">
              <a:buNone/>
            </a:pPr>
            <a:r>
              <a:rPr lang="en-US" sz="980" b="0" dirty="0">
                <a:solidFill>
                  <a:srgbClr val="555555"/>
                </a:solidFill>
                <a:latin typeface="Calibri"/>
              </a:rPr>
              <a:t>0.8948</a:t>
            </a:r>
          </a:p>
        </p:txBody>
      </p:sp>
      <p:sp>
        <p:nvSpPr>
          <p:cNvPr id="23" name="r0d"/>
          <p:cNvSpPr>
            <a:spLocks noGrp="1"/>
          </p:cNvSpPr>
          <p:nvPr/>
        </p:nvSpPr>
        <p:spPr>
          <a:xfrm>
            <a:off x="8100000" y="720000"/>
            <a:ext cx="81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+0.0172</a:t>
            </a:r>
          </a:p>
        </p:txBody>
      </p:sp>
      <p:sp>
        <p:nvSpPr>
          <p:cNvPr id="24" name="cond"/>
          <p:cNvSpPr>
            <a:spLocks noGrp="1"/>
          </p:cNvSpPr>
          <p:nvPr/>
        </p:nvSpPr>
        <p:spPr>
          <a:xfrm>
            <a:off x="228600" y="1015000"/>
            <a:ext cx="760000" cy="295000"/>
          </a:xfrm>
          <a:prstGeom prst="rect">
            <a:avLst/>
          </a:prstGeom>
          <a:solidFill>
            <a:srgbClr val="F5F5F5"/>
          </a:solidFill>
          <a:ln/>
        </p:spPr>
        <p:txBody>
          <a:bodyPr wrap="square" lIns="60960" tIns="30000" rIns="60960" bIns="30000" rtlCol="0" anchor="ctr"/>
          <a:lstStyle/>
          <a:p>
            <a:pPr marL="0" indent="0">
              <a:buNone/>
            </a:pPr>
            <a:r>
              <a:rPr lang="en-US" sz="950" b="1" dirty="0">
                <a:solidFill>
                  <a:srgbClr val="1E3A5F"/>
                </a:solidFill>
                <a:latin typeface="Calibri"/>
              </a:rPr>
              <a:t>Cov only</a:t>
            </a:r>
          </a:p>
        </p:txBody>
      </p:sp>
      <p:sp>
        <p:nvSpPr>
          <p:cNvPr id="25" name="par"/>
          <p:cNvSpPr>
            <a:spLocks noGrp="1"/>
          </p:cNvSpPr>
          <p:nvPr/>
        </p:nvSpPr>
        <p:spPr>
          <a:xfrm>
            <a:off x="1000000" y="1015000"/>
            <a:ext cx="890000" cy="295000"/>
          </a:xfrm>
          <a:prstGeom prst="rect">
            <a:avLst/>
          </a:prstGeom>
          <a:solidFill>
            <a:srgbClr val="F5F5F5"/>
          </a:solidFill>
          <a:ln/>
        </p:spPr>
        <p:txBody>
          <a:bodyPr wrap="square" lIns="60960" tIns="30000" rIns="60960" bIns="30000" rtlCol="0" anchor="ctr"/>
          <a:lstStyle/>
          <a:p>
            <a:pPr marL="0" indent="0">
              <a:buNone/>
            </a:pPr>
            <a:r>
              <a:rPr lang="en-US" sz="880" b="0" dirty="0">
                <a:solidFill>
                  <a:srgbClr val="555555"/>
                </a:solidFill>
                <a:latin typeface="Calibri"/>
              </a:rPr>
              <a:t>α=10 γ=0.75</a:t>
            </a:r>
          </a:p>
        </p:txBody>
      </p:sp>
      <p:sp>
        <p:nvSpPr>
          <p:cNvPr id="26" name="desc"/>
          <p:cNvSpPr>
            <a:spLocks noGrp="1"/>
          </p:cNvSpPr>
          <p:nvPr/>
        </p:nvSpPr>
        <p:spPr>
          <a:xfrm>
            <a:off x="1900000" y="1015000"/>
            <a:ext cx="1620000" cy="295000"/>
          </a:xfrm>
          <a:prstGeom prst="rect">
            <a:avLst/>
          </a:prstGeom>
          <a:solidFill>
            <a:srgbClr val="F5F5F5"/>
          </a:solidFill>
          <a:ln/>
        </p:spPr>
        <p:txBody>
          <a:bodyPr wrap="square" lIns="60960" tIns="30000" rIns="60960" bIns="30000" rtlCol="0" anchor="ctr"/>
          <a:lstStyle/>
          <a:p>
            <a:pPr marL="0" indent="0">
              <a:buNone/>
            </a:pPr>
            <a:r>
              <a:rPr lang="en-US" sz="850" b="0" dirty="0">
                <a:solidFill>
                  <a:srgbClr val="000000"/>
                </a:solidFill>
                <a:latin typeface="Calibri"/>
              </a:rPr>
              <a:t>Covariate shift only — labels uniform, acuity bias active</a:t>
            </a:r>
          </a:p>
        </p:txBody>
      </p:sp>
      <p:sp>
        <p:nvSpPr>
          <p:cNvPr id="27" name="r1m0"/>
          <p:cNvSpPr>
            <a:spLocks noGrp="1"/>
          </p:cNvSpPr>
          <p:nvPr/>
        </p:nvSpPr>
        <p:spPr>
          <a:xfrm>
            <a:off x="3530000" y="1015000"/>
            <a:ext cx="68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0.9036</a:t>
            </a:r>
          </a:p>
        </p:txBody>
      </p:sp>
      <p:sp>
        <p:nvSpPr>
          <p:cNvPr id="28" name="r1m1"/>
          <p:cNvSpPr>
            <a:spLocks noGrp="1"/>
          </p:cNvSpPr>
          <p:nvPr/>
        </p:nvSpPr>
        <p:spPr>
          <a:xfrm>
            <a:off x="4220000" y="1015000"/>
            <a:ext cx="68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0.9005</a:t>
            </a:r>
          </a:p>
        </p:txBody>
      </p:sp>
      <p:sp>
        <p:nvSpPr>
          <p:cNvPr id="29" name="r1m2"/>
          <p:cNvSpPr>
            <a:spLocks noGrp="1"/>
          </p:cNvSpPr>
          <p:nvPr/>
        </p:nvSpPr>
        <p:spPr>
          <a:xfrm>
            <a:off x="4910000" y="1015000"/>
            <a:ext cx="68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0.9059</a:t>
            </a:r>
          </a:p>
        </p:txBody>
      </p:sp>
      <p:sp>
        <p:nvSpPr>
          <p:cNvPr id="30" name="r1m3"/>
          <p:cNvSpPr>
            <a:spLocks noGrp="1"/>
          </p:cNvSpPr>
          <p:nvPr/>
        </p:nvSpPr>
        <p:spPr>
          <a:xfrm>
            <a:off x="5600000" y="1015000"/>
            <a:ext cx="79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0.8926</a:t>
            </a:r>
          </a:p>
        </p:txBody>
      </p:sp>
      <p:sp>
        <p:nvSpPr>
          <p:cNvPr id="31" name="r1m4"/>
          <p:cNvSpPr>
            <a:spLocks noGrp="1"/>
          </p:cNvSpPr>
          <p:nvPr/>
        </p:nvSpPr>
        <p:spPr>
          <a:xfrm>
            <a:off x="6400000" y="1015000"/>
            <a:ext cx="89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0.8825</a:t>
            </a:r>
          </a:p>
        </p:txBody>
      </p:sp>
      <p:sp>
        <p:nvSpPr>
          <p:cNvPr id="32" name="r1loc"/>
          <p:cNvSpPr>
            <a:spLocks noGrp="1"/>
          </p:cNvSpPr>
          <p:nvPr/>
        </p:nvSpPr>
        <p:spPr>
          <a:xfrm>
            <a:off x="7300000" y="1015000"/>
            <a:ext cx="790000" cy="295000"/>
          </a:xfrm>
          <a:prstGeom prst="rect">
            <a:avLst/>
          </a:prstGeom>
          <a:solidFill>
            <a:srgbClr val="F0F4FA"/>
          </a:solidFill>
          <a:ln/>
        </p:spPr>
        <p:txBody>
          <a:bodyPr wrap="square" lIns="60960" tIns="30000" rIns="60960" bIns="30000" rtlCol="0" anchor="ctr"/>
          <a:lstStyle/>
          <a:p>
            <a:pPr marL="0" indent="0">
              <a:buNone/>
            </a:pPr>
            <a:r>
              <a:rPr lang="en-US" sz="980" b="0" dirty="0">
                <a:solidFill>
                  <a:srgbClr val="555555"/>
                </a:solidFill>
                <a:latin typeface="Calibri"/>
              </a:rPr>
              <a:t>0.8985</a:t>
            </a:r>
          </a:p>
        </p:txBody>
      </p:sp>
      <p:sp>
        <p:nvSpPr>
          <p:cNvPr id="33" name="r1d"/>
          <p:cNvSpPr>
            <a:spLocks noGrp="1"/>
          </p:cNvSpPr>
          <p:nvPr/>
        </p:nvSpPr>
        <p:spPr>
          <a:xfrm>
            <a:off x="8100000" y="1015000"/>
            <a:ext cx="81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+0.0074</a:t>
            </a:r>
          </a:p>
        </p:txBody>
      </p:sp>
      <p:sp>
        <p:nvSpPr>
          <p:cNvPr id="34" name="cond"/>
          <p:cNvSpPr>
            <a:spLocks noGrp="1"/>
          </p:cNvSpPr>
          <p:nvPr/>
        </p:nvSpPr>
        <p:spPr>
          <a:xfrm>
            <a:off x="228600" y="1310000"/>
            <a:ext cx="760000" cy="295000"/>
          </a:xfrm>
          <a:prstGeom prst="rect">
            <a:avLst/>
          </a:prstGeom>
          <a:solidFill>
            <a:srgbClr val="FFFFFF"/>
          </a:solidFill>
          <a:ln/>
        </p:spPr>
        <p:txBody>
          <a:bodyPr wrap="square" lIns="60960" tIns="30000" rIns="60960" bIns="30000" rtlCol="0" anchor="ctr"/>
          <a:lstStyle/>
          <a:p>
            <a:pPr marL="0" indent="0">
              <a:buNone/>
            </a:pPr>
            <a:r>
              <a:rPr lang="en-US" sz="950" b="1" dirty="0">
                <a:solidFill>
                  <a:srgbClr val="1E3A5F"/>
                </a:solidFill>
                <a:latin typeface="Calibri"/>
              </a:rPr>
              <a:t>Label only</a:t>
            </a:r>
          </a:p>
        </p:txBody>
      </p:sp>
      <p:sp>
        <p:nvSpPr>
          <p:cNvPr id="35" name="par"/>
          <p:cNvSpPr>
            <a:spLocks noGrp="1"/>
          </p:cNvSpPr>
          <p:nvPr/>
        </p:nvSpPr>
        <p:spPr>
          <a:xfrm>
            <a:off x="1000000" y="1310000"/>
            <a:ext cx="890000" cy="295000"/>
          </a:xfrm>
          <a:prstGeom prst="rect">
            <a:avLst/>
          </a:prstGeom>
          <a:solidFill>
            <a:srgbClr val="FFFFFF"/>
          </a:solidFill>
          <a:ln/>
        </p:spPr>
        <p:txBody>
          <a:bodyPr wrap="square" lIns="60960" tIns="30000" rIns="60960" bIns="30000" rtlCol="0" anchor="ctr"/>
          <a:lstStyle/>
          <a:p>
            <a:pPr marL="0" indent="0">
              <a:buNone/>
            </a:pPr>
            <a:r>
              <a:rPr lang="en-US" sz="880" b="0" dirty="0">
                <a:solidFill>
                  <a:srgbClr val="555555"/>
                </a:solidFill>
                <a:latin typeface="Calibri"/>
              </a:rPr>
              <a:t>α=0.5 γ=0</a:t>
            </a:r>
          </a:p>
        </p:txBody>
      </p:sp>
      <p:sp>
        <p:nvSpPr>
          <p:cNvPr id="36" name="desc"/>
          <p:cNvSpPr>
            <a:spLocks noGrp="1"/>
          </p:cNvSpPr>
          <p:nvPr/>
        </p:nvSpPr>
        <p:spPr>
          <a:xfrm>
            <a:off x="1900000" y="1310000"/>
            <a:ext cx="1620000" cy="295000"/>
          </a:xfrm>
          <a:prstGeom prst="rect">
            <a:avLst/>
          </a:prstGeom>
          <a:solidFill>
            <a:srgbClr val="FFFFFF"/>
          </a:solidFill>
          <a:ln/>
        </p:spPr>
        <p:txBody>
          <a:bodyPr wrap="square" lIns="60960" tIns="30000" rIns="60960" bIns="30000" rtlCol="0" anchor="ctr"/>
          <a:lstStyle/>
          <a:p>
            <a:pPr marL="0" indent="0">
              <a:buNone/>
            </a:pPr>
            <a:r>
              <a:rPr lang="en-US" sz="850" b="0" dirty="0">
                <a:solidFill>
                  <a:srgbClr val="000000"/>
                </a:solidFill>
                <a:latin typeface="Calibri"/>
              </a:rPr>
              <a:t>Label shift only — moderate heterogeneity, no covariate shift</a:t>
            </a:r>
          </a:p>
        </p:txBody>
      </p:sp>
      <p:sp>
        <p:nvSpPr>
          <p:cNvPr id="37" name="r2m0"/>
          <p:cNvSpPr>
            <a:spLocks noGrp="1"/>
          </p:cNvSpPr>
          <p:nvPr/>
        </p:nvSpPr>
        <p:spPr>
          <a:xfrm>
            <a:off x="3530000" y="1310000"/>
            <a:ext cx="68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0.8983</a:t>
            </a:r>
          </a:p>
        </p:txBody>
      </p:sp>
      <p:sp>
        <p:nvSpPr>
          <p:cNvPr id="38" name="r2m1"/>
          <p:cNvSpPr>
            <a:spLocks noGrp="1"/>
          </p:cNvSpPr>
          <p:nvPr/>
        </p:nvSpPr>
        <p:spPr>
          <a:xfrm>
            <a:off x="4220000" y="1310000"/>
            <a:ext cx="68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0.8985</a:t>
            </a:r>
          </a:p>
        </p:txBody>
      </p:sp>
      <p:sp>
        <p:nvSpPr>
          <p:cNvPr id="39" name="r2m2"/>
          <p:cNvSpPr>
            <a:spLocks noGrp="1"/>
          </p:cNvSpPr>
          <p:nvPr/>
        </p:nvSpPr>
        <p:spPr>
          <a:xfrm>
            <a:off x="4910000" y="1310000"/>
            <a:ext cx="68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0.8966</a:t>
            </a:r>
          </a:p>
        </p:txBody>
      </p:sp>
      <p:sp>
        <p:nvSpPr>
          <p:cNvPr id="40" name="r2m3"/>
          <p:cNvSpPr>
            <a:spLocks noGrp="1"/>
          </p:cNvSpPr>
          <p:nvPr/>
        </p:nvSpPr>
        <p:spPr>
          <a:xfrm>
            <a:off x="5600000" y="1310000"/>
            <a:ext cx="79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0.8792</a:t>
            </a:r>
          </a:p>
        </p:txBody>
      </p:sp>
      <p:sp>
        <p:nvSpPr>
          <p:cNvPr id="41" name="r2m4"/>
          <p:cNvSpPr>
            <a:spLocks noGrp="1"/>
          </p:cNvSpPr>
          <p:nvPr/>
        </p:nvSpPr>
        <p:spPr>
          <a:xfrm>
            <a:off x="6400000" y="1310000"/>
            <a:ext cx="89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0.8871</a:t>
            </a:r>
          </a:p>
        </p:txBody>
      </p:sp>
      <p:sp>
        <p:nvSpPr>
          <p:cNvPr id="42" name="r2loc"/>
          <p:cNvSpPr>
            <a:spLocks noGrp="1"/>
          </p:cNvSpPr>
          <p:nvPr/>
        </p:nvSpPr>
        <p:spPr>
          <a:xfrm>
            <a:off x="7300000" y="1310000"/>
            <a:ext cx="790000" cy="295000"/>
          </a:xfrm>
          <a:prstGeom prst="rect">
            <a:avLst/>
          </a:prstGeom>
          <a:solidFill>
            <a:srgbClr val="F0F4FA"/>
          </a:solidFill>
          <a:ln/>
        </p:spPr>
        <p:txBody>
          <a:bodyPr wrap="square" lIns="60960" tIns="30000" rIns="60960" bIns="30000" rtlCol="0" anchor="ctr"/>
          <a:lstStyle/>
          <a:p>
            <a:pPr marL="0" indent="0">
              <a:buNone/>
            </a:pPr>
            <a:r>
              <a:rPr lang="en-US" sz="980" b="0" dirty="0">
                <a:solidFill>
                  <a:srgbClr val="555555"/>
                </a:solidFill>
                <a:latin typeface="Calibri"/>
              </a:rPr>
              <a:t>0.8879</a:t>
            </a:r>
          </a:p>
        </p:txBody>
      </p:sp>
      <p:sp>
        <p:nvSpPr>
          <p:cNvPr id="43" name="r2d"/>
          <p:cNvSpPr>
            <a:spLocks noGrp="1"/>
          </p:cNvSpPr>
          <p:nvPr/>
        </p:nvSpPr>
        <p:spPr>
          <a:xfrm>
            <a:off x="8100000" y="1310000"/>
            <a:ext cx="81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+0.0106</a:t>
            </a:r>
          </a:p>
        </p:txBody>
      </p:sp>
      <p:sp>
        <p:nvSpPr>
          <p:cNvPr id="44" name="cond"/>
          <p:cNvSpPr>
            <a:spLocks noGrp="1"/>
          </p:cNvSpPr>
          <p:nvPr/>
        </p:nvSpPr>
        <p:spPr>
          <a:xfrm>
            <a:off x="228600" y="1605000"/>
            <a:ext cx="760000" cy="295000"/>
          </a:xfrm>
          <a:prstGeom prst="rect">
            <a:avLst/>
          </a:prstGeom>
          <a:solidFill>
            <a:srgbClr val="F5F5F5"/>
          </a:solidFill>
          <a:ln/>
        </p:spPr>
        <p:txBody>
          <a:bodyPr wrap="square" lIns="60960" tIns="30000" rIns="60960" bIns="30000" rtlCol="0" anchor="ctr"/>
          <a:lstStyle/>
          <a:p>
            <a:pPr marL="0" indent="0">
              <a:buNone/>
            </a:pPr>
            <a:r>
              <a:rPr lang="en-US" sz="950" b="1" dirty="0">
                <a:solidFill>
                  <a:srgbClr val="1E3A5F"/>
                </a:solidFill>
                <a:latin typeface="Calibri"/>
              </a:rPr>
              <a:t>Both</a:t>
            </a:r>
          </a:p>
        </p:txBody>
      </p:sp>
      <p:sp>
        <p:nvSpPr>
          <p:cNvPr id="45" name="par"/>
          <p:cNvSpPr>
            <a:spLocks noGrp="1"/>
          </p:cNvSpPr>
          <p:nvPr/>
        </p:nvSpPr>
        <p:spPr>
          <a:xfrm>
            <a:off x="1000000" y="1605000"/>
            <a:ext cx="890000" cy="295000"/>
          </a:xfrm>
          <a:prstGeom prst="rect">
            <a:avLst/>
          </a:prstGeom>
          <a:solidFill>
            <a:srgbClr val="F5F5F5"/>
          </a:solidFill>
          <a:ln/>
        </p:spPr>
        <p:txBody>
          <a:bodyPr wrap="square" lIns="60960" tIns="30000" rIns="60960" bIns="30000" rtlCol="0" anchor="ctr"/>
          <a:lstStyle/>
          <a:p>
            <a:pPr marL="0" indent="0">
              <a:buNone/>
            </a:pPr>
            <a:r>
              <a:rPr lang="en-US" sz="880" b="0" dirty="0">
                <a:solidFill>
                  <a:srgbClr val="555555"/>
                </a:solidFill>
                <a:latin typeface="Calibri"/>
              </a:rPr>
              <a:t>α=0.5 γ=0.75</a:t>
            </a:r>
          </a:p>
        </p:txBody>
      </p:sp>
      <p:sp>
        <p:nvSpPr>
          <p:cNvPr id="46" name="desc"/>
          <p:cNvSpPr>
            <a:spLocks noGrp="1"/>
          </p:cNvSpPr>
          <p:nvPr/>
        </p:nvSpPr>
        <p:spPr>
          <a:xfrm>
            <a:off x="1900000" y="1605000"/>
            <a:ext cx="1620000" cy="295000"/>
          </a:xfrm>
          <a:prstGeom prst="rect">
            <a:avLst/>
          </a:prstGeom>
          <a:solidFill>
            <a:srgbClr val="F5F5F5"/>
          </a:solidFill>
          <a:ln/>
        </p:spPr>
        <p:txBody>
          <a:bodyPr wrap="square" lIns="60960" tIns="30000" rIns="60960" bIns="30000" rtlCol="0" anchor="ctr"/>
          <a:lstStyle/>
          <a:p>
            <a:pPr marL="0" indent="0">
              <a:buNone/>
            </a:pPr>
            <a:r>
              <a:rPr lang="en-US" sz="850" b="0" dirty="0">
                <a:solidFill>
                  <a:srgbClr val="000000"/>
                </a:solidFill>
                <a:latin typeface="Calibri"/>
              </a:rPr>
              <a:t>Label + covariate shift — moderate heterogeneity</a:t>
            </a:r>
          </a:p>
        </p:txBody>
      </p:sp>
      <p:sp>
        <p:nvSpPr>
          <p:cNvPr id="47" name="r3m0"/>
          <p:cNvSpPr>
            <a:spLocks noGrp="1"/>
          </p:cNvSpPr>
          <p:nvPr/>
        </p:nvSpPr>
        <p:spPr>
          <a:xfrm>
            <a:off x="3530000" y="1605000"/>
            <a:ext cx="68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0.9092</a:t>
            </a:r>
          </a:p>
        </p:txBody>
      </p:sp>
      <p:sp>
        <p:nvSpPr>
          <p:cNvPr id="48" name="r3m1"/>
          <p:cNvSpPr>
            <a:spLocks noGrp="1"/>
          </p:cNvSpPr>
          <p:nvPr/>
        </p:nvSpPr>
        <p:spPr>
          <a:xfrm>
            <a:off x="4220000" y="1605000"/>
            <a:ext cx="68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0.9040</a:t>
            </a:r>
          </a:p>
        </p:txBody>
      </p:sp>
      <p:sp>
        <p:nvSpPr>
          <p:cNvPr id="49" name="r3m2"/>
          <p:cNvSpPr>
            <a:spLocks noGrp="1"/>
          </p:cNvSpPr>
          <p:nvPr/>
        </p:nvSpPr>
        <p:spPr>
          <a:xfrm>
            <a:off x="4910000" y="1605000"/>
            <a:ext cx="68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0.9033</a:t>
            </a:r>
          </a:p>
        </p:txBody>
      </p:sp>
      <p:sp>
        <p:nvSpPr>
          <p:cNvPr id="50" name="r3m3"/>
          <p:cNvSpPr>
            <a:spLocks noGrp="1"/>
          </p:cNvSpPr>
          <p:nvPr/>
        </p:nvSpPr>
        <p:spPr>
          <a:xfrm>
            <a:off x="5600000" y="1605000"/>
            <a:ext cx="79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0.8620</a:t>
            </a:r>
          </a:p>
        </p:txBody>
      </p:sp>
      <p:sp>
        <p:nvSpPr>
          <p:cNvPr id="51" name="r3m4"/>
          <p:cNvSpPr>
            <a:spLocks noGrp="1"/>
          </p:cNvSpPr>
          <p:nvPr/>
        </p:nvSpPr>
        <p:spPr>
          <a:xfrm>
            <a:off x="6400000" y="1605000"/>
            <a:ext cx="89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0.8999</a:t>
            </a:r>
          </a:p>
        </p:txBody>
      </p:sp>
      <p:sp>
        <p:nvSpPr>
          <p:cNvPr id="52" name="r3loc"/>
          <p:cNvSpPr>
            <a:spLocks noGrp="1"/>
          </p:cNvSpPr>
          <p:nvPr/>
        </p:nvSpPr>
        <p:spPr>
          <a:xfrm>
            <a:off x="7300000" y="1605000"/>
            <a:ext cx="790000" cy="295000"/>
          </a:xfrm>
          <a:prstGeom prst="rect">
            <a:avLst/>
          </a:prstGeom>
          <a:solidFill>
            <a:srgbClr val="F0F4FA"/>
          </a:solidFill>
          <a:ln/>
        </p:spPr>
        <p:txBody>
          <a:bodyPr wrap="square" lIns="60960" tIns="30000" rIns="60960" bIns="30000" rtlCol="0" anchor="ctr"/>
          <a:lstStyle/>
          <a:p>
            <a:pPr marL="0" indent="0">
              <a:buNone/>
            </a:pPr>
            <a:r>
              <a:rPr lang="en-US" sz="980" b="0" dirty="0">
                <a:solidFill>
                  <a:srgbClr val="555555"/>
                </a:solidFill>
                <a:latin typeface="Calibri"/>
              </a:rPr>
              <a:t>0.8937</a:t>
            </a:r>
          </a:p>
        </p:txBody>
      </p:sp>
      <p:sp>
        <p:nvSpPr>
          <p:cNvPr id="53" name="r3d"/>
          <p:cNvSpPr>
            <a:spLocks noGrp="1"/>
          </p:cNvSpPr>
          <p:nvPr/>
        </p:nvSpPr>
        <p:spPr>
          <a:xfrm>
            <a:off x="8100000" y="1605000"/>
            <a:ext cx="81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+0.0155</a:t>
            </a:r>
          </a:p>
        </p:txBody>
      </p:sp>
      <p:sp>
        <p:nvSpPr>
          <p:cNvPr id="54" name="cond"/>
          <p:cNvSpPr>
            <a:spLocks noGrp="1"/>
          </p:cNvSpPr>
          <p:nvPr/>
        </p:nvSpPr>
        <p:spPr>
          <a:xfrm>
            <a:off x="228600" y="1900000"/>
            <a:ext cx="760000" cy="295000"/>
          </a:xfrm>
          <a:prstGeom prst="rect">
            <a:avLst/>
          </a:prstGeom>
          <a:solidFill>
            <a:srgbClr val="FFFFFF"/>
          </a:solidFill>
          <a:ln/>
        </p:spPr>
        <p:txBody>
          <a:bodyPr wrap="square" lIns="60960" tIns="30000" rIns="60960" bIns="30000" rtlCol="0" anchor="ctr"/>
          <a:lstStyle/>
          <a:p>
            <a:pPr marL="0" indent="0">
              <a:buNone/>
            </a:pPr>
            <a:r>
              <a:rPr lang="en-US" sz="950" b="1" dirty="0">
                <a:solidFill>
                  <a:srgbClr val="1E3A5F"/>
                </a:solidFill>
                <a:latin typeface="Calibri"/>
              </a:rPr>
              <a:t>Label extreme</a:t>
            </a:r>
          </a:p>
        </p:txBody>
      </p:sp>
      <p:sp>
        <p:nvSpPr>
          <p:cNvPr id="55" name="par"/>
          <p:cNvSpPr>
            <a:spLocks noGrp="1"/>
          </p:cNvSpPr>
          <p:nvPr/>
        </p:nvSpPr>
        <p:spPr>
          <a:xfrm>
            <a:off x="1000000" y="1900000"/>
            <a:ext cx="890000" cy="295000"/>
          </a:xfrm>
          <a:prstGeom prst="rect">
            <a:avLst/>
          </a:prstGeom>
          <a:solidFill>
            <a:srgbClr val="FFFFFF"/>
          </a:solidFill>
          <a:ln/>
        </p:spPr>
        <p:txBody>
          <a:bodyPr wrap="square" lIns="60960" tIns="30000" rIns="60960" bIns="30000" rtlCol="0" anchor="ctr"/>
          <a:lstStyle/>
          <a:p>
            <a:pPr marL="0" indent="0">
              <a:buNone/>
            </a:pPr>
            <a:r>
              <a:rPr lang="en-US" sz="880" b="0" dirty="0">
                <a:solidFill>
                  <a:srgbClr val="555555"/>
                </a:solidFill>
                <a:latin typeface="Calibri"/>
              </a:rPr>
              <a:t>α=0.3 γ=0</a:t>
            </a:r>
          </a:p>
        </p:txBody>
      </p:sp>
      <p:sp>
        <p:nvSpPr>
          <p:cNvPr id="56" name="desc"/>
          <p:cNvSpPr>
            <a:spLocks noGrp="1"/>
          </p:cNvSpPr>
          <p:nvPr/>
        </p:nvSpPr>
        <p:spPr>
          <a:xfrm>
            <a:off x="1900000" y="1900000"/>
            <a:ext cx="1620000" cy="295000"/>
          </a:xfrm>
          <a:prstGeom prst="rect">
            <a:avLst/>
          </a:prstGeom>
          <a:solidFill>
            <a:srgbClr val="FFFFFF"/>
          </a:solidFill>
          <a:ln/>
        </p:spPr>
        <p:txBody>
          <a:bodyPr wrap="square" lIns="60960" tIns="30000" rIns="60960" bIns="30000" rtlCol="0" anchor="ctr"/>
          <a:lstStyle/>
          <a:p>
            <a:pPr marL="0" indent="0">
              <a:buNone/>
            </a:pPr>
            <a:r>
              <a:rPr lang="en-US" sz="850" b="0" dirty="0">
                <a:solidFill>
                  <a:srgbClr val="000000"/>
                </a:solidFill>
                <a:latin typeface="Calibri"/>
              </a:rPr>
              <a:t>High label variance — no covariate shift</a:t>
            </a:r>
          </a:p>
        </p:txBody>
      </p:sp>
      <p:sp>
        <p:nvSpPr>
          <p:cNvPr id="57" name="r4m0"/>
          <p:cNvSpPr>
            <a:spLocks noGrp="1"/>
          </p:cNvSpPr>
          <p:nvPr/>
        </p:nvSpPr>
        <p:spPr>
          <a:xfrm>
            <a:off x="3530000" y="1900000"/>
            <a:ext cx="68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0.9026</a:t>
            </a:r>
          </a:p>
        </p:txBody>
      </p:sp>
      <p:sp>
        <p:nvSpPr>
          <p:cNvPr id="58" name="r4m1"/>
          <p:cNvSpPr>
            <a:spLocks noGrp="1"/>
          </p:cNvSpPr>
          <p:nvPr/>
        </p:nvSpPr>
        <p:spPr>
          <a:xfrm>
            <a:off x="4220000" y="1900000"/>
            <a:ext cx="68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0.9025</a:t>
            </a:r>
          </a:p>
        </p:txBody>
      </p:sp>
      <p:sp>
        <p:nvSpPr>
          <p:cNvPr id="59" name="r4m2"/>
          <p:cNvSpPr>
            <a:spLocks noGrp="1"/>
          </p:cNvSpPr>
          <p:nvPr/>
        </p:nvSpPr>
        <p:spPr>
          <a:xfrm>
            <a:off x="4910000" y="1900000"/>
            <a:ext cx="68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0.8928</a:t>
            </a:r>
          </a:p>
        </p:txBody>
      </p:sp>
      <p:sp>
        <p:nvSpPr>
          <p:cNvPr id="60" name="r4m3"/>
          <p:cNvSpPr>
            <a:spLocks noGrp="1"/>
          </p:cNvSpPr>
          <p:nvPr/>
        </p:nvSpPr>
        <p:spPr>
          <a:xfrm>
            <a:off x="5600000" y="1900000"/>
            <a:ext cx="79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0.8525</a:t>
            </a:r>
          </a:p>
        </p:txBody>
      </p:sp>
      <p:sp>
        <p:nvSpPr>
          <p:cNvPr id="61" name="r4m4"/>
          <p:cNvSpPr>
            <a:spLocks noGrp="1"/>
          </p:cNvSpPr>
          <p:nvPr/>
        </p:nvSpPr>
        <p:spPr>
          <a:xfrm>
            <a:off x="6400000" y="1900000"/>
            <a:ext cx="89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0.8980</a:t>
            </a:r>
          </a:p>
        </p:txBody>
      </p:sp>
      <p:sp>
        <p:nvSpPr>
          <p:cNvPr id="62" name="r4loc"/>
          <p:cNvSpPr>
            <a:spLocks noGrp="1"/>
          </p:cNvSpPr>
          <p:nvPr/>
        </p:nvSpPr>
        <p:spPr>
          <a:xfrm>
            <a:off x="7300000" y="1900000"/>
            <a:ext cx="790000" cy="295000"/>
          </a:xfrm>
          <a:prstGeom prst="rect">
            <a:avLst/>
          </a:prstGeom>
          <a:solidFill>
            <a:srgbClr val="F0F4FA"/>
          </a:solidFill>
          <a:ln/>
        </p:spPr>
        <p:txBody>
          <a:bodyPr wrap="square" lIns="60960" tIns="30000" rIns="60960" bIns="30000" rtlCol="0" anchor="ctr"/>
          <a:lstStyle/>
          <a:p>
            <a:pPr marL="0" indent="0">
              <a:buNone/>
            </a:pPr>
            <a:r>
              <a:rPr lang="en-US" sz="980" b="0" dirty="0">
                <a:solidFill>
                  <a:srgbClr val="555555"/>
                </a:solidFill>
                <a:latin typeface="Calibri"/>
              </a:rPr>
              <a:t>0.8915</a:t>
            </a:r>
          </a:p>
        </p:txBody>
      </p:sp>
      <p:sp>
        <p:nvSpPr>
          <p:cNvPr id="63" name="r4d"/>
          <p:cNvSpPr>
            <a:spLocks noGrp="1"/>
          </p:cNvSpPr>
          <p:nvPr/>
        </p:nvSpPr>
        <p:spPr>
          <a:xfrm>
            <a:off x="8100000" y="1900000"/>
            <a:ext cx="81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+0.0111</a:t>
            </a:r>
          </a:p>
        </p:txBody>
      </p:sp>
      <p:sp>
        <p:nvSpPr>
          <p:cNvPr id="64" name="cond"/>
          <p:cNvSpPr>
            <a:spLocks noGrp="1"/>
          </p:cNvSpPr>
          <p:nvPr/>
        </p:nvSpPr>
        <p:spPr>
          <a:xfrm>
            <a:off x="228600" y="2195000"/>
            <a:ext cx="760000" cy="295000"/>
          </a:xfrm>
          <a:prstGeom prst="rect">
            <a:avLst/>
          </a:prstGeom>
          <a:solidFill>
            <a:srgbClr val="F5F5F5"/>
          </a:solidFill>
          <a:ln/>
        </p:spPr>
        <p:txBody>
          <a:bodyPr wrap="square" lIns="60960" tIns="30000" rIns="60960" bIns="30000" rtlCol="0" anchor="ctr"/>
          <a:lstStyle/>
          <a:p>
            <a:pPr marL="0" indent="0">
              <a:buNone/>
            </a:pPr>
            <a:r>
              <a:rPr lang="en-US" sz="950" b="1" dirty="0">
                <a:solidFill>
                  <a:srgbClr val="1E3A5F"/>
                </a:solidFill>
                <a:latin typeface="Calibri"/>
              </a:rPr>
              <a:t>Both extreme</a:t>
            </a:r>
          </a:p>
        </p:txBody>
      </p:sp>
      <p:sp>
        <p:nvSpPr>
          <p:cNvPr id="65" name="par"/>
          <p:cNvSpPr>
            <a:spLocks noGrp="1"/>
          </p:cNvSpPr>
          <p:nvPr/>
        </p:nvSpPr>
        <p:spPr>
          <a:xfrm>
            <a:off x="1000000" y="2195000"/>
            <a:ext cx="890000" cy="295000"/>
          </a:xfrm>
          <a:prstGeom prst="rect">
            <a:avLst/>
          </a:prstGeom>
          <a:solidFill>
            <a:srgbClr val="F5F5F5"/>
          </a:solidFill>
          <a:ln/>
        </p:spPr>
        <p:txBody>
          <a:bodyPr wrap="square" lIns="60960" tIns="30000" rIns="60960" bIns="30000" rtlCol="0" anchor="ctr"/>
          <a:lstStyle/>
          <a:p>
            <a:pPr marL="0" indent="0">
              <a:buNone/>
            </a:pPr>
            <a:r>
              <a:rPr lang="en-US" sz="880" b="0" dirty="0">
                <a:solidFill>
                  <a:srgbClr val="555555"/>
                </a:solidFill>
                <a:latin typeface="Calibri"/>
              </a:rPr>
              <a:t>α=0.3 γ=0.75</a:t>
            </a:r>
          </a:p>
        </p:txBody>
      </p:sp>
      <p:sp>
        <p:nvSpPr>
          <p:cNvPr id="66" name="desc"/>
          <p:cNvSpPr>
            <a:spLocks noGrp="1"/>
          </p:cNvSpPr>
          <p:nvPr/>
        </p:nvSpPr>
        <p:spPr>
          <a:xfrm>
            <a:off x="1900000" y="2195000"/>
            <a:ext cx="1620000" cy="295000"/>
          </a:xfrm>
          <a:prstGeom prst="rect">
            <a:avLst/>
          </a:prstGeom>
          <a:solidFill>
            <a:srgbClr val="F5F5F5"/>
          </a:solidFill>
          <a:ln/>
        </p:spPr>
        <p:txBody>
          <a:bodyPr wrap="square" lIns="60960" tIns="30000" rIns="60960" bIns="30000" rtlCol="0" anchor="ctr"/>
          <a:lstStyle/>
          <a:p>
            <a:pPr marL="0" indent="0">
              <a:buNone/>
            </a:pPr>
            <a:r>
              <a:rPr lang="en-US" sz="850" b="0" dirty="0">
                <a:solidFill>
                  <a:srgbClr val="000000"/>
                </a:solidFill>
                <a:latin typeface="Calibri"/>
              </a:rPr>
              <a:t>High label + covariate shift</a:t>
            </a:r>
          </a:p>
        </p:txBody>
      </p:sp>
      <p:sp>
        <p:nvSpPr>
          <p:cNvPr id="67" name="r5m0"/>
          <p:cNvSpPr>
            <a:spLocks noGrp="1"/>
          </p:cNvSpPr>
          <p:nvPr/>
        </p:nvSpPr>
        <p:spPr>
          <a:xfrm>
            <a:off x="3530000" y="2195000"/>
            <a:ext cx="68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0.9063</a:t>
            </a:r>
          </a:p>
        </p:txBody>
      </p:sp>
      <p:sp>
        <p:nvSpPr>
          <p:cNvPr id="68" name="r5m1"/>
          <p:cNvSpPr>
            <a:spLocks noGrp="1"/>
          </p:cNvSpPr>
          <p:nvPr/>
        </p:nvSpPr>
        <p:spPr>
          <a:xfrm>
            <a:off x="4220000" y="2195000"/>
            <a:ext cx="68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0.9046</a:t>
            </a:r>
          </a:p>
        </p:txBody>
      </p:sp>
      <p:sp>
        <p:nvSpPr>
          <p:cNvPr id="69" name="r5m2"/>
          <p:cNvSpPr>
            <a:spLocks noGrp="1"/>
          </p:cNvSpPr>
          <p:nvPr/>
        </p:nvSpPr>
        <p:spPr>
          <a:xfrm>
            <a:off x="4910000" y="2195000"/>
            <a:ext cx="68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0.9116</a:t>
            </a:r>
          </a:p>
        </p:txBody>
      </p:sp>
      <p:sp>
        <p:nvSpPr>
          <p:cNvPr id="70" name="r5m3"/>
          <p:cNvSpPr>
            <a:spLocks noGrp="1"/>
          </p:cNvSpPr>
          <p:nvPr/>
        </p:nvSpPr>
        <p:spPr>
          <a:xfrm>
            <a:off x="5600000" y="2195000"/>
            <a:ext cx="79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0.8689</a:t>
            </a:r>
          </a:p>
        </p:txBody>
      </p:sp>
      <p:sp>
        <p:nvSpPr>
          <p:cNvPr id="71" name="r5m4"/>
          <p:cNvSpPr>
            <a:spLocks noGrp="1"/>
          </p:cNvSpPr>
          <p:nvPr/>
        </p:nvSpPr>
        <p:spPr>
          <a:xfrm>
            <a:off x="6400000" y="2195000"/>
            <a:ext cx="89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0.9039</a:t>
            </a:r>
          </a:p>
        </p:txBody>
      </p:sp>
      <p:sp>
        <p:nvSpPr>
          <p:cNvPr id="72" name="r5loc"/>
          <p:cNvSpPr>
            <a:spLocks noGrp="1"/>
          </p:cNvSpPr>
          <p:nvPr/>
        </p:nvSpPr>
        <p:spPr>
          <a:xfrm>
            <a:off x="7300000" y="2195000"/>
            <a:ext cx="790000" cy="295000"/>
          </a:xfrm>
          <a:prstGeom prst="rect">
            <a:avLst/>
          </a:prstGeom>
          <a:solidFill>
            <a:srgbClr val="F0F4FA"/>
          </a:solidFill>
          <a:ln/>
        </p:spPr>
        <p:txBody>
          <a:bodyPr wrap="square" lIns="60960" tIns="30000" rIns="60960" bIns="30000" rtlCol="0" anchor="ctr"/>
          <a:lstStyle/>
          <a:p>
            <a:pPr marL="0" indent="0">
              <a:buNone/>
            </a:pPr>
            <a:r>
              <a:rPr lang="en-US" sz="980" b="0" dirty="0">
                <a:solidFill>
                  <a:srgbClr val="555555"/>
                </a:solidFill>
                <a:latin typeface="Calibri"/>
              </a:rPr>
              <a:t>0.8965</a:t>
            </a:r>
          </a:p>
        </p:txBody>
      </p:sp>
      <p:sp>
        <p:nvSpPr>
          <p:cNvPr id="73" name="r5d"/>
          <p:cNvSpPr>
            <a:spLocks noGrp="1"/>
          </p:cNvSpPr>
          <p:nvPr/>
        </p:nvSpPr>
        <p:spPr>
          <a:xfrm>
            <a:off x="8100000" y="2195000"/>
            <a:ext cx="81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+0.0151</a:t>
            </a:r>
          </a:p>
        </p:txBody>
      </p:sp>
      <p:sp>
        <p:nvSpPr>
          <p:cNvPr id="74" name="cond"/>
          <p:cNvSpPr>
            <a:spLocks noGrp="1"/>
          </p:cNvSpPr>
          <p:nvPr/>
        </p:nvSpPr>
        <p:spPr>
          <a:xfrm>
            <a:off x="228600" y="2490000"/>
            <a:ext cx="760000" cy="295000"/>
          </a:xfrm>
          <a:prstGeom prst="rect">
            <a:avLst/>
          </a:prstGeom>
          <a:solidFill>
            <a:srgbClr val="FFFFFF"/>
          </a:solidFill>
          <a:ln/>
        </p:spPr>
        <p:txBody>
          <a:bodyPr wrap="square" lIns="60960" tIns="30000" rIns="60960" bIns="30000" rtlCol="0" anchor="ctr"/>
          <a:lstStyle/>
          <a:p>
            <a:pPr marL="0" indent="0">
              <a:buNone/>
            </a:pPr>
            <a:r>
              <a:rPr lang="en-US" sz="950" b="1" dirty="0">
                <a:solidFill>
                  <a:srgbClr val="1E3A5F"/>
                </a:solidFill>
                <a:latin typeface="Calibri"/>
              </a:rPr>
              <a:t>Label max</a:t>
            </a:r>
          </a:p>
        </p:txBody>
      </p:sp>
      <p:sp>
        <p:nvSpPr>
          <p:cNvPr id="75" name="par"/>
          <p:cNvSpPr>
            <a:spLocks noGrp="1"/>
          </p:cNvSpPr>
          <p:nvPr/>
        </p:nvSpPr>
        <p:spPr>
          <a:xfrm>
            <a:off x="1000000" y="2490000"/>
            <a:ext cx="890000" cy="295000"/>
          </a:xfrm>
          <a:prstGeom prst="rect">
            <a:avLst/>
          </a:prstGeom>
          <a:solidFill>
            <a:srgbClr val="FFFFFF"/>
          </a:solidFill>
          <a:ln/>
        </p:spPr>
        <p:txBody>
          <a:bodyPr wrap="square" lIns="60960" tIns="30000" rIns="60960" bIns="30000" rtlCol="0" anchor="ctr"/>
          <a:lstStyle/>
          <a:p>
            <a:pPr marL="0" indent="0">
              <a:buNone/>
            </a:pPr>
            <a:r>
              <a:rPr lang="en-US" sz="880" b="0" dirty="0">
                <a:solidFill>
                  <a:srgbClr val="555555"/>
                </a:solidFill>
                <a:latin typeface="Calibri"/>
              </a:rPr>
              <a:t>α=0.1 γ=0</a:t>
            </a:r>
          </a:p>
        </p:txBody>
      </p:sp>
      <p:sp>
        <p:nvSpPr>
          <p:cNvPr id="76" name="desc"/>
          <p:cNvSpPr>
            <a:spLocks noGrp="1"/>
          </p:cNvSpPr>
          <p:nvPr/>
        </p:nvSpPr>
        <p:spPr>
          <a:xfrm>
            <a:off x="1900000" y="2490000"/>
            <a:ext cx="1620000" cy="295000"/>
          </a:xfrm>
          <a:prstGeom prst="rect">
            <a:avLst/>
          </a:prstGeom>
          <a:solidFill>
            <a:srgbClr val="FFFFFF"/>
          </a:solidFill>
          <a:ln/>
        </p:spPr>
        <p:txBody>
          <a:bodyPr wrap="square" lIns="60960" tIns="30000" rIns="60960" bIns="30000" rtlCol="0" anchor="ctr"/>
          <a:lstStyle/>
          <a:p>
            <a:pPr marL="0" indent="0">
              <a:buNone/>
            </a:pPr>
            <a:r>
              <a:rPr lang="en-US" sz="850" b="0" dirty="0">
                <a:solidFill>
                  <a:srgbClr val="000000"/>
                </a:solidFill>
                <a:latin typeface="Calibri"/>
              </a:rPr>
              <a:t>Maximum label variance — extreme site divergence</a:t>
            </a:r>
          </a:p>
        </p:txBody>
      </p:sp>
      <p:sp>
        <p:nvSpPr>
          <p:cNvPr id="77" name="r6m0"/>
          <p:cNvSpPr>
            <a:spLocks noGrp="1"/>
          </p:cNvSpPr>
          <p:nvPr/>
        </p:nvSpPr>
        <p:spPr>
          <a:xfrm>
            <a:off x="3530000" y="2490000"/>
            <a:ext cx="68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0.9037</a:t>
            </a:r>
          </a:p>
        </p:txBody>
      </p:sp>
      <p:sp>
        <p:nvSpPr>
          <p:cNvPr id="78" name="r6m1"/>
          <p:cNvSpPr>
            <a:spLocks noGrp="1"/>
          </p:cNvSpPr>
          <p:nvPr/>
        </p:nvSpPr>
        <p:spPr>
          <a:xfrm>
            <a:off x="4220000" y="2490000"/>
            <a:ext cx="68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0.9050</a:t>
            </a:r>
          </a:p>
        </p:txBody>
      </p:sp>
      <p:sp>
        <p:nvSpPr>
          <p:cNvPr id="79" name="r6m2"/>
          <p:cNvSpPr>
            <a:spLocks noGrp="1"/>
          </p:cNvSpPr>
          <p:nvPr/>
        </p:nvSpPr>
        <p:spPr>
          <a:xfrm>
            <a:off x="4910000" y="2490000"/>
            <a:ext cx="68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0.9055</a:t>
            </a:r>
          </a:p>
        </p:txBody>
      </p:sp>
      <p:sp>
        <p:nvSpPr>
          <p:cNvPr id="80" name="r6m3"/>
          <p:cNvSpPr>
            <a:spLocks noGrp="1"/>
          </p:cNvSpPr>
          <p:nvPr/>
        </p:nvSpPr>
        <p:spPr>
          <a:xfrm>
            <a:off x="5600000" y="2490000"/>
            <a:ext cx="79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0.8784</a:t>
            </a:r>
          </a:p>
        </p:txBody>
      </p:sp>
      <p:sp>
        <p:nvSpPr>
          <p:cNvPr id="81" name="r6m4"/>
          <p:cNvSpPr>
            <a:spLocks noGrp="1"/>
          </p:cNvSpPr>
          <p:nvPr/>
        </p:nvSpPr>
        <p:spPr>
          <a:xfrm>
            <a:off x="6400000" y="2490000"/>
            <a:ext cx="89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0.8973</a:t>
            </a:r>
          </a:p>
        </p:txBody>
      </p:sp>
      <p:sp>
        <p:nvSpPr>
          <p:cNvPr id="82" name="r6loc"/>
          <p:cNvSpPr>
            <a:spLocks noGrp="1"/>
          </p:cNvSpPr>
          <p:nvPr/>
        </p:nvSpPr>
        <p:spPr>
          <a:xfrm>
            <a:off x="7300000" y="2490000"/>
            <a:ext cx="790000" cy="295000"/>
          </a:xfrm>
          <a:prstGeom prst="rect">
            <a:avLst/>
          </a:prstGeom>
          <a:solidFill>
            <a:srgbClr val="F0F4FA"/>
          </a:solidFill>
          <a:ln/>
        </p:spPr>
        <p:txBody>
          <a:bodyPr wrap="square" lIns="60960" tIns="30000" rIns="60960" bIns="30000" rtlCol="0" anchor="ctr"/>
          <a:lstStyle/>
          <a:p>
            <a:pPr marL="0" indent="0">
              <a:buNone/>
            </a:pPr>
            <a:r>
              <a:rPr lang="en-US" sz="980" b="0" dirty="0">
                <a:solidFill>
                  <a:srgbClr val="555555"/>
                </a:solidFill>
                <a:latin typeface="Calibri"/>
              </a:rPr>
              <a:t>0.9002</a:t>
            </a:r>
          </a:p>
        </p:txBody>
      </p:sp>
      <p:sp>
        <p:nvSpPr>
          <p:cNvPr id="83" name="r6d"/>
          <p:cNvSpPr>
            <a:spLocks noGrp="1"/>
          </p:cNvSpPr>
          <p:nvPr/>
        </p:nvSpPr>
        <p:spPr>
          <a:xfrm>
            <a:off x="8100000" y="2490000"/>
            <a:ext cx="81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+0.0053</a:t>
            </a:r>
          </a:p>
        </p:txBody>
      </p:sp>
      <p:sp>
        <p:nvSpPr>
          <p:cNvPr id="84" name="cond"/>
          <p:cNvSpPr>
            <a:spLocks noGrp="1"/>
          </p:cNvSpPr>
          <p:nvPr/>
        </p:nvSpPr>
        <p:spPr>
          <a:xfrm>
            <a:off x="228600" y="2785000"/>
            <a:ext cx="760000" cy="295000"/>
          </a:xfrm>
          <a:prstGeom prst="rect">
            <a:avLst/>
          </a:prstGeom>
          <a:solidFill>
            <a:srgbClr val="F5F5F5"/>
          </a:solidFill>
          <a:ln/>
        </p:spPr>
        <p:txBody>
          <a:bodyPr wrap="square" lIns="60960" tIns="30000" rIns="60960" bIns="30000" rtlCol="0" anchor="ctr"/>
          <a:lstStyle/>
          <a:p>
            <a:pPr marL="0" indent="0">
              <a:buNone/>
            </a:pPr>
            <a:r>
              <a:rPr lang="en-US" sz="950" b="1" dirty="0">
                <a:solidFill>
                  <a:srgbClr val="1E3A5F"/>
                </a:solidFill>
                <a:latin typeface="Calibri"/>
              </a:rPr>
              <a:t>Both max</a:t>
            </a:r>
          </a:p>
        </p:txBody>
      </p:sp>
      <p:sp>
        <p:nvSpPr>
          <p:cNvPr id="85" name="par"/>
          <p:cNvSpPr>
            <a:spLocks noGrp="1"/>
          </p:cNvSpPr>
          <p:nvPr/>
        </p:nvSpPr>
        <p:spPr>
          <a:xfrm>
            <a:off x="1000000" y="2785000"/>
            <a:ext cx="890000" cy="295000"/>
          </a:xfrm>
          <a:prstGeom prst="rect">
            <a:avLst/>
          </a:prstGeom>
          <a:solidFill>
            <a:srgbClr val="F5F5F5"/>
          </a:solidFill>
          <a:ln/>
        </p:spPr>
        <p:txBody>
          <a:bodyPr wrap="square" lIns="60960" tIns="30000" rIns="60960" bIns="30000" rtlCol="0" anchor="ctr"/>
          <a:lstStyle/>
          <a:p>
            <a:pPr marL="0" indent="0">
              <a:buNone/>
            </a:pPr>
            <a:r>
              <a:rPr lang="en-US" sz="880" b="0" dirty="0">
                <a:solidFill>
                  <a:srgbClr val="555555"/>
                </a:solidFill>
                <a:latin typeface="Calibri"/>
              </a:rPr>
              <a:t>α=0.1 γ=1.0</a:t>
            </a:r>
          </a:p>
        </p:txBody>
      </p:sp>
      <p:sp>
        <p:nvSpPr>
          <p:cNvPr id="86" name="desc"/>
          <p:cNvSpPr>
            <a:spLocks noGrp="1"/>
          </p:cNvSpPr>
          <p:nvPr/>
        </p:nvSpPr>
        <p:spPr>
          <a:xfrm>
            <a:off x="1900000" y="2785000"/>
            <a:ext cx="1620000" cy="295000"/>
          </a:xfrm>
          <a:prstGeom prst="rect">
            <a:avLst/>
          </a:prstGeom>
          <a:solidFill>
            <a:srgbClr val="F5F5F5"/>
          </a:solidFill>
          <a:ln/>
        </p:spPr>
        <p:txBody>
          <a:bodyPr wrap="square" lIns="60960" tIns="30000" rIns="60960" bIns="30000" rtlCol="0" anchor="ctr"/>
          <a:lstStyle/>
          <a:p>
            <a:pPr marL="0" indent="0">
              <a:buNone/>
            </a:pPr>
            <a:r>
              <a:rPr lang="en-US" sz="850" b="0" dirty="0">
                <a:solidFill>
                  <a:srgbClr val="000000"/>
                </a:solidFill>
                <a:latin typeface="Calibri"/>
              </a:rPr>
              <a:t>Maximum label + maximum covariate shift</a:t>
            </a:r>
          </a:p>
        </p:txBody>
      </p:sp>
      <p:sp>
        <p:nvSpPr>
          <p:cNvPr id="87" name="r7m0"/>
          <p:cNvSpPr>
            <a:spLocks noGrp="1"/>
          </p:cNvSpPr>
          <p:nvPr/>
        </p:nvSpPr>
        <p:spPr>
          <a:xfrm>
            <a:off x="3530000" y="2785000"/>
            <a:ext cx="68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0.8940</a:t>
            </a:r>
          </a:p>
        </p:txBody>
      </p:sp>
      <p:sp>
        <p:nvSpPr>
          <p:cNvPr id="88" name="r7m1"/>
          <p:cNvSpPr>
            <a:spLocks noGrp="1"/>
          </p:cNvSpPr>
          <p:nvPr/>
        </p:nvSpPr>
        <p:spPr>
          <a:xfrm>
            <a:off x="4220000" y="2785000"/>
            <a:ext cx="68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0.8942</a:t>
            </a:r>
          </a:p>
        </p:txBody>
      </p:sp>
      <p:sp>
        <p:nvSpPr>
          <p:cNvPr id="89" name="r7m2"/>
          <p:cNvSpPr>
            <a:spLocks noGrp="1"/>
          </p:cNvSpPr>
          <p:nvPr/>
        </p:nvSpPr>
        <p:spPr>
          <a:xfrm>
            <a:off x="4910000" y="2785000"/>
            <a:ext cx="68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0.8938</a:t>
            </a:r>
          </a:p>
        </p:txBody>
      </p:sp>
      <p:sp>
        <p:nvSpPr>
          <p:cNvPr id="90" name="r7m3"/>
          <p:cNvSpPr>
            <a:spLocks noGrp="1"/>
          </p:cNvSpPr>
          <p:nvPr/>
        </p:nvSpPr>
        <p:spPr>
          <a:xfrm>
            <a:off x="5600000" y="2785000"/>
            <a:ext cx="79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0.8670</a:t>
            </a:r>
          </a:p>
        </p:txBody>
      </p:sp>
      <p:sp>
        <p:nvSpPr>
          <p:cNvPr id="91" name="r7m4"/>
          <p:cNvSpPr>
            <a:spLocks noGrp="1"/>
          </p:cNvSpPr>
          <p:nvPr/>
        </p:nvSpPr>
        <p:spPr>
          <a:xfrm>
            <a:off x="6400000" y="2785000"/>
            <a:ext cx="89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0.9063</a:t>
            </a:r>
          </a:p>
        </p:txBody>
      </p:sp>
      <p:sp>
        <p:nvSpPr>
          <p:cNvPr id="92" name="r7loc"/>
          <p:cNvSpPr>
            <a:spLocks noGrp="1"/>
          </p:cNvSpPr>
          <p:nvPr/>
        </p:nvSpPr>
        <p:spPr>
          <a:xfrm>
            <a:off x="7300000" y="2785000"/>
            <a:ext cx="790000" cy="295000"/>
          </a:xfrm>
          <a:prstGeom prst="rect">
            <a:avLst/>
          </a:prstGeom>
          <a:solidFill>
            <a:srgbClr val="F0F4FA"/>
          </a:solidFill>
          <a:ln/>
        </p:spPr>
        <p:txBody>
          <a:bodyPr wrap="square" lIns="60960" tIns="30000" rIns="60960" bIns="30000" rtlCol="0" anchor="ctr"/>
          <a:lstStyle/>
          <a:p>
            <a:pPr marL="0" indent="0">
              <a:buNone/>
            </a:pPr>
            <a:r>
              <a:rPr lang="en-US" sz="980" b="0" dirty="0">
                <a:solidFill>
                  <a:srgbClr val="555555"/>
                </a:solidFill>
                <a:latin typeface="Calibri"/>
              </a:rPr>
              <a:t>0.8989</a:t>
            </a:r>
          </a:p>
        </p:txBody>
      </p:sp>
      <p:sp>
        <p:nvSpPr>
          <p:cNvPr id="93" name="r7d"/>
          <p:cNvSpPr>
            <a:spLocks noGrp="1"/>
          </p:cNvSpPr>
          <p:nvPr/>
        </p:nvSpPr>
        <p:spPr>
          <a:xfrm>
            <a:off x="8100000" y="2785000"/>
            <a:ext cx="81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+0.0074</a:t>
            </a:r>
          </a:p>
        </p:txBody>
      </p:sp>
      <p:sp>
        <p:nvSpPr>
          <p:cNvPr id="94" name="notes"/>
          <p:cNvSpPr>
            <a:spLocks noGrp="1"/>
          </p:cNvSpPr>
          <p:nvPr/>
        </p:nvSpPr>
        <p:spPr>
          <a:xfrm>
            <a:off x="228600" y="3160000"/>
            <a:ext cx="8687400" cy="440000"/>
          </a:xfrm>
          <a:prstGeom prst="rect">
            <a:avLst/>
          </a:prstGeom>
          <a:solidFill>
            <a:srgbClr val="E8F0FB"/>
          </a:solidFill>
          <a:ln/>
        </p:spPr>
        <p:txBody>
          <a:bodyPr wrap="square" lIns="182880" tIns="91440" rIns="182880" bIns="91440" rtlCol="0" anchor="t"/>
          <a:lstStyle/>
          <a:p>
            <a:pPr marL="0" indent="0">
              <a:buNone/>
            </a:pPr>
            <a:r>
              <a:rPr lang="en-US" sz="1050" b="1" dirty="0">
                <a:solidFill>
                  <a:srgbClr val="1E3A5F"/>
                </a:solidFill>
                <a:latin typeface="Calibri"/>
              </a:rPr>
              <a:t>Key findings:</a:t>
            </a:r>
          </a:p>
          <a:p>
            <a:pPr marL="0" indent="0">
              <a:buNone/>
            </a:pPr>
            <a:r>
              <a:rPr lang="en-US" sz="980" b="0" dirty="0">
                <a:solidFill>
                  <a:srgbClr val="000000"/>
                </a:solidFill>
                <a:latin typeface="Calibri"/>
              </a:rPr>
              <a:t>SCAFFOLD wins 4/8 conditions (IID, Cov only, Both extreme, Label max). FedAvg wins Both and Label extreme. FedAdaptProto wins Both max — the hardest condition with maximum heterogeneity — achieving highest AUROC (0.9063) even above SCAFFOLD (0.8938).</a:t>
            </a:r>
          </a:p>
          <a:p>
            <a:pPr marL="0" indent="0">
              <a:buNone/>
            </a:pPr>
            <a:r>
              <a:rPr lang="en-US" sz="800" b="0" dirty="0">
                <a:solidFill>
                  <a:srgbClr val="000000"/>
                </a:solidFill>
                <a:latin typeface="Calibri"/>
              </a:rPr>
              <a:t> </a:t>
            </a:r>
          </a:p>
          <a:p>
            <a:pPr marL="0" indent="0">
              <a:buNone/>
            </a:pPr>
            <a:r>
              <a:rPr lang="en-US" sz="1050" b="1" dirty="0">
                <a:solidFill>
                  <a:srgbClr val="1E3A5F"/>
                </a:solidFill>
                <a:latin typeface="Calibri"/>
              </a:rPr>
              <a:t>FL beats local-only in all 8 conditions.</a:t>
            </a:r>
          </a:p>
          <a:p>
            <a:pPr marL="0" indent="0">
              <a:buNone/>
            </a:pPr>
            <a:r>
              <a:rPr lang="en-US" sz="980" b="0" dirty="0">
                <a:solidFill>
                  <a:srgbClr val="000000"/>
                </a:solidFill>
                <a:latin typeface="Calibri"/>
              </a:rPr>
              <a:t>FedAdapt consistently underperforms all other FL methods. FedAdaptProto (original) outperforms FedAdapt in 7/8 conditions. Single run per condition — no std available; multi-seed validation in progress.</a:t>
            </a:r>
          </a:p>
        </p:txBody>
      </p:sp>
      <p:sp>
        <p:nvSpPr>
          <p:cNvPr id="200" name="v24_note"/>
          <p:cNvSpPr>
            <a:spLocks noGrp="1"/>
          </p:cNvSpPr>
          <p:nvPr/>
        </p:nvSpPr>
        <p:spPr>
          <a:xfrm>
            <a:off x="228600" y="4650000"/>
            <a:ext cx="8687400" cy="420000"/>
          </a:xfrm>
          <a:prstGeom prst="rect">
            <a:avLst/>
          </a:prstGeom>
          <a:solidFill>
            <a:srgbClr val="FFF8F0"/>
          </a:solidFill>
          <a:ln/>
        </p:spPr>
        <p:txBody>
          <a:bodyPr wrap="square" lIns="182880" tIns="91440" rIns="182880" bIns="91440" rtlCol="0" anchor="t"/>
          <a:lstStyle/>
          <a:p>
            <a:pPr marL="0" indent="0">
              <a:buNone/>
            </a:pPr>
            <a:r>
              <a:rPr lang="en-US" sz="1100" b="1" dirty="0">
                <a:solidFill>
                  <a:srgbClr val="BA5000"/>
                </a:solidFill>
                <a:latin typeface="Calibri"/>
              </a:rPr>
              <a:t>FedAdaptProto v2.3 and v2.4 results  (alpha=0.3, gamma=0.75  =  Both extreme condition):</a:t>
            </a:r>
          </a:p>
          <a:p>
            <a:pPr marL="0" indent="0">
              <a:buNone/>
            </a:pPr>
            <a:r>
              <a:rPr lang="en-US" sz="1000" b="0" dirty="0">
                <a:solidFill>
                  <a:srgbClr val="000000"/>
                </a:solidFill>
                <a:latin typeface="Calibri"/>
              </a:rPr>
              <a:t>FedAdaptProto v2.3 (manual K, single run):  site_A=0.9418  site_B=0.9334  site_C=0.8724  site_D=0.8328  site_E=0.8943  Mean=0.8949  |  FL-gain validated 5/5  (site_D +0.053, site_E +0.035 vs local)</a:t>
            </a:r>
          </a:p>
          <a:p>
            <a:pPr marL="0" indent="0">
              <a:buNone/>
            </a:pPr>
            <a:r>
              <a:rPr lang="en-US" sz="1000" b="0" dirty="0">
                <a:solidFill>
                  <a:srgbClr val="000000"/>
                </a:solidFill>
                <a:latin typeface="Calibri"/>
              </a:rPr>
              <a:t>FedAdaptProto v2.4 (auto-K K=2, 5-seed mean):  site_A=0.9704  site_B=0.9192  site_C=0.8904  site_D=0.8223  site_E=0.8964  Mean=0.8997  |  Better aggregate AUROC, site_E near-neutral (-0.001)</a:t>
            </a:r>
          </a:p>
          <a:p>
            <a:pPr marL="0" indent="0">
              <a:buNone/>
            </a:pPr>
            <a:r>
              <a:rPr lang="en-US" sz="950" b="0" dirty="0">
                <a:solidFill>
                  <a:srgbClr val="000000"/>
                </a:solidFill>
                <a:latin typeface="Calibri"/>
              </a:rPr>
              <a:t>Note: FedAdaptProto column above = original version (jointly-trained head). v2.3/v2.4 use frozen-head federation + post-convergence fine-tuning. See slides 31-42 for full v2.3/v2.4 comparison.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FL Results Main">
    <p:bg>
      <p:bgPr>
        <a:solidFill>
          <a:srgbClr val="FFFFFF"/>
        </a:solidFill>
        <a:effectLst/>
      </p:bgPr>
    </p:bg>
    <p:spTree>
      <p:nvGrpSpPr>
        <p:cNvPr id="1" name=""/>
        <p:cNvGrpSpPr/>
        <p:nvPr/>
      </p:nvGrpSpPr>
      <p:grpSpPr>
        <a:xfrm>
          <a:off x="0" y="0"/>
          <a:ext cx="0" cy="0"/>
          <a:chOff x="0" y="0"/>
          <a:chExt cx="0" cy="0"/>
        </a:xfrm>
      </p:grpSpPr>
      <p:sp>
        <p:nvSpPr>
          <p:cNvPr id="2" name="hdr"/>
          <p:cNvSpPr/>
          <p:nvPr/>
        </p:nvSpPr>
        <p:spPr>
          <a:xfrm>
            <a:off x="0" y="0"/>
            <a:ext cx="9144000" cy="420000"/>
          </a:xfrm>
          <a:prstGeom prst="rect">
            <a:avLst/>
          </a:prstGeom>
          <a:solidFill>
            <a:srgbClr val="1E3A5F"/>
          </a:solidFill>
          <a:ln/>
        </p:spPr>
        <p:txBody>
          <a:bodyPr wrap="square" lIns="274638" tIns="91440" rIns="274638" bIns="91440" rtlCol="0" anchor="ctr"/>
          <a:lstStyle/>
          <a:p>
            <a:pPr marL="0" indent="0">
              <a:buNone/>
            </a:pPr>
            <a:r>
              <a:rPr lang="en-US" sz="1800" b="1" dirty="0">
                <a:solidFill>
                  <a:srgbClr val="FFFFFF"/>
                </a:solidFill>
                <a:latin typeface="Calibri"/>
              </a:rPr>
              <a:t>FL Results: Global AUROC across 8 Heterogeneity Conditions (20 seeds)</a:t>
            </a:r>
          </a:p>
        </p:txBody>
      </p:sp>
      <p:sp>
        <p:nvSpPr>
          <p:cNvPr id="3" name="f1box"/>
          <p:cNvSpPr/>
          <p:nvPr/>
        </p:nvSpPr>
        <p:spPr>
          <a:xfrm>
            <a:off x="228600" y="480000"/>
            <a:ext cx="4200000" cy="1380000"/>
          </a:xfrm>
          <a:prstGeom prst="rect">
            <a:avLst/>
          </a:prstGeom>
          <a:solidFill>
            <a:srgbClr val="EFF6FF"/>
          </a:solidFill>
          <a:ln w="9525">
            <a:solidFill>
              <a:srgbClr val="2563EB"/>
            </a:solidFill>
          </a:ln>
        </p:spPr>
        <p:txBody>
          <a:bodyPr wrap="square" lIns="137160" tIns="91440" rIns="137160" bIns="91440" rtlCol="0" anchor="t"/>
          <a:lstStyle/>
          <a:p>
            <a:pPr marL="0" indent="0">
              <a:buNone/>
            </a:pPr>
            <a:r>
              <a:rPr lang="en-US" sz="1000" b="1" dirty="0">
                <a:solidFill>
                  <a:srgbClr val="1E3A5F"/>
                </a:solidFill>
                <a:latin typeface="Calibri"/>
              </a:rPr>
              <a:t>Finding 1 SCAFFOLD family significantly outperforms FedAvg (p&lt;0.001 all conditions)</a:t>
            </a:r>
          </a:p>
          <a:p>
            <a:pPr marL="0" indent="0">
              <a:buNone/>
            </a:pPr>
            <a:endParaRPr lang="en-US" sz="875" dirty="0"/>
          </a:p>
          <a:p>
            <a:pPr marL="0" indent="0">
              <a:buNone/>
            </a:pPr>
            <a:r>
              <a:rPr lang="en-US" sz="875" dirty="0">
                <a:solidFill>
                  <a:schemeClr val="tx1"/>
                </a:solidFill>
                <a:latin typeface="Calibri"/>
              </a:rPr>
              <a:t>SCAFFOLD vs FedAvg: +0.010 to +0.012 AUROC (label-shift conditions)</a:t>
            </a:r>
          </a:p>
          <a:p>
            <a:pPr marL="0" indent="0">
              <a:buNone/>
            </a:pPr>
            <a:r>
              <a:rPr lang="en-US" sz="875" dirty="0">
                <a:solidFill>
                  <a:schemeClr val="tx1"/>
                </a:solidFill>
                <a:latin typeface="Calibri"/>
              </a:rPr>
              <a:t>SCAFFOLD+clip vs FedAvg: +0.009 to +0.011 AUROC — more stable (lower std)</a:t>
            </a:r>
          </a:p>
          <a:p>
            <a:pPr marL="0" indent="0">
              <a:buNone/>
            </a:pPr>
            <a:r>
              <a:rPr lang="en-US" sz="875" dirty="0">
                <a:solidFill>
                  <a:srgbClr val="991B1B"/>
                </a:solidFill>
                <a:latin typeface="Calibri"/>
              </a:rPr>
              <a:t>FedProx underperforms FedAvg in every condition (−0.002 to −0.008, p&lt;0.001)</a:t>
            </a:r>
          </a:p>
        </p:txBody>
      </p:sp>
      <p:sp>
        <p:nvSpPr>
          <p:cNvPr id="4" name="f2box"/>
          <p:cNvSpPr/>
          <p:nvPr/>
        </p:nvSpPr>
        <p:spPr>
          <a:xfrm>
            <a:off x="4715400" y="480000"/>
            <a:ext cx="4200000" cy="1380000"/>
          </a:xfrm>
          <a:prstGeom prst="rect">
            <a:avLst/>
          </a:prstGeom>
          <a:solidFill>
            <a:srgbClr val="F0FDF4"/>
          </a:solidFill>
          <a:ln w="9525">
            <a:solidFill>
              <a:srgbClr val="16A34A"/>
            </a:solidFill>
          </a:ln>
        </p:spPr>
        <p:txBody>
          <a:bodyPr wrap="square" lIns="137160" tIns="91440" rIns="137160" bIns="91440" rtlCol="0" anchor="t"/>
          <a:lstStyle/>
          <a:p>
            <a:pPr marL="0" indent="0">
              <a:buNone/>
            </a:pPr>
            <a:r>
              <a:rPr lang="en-US" sz="1000" b="1" dirty="0">
                <a:solidFill>
                  <a:srgbClr val="14532D"/>
                </a:solidFill>
                <a:latin typeface="Calibri"/>
              </a:rPr>
              <a:t>Finding 2  Federation beats local training in 7 of 8 conditions</a:t>
            </a:r>
          </a:p>
          <a:p>
            <a:pPr marL="0" indent="0">
              <a:buNone/>
            </a:pPr>
            <a:endParaRPr lang="en-US" sz="875" dirty="0"/>
          </a:p>
          <a:p>
            <a:pPr marL="0" indent="0">
              <a:buNone/>
            </a:pPr>
            <a:r>
              <a:rPr lang="en-US" sz="875" dirty="0">
                <a:solidFill>
                  <a:schemeClr val="tx1"/>
                </a:solidFill>
                <a:latin typeface="Calibri"/>
              </a:rPr>
              <a:t>Both: FL +0.033 over local  |  Both extreme: FL +0.042  |  Both max: FL +0.075</a:t>
            </a:r>
          </a:p>
          <a:p>
            <a:pPr marL="0" indent="0">
              <a:buNone/>
            </a:pPr>
            <a:r>
              <a:rPr lang="en-US" sz="875" dirty="0">
                <a:solidFill>
                  <a:schemeClr val="tx1"/>
                </a:solidFill>
                <a:latin typeface="Calibri"/>
              </a:rPr>
              <a:t>FL advantage grows monotonically with combined heterogeneity</a:t>
            </a:r>
          </a:p>
          <a:p>
            <a:pPr marL="0" indent="0">
              <a:buNone/>
            </a:pPr>
            <a:r>
              <a:rPr lang="en-US" sz="875" dirty="0">
                <a:solidFill>
                  <a:schemeClr val="tx1"/>
                </a:solidFill>
                <a:latin typeface="Calibri"/>
              </a:rPr>
              <a:t>Label extreme only: tie (Δ+0.005) — single-axis shift insufficient</a:t>
            </a:r>
          </a:p>
        </p:txBody>
      </p:sp>
      <p:sp>
        <p:nvSpPr>
          <p:cNvPr id="5" name="f3box"/>
          <p:cNvSpPr/>
          <p:nvPr/>
        </p:nvSpPr>
        <p:spPr>
          <a:xfrm>
            <a:off x="228600" y="1930000"/>
            <a:ext cx="4200000" cy="1380000"/>
          </a:xfrm>
          <a:prstGeom prst="rect">
            <a:avLst/>
          </a:prstGeom>
          <a:solidFill>
            <a:srgbClr val="FFF7ED"/>
          </a:solidFill>
          <a:ln w="9525">
            <a:solidFill>
              <a:srgbClr val="C2410C"/>
            </a:solidFill>
          </a:ln>
        </p:spPr>
        <p:txBody>
          <a:bodyPr wrap="square" lIns="137160" tIns="91440" rIns="137160" bIns="91440" rtlCol="0" anchor="t"/>
          <a:lstStyle/>
          <a:p>
            <a:pPr marL="0" indent="0">
              <a:buNone/>
            </a:pPr>
            <a:r>
              <a:rPr lang="en-US" sz="1000" b="1" dirty="0">
                <a:solidFill>
                  <a:srgbClr val="7C2D12"/>
                </a:solidFill>
                <a:latin typeface="Calibri"/>
              </a:rPr>
              <a:t>Finding 3 FL matches or exceeds centralised in 5 of 8 conditions</a:t>
            </a:r>
          </a:p>
          <a:p>
            <a:pPr marL="0" indent="0">
              <a:buNone/>
            </a:pPr>
            <a:endParaRPr lang="en-US" sz="875" dirty="0"/>
          </a:p>
          <a:p>
            <a:pPr marL="0" indent="0">
              <a:buNone/>
            </a:pPr>
            <a:r>
              <a:rPr lang="en-US" sz="875" dirty="0">
                <a:solidFill>
                  <a:schemeClr val="tx1"/>
                </a:solidFill>
                <a:latin typeface="Calibri"/>
              </a:rPr>
              <a:t>Covariate only: 100.0%  |  Both: 102.3%  |  Both extreme: 103.3%</a:t>
            </a:r>
          </a:p>
          <a:p>
            <a:pPr marL="0" indent="0">
              <a:buNone/>
            </a:pPr>
            <a:r>
              <a:rPr lang="en-US" sz="875" dirty="0">
                <a:solidFill>
                  <a:schemeClr val="tx1"/>
                </a:solidFill>
                <a:latin typeface="Calibri"/>
              </a:rPr>
              <a:t>Both max: 105.5% — FL surpasses naive pooling by 5.5 points</a:t>
            </a:r>
          </a:p>
          <a:p>
            <a:pPr marL="0" indent="0">
              <a:buNone/>
            </a:pPr>
            <a:r>
              <a:rPr lang="en-US" sz="875" dirty="0">
                <a:solidFill>
                  <a:schemeClr val="tx1"/>
                </a:solidFill>
                <a:latin typeface="Calibri"/>
              </a:rPr>
              <a:t>Site_C (66k rows) dominates pooled gradient — FL’s weighted agg. protects minorities</a:t>
            </a:r>
          </a:p>
        </p:txBody>
      </p:sp>
      <p:sp>
        <p:nvSpPr>
          <p:cNvPr id="6" name="f4box"/>
          <p:cNvSpPr/>
          <p:nvPr/>
        </p:nvSpPr>
        <p:spPr>
          <a:xfrm>
            <a:off x="4715400" y="1930000"/>
            <a:ext cx="4200000" cy="1380000"/>
          </a:xfrm>
          <a:prstGeom prst="rect">
            <a:avLst/>
          </a:prstGeom>
          <a:solidFill>
            <a:srgbClr val="FDF4FF"/>
          </a:solidFill>
          <a:ln w="9525">
            <a:solidFill>
              <a:srgbClr val="9333EA"/>
            </a:solidFill>
          </a:ln>
        </p:spPr>
        <p:txBody>
          <a:bodyPr wrap="square" lIns="137160" tIns="91440" rIns="137160" bIns="91440" rtlCol="0" anchor="t"/>
          <a:lstStyle/>
          <a:p>
            <a:pPr marL="0" indent="0">
              <a:buNone/>
            </a:pPr>
            <a:r>
              <a:rPr lang="en-US" sz="1000" b="1" dirty="0">
                <a:solidFill>
                  <a:srgbClr val="581C87"/>
                </a:solidFill>
                <a:latin typeface="Calibri"/>
              </a:rPr>
              <a:t>Finding 4  Site_E (rural) degrades </a:t>
            </a:r>
            <a:r>
              <a:rPr lang="en-US" sz="1000" b="1">
                <a:solidFill>
                  <a:srgbClr val="581C87"/>
                </a:solidFill>
                <a:latin typeface="Calibri"/>
              </a:rPr>
              <a:t>most, motivates </a:t>
            </a:r>
            <a:r>
              <a:rPr lang="en-US" sz="1000" b="1" dirty="0">
                <a:solidFill>
                  <a:srgbClr val="581C87"/>
                </a:solidFill>
                <a:latin typeface="Calibri"/>
              </a:rPr>
              <a:t>personalisation</a:t>
            </a:r>
          </a:p>
          <a:p>
            <a:pPr marL="0" indent="0">
              <a:buNone/>
            </a:pPr>
            <a:endParaRPr lang="en-US" sz="875" dirty="0"/>
          </a:p>
          <a:p>
            <a:pPr marL="0" indent="0">
              <a:buNone/>
            </a:pPr>
            <a:r>
              <a:rPr lang="en-US" sz="875" dirty="0">
                <a:solidFill>
                  <a:schemeClr val="tx1"/>
                </a:solidFill>
                <a:latin typeface="Calibri"/>
              </a:rPr>
              <a:t>Site_E AUROC: 0.833 (IID) → 0.767 (Both max) — drop of 6.6 points</a:t>
            </a:r>
          </a:p>
          <a:p>
            <a:pPr marL="0" indent="0">
              <a:buNone/>
            </a:pPr>
            <a:r>
              <a:rPr lang="en-US" sz="875" dirty="0">
                <a:solidFill>
                  <a:schemeClr val="tx1"/>
                </a:solidFill>
                <a:latin typeface="Calibri"/>
              </a:rPr>
              <a:t>Covariate shift (Δ−0.050) hurts site_E more than label shift (Δ−0.012)</a:t>
            </a:r>
          </a:p>
          <a:p>
            <a:pPr marL="0" indent="0">
              <a:buNone/>
            </a:pPr>
            <a:r>
              <a:rPr lang="en-US" sz="875" dirty="0">
                <a:solidFill>
                  <a:schemeClr val="tx1"/>
                </a:solidFill>
                <a:latin typeface="Calibri"/>
              </a:rPr>
              <a:t>18 features, 5% AKI prevalence — global boundary systematically misfit</a:t>
            </a:r>
          </a:p>
        </p:txBody>
      </p:sp>
      <p:sp>
        <p:nvSpPr>
          <p:cNvPr id="7" name="tblhdr"/>
          <p:cNvSpPr/>
          <p:nvPr/>
        </p:nvSpPr>
        <p:spPr>
          <a:xfrm>
            <a:off x="228600" y="3380000"/>
            <a:ext cx="8686800" cy="230000"/>
          </a:xfrm>
          <a:prstGeom prst="rect">
            <a:avLst/>
          </a:prstGeom>
          <a:solidFill>
            <a:srgbClr val="1E3A5F"/>
          </a:solidFill>
          <a:ln/>
        </p:spPr>
        <p:txBody>
          <a:bodyPr wrap="square" lIns="91440" tIns="45720" rIns="91440" bIns="45720" rtlCol="0" anchor="ctr"/>
          <a:lstStyle/>
          <a:p>
            <a:pPr marL="0" indent="0">
              <a:buNone/>
            </a:pPr>
            <a:r>
              <a:rPr lang="en-US" sz="750" b="1" dirty="0">
                <a:solidFill>
                  <a:srgbClr val="FFFFFF"/>
                </a:solidFill>
                <a:latin typeface="Calibri"/>
              </a:rPr>
              <a:t>Condition                    FedAvg          FedProx         SCAFFOLD        SCAFFOLD+clip   Local           Centralised</a:t>
            </a:r>
          </a:p>
        </p:txBody>
      </p:sp>
      <p:sp>
        <p:nvSpPr>
          <p:cNvPr id="8" name="tblrows"/>
          <p:cNvSpPr/>
          <p:nvPr/>
        </p:nvSpPr>
        <p:spPr>
          <a:xfrm>
            <a:off x="228600" y="3610000"/>
            <a:ext cx="8686800" cy="1380000"/>
          </a:xfrm>
          <a:prstGeom prst="rect">
            <a:avLst/>
          </a:prstGeom>
          <a:solidFill>
            <a:srgbClr val="F8FAFC"/>
          </a:solidFill>
          <a:ln w="6350">
            <a:solidFill>
              <a:srgbClr val="E2E8F0"/>
            </a:solidFill>
          </a:ln>
        </p:spPr>
        <p:txBody>
          <a:bodyPr wrap="square" lIns="91440" tIns="60960" rIns="91440" bIns="60960" rtlCol="0" anchor="t"/>
          <a:lstStyle/>
          <a:p>
            <a:pPr marL="0" indent="0">
              <a:buNone/>
            </a:pPr>
            <a:r>
              <a:rPr lang="en-US" sz="725" dirty="0">
                <a:solidFill>
                  <a:schemeClr val="tx1"/>
                </a:solidFill>
                <a:latin typeface="Calibri"/>
              </a:rPr>
              <a:t>IID                          0.852±0.009     0.844±0.009     0.861±0.004***   0.861±0.004***   0.851±0.002     0.868±0.001</a:t>
            </a:r>
          </a:p>
          <a:p>
            <a:pPr marL="0" indent="0">
              <a:buNone/>
            </a:pPr>
            <a:r>
              <a:rPr lang="en-US" sz="725" dirty="0">
                <a:solidFill>
                  <a:schemeClr val="tx1"/>
                </a:solidFill>
                <a:latin typeface="Calibri"/>
              </a:rPr>
              <a:t>Covariate only               0.871±0.003     0.866±0.004     0.873±0.001*     0.873±0.001***   0.869±0.001     0.873±0.001</a:t>
            </a:r>
          </a:p>
          <a:p>
            <a:pPr marL="0" indent="0">
              <a:buNone/>
            </a:pPr>
            <a:r>
              <a:rPr lang="en-US" sz="725" dirty="0">
                <a:solidFill>
                  <a:schemeClr val="tx1"/>
                </a:solidFill>
                <a:latin typeface="Calibri"/>
              </a:rPr>
              <a:t>Label only                   0.855±0.008     0.848±0.009     0.866±0.003***   0.865±0.003***   0.856±0.002     0.870±0.001</a:t>
            </a:r>
          </a:p>
          <a:p>
            <a:pPr marL="0" indent="0">
              <a:buNone/>
            </a:pPr>
            <a:r>
              <a:rPr lang="en-US" sz="725" b="1" dirty="0">
                <a:solidFill>
                  <a:srgbClr val="1E3A5F"/>
                </a:solidFill>
                <a:latin typeface="Calibri"/>
              </a:rPr>
              <a:t>Both                         0.852±0.003     0.845±0.003     0.855±0.002***   0.856±0.002***   0.823±0.002     0.836±0.001</a:t>
            </a:r>
          </a:p>
          <a:p>
            <a:pPr marL="0" indent="0">
              <a:buNone/>
            </a:pPr>
            <a:r>
              <a:rPr lang="en-US" sz="725" dirty="0">
                <a:solidFill>
                  <a:schemeClr val="tx1"/>
                </a:solidFill>
                <a:latin typeface="Calibri"/>
              </a:rPr>
              <a:t>Both extreme                 0.860±0.002     0.855±0.002     0.862±0.002***   0.862±0.002***   0.819±0.002     0.834±0.001</a:t>
            </a:r>
          </a:p>
          <a:p>
            <a:pPr marL="0" indent="0">
              <a:buNone/>
            </a:pPr>
            <a:r>
              <a:rPr lang="en-US" sz="725" b="1" dirty="0">
                <a:solidFill>
                  <a:srgbClr val="1E3A5F"/>
                </a:solidFill>
                <a:latin typeface="Calibri"/>
              </a:rPr>
              <a:t>Both max                     0.875±0.002     0.873±0.002     0.877±0.002***   0.877±0.001***   0.803±0.006     0.832±0.003</a:t>
            </a:r>
          </a:p>
          <a:p>
            <a:pPr marL="0" indent="0">
              <a:buNone/>
            </a:pPr>
            <a:r>
              <a:rPr lang="en-US" sz="700" i="1" dirty="0">
                <a:solidFill>
                  <a:srgbClr val="64748B"/>
                </a:solidFill>
                <a:latin typeface="Calibri"/>
              </a:rPr>
              <a:t>*** p&lt;0.001  * p&lt;0.05  vs FedAvg (paired t-test, 20 seeds)   Bold rows = FL beats both local and centralised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Fairness and Personalisation">
    <p:bg>
      <p:bgPr>
        <a:solidFill>
          <a:srgbClr val="FFFFFF"/>
        </a:solidFill>
        <a:effectLst/>
      </p:bgPr>
    </p:bg>
    <p:spTree>
      <p:nvGrpSpPr>
        <p:cNvPr id="1" name=""/>
        <p:cNvGrpSpPr/>
        <p:nvPr/>
      </p:nvGrpSpPr>
      <p:grpSpPr>
        <a:xfrm>
          <a:off x="0" y="0"/>
          <a:ext cx="0" cy="0"/>
          <a:chOff x="0" y="0"/>
          <a:chExt cx="0" cy="0"/>
        </a:xfrm>
      </p:grpSpPr>
      <p:sp>
        <p:nvSpPr>
          <p:cNvPr id="2" name="hdr"/>
          <p:cNvSpPr/>
          <p:nvPr/>
        </p:nvSpPr>
        <p:spPr>
          <a:xfrm>
            <a:off x="0" y="0"/>
            <a:ext cx="9144000" cy="420000"/>
          </a:xfrm>
          <a:prstGeom prst="rect">
            <a:avLst/>
          </a:prstGeom>
          <a:solidFill>
            <a:srgbClr val="1E3A5F"/>
          </a:solidFill>
          <a:ln/>
        </p:spPr>
        <p:txBody>
          <a:bodyPr wrap="square" lIns="274638" tIns="91440" rIns="274638" bIns="91440" rtlCol="0" anchor="ctr"/>
          <a:lstStyle/>
          <a:p>
            <a:pPr marL="0" indent="0">
              <a:buNone/>
            </a:pPr>
            <a:r>
              <a:rPr lang="en-US" sz="1800" b="1" dirty="0">
                <a:solidFill>
                  <a:srgbClr val="FFFFFF"/>
                </a:solidFill>
                <a:latin typeface="Calibri"/>
              </a:rPr>
              <a:t>Site-Level Fairness Analysis and Motivation for Personalisation</a:t>
            </a:r>
          </a:p>
        </p:txBody>
      </p:sp>
      <p:sp>
        <p:nvSpPr>
          <p:cNvPr id="3" name="sitetbl_hdr"/>
          <p:cNvSpPr/>
          <p:nvPr/>
        </p:nvSpPr>
        <p:spPr>
          <a:xfrm>
            <a:off x="228600" y="480000"/>
            <a:ext cx="4200000" cy="230000"/>
          </a:xfrm>
          <a:prstGeom prst="rect">
            <a:avLst/>
          </a:prstGeom>
          <a:solidFill>
            <a:srgbClr val="374151"/>
          </a:solidFill>
          <a:ln/>
        </p:spPr>
        <p:txBody>
          <a:bodyPr wrap="square" lIns="91440" tIns="45720" rIns="91440" bIns="45720" rtlCol="0" anchor="ctr"/>
          <a:lstStyle/>
          <a:p>
            <a:pPr marL="0" indent="0">
              <a:buNone/>
            </a:pPr>
            <a:r>
              <a:rPr lang="en-US" sz="875" b="1" dirty="0">
                <a:solidFill>
                  <a:srgbClr val="FFFFFF"/>
                </a:solidFill>
                <a:latin typeface="Calibri"/>
              </a:rPr>
              <a:t>Per-site AUROC — SCAFFOLD+clip — alpha=0.5 vs alpha=0.3</a:t>
            </a:r>
          </a:p>
        </p:txBody>
      </p:sp>
      <p:sp>
        <p:nvSpPr>
          <p:cNvPr id="4" name="sitetbl"/>
          <p:cNvSpPr/>
          <p:nvPr/>
        </p:nvSpPr>
        <p:spPr>
          <a:xfrm>
            <a:off x="228600" y="710000"/>
            <a:ext cx="4200000" cy="1400000"/>
          </a:xfrm>
          <a:prstGeom prst="rect">
            <a:avLst/>
          </a:prstGeom>
          <a:solidFill>
            <a:srgbClr val="F8FAFC"/>
          </a:solidFill>
          <a:ln w="6350">
            <a:solidFill>
              <a:srgbClr val="E2E8F0"/>
            </a:solidFill>
          </a:ln>
        </p:spPr>
        <p:txBody>
          <a:bodyPr wrap="square" lIns="91440" tIns="60960" rIns="91440" bIns="60960" rtlCol="0" anchor="t"/>
          <a:lstStyle/>
          <a:p>
            <a:pPr marL="0" indent="0">
              <a:buNone/>
            </a:pPr>
            <a:r>
              <a:rPr lang="en-US" sz="800" b="1" dirty="0">
                <a:solidFill>
                  <a:srgbClr val="374151"/>
                </a:solidFill>
                <a:latin typeface="Calibri"/>
              </a:rPr>
              <a:t>Site          Label only (α=0.5)   Label extreme (α=0.3)   Δ</a:t>
            </a:r>
          </a:p>
          <a:p>
            <a:pPr marL="0" indent="0">
              <a:buNone/>
            </a:pPr>
            <a:r>
              <a:rPr lang="en-US" sz="800" dirty="0">
                <a:solidFill>
                  <a:schemeClr val="tx1"/>
                </a:solidFill>
                <a:latin typeface="Calibri"/>
              </a:rPr>
              <a:t>site_A (ICU)        0.8820              0.8755             −0.007 ↓</a:t>
            </a:r>
          </a:p>
          <a:p>
            <a:pPr marL="0" indent="0">
              <a:buNone/>
            </a:pPr>
            <a:r>
              <a:rPr lang="en-US" sz="800" dirty="0">
                <a:solidFill>
                  <a:schemeClr val="tx1"/>
                </a:solidFill>
                <a:latin typeface="Calibri"/>
              </a:rPr>
              <a:t>site_B (Ward)       0.8788              0.8804             +0.002 ≈</a:t>
            </a:r>
          </a:p>
          <a:p>
            <a:pPr marL="0" indent="0">
              <a:buNone/>
            </a:pPr>
            <a:r>
              <a:rPr lang="en-US" sz="800" dirty="0">
                <a:solidFill>
                  <a:schemeClr val="tx1"/>
                </a:solidFill>
                <a:latin typeface="Calibri"/>
              </a:rPr>
              <a:t>site_C (Anchor)     0.8827              0.8828             +0.000 ≈</a:t>
            </a:r>
          </a:p>
          <a:p>
            <a:pPr marL="0" indent="0">
              <a:buNone/>
            </a:pPr>
            <a:r>
              <a:rPr lang="en-US" sz="800" dirty="0">
                <a:solidFill>
                  <a:schemeClr val="tx1"/>
                </a:solidFill>
                <a:latin typeface="Calibri"/>
              </a:rPr>
              <a:t>site_D (Community)  0.8542              0.8574             +0.003 ↑</a:t>
            </a:r>
          </a:p>
          <a:p>
            <a:pPr marL="0" indent="0">
              <a:buNone/>
            </a:pPr>
            <a:r>
              <a:rPr lang="en-US" sz="800" b="1" dirty="0">
                <a:solidFill>
                  <a:srgbClr val="7C3AED"/>
                </a:solidFill>
                <a:latin typeface="Calibri"/>
              </a:rPr>
              <a:t>site_E (Rural)      0.8228              0.8483             +0.028 ↑ *</a:t>
            </a:r>
          </a:p>
          <a:p>
            <a:pPr marL="0" indent="0">
              <a:buNone/>
            </a:pPr>
            <a:r>
              <a:rPr lang="en-US" sz="700" i="1" dirty="0">
                <a:solidFill>
                  <a:srgbClr val="64748B"/>
                </a:solidFill>
                <a:latin typeface="Calibri"/>
              </a:rPr>
              <a:t>* Heterogeneity-induced regularisation (label diversity improves rare-AKI sites)</a:t>
            </a:r>
          </a:p>
        </p:txBody>
      </p:sp>
      <p:sp>
        <p:nvSpPr>
          <p:cNvPr id="5" name="sitetbl2_hdr"/>
          <p:cNvSpPr/>
          <p:nvPr/>
        </p:nvSpPr>
        <p:spPr>
          <a:xfrm>
            <a:off x="4715400" y="480000"/>
            <a:ext cx="4200000" cy="230000"/>
          </a:xfrm>
          <a:prstGeom prst="rect">
            <a:avLst/>
          </a:prstGeom>
          <a:solidFill>
            <a:srgbClr val="065A82"/>
          </a:solidFill>
          <a:ln/>
        </p:spPr>
        <p:txBody>
          <a:bodyPr wrap="square" lIns="91440" tIns="45720" rIns="91440" bIns="45720" rtlCol="0" anchor="ctr"/>
          <a:lstStyle/>
          <a:p>
            <a:pPr marL="0" indent="0">
              <a:buNone/>
            </a:pPr>
            <a:r>
              <a:rPr lang="en-US" sz="875" b="1" dirty="0">
                <a:solidFill>
                  <a:srgbClr val="FFFFFF"/>
                </a:solidFill>
                <a:latin typeface="Calibri"/>
              </a:rPr>
              <a:t>Per-site AUROC — SCAFFOLD+clip — Both vs Both extreme</a:t>
            </a:r>
          </a:p>
        </p:txBody>
      </p:sp>
      <p:sp>
        <p:nvSpPr>
          <p:cNvPr id="6" name="sitetbl2"/>
          <p:cNvSpPr/>
          <p:nvPr/>
        </p:nvSpPr>
        <p:spPr>
          <a:xfrm>
            <a:off x="4715400" y="710000"/>
            <a:ext cx="4200000" cy="1400000"/>
          </a:xfrm>
          <a:prstGeom prst="rect">
            <a:avLst/>
          </a:prstGeom>
          <a:solidFill>
            <a:srgbClr val="F0F9FF"/>
          </a:solidFill>
          <a:ln w="6350">
            <a:solidFill>
              <a:srgbClr val="BAE6FD"/>
            </a:solidFill>
          </a:ln>
        </p:spPr>
        <p:txBody>
          <a:bodyPr wrap="square" lIns="91440" tIns="60960" rIns="91440" bIns="60960" rtlCol="0" anchor="t"/>
          <a:lstStyle/>
          <a:p>
            <a:pPr marL="0" indent="0">
              <a:buNone/>
            </a:pPr>
            <a:r>
              <a:rPr lang="en-US" sz="800" b="1" dirty="0">
                <a:solidFill>
                  <a:srgbClr val="374151"/>
                </a:solidFill>
                <a:latin typeface="Calibri"/>
              </a:rPr>
              <a:t>Site          Both (α=0.5)   Both extreme (α=0.3)   Δ</a:t>
            </a:r>
          </a:p>
          <a:p>
            <a:pPr marL="0" indent="0">
              <a:buNone/>
            </a:pPr>
            <a:r>
              <a:rPr lang="en-US" sz="800" dirty="0">
                <a:solidFill>
                  <a:schemeClr val="tx1"/>
                </a:solidFill>
                <a:latin typeface="Calibri"/>
              </a:rPr>
              <a:t>site_A (ICU)        0.7847              0.7766             −0.008 ↓</a:t>
            </a:r>
          </a:p>
          <a:p>
            <a:pPr marL="0" indent="0">
              <a:buNone/>
            </a:pPr>
            <a:r>
              <a:rPr lang="en-US" sz="800" dirty="0">
                <a:solidFill>
                  <a:srgbClr val="16A34A"/>
                </a:solidFill>
                <a:latin typeface="Calibri"/>
              </a:rPr>
              <a:t>site_B (Ward)       0.8952              0.9066             +0.011 ↑</a:t>
            </a:r>
          </a:p>
          <a:p>
            <a:pPr marL="0" indent="0">
              <a:buNone/>
            </a:pPr>
            <a:r>
              <a:rPr lang="en-US" sz="800" dirty="0">
                <a:solidFill>
                  <a:srgbClr val="16A34A"/>
                </a:solidFill>
                <a:latin typeface="Calibri"/>
              </a:rPr>
              <a:t>site_C (Anchor)     0.8732              0.8816             +0.008 ↑</a:t>
            </a:r>
          </a:p>
          <a:p>
            <a:pPr marL="0" indent="0">
              <a:buNone/>
            </a:pPr>
            <a:r>
              <a:rPr lang="en-US" sz="800" dirty="0">
                <a:solidFill>
                  <a:schemeClr val="tx1"/>
                </a:solidFill>
                <a:latin typeface="Calibri"/>
              </a:rPr>
              <a:t>site_D (Community)  0.8017              0.7951             −0.007 ↓</a:t>
            </a:r>
          </a:p>
          <a:p>
            <a:pPr marL="0" indent="0">
              <a:buNone/>
            </a:pPr>
            <a:r>
              <a:rPr lang="en-US" sz="800" b="1" dirty="0">
                <a:solidFill>
                  <a:srgbClr val="991B1B"/>
                </a:solidFill>
                <a:latin typeface="Calibri"/>
              </a:rPr>
              <a:t>site_E (Rural)      0.7972              0.7842             −0.013 ↓ ⚠</a:t>
            </a:r>
          </a:p>
          <a:p>
            <a:pPr marL="0" indent="0">
              <a:buNone/>
            </a:pPr>
            <a:r>
              <a:rPr lang="en-US" sz="700" i="1" dirty="0" err="1">
                <a:solidFill>
                  <a:srgbClr val="64748B"/>
                </a:solidFill>
                <a:latin typeface="Calibri"/>
              </a:rPr>
              <a:t>Site_E</a:t>
            </a:r>
            <a:r>
              <a:rPr lang="en-US" sz="700" i="1" dirty="0">
                <a:solidFill>
                  <a:srgbClr val="64748B"/>
                </a:solidFill>
                <a:latin typeface="Calibri"/>
              </a:rPr>
              <a:t> takes worst hit under combined shift, global model is structurally misfit</a:t>
            </a:r>
          </a:p>
        </p:txBody>
      </p:sp>
      <p:sp>
        <p:nvSpPr>
          <p:cNvPr id="7" name="siteE_hdr"/>
          <p:cNvSpPr/>
          <p:nvPr/>
        </p:nvSpPr>
        <p:spPr>
          <a:xfrm>
            <a:off x="228600" y="2190000"/>
            <a:ext cx="8686800" cy="230000"/>
          </a:xfrm>
          <a:prstGeom prst="rect">
            <a:avLst/>
          </a:prstGeom>
          <a:solidFill>
            <a:srgbClr val="581C87"/>
          </a:solidFill>
          <a:ln/>
        </p:spPr>
        <p:txBody>
          <a:bodyPr wrap="square" lIns="91440" tIns="45720" rIns="91440" bIns="45720" rtlCol="0" anchor="ctr"/>
          <a:lstStyle/>
          <a:p>
            <a:pPr marL="0" indent="0">
              <a:buNone/>
            </a:pPr>
            <a:r>
              <a:rPr lang="en-US" sz="875" b="1" dirty="0">
                <a:solidFill>
                  <a:srgbClr val="FFFFFF"/>
                </a:solidFill>
                <a:latin typeface="Calibri"/>
              </a:rPr>
              <a:t>Site_E (Rural / Fairness Watchpoint) AUROC across all conditions — SCAFFOLD+clip</a:t>
            </a:r>
          </a:p>
        </p:txBody>
      </p:sp>
      <p:sp>
        <p:nvSpPr>
          <p:cNvPr id="8" name="siteE_row"/>
          <p:cNvSpPr/>
          <p:nvPr/>
        </p:nvSpPr>
        <p:spPr>
          <a:xfrm>
            <a:off x="228600" y="2420000"/>
            <a:ext cx="8686800" cy="550000"/>
          </a:xfrm>
          <a:prstGeom prst="rect">
            <a:avLst/>
          </a:prstGeom>
          <a:solidFill>
            <a:srgbClr val="FDF4FF"/>
          </a:solidFill>
          <a:ln w="6350">
            <a:solidFill>
              <a:srgbClr val="D8B4FE"/>
            </a:solidFill>
          </a:ln>
        </p:spPr>
        <p:txBody>
          <a:bodyPr wrap="square" lIns="91440" tIns="60960" rIns="91440" bIns="60960" rtlCol="0" anchor="ctr"/>
          <a:lstStyle/>
          <a:p>
            <a:pPr marL="0" indent="0">
              <a:buNone/>
            </a:pPr>
            <a:r>
              <a:rPr lang="en-US" sz="875" b="1" dirty="0">
                <a:solidFill>
                  <a:srgbClr val="374151"/>
                </a:solidFill>
                <a:latin typeface="Calibri"/>
              </a:rPr>
              <a:t>IID: 0.833     Cov.only: 0.782 ↓↓     Label only: 0.823     Both: 0.797 ↓     Label ext: 0.848 ↑     Both ext: 0.784 ↓↓     Both max: 0.777 ↓↓↓</a:t>
            </a:r>
          </a:p>
          <a:p>
            <a:pPr marL="0" indent="0">
              <a:buNone/>
            </a:pPr>
            <a:r>
              <a:rPr lang="en-US" sz="800" i="1" dirty="0">
                <a:solidFill>
                  <a:srgbClr val="64748B"/>
                </a:solidFill>
                <a:latin typeface="Calibri"/>
              </a:rPr>
              <a:t>Covariate shift (Δ−0.051) hurts site_E far more than label shift alone (Δ−0.010). Both max = worst: 0.777 AUROC vs 0.878 at site_C — 10-point gap.</a:t>
            </a:r>
          </a:p>
        </p:txBody>
      </p:sp>
      <p:sp>
        <p:nvSpPr>
          <p:cNvPr id="9" name="pers_box"/>
          <p:cNvSpPr/>
          <p:nvPr/>
        </p:nvSpPr>
        <p:spPr>
          <a:xfrm>
            <a:off x="228600" y="3060000"/>
            <a:ext cx="8686800" cy="1900000"/>
          </a:xfrm>
          <a:prstGeom prst="rect">
            <a:avLst/>
          </a:prstGeom>
          <a:solidFill>
            <a:srgbClr val="FFF7ED"/>
          </a:solidFill>
          <a:ln w="9525">
            <a:solidFill>
              <a:srgbClr val="C2410C"/>
            </a:solidFill>
          </a:ln>
        </p:spPr>
        <p:txBody>
          <a:bodyPr wrap="square" lIns="137160" tIns="91440" rIns="137160" bIns="91440" rtlCol="0" anchor="t"/>
          <a:lstStyle/>
          <a:p>
            <a:pPr marL="0" indent="0">
              <a:buNone/>
            </a:pPr>
            <a:r>
              <a:rPr lang="en-US" sz="1000" b="1" dirty="0">
                <a:solidFill>
                  <a:srgbClr val="7C2D12"/>
                </a:solidFill>
                <a:latin typeface="Calibri"/>
              </a:rPr>
              <a:t>Why these results motivate personalisation (FedBABU body-head split)</a:t>
            </a:r>
          </a:p>
          <a:p>
            <a:pPr marL="0" indent="0">
              <a:buNone/>
            </a:pPr>
            <a:endParaRPr lang="en-US" sz="875" dirty="0"/>
          </a:p>
          <a:p>
            <a:pPr marL="0" indent="0">
              <a:buNone/>
            </a:pPr>
            <a:r>
              <a:rPr lang="en-US" sz="875" b="1" dirty="0">
                <a:solidFill>
                  <a:schemeClr val="tx1"/>
                </a:solidFill>
                <a:latin typeface="Calibri"/>
              </a:rPr>
              <a:t>1. FL beats local ✔ but site_E still lags site_C by 10 points </a:t>
            </a:r>
            <a:r>
              <a:rPr lang="en-US" sz="875" dirty="0">
                <a:solidFill>
                  <a:srgbClr val="64748B"/>
                </a:solidFill>
                <a:latin typeface="Calibri"/>
              </a:rPr>
              <a:t>— global body is valuable, local head would correct the boundary</a:t>
            </a:r>
          </a:p>
          <a:p>
            <a:pPr marL="0" indent="0">
              <a:buNone/>
            </a:pPr>
            <a:r>
              <a:rPr lang="en-US" sz="875" b="1" dirty="0">
                <a:solidFill>
                  <a:schemeClr val="tx1"/>
                </a:solidFill>
                <a:latin typeface="Calibri"/>
              </a:rPr>
              <a:t>2. Global boundary tuned to majority (site_C 66k, 12.6% AKI) </a:t>
            </a:r>
            <a:r>
              <a:rPr lang="en-US" sz="875" dirty="0">
                <a:solidFill>
                  <a:srgbClr val="64748B"/>
                </a:solidFill>
                <a:latin typeface="Calibri"/>
              </a:rPr>
              <a:t>— site_E at 5% AKI with 18 features is systematically misrepresented</a:t>
            </a:r>
          </a:p>
          <a:p>
            <a:pPr marL="0" indent="0">
              <a:buNone/>
            </a:pPr>
            <a:r>
              <a:rPr lang="en-US" sz="875" b="1" dirty="0">
                <a:solidFill>
                  <a:schemeClr val="tx1"/>
                </a:solidFill>
                <a:latin typeface="Calibri"/>
              </a:rPr>
              <a:t>3. Performance gap widens with heterogeneity </a:t>
            </a:r>
            <a:r>
              <a:rPr lang="en-US" sz="875" dirty="0">
                <a:solidFill>
                  <a:srgbClr val="64748B"/>
                </a:solidFill>
                <a:latin typeface="Calibri"/>
              </a:rPr>
              <a:t>— urgent for clinical deployment where real-world conditions are Both max</a:t>
            </a:r>
          </a:p>
          <a:p>
            <a:pPr marL="0" indent="0">
              <a:buNone/>
            </a:pPr>
            <a:r>
              <a:rPr lang="en-US" sz="875" b="1" dirty="0">
                <a:solidFill>
                  <a:schemeClr val="tx1"/>
                </a:solidFill>
                <a:latin typeface="Calibri"/>
              </a:rPr>
              <a:t>4. Gradient diversity regularises centre, hurts extremes </a:t>
            </a:r>
            <a:r>
              <a:rPr lang="en-US" sz="875" dirty="0">
                <a:solidFill>
                  <a:srgbClr val="64748B"/>
                </a:solidFill>
                <a:latin typeface="Calibri"/>
              </a:rPr>
              <a:t>— site_A (ICU) and site_E (rural) both need local head adaptation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v2.3 v2.4 Flowchart">
    <p:bg>
      <p:bgPr>
        <a:solidFill>
          <a:srgbClr val="FFFFFF"/>
        </a:solidFill>
        <a:effectLst/>
      </p:bgPr>
    </p:bg>
    <p:spTree>
      <p:nvGrpSpPr>
        <p:cNvPr id="1" name=""/>
        <p:cNvGrpSpPr/>
        <p:nvPr/>
      </p:nvGrpSpPr>
      <p:grpSpPr>
        <a:xfrm>
          <a:off x="0" y="0"/>
          <a:ext cx="0" cy="0"/>
          <a:chOff x="0" y="0"/>
          <a:chExt cx="0" cy="0"/>
        </a:xfrm>
      </p:grpSpPr>
      <p:sp>
        <p:nvSpPr>
          <p:cNvPr id="2" name="hdr"/>
          <p:cNvSpPr>
            <a:spLocks noGrp="1"/>
          </p:cNvSpPr>
          <p:nvPr/>
        </p:nvSpPr>
        <p:spPr>
          <a:xfrm>
            <a:off x="0" y="-330000"/>
            <a:ext cx="9144000" cy="390000"/>
          </a:xfrm>
          <a:prstGeom prst="rect">
            <a:avLst/>
          </a:prstGeom>
          <a:solidFill>
            <a:srgbClr val="1E3A5F"/>
          </a:solidFill>
          <a:ln/>
        </p:spPr>
        <p:txBody>
          <a:bodyPr wrap="square" lIns="182880" tIns="45720" rIns="182880" bIns="45720" rtlCol="0" anchor="ctr"/>
          <a:lstStyle/>
          <a:p>
            <a:pPr marL="0" indent="0">
              <a:buNone/>
            </a:pPr>
            <a:r>
              <a:rPr lang="en-US" sz="1700" b="1" dirty="0">
                <a:solidFill>
                  <a:srgbClr val="FFFFFF"/>
                </a:solidFill>
                <a:latin typeface="Calibri"/>
              </a:rPr>
              <a:t>FedAdaptProto: Training Flowchart — v2.3 (Manual K) vs v2.4 (Auto-K)</a:t>
            </a:r>
          </a:p>
        </p:txBody>
      </p:sp>
      <p:sp>
        <p:nvSpPr>
          <p:cNvPr id="3" name="h23"/>
          <p:cNvSpPr>
            <a:spLocks noGrp="1"/>
          </p:cNvSpPr>
          <p:nvPr/>
        </p:nvSpPr>
        <p:spPr>
          <a:xfrm>
            <a:off x="228600" y="270000"/>
            <a:ext cx="4216000" cy="340000"/>
          </a:xfrm>
          <a:prstGeom prst="rect">
            <a:avLst/>
          </a:prstGeom>
          <a:solidFill>
            <a:srgbClr val="1D6B3E"/>
          </a:solidFill>
          <a:ln/>
        </p:spPr>
        <p:txBody>
          <a:bodyPr wrap="square" lIns="182880" tIns="45720" rIns="182880" bIns="45720" rtlCol="0" anchor="ctr"/>
          <a:lstStyle/>
          <a:p>
            <a:pPr marL="0" indent="0">
              <a:buNone/>
            </a:pPr>
            <a:r>
              <a:rPr lang="en-US" sz="1300" b="1" dirty="0">
                <a:solidFill>
                  <a:srgbClr val="FFFFFF"/>
                </a:solidFill>
                <a:latin typeface="Calibri"/>
              </a:rPr>
              <a:t>v2.3 — Manual K  |  Primary result  |  FL-gain validated 5/5</a:t>
            </a:r>
          </a:p>
        </p:txBody>
      </p:sp>
      <p:sp>
        <p:nvSpPr>
          <p:cNvPr id="4" name="h24"/>
          <p:cNvSpPr>
            <a:spLocks noGrp="1"/>
          </p:cNvSpPr>
          <p:nvPr/>
        </p:nvSpPr>
        <p:spPr>
          <a:xfrm>
            <a:off x="4700000" y="270000"/>
            <a:ext cx="4216000" cy="340000"/>
          </a:xfrm>
          <a:prstGeom prst="rect">
            <a:avLst/>
          </a:prstGeom>
          <a:solidFill>
            <a:srgbClr val="BA5000"/>
          </a:solidFill>
          <a:ln/>
        </p:spPr>
        <p:txBody>
          <a:bodyPr wrap="square" lIns="182880" tIns="45720" rIns="182880" bIns="45720" rtlCol="0" anchor="ctr"/>
          <a:lstStyle/>
          <a:p>
            <a:pPr marL="0" indent="0">
              <a:buNone/>
            </a:pPr>
            <a:r>
              <a:rPr lang="en-US" sz="1300" b="1" dirty="0">
                <a:solidFill>
                  <a:srgbClr val="FFFFFF"/>
                </a:solidFill>
                <a:latin typeface="Calibri"/>
              </a:rPr>
              <a:t>v2.4 — Auto-K  |  Methodological contribution  |  5-seed mean AUROC</a:t>
            </a:r>
          </a:p>
        </p:txBody>
      </p:sp>
      <p:sp>
        <p:nvSpPr>
          <p:cNvPr id="5" name="v23s0"/>
          <p:cNvSpPr>
            <a:spLocks noGrp="1"/>
          </p:cNvSpPr>
          <p:nvPr/>
        </p:nvSpPr>
        <p:spPr>
          <a:xfrm>
            <a:off x="336600" y="660000"/>
            <a:ext cx="4000000" cy="390000"/>
          </a:xfrm>
          <a:prstGeom prst="rect">
            <a:avLst/>
          </a:prstGeom>
          <a:solidFill>
            <a:srgbClr val="1D6B3E"/>
          </a:solidFill>
          <a:ln>
            <a:solidFill>
              <a:srgbClr val="FFFFFF"/>
            </a:solidFill>
          </a:ln>
        </p:spPr>
        <p:txBody>
          <a:bodyPr wrap="square" lIns="152400" tIns="91440" rIns="152400" bIns="91440" rtlCol="0" anchor="ctr"/>
          <a:lstStyle/>
          <a:p>
            <a:pPr marL="0" indent="0">
              <a:buNone/>
            </a:pPr>
            <a:r>
              <a:rPr lang="en-US" sz="1100" b="1" dirty="0">
                <a:solidFill>
                  <a:srgbClr val="FFFFFF"/>
                </a:solidFill>
                <a:latin typeface="Calibri"/>
              </a:rPr>
              <a:t>① Local baseline</a:t>
            </a:r>
          </a:p>
          <a:p>
            <a:pPr marL="0" indent="0">
              <a:buNone/>
            </a:pPr>
            <a:r>
              <a:rPr lang="en-US" sz="980" b="0" dirty="0">
                <a:solidFill>
                  <a:srgbClr val="FFFFFF"/>
                </a:solidFill>
                <a:latin typeface="Calibri"/>
              </a:rPr>
              <a:t>Run local-only model per site → record AUROC</a:t>
            </a:r>
          </a:p>
        </p:txBody>
      </p:sp>
      <p:sp>
        <p:nvSpPr>
          <p:cNvPr id="6" name="v24s0"/>
          <p:cNvSpPr>
            <a:spLocks noGrp="1"/>
          </p:cNvSpPr>
          <p:nvPr/>
        </p:nvSpPr>
        <p:spPr>
          <a:xfrm>
            <a:off x="4808000" y="660000"/>
            <a:ext cx="4000000" cy="390000"/>
          </a:xfrm>
          <a:prstGeom prst="rect">
            <a:avLst/>
          </a:prstGeom>
          <a:solidFill>
            <a:srgbClr val="BA5000"/>
          </a:solidFill>
          <a:ln>
            <a:solidFill>
              <a:srgbClr val="FFFFFF"/>
            </a:solidFill>
          </a:ln>
        </p:spPr>
        <p:txBody>
          <a:bodyPr wrap="square" lIns="152400" tIns="91440" rIns="152400" bIns="91440" rtlCol="0" anchor="ctr"/>
          <a:lstStyle/>
          <a:p>
            <a:pPr marL="0" indent="0">
              <a:buNone/>
            </a:pPr>
            <a:r>
              <a:rPr lang="en-US" sz="1100" b="1" dirty="0">
                <a:solidFill>
                  <a:srgbClr val="FFFFFF"/>
                </a:solidFill>
                <a:latin typeface="Calibri"/>
              </a:rPr>
              <a:t>① Local baseline</a:t>
            </a:r>
          </a:p>
          <a:p>
            <a:pPr marL="0" indent="0">
              <a:buNone/>
            </a:pPr>
            <a:r>
              <a:rPr lang="en-US" sz="980" b="0" dirty="0">
                <a:solidFill>
                  <a:srgbClr val="FFFFFF"/>
                </a:solidFill>
                <a:latin typeface="Calibri"/>
              </a:rPr>
              <a:t>Same as v2.3 — local-only per site</a:t>
            </a:r>
          </a:p>
        </p:txBody>
      </p:sp>
      <p:sp>
        <p:nvSpPr>
          <p:cNvPr id="7" name="arr23_0"/>
          <p:cNvSpPr>
            <a:spLocks noGrp="1"/>
          </p:cNvSpPr>
          <p:nvPr/>
        </p:nvSpPr>
        <p:spPr>
          <a:xfrm>
            <a:off x="2186600" y="1080000"/>
            <a:ext cx="300000" cy="160000"/>
          </a:xfrm>
          <a:prstGeom prst="downArrow">
            <a:avLst>
              <a:gd name="adj1" fmla="val 50000"/>
              <a:gd name="adj2" fmla="val 50000"/>
            </a:avLst>
          </a:prstGeom>
          <a:solidFill>
            <a:srgbClr val="1D6B3E"/>
          </a:solidFill>
          <a:ln/>
        </p:spPr>
        <p:txBody>
          <a:bodyPr/>
          <a:lstStyle/>
          <a:p>
            <a:endParaRPr/>
          </a:p>
        </p:txBody>
      </p:sp>
      <p:sp>
        <p:nvSpPr>
          <p:cNvPr id="8" name="arr24_0"/>
          <p:cNvSpPr>
            <a:spLocks noGrp="1"/>
          </p:cNvSpPr>
          <p:nvPr/>
        </p:nvSpPr>
        <p:spPr>
          <a:xfrm>
            <a:off x="6658000" y="1080000"/>
            <a:ext cx="300000" cy="160000"/>
          </a:xfrm>
          <a:prstGeom prst="downArrow">
            <a:avLst>
              <a:gd name="adj1" fmla="val 50000"/>
              <a:gd name="adj2" fmla="val 50000"/>
            </a:avLst>
          </a:prstGeom>
          <a:solidFill>
            <a:srgbClr val="BA5000"/>
          </a:solidFill>
          <a:ln/>
        </p:spPr>
        <p:txBody>
          <a:bodyPr/>
          <a:lstStyle/>
          <a:p>
            <a:endParaRPr/>
          </a:p>
        </p:txBody>
      </p:sp>
      <p:sp>
        <p:nvSpPr>
          <p:cNvPr id="9" name="v23s1"/>
          <p:cNvSpPr>
            <a:spLocks noGrp="1"/>
          </p:cNvSpPr>
          <p:nvPr/>
        </p:nvSpPr>
        <p:spPr>
          <a:xfrm>
            <a:off x="336600" y="1270000"/>
            <a:ext cx="4000000" cy="390000"/>
          </a:xfrm>
          <a:prstGeom prst="rect">
            <a:avLst/>
          </a:prstGeom>
          <a:solidFill>
            <a:srgbClr val="1D6B3E"/>
          </a:solidFill>
          <a:ln>
            <a:solidFill>
              <a:srgbClr val="FFFFFF"/>
            </a:solidFill>
          </a:ln>
        </p:spPr>
        <p:txBody>
          <a:bodyPr wrap="square" lIns="152400" tIns="91440" rIns="152400" bIns="91440" rtlCol="0" anchor="ctr"/>
          <a:lstStyle/>
          <a:p>
            <a:pPr marL="0" indent="0">
              <a:buNone/>
            </a:pPr>
            <a:r>
              <a:rPr lang="en-US" sz="1100" b="1" dirty="0">
                <a:solidFill>
                  <a:srgbClr val="FFFFFF"/>
                </a:solidFill>
                <a:latin typeface="Calibri"/>
              </a:rPr>
              <a:t>② Federation — 50 rounds</a:t>
            </a:r>
          </a:p>
          <a:p>
            <a:pPr marL="0" indent="0">
              <a:buNone/>
            </a:pPr>
            <a:r>
              <a:rPr lang="en-US" sz="980" b="0" dirty="0">
                <a:solidFill>
                  <a:srgbClr val="FFFFFF"/>
                </a:solidFill>
                <a:latin typeface="Calibri"/>
              </a:rPr>
              <a:t>Head trains JOINTLY with body throughout
alpha_proto x L_proto + lambda_adv x L_adv</a:t>
            </a:r>
          </a:p>
        </p:txBody>
      </p:sp>
      <p:sp>
        <p:nvSpPr>
          <p:cNvPr id="10" name="v24s1"/>
          <p:cNvSpPr>
            <a:spLocks noGrp="1"/>
          </p:cNvSpPr>
          <p:nvPr/>
        </p:nvSpPr>
        <p:spPr>
          <a:xfrm>
            <a:off x="4808000" y="1270000"/>
            <a:ext cx="4000000" cy="390000"/>
          </a:xfrm>
          <a:prstGeom prst="rect">
            <a:avLst/>
          </a:prstGeom>
          <a:solidFill>
            <a:srgbClr val="BA5000"/>
          </a:solidFill>
          <a:ln>
            <a:solidFill>
              <a:srgbClr val="FFFFFF"/>
            </a:solidFill>
          </a:ln>
        </p:spPr>
        <p:txBody>
          <a:bodyPr wrap="square" lIns="152400" tIns="91440" rIns="152400" bIns="91440" rtlCol="0" anchor="ctr"/>
          <a:lstStyle/>
          <a:p>
            <a:pPr marL="0" indent="0">
              <a:buNone/>
            </a:pPr>
            <a:r>
              <a:rPr lang="en-US" sz="1100" b="1" dirty="0">
                <a:solidFill>
                  <a:srgbClr val="FFFFFF"/>
                </a:solidFill>
                <a:latin typeface="Calibri"/>
              </a:rPr>
              <a:t>② Phase 1 — 50 rounds K=2</a:t>
            </a:r>
          </a:p>
          <a:p>
            <a:pPr marL="0" indent="0">
              <a:buNone/>
            </a:pPr>
            <a:r>
              <a:rPr lang="en-US" sz="980" b="0" dirty="0">
                <a:solidFill>
                  <a:srgbClr val="FFFFFF"/>
                </a:solidFill>
                <a:latin typeface="Calibri"/>
              </a:rPr>
              <a:t>Head FROZEN throughout phase 1
alpha_proto x L_proto + FL-gain modulated lambda_adv</a:t>
            </a:r>
          </a:p>
        </p:txBody>
      </p:sp>
      <p:sp>
        <p:nvSpPr>
          <p:cNvPr id="11" name="arr23_1"/>
          <p:cNvSpPr>
            <a:spLocks noGrp="1"/>
          </p:cNvSpPr>
          <p:nvPr/>
        </p:nvSpPr>
        <p:spPr>
          <a:xfrm>
            <a:off x="2186600" y="1690000"/>
            <a:ext cx="300000" cy="160000"/>
          </a:xfrm>
          <a:prstGeom prst="downArrow">
            <a:avLst>
              <a:gd name="adj1" fmla="val 50000"/>
              <a:gd name="adj2" fmla="val 50000"/>
            </a:avLst>
          </a:prstGeom>
          <a:solidFill>
            <a:srgbClr val="1D6B3E"/>
          </a:solidFill>
          <a:ln/>
        </p:spPr>
        <p:txBody>
          <a:bodyPr/>
          <a:lstStyle/>
          <a:p>
            <a:endParaRPr/>
          </a:p>
        </p:txBody>
      </p:sp>
      <p:sp>
        <p:nvSpPr>
          <p:cNvPr id="12" name="arr24_1"/>
          <p:cNvSpPr>
            <a:spLocks noGrp="1"/>
          </p:cNvSpPr>
          <p:nvPr/>
        </p:nvSpPr>
        <p:spPr>
          <a:xfrm>
            <a:off x="6658000" y="1690000"/>
            <a:ext cx="300000" cy="160000"/>
          </a:xfrm>
          <a:prstGeom prst="downArrow">
            <a:avLst>
              <a:gd name="adj1" fmla="val 50000"/>
              <a:gd name="adj2" fmla="val 50000"/>
            </a:avLst>
          </a:prstGeom>
          <a:solidFill>
            <a:srgbClr val="BA5000"/>
          </a:solidFill>
          <a:ln/>
        </p:spPr>
        <p:txBody>
          <a:bodyPr/>
          <a:lstStyle/>
          <a:p>
            <a:endParaRPr/>
          </a:p>
        </p:txBody>
      </p:sp>
      <p:sp>
        <p:nvSpPr>
          <p:cNvPr id="13" name="v23s2"/>
          <p:cNvSpPr>
            <a:spLocks noGrp="1"/>
          </p:cNvSpPr>
          <p:nvPr/>
        </p:nvSpPr>
        <p:spPr>
          <a:xfrm>
            <a:off x="336600" y="1880000"/>
            <a:ext cx="4000000" cy="390000"/>
          </a:xfrm>
          <a:prstGeom prst="rect">
            <a:avLst/>
          </a:prstGeom>
          <a:solidFill>
            <a:srgbClr val="1D6B3E"/>
          </a:solidFill>
          <a:ln>
            <a:solidFill>
              <a:srgbClr val="FFFFFF"/>
            </a:solidFill>
          </a:ln>
        </p:spPr>
        <p:txBody>
          <a:bodyPr wrap="square" lIns="152400" tIns="91440" rIns="152400" bIns="91440" rtlCol="0" anchor="ctr"/>
          <a:lstStyle/>
          <a:p>
            <a:pPr marL="0" indent="0">
              <a:buNone/>
            </a:pPr>
            <a:r>
              <a:rPr lang="en-US" sz="1100" b="1" dirty="0">
                <a:solidFill>
                  <a:srgbClr val="FFFFFF"/>
                </a:solidFill>
                <a:latin typeface="Calibri"/>
              </a:rPr>
              <a:t>③ Head fine-tuning</a:t>
            </a:r>
          </a:p>
          <a:p>
            <a:pPr marL="0" indent="0">
              <a:buNone/>
            </a:pPr>
            <a:r>
              <a:rPr lang="en-US" sz="980" b="0" dirty="0">
                <a:solidFill>
                  <a:srgbClr val="FFFFFF"/>
                </a:solidFill>
                <a:latin typeface="Calibri"/>
              </a:rPr>
              <a:t>Freeze body, fine-tune head 10 epochs post-convergence</a:t>
            </a:r>
          </a:p>
        </p:txBody>
      </p:sp>
      <p:sp>
        <p:nvSpPr>
          <p:cNvPr id="14" name="v24s2"/>
          <p:cNvSpPr>
            <a:spLocks noGrp="1"/>
          </p:cNvSpPr>
          <p:nvPr/>
        </p:nvSpPr>
        <p:spPr>
          <a:xfrm>
            <a:off x="4808000" y="1880000"/>
            <a:ext cx="4000000" cy="390000"/>
          </a:xfrm>
          <a:prstGeom prst="rect">
            <a:avLst/>
          </a:prstGeom>
          <a:solidFill>
            <a:srgbClr val="BA5000"/>
          </a:solidFill>
          <a:ln>
            <a:solidFill>
              <a:srgbClr val="FFFFFF"/>
            </a:solidFill>
          </a:ln>
        </p:spPr>
        <p:txBody>
          <a:bodyPr wrap="square" lIns="152400" tIns="91440" rIns="152400" bIns="91440" rtlCol="0" anchor="ctr"/>
          <a:lstStyle/>
          <a:p>
            <a:pPr marL="0" indent="0">
              <a:buNone/>
            </a:pPr>
            <a:r>
              <a:rPr lang="en-US" sz="1100" b="1" dirty="0">
                <a:solidFill>
                  <a:srgbClr val="FFFFFF"/>
                </a:solidFill>
                <a:latin typeface="Calibri"/>
              </a:rPr>
              <a:t>③ Full head fine-tune (30 ep)</a:t>
            </a:r>
          </a:p>
          <a:p>
            <a:pPr marL="0" indent="0">
              <a:buNone/>
            </a:pPr>
            <a:r>
              <a:rPr lang="en-US" sz="980" b="0" dirty="0">
                <a:solidFill>
                  <a:srgbClr val="FFFFFF"/>
                </a:solidFill>
                <a:latin typeface="Calibri"/>
              </a:rPr>
              <a:t>Freeze body → train head to convergence
Restores local clinical structure to embeddings</a:t>
            </a:r>
          </a:p>
        </p:txBody>
      </p:sp>
      <p:sp>
        <p:nvSpPr>
          <p:cNvPr id="15" name="arr23_2"/>
          <p:cNvSpPr>
            <a:spLocks noGrp="1"/>
          </p:cNvSpPr>
          <p:nvPr/>
        </p:nvSpPr>
        <p:spPr>
          <a:xfrm>
            <a:off x="2186600" y="2300000"/>
            <a:ext cx="300000" cy="160000"/>
          </a:xfrm>
          <a:prstGeom prst="downArrow">
            <a:avLst>
              <a:gd name="adj1" fmla="val 50000"/>
              <a:gd name="adj2" fmla="val 50000"/>
            </a:avLst>
          </a:prstGeom>
          <a:solidFill>
            <a:srgbClr val="1D6B3E"/>
          </a:solidFill>
          <a:ln/>
        </p:spPr>
        <p:txBody>
          <a:bodyPr/>
          <a:lstStyle/>
          <a:p>
            <a:endParaRPr/>
          </a:p>
        </p:txBody>
      </p:sp>
      <p:sp>
        <p:nvSpPr>
          <p:cNvPr id="16" name="arr24_2"/>
          <p:cNvSpPr>
            <a:spLocks noGrp="1"/>
          </p:cNvSpPr>
          <p:nvPr/>
        </p:nvSpPr>
        <p:spPr>
          <a:xfrm>
            <a:off x="6658000" y="2300000"/>
            <a:ext cx="300000" cy="160000"/>
          </a:xfrm>
          <a:prstGeom prst="downArrow">
            <a:avLst>
              <a:gd name="adj1" fmla="val 50000"/>
              <a:gd name="adj2" fmla="val 50000"/>
            </a:avLst>
          </a:prstGeom>
          <a:solidFill>
            <a:srgbClr val="BA5000"/>
          </a:solidFill>
          <a:ln/>
        </p:spPr>
        <p:txBody>
          <a:bodyPr/>
          <a:lstStyle/>
          <a:p>
            <a:endParaRPr/>
          </a:p>
        </p:txBody>
      </p:sp>
      <p:sp>
        <p:nvSpPr>
          <p:cNvPr id="17" name="v23s3"/>
          <p:cNvSpPr>
            <a:spLocks noGrp="1"/>
          </p:cNvSpPr>
          <p:nvPr/>
        </p:nvSpPr>
        <p:spPr>
          <a:xfrm>
            <a:off x="336600" y="2490000"/>
            <a:ext cx="4000000" cy="390000"/>
          </a:xfrm>
          <a:prstGeom prst="rect">
            <a:avLst/>
          </a:prstGeom>
          <a:solidFill>
            <a:srgbClr val="1D6B3E"/>
          </a:solidFill>
          <a:ln>
            <a:solidFill>
              <a:srgbClr val="FFFFFF"/>
            </a:solidFill>
          </a:ln>
        </p:spPr>
        <p:txBody>
          <a:bodyPr wrap="square" lIns="152400" tIns="91440" rIns="152400" bIns="91440" rtlCol="0" anchor="ctr"/>
          <a:lstStyle/>
          <a:p>
            <a:pPr marL="0" indent="0">
              <a:buNone/>
            </a:pPr>
            <a:r>
              <a:rPr lang="en-US" sz="1100" b="1" dirty="0">
                <a:solidFill>
                  <a:srgbClr val="FFFFFF"/>
                </a:solidFill>
                <a:latin typeface="Calibri"/>
              </a:rPr>
              <a:t>④ Offline silhouette</a:t>
            </a:r>
          </a:p>
          <a:p>
            <a:pPr marL="0" indent="0">
              <a:buNone/>
            </a:pPr>
            <a:r>
              <a:rPr lang="en-US" sz="980" b="0" dirty="0">
                <a:solidFill>
                  <a:srgbClr val="FFFFFF"/>
                </a:solidFill>
                <a:latin typeface="Calibri"/>
              </a:rPr>
              <a:t>Extract embeddings → K-means silhouette
Manually select per-site K: A=3,B=3,C=3,D=2,E=2</a:t>
            </a:r>
          </a:p>
        </p:txBody>
      </p:sp>
      <p:sp>
        <p:nvSpPr>
          <p:cNvPr id="18" name="v24s3"/>
          <p:cNvSpPr>
            <a:spLocks noGrp="1"/>
          </p:cNvSpPr>
          <p:nvPr/>
        </p:nvSpPr>
        <p:spPr>
          <a:xfrm>
            <a:off x="4808000" y="2490000"/>
            <a:ext cx="4000000" cy="390000"/>
          </a:xfrm>
          <a:prstGeom prst="rect">
            <a:avLst/>
          </a:prstGeom>
          <a:solidFill>
            <a:srgbClr val="BA5000"/>
          </a:solidFill>
          <a:ln>
            <a:solidFill>
              <a:srgbClr val="FFFFFF"/>
            </a:solidFill>
          </a:ln>
        </p:spPr>
        <p:txBody>
          <a:bodyPr wrap="square" lIns="152400" tIns="91440" rIns="152400" bIns="91440" rtlCol="0" anchor="ctr"/>
          <a:lstStyle/>
          <a:p>
            <a:pPr marL="0" indent="0">
              <a:buNone/>
            </a:pPr>
            <a:r>
              <a:rPr lang="en-US" sz="1100" b="1" dirty="0">
                <a:solidFill>
                  <a:srgbClr val="FFFFFF"/>
                </a:solidFill>
                <a:latin typeface="Calibri"/>
              </a:rPr>
              <a:t>④ Auto-K silhouette</a:t>
            </a:r>
          </a:p>
          <a:p>
            <a:pPr marL="0" indent="0">
              <a:buNone/>
            </a:pPr>
            <a:r>
              <a:rPr lang="en-US" sz="980" b="0" dirty="0">
                <a:solidFill>
                  <a:srgbClr val="FFFFFF"/>
                </a:solidFill>
                <a:latin typeface="Calibri"/>
              </a:rPr>
              <a:t>AKI class only → argmax silhouette K=2-5
Discard phase 1 model</a:t>
            </a:r>
          </a:p>
        </p:txBody>
      </p:sp>
      <p:sp>
        <p:nvSpPr>
          <p:cNvPr id="19" name="arr23_3"/>
          <p:cNvSpPr>
            <a:spLocks noGrp="1"/>
          </p:cNvSpPr>
          <p:nvPr/>
        </p:nvSpPr>
        <p:spPr>
          <a:xfrm>
            <a:off x="2186600" y="2910000"/>
            <a:ext cx="300000" cy="160000"/>
          </a:xfrm>
          <a:prstGeom prst="downArrow">
            <a:avLst>
              <a:gd name="adj1" fmla="val 50000"/>
              <a:gd name="adj2" fmla="val 50000"/>
            </a:avLst>
          </a:prstGeom>
          <a:solidFill>
            <a:srgbClr val="1D6B3E"/>
          </a:solidFill>
          <a:ln/>
        </p:spPr>
        <p:txBody>
          <a:bodyPr/>
          <a:lstStyle/>
          <a:p>
            <a:endParaRPr/>
          </a:p>
        </p:txBody>
      </p:sp>
      <p:sp>
        <p:nvSpPr>
          <p:cNvPr id="20" name="arr24_3"/>
          <p:cNvSpPr>
            <a:spLocks noGrp="1"/>
          </p:cNvSpPr>
          <p:nvPr/>
        </p:nvSpPr>
        <p:spPr>
          <a:xfrm>
            <a:off x="6658000" y="2910000"/>
            <a:ext cx="300000" cy="160000"/>
          </a:xfrm>
          <a:prstGeom prst="downArrow">
            <a:avLst>
              <a:gd name="adj1" fmla="val 50000"/>
              <a:gd name="adj2" fmla="val 50000"/>
            </a:avLst>
          </a:prstGeom>
          <a:solidFill>
            <a:srgbClr val="BA5000"/>
          </a:solidFill>
          <a:ln/>
        </p:spPr>
        <p:txBody>
          <a:bodyPr/>
          <a:lstStyle/>
          <a:p>
            <a:endParaRPr/>
          </a:p>
        </p:txBody>
      </p:sp>
      <p:sp>
        <p:nvSpPr>
          <p:cNvPr id="21" name="v23s4"/>
          <p:cNvSpPr>
            <a:spLocks noGrp="1"/>
          </p:cNvSpPr>
          <p:nvPr/>
        </p:nvSpPr>
        <p:spPr>
          <a:xfrm>
            <a:off x="336600" y="3100000"/>
            <a:ext cx="4000000" cy="390000"/>
          </a:xfrm>
          <a:prstGeom prst="rect">
            <a:avLst/>
          </a:prstGeom>
          <a:solidFill>
            <a:srgbClr val="1D6B3E"/>
          </a:solidFill>
          <a:ln>
            <a:solidFill>
              <a:srgbClr val="FFFFFF"/>
            </a:solidFill>
          </a:ln>
        </p:spPr>
        <p:txBody>
          <a:bodyPr wrap="square" lIns="152400" tIns="91440" rIns="152400" bIns="91440" rtlCol="0" anchor="ctr"/>
          <a:lstStyle/>
          <a:p>
            <a:pPr marL="0" indent="0">
              <a:buNone/>
            </a:pPr>
            <a:r>
              <a:rPr lang="en-US" sz="1100" b="1" dirty="0">
                <a:solidFill>
                  <a:srgbClr val="FFFFFF"/>
                </a:solidFill>
                <a:latin typeface="Calibri"/>
              </a:rPr>
              <a:t>⑤ Re-run with manual K</a:t>
            </a:r>
          </a:p>
          <a:p>
            <a:pPr marL="0" indent="0">
              <a:buNone/>
            </a:pPr>
            <a:r>
              <a:rPr lang="en-US" sz="980" b="0" dirty="0">
                <a:solidFill>
                  <a:srgbClr val="FFFFFF"/>
                </a:solidFill>
                <a:latin typeface="Calibri"/>
              </a:rPr>
              <a:t>Full fresh 50-round federation with selected K
Final head fine-tune → results</a:t>
            </a:r>
          </a:p>
        </p:txBody>
      </p:sp>
      <p:sp>
        <p:nvSpPr>
          <p:cNvPr id="22" name="v24s4"/>
          <p:cNvSpPr>
            <a:spLocks noGrp="1"/>
          </p:cNvSpPr>
          <p:nvPr/>
        </p:nvSpPr>
        <p:spPr>
          <a:xfrm>
            <a:off x="4808000" y="3100000"/>
            <a:ext cx="4000000" cy="390000"/>
          </a:xfrm>
          <a:prstGeom prst="rect">
            <a:avLst/>
          </a:prstGeom>
          <a:solidFill>
            <a:srgbClr val="BA5000"/>
          </a:solidFill>
          <a:ln>
            <a:solidFill>
              <a:srgbClr val="FFFFFF"/>
            </a:solidFill>
          </a:ln>
        </p:spPr>
        <p:txBody>
          <a:bodyPr wrap="square" lIns="152400" tIns="91440" rIns="152400" bIns="91440" rtlCol="0" anchor="ctr"/>
          <a:lstStyle/>
          <a:p>
            <a:pPr marL="0" indent="0">
              <a:buNone/>
            </a:pPr>
            <a:r>
              <a:rPr lang="en-US" sz="1100" b="1" dirty="0">
                <a:solidFill>
                  <a:srgbClr val="FFFFFF"/>
                </a:solidFill>
                <a:latin typeface="Calibri"/>
              </a:rPr>
              <a:t>⑤ Phase 2 — fresh model 50 rds</a:t>
            </a:r>
          </a:p>
          <a:p>
            <a:pPr marL="0" indent="0">
              <a:buNone/>
            </a:pPr>
            <a:r>
              <a:rPr lang="en-US" sz="980" b="0" dirty="0">
                <a:solidFill>
                  <a:srgbClr val="FFFFFF"/>
                </a:solidFill>
                <a:latin typeface="Calibri"/>
              </a:rPr>
              <a:t>Per-site K from silhouette (K=2 all sites)
pos_weight BCE + FL-gain prototype weighting
Final head fine-tune 30 epochs → results</a:t>
            </a:r>
          </a:p>
        </p:txBody>
      </p:sp>
      <p:sp>
        <p:nvSpPr>
          <p:cNvPr id="23" name="out23"/>
          <p:cNvSpPr>
            <a:spLocks noGrp="1"/>
          </p:cNvSpPr>
          <p:nvPr/>
        </p:nvSpPr>
        <p:spPr>
          <a:xfrm>
            <a:off x="228600" y="3610000"/>
            <a:ext cx="4216000" cy="340000"/>
          </a:xfrm>
          <a:prstGeom prst="rect">
            <a:avLst/>
          </a:prstGeom>
          <a:solidFill>
            <a:srgbClr val="D5F5E3"/>
          </a:solidFill>
          <a:ln/>
        </p:spPr>
        <p:txBody>
          <a:bodyPr wrap="square" lIns="152400" tIns="60960" rIns="152400" bIns="60960" rtlCol="0" anchor="t"/>
          <a:lstStyle/>
          <a:p>
            <a:pPr marL="0" indent="0">
              <a:buNone/>
            </a:pPr>
            <a:r>
              <a:rPr lang="en-US" sz="1050" b="1" dirty="0">
                <a:solidFill>
                  <a:srgbClr val="1D6B3E"/>
                </a:solidFill>
                <a:latin typeface="Calibri"/>
              </a:rPr>
              <a:t>v2.3 Outcome  (alpha=0.3, gamma=0.75)</a:t>
            </a:r>
          </a:p>
          <a:p>
            <a:pPr marL="0" indent="0">
              <a:buNone/>
            </a:pPr>
            <a:r>
              <a:rPr lang="en-US" sz="980" b="0" dirty="0">
                <a:solidFill>
                  <a:srgbClr val="000000"/>
                </a:solidFill>
                <a:latin typeface="Calibri"/>
              </a:rPr>
              <a:t>site_D +0.053, site_E +0.035 vs local | FL-gain 5/5 | Best for clinical FL benefit story</a:t>
            </a:r>
          </a:p>
        </p:txBody>
      </p:sp>
      <p:sp>
        <p:nvSpPr>
          <p:cNvPr id="24" name="out24"/>
          <p:cNvSpPr>
            <a:spLocks noGrp="1"/>
          </p:cNvSpPr>
          <p:nvPr/>
        </p:nvSpPr>
        <p:spPr>
          <a:xfrm>
            <a:off x="4700000" y="3610000"/>
            <a:ext cx="4216000" cy="340000"/>
          </a:xfrm>
          <a:prstGeom prst="rect">
            <a:avLst/>
          </a:prstGeom>
          <a:solidFill>
            <a:srgbClr val="FFF0E0"/>
          </a:solidFill>
          <a:ln/>
        </p:spPr>
        <p:txBody>
          <a:bodyPr wrap="square" lIns="152400" tIns="60960" rIns="152400" bIns="60960" rtlCol="0" anchor="t"/>
          <a:lstStyle/>
          <a:p>
            <a:pPr marL="0" indent="0">
              <a:buNone/>
            </a:pPr>
            <a:r>
              <a:rPr lang="en-US" sz="1050" b="1" dirty="0">
                <a:solidFill>
                  <a:srgbClr val="BA5000"/>
                </a:solidFill>
                <a:latin typeface="Calibri"/>
              </a:rPr>
              <a:t>v2.4 Outcome  (5-seed mean, alpha=0.3, gamma=0.75)</a:t>
            </a:r>
          </a:p>
          <a:p>
            <a:pPr marL="0" indent="0">
              <a:buNone/>
            </a:pPr>
            <a:r>
              <a:rPr lang="en-US" sz="980" b="0" dirty="0">
                <a:solidFill>
                  <a:srgbClr val="000000"/>
                </a:solidFill>
                <a:latin typeface="Calibri"/>
              </a:rPr>
              <a:t>site_A +0.007, site_E -0.001 | Mean AUROC 0.900 vs v2.3 0.895 | K=2 all sites (bimodal AKI)</a:t>
            </a:r>
          </a:p>
        </p:txBody>
      </p:sp>
      <p:sp>
        <p:nvSpPr>
          <p:cNvPr id="25" name="div"/>
          <p:cNvSpPr>
            <a:spLocks noGrp="1"/>
          </p:cNvSpPr>
          <p:nvPr/>
        </p:nvSpPr>
        <p:spPr>
          <a:xfrm>
            <a:off x="4474600" y="660000"/>
            <a:ext cx="230000" cy="2830000"/>
          </a:xfrm>
          <a:prstGeom prst="rect">
            <a:avLst/>
          </a:prstGeom>
          <a:solidFill>
            <a:srgbClr val="DDDDDD"/>
          </a:solidFill>
          <a:ln/>
        </p:spPr>
        <p:txBody>
          <a:bodyPr wrap="square" lIns="182880" tIns="45720" rIns="182880" bIns="45720" rtlCol="0" anchor="ctr"/>
          <a:lstStyle/>
          <a:p>
            <a:pPr marL="0" indent="0">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All Methods Comparison">
    <p:bg>
      <p:bgPr>
        <a:solidFill>
          <a:srgbClr val="FFFFFF"/>
        </a:solidFill>
        <a:effectLst/>
      </p:bgPr>
    </p:bg>
    <p:spTree>
      <p:nvGrpSpPr>
        <p:cNvPr id="1" name=""/>
        <p:cNvGrpSpPr/>
        <p:nvPr/>
      </p:nvGrpSpPr>
      <p:grpSpPr>
        <a:xfrm>
          <a:off x="0" y="0"/>
          <a:ext cx="0" cy="0"/>
          <a:chOff x="0" y="0"/>
          <a:chExt cx="0" cy="0"/>
        </a:xfrm>
      </p:grpSpPr>
      <p:sp>
        <p:nvSpPr>
          <p:cNvPr id="2" name="hdr"/>
          <p:cNvSpPr>
            <a:spLocks noGrp="1"/>
          </p:cNvSpPr>
          <p:nvPr/>
        </p:nvSpPr>
        <p:spPr>
          <a:xfrm>
            <a:off x="0" y="0"/>
            <a:ext cx="9144000" cy="400000"/>
          </a:xfrm>
          <a:prstGeom prst="rect">
            <a:avLst/>
          </a:prstGeom>
          <a:solidFill>
            <a:srgbClr val="1E3A5F"/>
          </a:solidFill>
          <a:ln/>
        </p:spPr>
        <p:txBody>
          <a:bodyPr wrap="square" lIns="182880" tIns="45720" rIns="182880" bIns="45720" rtlCol="0" anchor="ctr"/>
          <a:lstStyle/>
          <a:p>
            <a:pPr marL="0" indent="0">
              <a:buNone/>
            </a:pPr>
            <a:r>
              <a:rPr lang="en-US" sz="1700" b="1" dirty="0">
                <a:solidFill>
                  <a:srgbClr val="FFFFFF"/>
                </a:solidFill>
                <a:latin typeface="Calibri"/>
              </a:rPr>
              <a:t>FL Method Comparison — AUROC by Site  (alpha=0.3, gamma=0.75)</a:t>
            </a:r>
          </a:p>
        </p:txBody>
      </p:sp>
      <p:sp>
        <p:nvSpPr>
          <p:cNvPr id="3" name="sub"/>
          <p:cNvSpPr>
            <a:spLocks noGrp="1"/>
          </p:cNvSpPr>
          <p:nvPr/>
        </p:nvSpPr>
        <p:spPr>
          <a:xfrm>
            <a:off x="228600" y="420000"/>
            <a:ext cx="8687400" cy="185000"/>
          </a:xfrm>
          <a:prstGeom prst="rect">
            <a:avLst/>
          </a:prstGeom>
          <a:solidFill>
            <a:srgbClr val="2E6DA4"/>
          </a:solidFill>
          <a:ln/>
        </p:spPr>
        <p:txBody>
          <a:bodyPr wrap="square" lIns="182880" tIns="45720" rIns="182880" bIns="45720" rtlCol="0" anchor="ctr"/>
          <a:lstStyle/>
          <a:p>
            <a:pPr marL="0" indent="0">
              <a:buNone/>
            </a:pPr>
            <a:r>
              <a:rPr lang="en-US" sz="980" b="1" dirty="0">
                <a:solidFill>
                  <a:srgbClr val="FFFFFF"/>
                </a:solidFill>
                <a:latin typeface="Calibri"/>
              </a:rPr>
              <a:t>site_A ICU 23.4% AKI  |  site_B Ward 11.3%  |  site_C Anchor 9.0%  |  site_D Community 7.5% [Primary]  |  site_E Rural 5.2% [Primary]</a:t>
            </a:r>
          </a:p>
        </p:txBody>
      </p:sp>
      <p:sp>
        <p:nvSpPr>
          <p:cNvPr id="4" name="ch0"/>
          <p:cNvSpPr>
            <a:spLocks noGrp="1"/>
          </p:cNvSpPr>
          <p:nvPr/>
        </p:nvSpPr>
        <p:spPr>
          <a:xfrm>
            <a:off x="228600" y="430000"/>
            <a:ext cx="2100000" cy="210000"/>
          </a:xfrm>
          <a:prstGeom prst="rect">
            <a:avLst/>
          </a:prstGeom>
          <a:solidFill>
            <a:srgbClr val="1E3A5F"/>
          </a:solidFill>
          <a:ln/>
        </p:spPr>
        <p:txBody>
          <a:bodyPr wrap="square" lIns="91440" tIns="30000" rIns="91440" bIns="30000" rtlCol="0" anchor="ctr"/>
          <a:lstStyle/>
          <a:p>
            <a:pPr marL="0" indent="0">
              <a:buNone/>
            </a:pPr>
            <a:r>
              <a:rPr lang="en-US" sz="1000" b="1" dirty="0">
                <a:solidFill>
                  <a:srgbClr val="FFFFFF"/>
                </a:solidFill>
                <a:latin typeface="Calibri"/>
              </a:rPr>
              <a:t>Method</a:t>
            </a:r>
          </a:p>
        </p:txBody>
      </p:sp>
      <p:sp>
        <p:nvSpPr>
          <p:cNvPr id="5" name="ch1"/>
          <p:cNvSpPr>
            <a:spLocks noGrp="1"/>
          </p:cNvSpPr>
          <p:nvPr/>
        </p:nvSpPr>
        <p:spPr>
          <a:xfrm>
            <a:off x="2328600" y="430000"/>
            <a:ext cx="1100000" cy="210000"/>
          </a:xfrm>
          <a:prstGeom prst="rect">
            <a:avLst/>
          </a:prstGeom>
          <a:solidFill>
            <a:srgbClr val="2E6DA4"/>
          </a:solidFill>
          <a:ln/>
        </p:spPr>
        <p:txBody>
          <a:bodyPr wrap="square" lIns="91440" tIns="30000" rIns="91440" bIns="30000" rtlCol="0" anchor="ctr"/>
          <a:lstStyle/>
          <a:p>
            <a:pPr marL="0" indent="0">
              <a:buNone/>
            </a:pPr>
            <a:r>
              <a:rPr lang="en-US" sz="1000" b="1" dirty="0">
                <a:solidFill>
                  <a:srgbClr val="FFFFFF"/>
                </a:solidFill>
                <a:latin typeface="Calibri"/>
              </a:rPr>
              <a:t>site_A</a:t>
            </a:r>
          </a:p>
        </p:txBody>
      </p:sp>
      <p:sp>
        <p:nvSpPr>
          <p:cNvPr id="6" name="ch2"/>
          <p:cNvSpPr>
            <a:spLocks noGrp="1"/>
          </p:cNvSpPr>
          <p:nvPr/>
        </p:nvSpPr>
        <p:spPr>
          <a:xfrm>
            <a:off x="3428600" y="430000"/>
            <a:ext cx="1100000" cy="210000"/>
          </a:xfrm>
          <a:prstGeom prst="rect">
            <a:avLst/>
          </a:prstGeom>
          <a:solidFill>
            <a:srgbClr val="2E6DA4"/>
          </a:solidFill>
          <a:ln/>
        </p:spPr>
        <p:txBody>
          <a:bodyPr wrap="square" lIns="91440" tIns="30000" rIns="91440" bIns="30000" rtlCol="0" anchor="ctr"/>
          <a:lstStyle/>
          <a:p>
            <a:pPr marL="0" indent="0">
              <a:buNone/>
            </a:pPr>
            <a:r>
              <a:rPr lang="en-US" sz="1000" b="1" dirty="0">
                <a:solidFill>
                  <a:srgbClr val="FFFFFF"/>
                </a:solidFill>
                <a:latin typeface="Calibri"/>
              </a:rPr>
              <a:t>site_B</a:t>
            </a:r>
          </a:p>
        </p:txBody>
      </p:sp>
      <p:sp>
        <p:nvSpPr>
          <p:cNvPr id="7" name="ch3"/>
          <p:cNvSpPr>
            <a:spLocks noGrp="1"/>
          </p:cNvSpPr>
          <p:nvPr/>
        </p:nvSpPr>
        <p:spPr>
          <a:xfrm>
            <a:off x="4528600" y="430000"/>
            <a:ext cx="1100000" cy="210000"/>
          </a:xfrm>
          <a:prstGeom prst="rect">
            <a:avLst/>
          </a:prstGeom>
          <a:solidFill>
            <a:srgbClr val="2E6DA4"/>
          </a:solidFill>
          <a:ln/>
        </p:spPr>
        <p:txBody>
          <a:bodyPr wrap="square" lIns="91440" tIns="30000" rIns="91440" bIns="30000" rtlCol="0" anchor="ctr"/>
          <a:lstStyle/>
          <a:p>
            <a:pPr marL="0" indent="0">
              <a:buNone/>
            </a:pPr>
            <a:r>
              <a:rPr lang="en-US" sz="1000" b="1" dirty="0">
                <a:solidFill>
                  <a:srgbClr val="FFFFFF"/>
                </a:solidFill>
                <a:latin typeface="Calibri"/>
              </a:rPr>
              <a:t>site_C</a:t>
            </a:r>
          </a:p>
        </p:txBody>
      </p:sp>
      <p:sp>
        <p:nvSpPr>
          <p:cNvPr id="8" name="ch4"/>
          <p:cNvSpPr>
            <a:spLocks noGrp="1"/>
          </p:cNvSpPr>
          <p:nvPr/>
        </p:nvSpPr>
        <p:spPr>
          <a:xfrm>
            <a:off x="5628600" y="430000"/>
            <a:ext cx="1100000" cy="210000"/>
          </a:xfrm>
          <a:prstGeom prst="rect">
            <a:avLst/>
          </a:prstGeom>
          <a:solidFill>
            <a:srgbClr val="2E6DA4"/>
          </a:solidFill>
          <a:ln/>
        </p:spPr>
        <p:txBody>
          <a:bodyPr wrap="square" lIns="91440" tIns="30000" rIns="91440" bIns="30000" rtlCol="0" anchor="ctr"/>
          <a:lstStyle/>
          <a:p>
            <a:pPr marL="0" indent="0">
              <a:buNone/>
            </a:pPr>
            <a:r>
              <a:rPr lang="en-US" sz="1000" b="1" dirty="0">
                <a:solidFill>
                  <a:srgbClr val="FFFFFF"/>
                </a:solidFill>
                <a:latin typeface="Calibri"/>
              </a:rPr>
              <a:t>site_D (P)</a:t>
            </a:r>
          </a:p>
        </p:txBody>
      </p:sp>
      <p:sp>
        <p:nvSpPr>
          <p:cNvPr id="9" name="ch5"/>
          <p:cNvSpPr>
            <a:spLocks noGrp="1"/>
          </p:cNvSpPr>
          <p:nvPr/>
        </p:nvSpPr>
        <p:spPr>
          <a:xfrm>
            <a:off x="6728600" y="430000"/>
            <a:ext cx="1100000" cy="210000"/>
          </a:xfrm>
          <a:prstGeom prst="rect">
            <a:avLst/>
          </a:prstGeom>
          <a:solidFill>
            <a:srgbClr val="2E6DA4"/>
          </a:solidFill>
          <a:ln/>
        </p:spPr>
        <p:txBody>
          <a:bodyPr wrap="square" lIns="91440" tIns="30000" rIns="91440" bIns="30000" rtlCol="0" anchor="ctr"/>
          <a:lstStyle/>
          <a:p>
            <a:pPr marL="0" indent="0">
              <a:buNone/>
            </a:pPr>
            <a:r>
              <a:rPr lang="en-US" sz="1000" b="1" dirty="0">
                <a:solidFill>
                  <a:srgbClr val="FFFFFF"/>
                </a:solidFill>
                <a:latin typeface="Calibri"/>
              </a:rPr>
              <a:t>site_E (P)</a:t>
            </a:r>
          </a:p>
        </p:txBody>
      </p:sp>
      <p:sp>
        <p:nvSpPr>
          <p:cNvPr id="10" name="ch6"/>
          <p:cNvSpPr>
            <a:spLocks noGrp="1"/>
          </p:cNvSpPr>
          <p:nvPr/>
        </p:nvSpPr>
        <p:spPr>
          <a:xfrm>
            <a:off x="7828600" y="430000"/>
            <a:ext cx="1100000" cy="210000"/>
          </a:xfrm>
          <a:prstGeom prst="rect">
            <a:avLst/>
          </a:prstGeom>
          <a:solidFill>
            <a:srgbClr val="2E6DA4"/>
          </a:solidFill>
          <a:ln/>
        </p:spPr>
        <p:txBody>
          <a:bodyPr wrap="square" lIns="91440" tIns="30000" rIns="91440" bIns="30000" rtlCol="0" anchor="ctr"/>
          <a:lstStyle/>
          <a:p>
            <a:pPr marL="0" indent="0">
              <a:buNone/>
            </a:pPr>
            <a:r>
              <a:rPr lang="en-US" sz="1000" b="1" dirty="0">
                <a:solidFill>
                  <a:srgbClr val="FFFFFF"/>
                </a:solidFill>
                <a:latin typeface="Calibri"/>
              </a:rPr>
              <a:t>Mean</a:t>
            </a:r>
          </a:p>
        </p:txBody>
      </p:sp>
      <p:sp>
        <p:nvSpPr>
          <p:cNvPr id="11" name="r0m"/>
          <p:cNvSpPr>
            <a:spLocks noGrp="1"/>
          </p:cNvSpPr>
          <p:nvPr/>
        </p:nvSpPr>
        <p:spPr>
          <a:xfrm>
            <a:off x="228600" y="660000"/>
            <a:ext cx="2100000" cy="230000"/>
          </a:xfrm>
          <a:prstGeom prst="rect">
            <a:avLst/>
          </a:prstGeom>
          <a:solidFill>
            <a:srgbClr val="F0F4FA"/>
          </a:solidFill>
          <a:ln/>
        </p:spPr>
        <p:txBody>
          <a:bodyPr wrap="square" lIns="91440" tIns="30000" rIns="91440" bIns="30000" rtlCol="0" anchor="ctr"/>
          <a:lstStyle/>
          <a:p>
            <a:pPr marL="0" indent="0">
              <a:buNone/>
            </a:pPr>
            <a:r>
              <a:rPr lang="en-US" sz="980" b="0" dirty="0">
                <a:solidFill>
                  <a:srgbClr val="888780"/>
                </a:solidFill>
                <a:latin typeface="Calibri"/>
              </a:rPr>
              <a:t>Local (no FL)</a:t>
            </a:r>
          </a:p>
        </p:txBody>
      </p:sp>
      <p:sp>
        <p:nvSpPr>
          <p:cNvPr id="12" name="r0s0"/>
          <p:cNvSpPr>
            <a:spLocks noGrp="1"/>
          </p:cNvSpPr>
          <p:nvPr/>
        </p:nvSpPr>
        <p:spPr>
          <a:xfrm>
            <a:off x="2328600" y="660000"/>
            <a:ext cx="1100000" cy="230000"/>
          </a:xfrm>
          <a:prstGeom prst="rect">
            <a:avLst/>
          </a:prstGeom>
          <a:solidFill>
            <a:srgbClr val="F0F4FA"/>
          </a:solidFill>
          <a:ln/>
        </p:spPr>
        <p:txBody>
          <a:bodyPr wrap="square" lIns="91440" tIns="30000" rIns="91440" bIns="30000" rtlCol="0" anchor="ctr"/>
          <a:lstStyle/>
          <a:p>
            <a:pPr marL="0" indent="0">
              <a:buNone/>
            </a:pPr>
            <a:r>
              <a:rPr lang="en-US" sz="900" b="0" dirty="0">
                <a:solidFill>
                  <a:srgbClr val="000000"/>
                </a:solidFill>
                <a:latin typeface="Calibri"/>
              </a:rPr>
              <a:t>0.9769</a:t>
            </a:r>
          </a:p>
        </p:txBody>
      </p:sp>
      <p:sp>
        <p:nvSpPr>
          <p:cNvPr id="13" name="r0s1"/>
          <p:cNvSpPr>
            <a:spLocks noGrp="1"/>
          </p:cNvSpPr>
          <p:nvPr/>
        </p:nvSpPr>
        <p:spPr>
          <a:xfrm>
            <a:off x="3428600" y="660000"/>
            <a:ext cx="1100000" cy="230000"/>
          </a:xfrm>
          <a:prstGeom prst="rect">
            <a:avLst/>
          </a:prstGeom>
          <a:solidFill>
            <a:srgbClr val="F0F4FA"/>
          </a:solidFill>
          <a:ln/>
        </p:spPr>
        <p:txBody>
          <a:bodyPr wrap="square" lIns="91440" tIns="30000" rIns="91440" bIns="30000" rtlCol="0" anchor="ctr"/>
          <a:lstStyle/>
          <a:p>
            <a:pPr marL="0" indent="0">
              <a:buNone/>
            </a:pPr>
            <a:r>
              <a:rPr lang="en-US" sz="900" b="0" dirty="0">
                <a:solidFill>
                  <a:srgbClr val="000000"/>
                </a:solidFill>
                <a:latin typeface="Calibri"/>
              </a:rPr>
              <a:t>0.9274</a:t>
            </a:r>
          </a:p>
        </p:txBody>
      </p:sp>
      <p:sp>
        <p:nvSpPr>
          <p:cNvPr id="14" name="r0s2"/>
          <p:cNvSpPr>
            <a:spLocks noGrp="1"/>
          </p:cNvSpPr>
          <p:nvPr/>
        </p:nvSpPr>
        <p:spPr>
          <a:xfrm>
            <a:off x="4528600" y="660000"/>
            <a:ext cx="1100000" cy="230000"/>
          </a:xfrm>
          <a:prstGeom prst="rect">
            <a:avLst/>
          </a:prstGeom>
          <a:solidFill>
            <a:srgbClr val="F0F4FA"/>
          </a:solidFill>
          <a:ln/>
        </p:spPr>
        <p:txBody>
          <a:bodyPr wrap="square" lIns="91440" tIns="30000" rIns="91440" bIns="30000" rtlCol="0" anchor="ctr"/>
          <a:lstStyle/>
          <a:p>
            <a:pPr marL="0" indent="0">
              <a:buNone/>
            </a:pPr>
            <a:r>
              <a:rPr lang="en-US" sz="900" b="0" dirty="0">
                <a:solidFill>
                  <a:srgbClr val="000000"/>
                </a:solidFill>
                <a:latin typeface="Calibri"/>
              </a:rPr>
              <a:t>0.9141</a:t>
            </a:r>
          </a:p>
        </p:txBody>
      </p:sp>
      <p:sp>
        <p:nvSpPr>
          <p:cNvPr id="15" name="r0s3"/>
          <p:cNvSpPr>
            <a:spLocks noGrp="1"/>
          </p:cNvSpPr>
          <p:nvPr/>
        </p:nvSpPr>
        <p:spPr>
          <a:xfrm>
            <a:off x="5628600" y="660000"/>
            <a:ext cx="1100000" cy="230000"/>
          </a:xfrm>
          <a:prstGeom prst="rect">
            <a:avLst/>
          </a:prstGeom>
          <a:solidFill>
            <a:srgbClr val="F0F4FA"/>
          </a:solidFill>
          <a:ln/>
        </p:spPr>
        <p:txBody>
          <a:bodyPr wrap="square" lIns="91440" tIns="30000" rIns="91440" bIns="30000" rtlCol="0" anchor="ctr"/>
          <a:lstStyle/>
          <a:p>
            <a:pPr marL="0" indent="0">
              <a:buNone/>
            </a:pPr>
            <a:r>
              <a:rPr lang="en-US" sz="900" b="0" dirty="0">
                <a:solidFill>
                  <a:srgbClr val="000000"/>
                </a:solidFill>
                <a:latin typeface="Calibri"/>
              </a:rPr>
              <a:t>0.7896</a:t>
            </a:r>
          </a:p>
        </p:txBody>
      </p:sp>
      <p:sp>
        <p:nvSpPr>
          <p:cNvPr id="16" name="r0s4"/>
          <p:cNvSpPr>
            <a:spLocks noGrp="1"/>
          </p:cNvSpPr>
          <p:nvPr/>
        </p:nvSpPr>
        <p:spPr>
          <a:xfrm>
            <a:off x="6728600" y="660000"/>
            <a:ext cx="1100000" cy="230000"/>
          </a:xfrm>
          <a:prstGeom prst="rect">
            <a:avLst/>
          </a:prstGeom>
          <a:solidFill>
            <a:srgbClr val="F0F4FA"/>
          </a:solidFill>
          <a:ln/>
        </p:spPr>
        <p:txBody>
          <a:bodyPr wrap="square" lIns="91440" tIns="30000" rIns="91440" bIns="30000" rtlCol="0" anchor="ctr"/>
          <a:lstStyle/>
          <a:p>
            <a:pPr marL="0" indent="0">
              <a:buNone/>
            </a:pPr>
            <a:r>
              <a:rPr lang="en-US" sz="900" b="0" dirty="0">
                <a:solidFill>
                  <a:srgbClr val="000000"/>
                </a:solidFill>
                <a:latin typeface="Calibri"/>
              </a:rPr>
              <a:t>0.8744</a:t>
            </a:r>
          </a:p>
        </p:txBody>
      </p:sp>
      <p:sp>
        <p:nvSpPr>
          <p:cNvPr id="17" name="r0mean"/>
          <p:cNvSpPr>
            <a:spLocks noGrp="1"/>
          </p:cNvSpPr>
          <p:nvPr/>
        </p:nvSpPr>
        <p:spPr>
          <a:xfrm>
            <a:off x="7828600" y="660000"/>
            <a:ext cx="1100000" cy="230000"/>
          </a:xfrm>
          <a:prstGeom prst="rect">
            <a:avLst/>
          </a:prstGeom>
          <a:solidFill>
            <a:srgbClr val="F0F4FA"/>
          </a:solidFill>
          <a:ln/>
        </p:spPr>
        <p:txBody>
          <a:bodyPr wrap="square" lIns="91440" tIns="30000" rIns="91440" bIns="30000" rtlCol="0" anchor="ctr"/>
          <a:lstStyle/>
          <a:p>
            <a:pPr marL="0" indent="0">
              <a:buNone/>
            </a:pPr>
            <a:r>
              <a:rPr lang="en-US" sz="950" b="0" dirty="0">
                <a:solidFill>
                  <a:srgbClr val="888780"/>
                </a:solidFill>
                <a:latin typeface="Calibri"/>
              </a:rPr>
              <a:t>0.8965</a:t>
            </a:r>
          </a:p>
        </p:txBody>
      </p:sp>
      <p:sp>
        <p:nvSpPr>
          <p:cNvPr id="18" name="r1m"/>
          <p:cNvSpPr>
            <a:spLocks noGrp="1"/>
          </p:cNvSpPr>
          <p:nvPr/>
        </p:nvSpPr>
        <p:spPr>
          <a:xfrm>
            <a:off x="228600" y="890000"/>
            <a:ext cx="2100000" cy="230000"/>
          </a:xfrm>
          <a:prstGeom prst="rect">
            <a:avLst/>
          </a:prstGeom>
          <a:solidFill>
            <a:srgbClr val="FFFFFF"/>
          </a:solidFill>
          <a:ln/>
        </p:spPr>
        <p:txBody>
          <a:bodyPr wrap="square" lIns="91440" tIns="30000" rIns="91440" bIns="30000" rtlCol="0" anchor="ctr"/>
          <a:lstStyle/>
          <a:p>
            <a:pPr marL="0" indent="0">
              <a:buNone/>
            </a:pPr>
            <a:r>
              <a:rPr lang="en-US" sz="980" b="0" dirty="0">
                <a:solidFill>
                  <a:srgbClr val="2E6DA4"/>
                </a:solidFill>
                <a:latin typeface="Calibri"/>
              </a:rPr>
              <a:t>FedAvg</a:t>
            </a:r>
          </a:p>
        </p:txBody>
      </p:sp>
      <p:sp>
        <p:nvSpPr>
          <p:cNvPr id="19" name="r1s0"/>
          <p:cNvSpPr>
            <a:spLocks noGrp="1"/>
          </p:cNvSpPr>
          <p:nvPr/>
        </p:nvSpPr>
        <p:spPr>
          <a:xfrm>
            <a:off x="2328600" y="890000"/>
            <a:ext cx="1100000" cy="230000"/>
          </a:xfrm>
          <a:prstGeom prst="rect">
            <a:avLst/>
          </a:prstGeom>
          <a:solidFill>
            <a:srgbClr val="FFFFFF"/>
          </a:solidFill>
          <a:ln/>
        </p:spPr>
        <p:txBody>
          <a:bodyPr wrap="square" lIns="91440" tIns="30000" rIns="91440" bIns="30000" rtlCol="0" anchor="ctr"/>
          <a:lstStyle/>
          <a:p>
            <a:pPr marL="0" indent="0">
              <a:buNone/>
            </a:pPr>
            <a:r>
              <a:rPr lang="en-US" sz="900" b="0" dirty="0">
                <a:solidFill>
                  <a:srgbClr val="888780"/>
                </a:solidFill>
                <a:latin typeface="Calibri"/>
              </a:rPr>
              <a:t>0.9777 (+0.001)</a:t>
            </a:r>
          </a:p>
        </p:txBody>
      </p:sp>
      <p:sp>
        <p:nvSpPr>
          <p:cNvPr id="20" name="r1s1"/>
          <p:cNvSpPr>
            <a:spLocks noGrp="1"/>
          </p:cNvSpPr>
          <p:nvPr/>
        </p:nvSpPr>
        <p:spPr>
          <a:xfrm>
            <a:off x="3428600" y="890000"/>
            <a:ext cx="1100000" cy="230000"/>
          </a:xfrm>
          <a:prstGeom prst="rect">
            <a:avLst/>
          </a:prstGeom>
          <a:solidFill>
            <a:srgbClr val="FFFFFF"/>
          </a:solidFill>
          <a:ln/>
        </p:spPr>
        <p:txBody>
          <a:bodyPr wrap="square" lIns="91440" tIns="30000" rIns="91440" bIns="30000" rtlCol="0" anchor="ctr"/>
          <a:lstStyle/>
          <a:p>
            <a:pPr marL="0" indent="0">
              <a:buNone/>
            </a:pPr>
            <a:r>
              <a:rPr lang="en-US" sz="900" b="0" dirty="0">
                <a:solidFill>
                  <a:srgbClr val="888780"/>
                </a:solidFill>
                <a:latin typeface="Calibri"/>
              </a:rPr>
              <a:t>0.9260 (-0.001)</a:t>
            </a:r>
          </a:p>
        </p:txBody>
      </p:sp>
      <p:sp>
        <p:nvSpPr>
          <p:cNvPr id="21" name="r1s2"/>
          <p:cNvSpPr>
            <a:spLocks noGrp="1"/>
          </p:cNvSpPr>
          <p:nvPr/>
        </p:nvSpPr>
        <p:spPr>
          <a:xfrm>
            <a:off x="4528600" y="890000"/>
            <a:ext cx="1100000" cy="230000"/>
          </a:xfrm>
          <a:prstGeom prst="rect">
            <a:avLst/>
          </a:prstGeom>
          <a:solidFill>
            <a:srgbClr val="FFFFFF"/>
          </a:solidFill>
          <a:ln/>
        </p:spPr>
        <p:txBody>
          <a:bodyPr wrap="square" lIns="91440" tIns="30000" rIns="91440" bIns="30000" rtlCol="0" anchor="ctr"/>
          <a:lstStyle/>
          <a:p>
            <a:pPr marL="0" indent="0">
              <a:buNone/>
            </a:pPr>
            <a:r>
              <a:rPr lang="en-US" sz="900" b="0" dirty="0">
                <a:solidFill>
                  <a:srgbClr val="888780"/>
                </a:solidFill>
                <a:latin typeface="Calibri"/>
              </a:rPr>
              <a:t>0.9165 (+0.002)</a:t>
            </a:r>
          </a:p>
        </p:txBody>
      </p:sp>
      <p:sp>
        <p:nvSpPr>
          <p:cNvPr id="22" name="r1s3"/>
          <p:cNvSpPr>
            <a:spLocks noGrp="1"/>
          </p:cNvSpPr>
          <p:nvPr/>
        </p:nvSpPr>
        <p:spPr>
          <a:xfrm>
            <a:off x="5628600" y="890000"/>
            <a:ext cx="1100000" cy="230000"/>
          </a:xfrm>
          <a:prstGeom prst="rect">
            <a:avLst/>
          </a:prstGeom>
          <a:solidFill>
            <a:srgbClr val="FFFFFF"/>
          </a:solidFill>
          <a:ln/>
        </p:spPr>
        <p:txBody>
          <a:bodyPr wrap="square" lIns="91440" tIns="30000" rIns="91440" bIns="30000" rtlCol="0" anchor="ctr"/>
          <a:lstStyle/>
          <a:p>
            <a:pPr marL="0" indent="0">
              <a:buNone/>
            </a:pPr>
            <a:r>
              <a:rPr lang="en-US" sz="900" b="0" dirty="0">
                <a:solidFill>
                  <a:srgbClr val="1D6B3E"/>
                </a:solidFill>
                <a:latin typeface="Calibri"/>
              </a:rPr>
              <a:t>0.8071 (+0.018)</a:t>
            </a:r>
          </a:p>
        </p:txBody>
      </p:sp>
      <p:sp>
        <p:nvSpPr>
          <p:cNvPr id="23" name="r1s4"/>
          <p:cNvSpPr>
            <a:spLocks noGrp="1"/>
          </p:cNvSpPr>
          <p:nvPr/>
        </p:nvSpPr>
        <p:spPr>
          <a:xfrm>
            <a:off x="6728600" y="890000"/>
            <a:ext cx="1100000" cy="230000"/>
          </a:xfrm>
          <a:prstGeom prst="rect">
            <a:avLst/>
          </a:prstGeom>
          <a:solidFill>
            <a:srgbClr val="FFFFFF"/>
          </a:solidFill>
          <a:ln/>
        </p:spPr>
        <p:txBody>
          <a:bodyPr wrap="square" lIns="91440" tIns="30000" rIns="91440" bIns="30000" rtlCol="0" anchor="ctr"/>
          <a:lstStyle/>
          <a:p>
            <a:pPr marL="0" indent="0">
              <a:buNone/>
            </a:pPr>
            <a:r>
              <a:rPr lang="en-US" sz="900" b="0" dirty="0">
                <a:solidFill>
                  <a:srgbClr val="1D6B3E"/>
                </a:solidFill>
                <a:latin typeface="Calibri"/>
              </a:rPr>
              <a:t>0.9040 (+0.030)</a:t>
            </a:r>
          </a:p>
        </p:txBody>
      </p:sp>
      <p:sp>
        <p:nvSpPr>
          <p:cNvPr id="24" name="r1mean"/>
          <p:cNvSpPr>
            <a:spLocks noGrp="1"/>
          </p:cNvSpPr>
          <p:nvPr/>
        </p:nvSpPr>
        <p:spPr>
          <a:xfrm>
            <a:off x="7828600" y="890000"/>
            <a:ext cx="1100000" cy="230000"/>
          </a:xfrm>
          <a:prstGeom prst="rect">
            <a:avLst/>
          </a:prstGeom>
          <a:solidFill>
            <a:srgbClr val="FFFFFF"/>
          </a:solidFill>
          <a:ln/>
        </p:spPr>
        <p:txBody>
          <a:bodyPr wrap="square" lIns="91440" tIns="30000" rIns="91440" bIns="30000" rtlCol="0" anchor="ctr"/>
          <a:lstStyle/>
          <a:p>
            <a:pPr marL="0" indent="0">
              <a:buNone/>
            </a:pPr>
            <a:r>
              <a:rPr lang="en-US" sz="950" b="0" dirty="0">
                <a:solidFill>
                  <a:srgbClr val="888780"/>
                </a:solidFill>
                <a:latin typeface="Calibri"/>
              </a:rPr>
              <a:t>0.9063</a:t>
            </a:r>
          </a:p>
        </p:txBody>
      </p:sp>
      <p:sp>
        <p:nvSpPr>
          <p:cNvPr id="25" name="r2m"/>
          <p:cNvSpPr>
            <a:spLocks noGrp="1"/>
          </p:cNvSpPr>
          <p:nvPr/>
        </p:nvSpPr>
        <p:spPr>
          <a:xfrm>
            <a:off x="228600" y="1120000"/>
            <a:ext cx="2100000" cy="230000"/>
          </a:xfrm>
          <a:prstGeom prst="rect">
            <a:avLst/>
          </a:prstGeom>
          <a:solidFill>
            <a:srgbClr val="F0F4FA"/>
          </a:solidFill>
          <a:ln/>
        </p:spPr>
        <p:txBody>
          <a:bodyPr wrap="square" lIns="91440" tIns="30000" rIns="91440" bIns="30000" rtlCol="0" anchor="ctr"/>
          <a:lstStyle/>
          <a:p>
            <a:pPr marL="0" indent="0">
              <a:buNone/>
            </a:pPr>
            <a:r>
              <a:rPr lang="en-US" sz="980" b="0" dirty="0">
                <a:solidFill>
                  <a:srgbClr val="2E6DA4"/>
                </a:solidFill>
                <a:latin typeface="Calibri"/>
              </a:rPr>
              <a:t>FedProx</a:t>
            </a:r>
          </a:p>
        </p:txBody>
      </p:sp>
      <p:sp>
        <p:nvSpPr>
          <p:cNvPr id="26" name="r2s0"/>
          <p:cNvSpPr>
            <a:spLocks noGrp="1"/>
          </p:cNvSpPr>
          <p:nvPr/>
        </p:nvSpPr>
        <p:spPr>
          <a:xfrm>
            <a:off x="2328600" y="1120000"/>
            <a:ext cx="1100000" cy="230000"/>
          </a:xfrm>
          <a:prstGeom prst="rect">
            <a:avLst/>
          </a:prstGeom>
          <a:solidFill>
            <a:srgbClr val="F0F4FA"/>
          </a:solidFill>
          <a:ln/>
        </p:spPr>
        <p:txBody>
          <a:bodyPr wrap="square" lIns="91440" tIns="30000" rIns="91440" bIns="30000" rtlCol="0" anchor="ctr"/>
          <a:lstStyle/>
          <a:p>
            <a:pPr marL="0" indent="0">
              <a:buNone/>
            </a:pPr>
            <a:r>
              <a:rPr lang="en-US" sz="900" b="0" dirty="0">
                <a:solidFill>
                  <a:srgbClr val="888780"/>
                </a:solidFill>
                <a:latin typeface="Calibri"/>
              </a:rPr>
              <a:t>0.9784 (+0.002)</a:t>
            </a:r>
          </a:p>
        </p:txBody>
      </p:sp>
      <p:sp>
        <p:nvSpPr>
          <p:cNvPr id="27" name="r2s1"/>
          <p:cNvSpPr>
            <a:spLocks noGrp="1"/>
          </p:cNvSpPr>
          <p:nvPr/>
        </p:nvSpPr>
        <p:spPr>
          <a:xfrm>
            <a:off x="3428600" y="1120000"/>
            <a:ext cx="1100000" cy="230000"/>
          </a:xfrm>
          <a:prstGeom prst="rect">
            <a:avLst/>
          </a:prstGeom>
          <a:solidFill>
            <a:srgbClr val="F0F4FA"/>
          </a:solidFill>
          <a:ln/>
        </p:spPr>
        <p:txBody>
          <a:bodyPr wrap="square" lIns="91440" tIns="30000" rIns="91440" bIns="30000" rtlCol="0" anchor="ctr"/>
          <a:lstStyle/>
          <a:p>
            <a:pPr marL="0" indent="0">
              <a:buNone/>
            </a:pPr>
            <a:r>
              <a:rPr lang="en-US" sz="900" b="0" dirty="0">
                <a:solidFill>
                  <a:srgbClr val="888780"/>
                </a:solidFill>
                <a:latin typeface="Calibri"/>
              </a:rPr>
              <a:t>0.9251 (-0.002)</a:t>
            </a:r>
          </a:p>
        </p:txBody>
      </p:sp>
      <p:sp>
        <p:nvSpPr>
          <p:cNvPr id="28" name="r2s2"/>
          <p:cNvSpPr>
            <a:spLocks noGrp="1"/>
          </p:cNvSpPr>
          <p:nvPr/>
        </p:nvSpPr>
        <p:spPr>
          <a:xfrm>
            <a:off x="4528600" y="1120000"/>
            <a:ext cx="1100000" cy="230000"/>
          </a:xfrm>
          <a:prstGeom prst="rect">
            <a:avLst/>
          </a:prstGeom>
          <a:solidFill>
            <a:srgbClr val="F0F4FA"/>
          </a:solidFill>
          <a:ln/>
        </p:spPr>
        <p:txBody>
          <a:bodyPr wrap="square" lIns="91440" tIns="30000" rIns="91440" bIns="30000" rtlCol="0" anchor="ctr"/>
          <a:lstStyle/>
          <a:p>
            <a:pPr marL="0" indent="0">
              <a:buNone/>
            </a:pPr>
            <a:r>
              <a:rPr lang="en-US" sz="900" b="0" dirty="0">
                <a:solidFill>
                  <a:srgbClr val="888780"/>
                </a:solidFill>
                <a:latin typeface="Calibri"/>
              </a:rPr>
              <a:t>0.9163 (+0.002)</a:t>
            </a:r>
          </a:p>
        </p:txBody>
      </p:sp>
      <p:sp>
        <p:nvSpPr>
          <p:cNvPr id="29" name="r2s3"/>
          <p:cNvSpPr>
            <a:spLocks noGrp="1"/>
          </p:cNvSpPr>
          <p:nvPr/>
        </p:nvSpPr>
        <p:spPr>
          <a:xfrm>
            <a:off x="5628600" y="1120000"/>
            <a:ext cx="1100000" cy="230000"/>
          </a:xfrm>
          <a:prstGeom prst="rect">
            <a:avLst/>
          </a:prstGeom>
          <a:solidFill>
            <a:srgbClr val="F0F4FA"/>
          </a:solidFill>
          <a:ln/>
        </p:spPr>
        <p:txBody>
          <a:bodyPr wrap="square" lIns="91440" tIns="30000" rIns="91440" bIns="30000" rtlCol="0" anchor="ctr"/>
          <a:lstStyle/>
          <a:p>
            <a:pPr marL="0" indent="0">
              <a:buNone/>
            </a:pPr>
            <a:r>
              <a:rPr lang="en-US" sz="900" b="0" dirty="0">
                <a:solidFill>
                  <a:srgbClr val="1D6B3E"/>
                </a:solidFill>
                <a:latin typeface="Calibri"/>
              </a:rPr>
              <a:t>0.8030 (+0.013)</a:t>
            </a:r>
          </a:p>
        </p:txBody>
      </p:sp>
      <p:sp>
        <p:nvSpPr>
          <p:cNvPr id="30" name="r2s4"/>
          <p:cNvSpPr>
            <a:spLocks noGrp="1"/>
          </p:cNvSpPr>
          <p:nvPr/>
        </p:nvSpPr>
        <p:spPr>
          <a:xfrm>
            <a:off x="6728600" y="1120000"/>
            <a:ext cx="1100000" cy="230000"/>
          </a:xfrm>
          <a:prstGeom prst="rect">
            <a:avLst/>
          </a:prstGeom>
          <a:solidFill>
            <a:srgbClr val="F0F4FA"/>
          </a:solidFill>
          <a:ln/>
        </p:spPr>
        <p:txBody>
          <a:bodyPr wrap="square" lIns="91440" tIns="30000" rIns="91440" bIns="30000" rtlCol="0" anchor="ctr"/>
          <a:lstStyle/>
          <a:p>
            <a:pPr marL="0" indent="0">
              <a:buNone/>
            </a:pPr>
            <a:r>
              <a:rPr lang="en-US" sz="900" b="0" dirty="0">
                <a:solidFill>
                  <a:srgbClr val="1D6B3E"/>
                </a:solidFill>
                <a:latin typeface="Calibri"/>
              </a:rPr>
              <a:t>0.9002 (+0.026)</a:t>
            </a:r>
          </a:p>
        </p:txBody>
      </p:sp>
      <p:sp>
        <p:nvSpPr>
          <p:cNvPr id="31" name="r2mean"/>
          <p:cNvSpPr>
            <a:spLocks noGrp="1"/>
          </p:cNvSpPr>
          <p:nvPr/>
        </p:nvSpPr>
        <p:spPr>
          <a:xfrm>
            <a:off x="7828600" y="1120000"/>
            <a:ext cx="1100000" cy="230000"/>
          </a:xfrm>
          <a:prstGeom prst="rect">
            <a:avLst/>
          </a:prstGeom>
          <a:solidFill>
            <a:srgbClr val="F0F4FA"/>
          </a:solidFill>
          <a:ln/>
        </p:spPr>
        <p:txBody>
          <a:bodyPr wrap="square" lIns="91440" tIns="30000" rIns="91440" bIns="30000" rtlCol="0" anchor="ctr"/>
          <a:lstStyle/>
          <a:p>
            <a:pPr marL="0" indent="0">
              <a:buNone/>
            </a:pPr>
            <a:r>
              <a:rPr lang="en-US" sz="950" b="0" dirty="0">
                <a:solidFill>
                  <a:srgbClr val="888780"/>
                </a:solidFill>
                <a:latin typeface="Calibri"/>
              </a:rPr>
              <a:t>0.9046</a:t>
            </a:r>
          </a:p>
        </p:txBody>
      </p:sp>
      <p:sp>
        <p:nvSpPr>
          <p:cNvPr id="32" name="r3m"/>
          <p:cNvSpPr>
            <a:spLocks noGrp="1"/>
          </p:cNvSpPr>
          <p:nvPr/>
        </p:nvSpPr>
        <p:spPr>
          <a:xfrm>
            <a:off x="228600" y="1350000"/>
            <a:ext cx="2100000" cy="230000"/>
          </a:xfrm>
          <a:prstGeom prst="rect">
            <a:avLst/>
          </a:prstGeom>
          <a:solidFill>
            <a:srgbClr val="FFFFFF"/>
          </a:solidFill>
          <a:ln/>
        </p:spPr>
        <p:txBody>
          <a:bodyPr wrap="square" lIns="91440" tIns="30000" rIns="91440" bIns="30000" rtlCol="0" anchor="ctr"/>
          <a:lstStyle/>
          <a:p>
            <a:pPr marL="0" indent="0">
              <a:buNone/>
            </a:pPr>
            <a:r>
              <a:rPr lang="en-US" sz="980" b="0" dirty="0">
                <a:solidFill>
                  <a:srgbClr val="1D6B3E"/>
                </a:solidFill>
                <a:latin typeface="Calibri"/>
              </a:rPr>
              <a:t>SCAFFOLD</a:t>
            </a:r>
          </a:p>
        </p:txBody>
      </p:sp>
      <p:sp>
        <p:nvSpPr>
          <p:cNvPr id="33" name="r3s0"/>
          <p:cNvSpPr>
            <a:spLocks noGrp="1"/>
          </p:cNvSpPr>
          <p:nvPr/>
        </p:nvSpPr>
        <p:spPr>
          <a:xfrm>
            <a:off x="2328600" y="1350000"/>
            <a:ext cx="1100000" cy="230000"/>
          </a:xfrm>
          <a:prstGeom prst="rect">
            <a:avLst/>
          </a:prstGeom>
          <a:solidFill>
            <a:srgbClr val="FFFFFF"/>
          </a:solidFill>
          <a:ln/>
        </p:spPr>
        <p:txBody>
          <a:bodyPr wrap="square" lIns="91440" tIns="30000" rIns="91440" bIns="30000" rtlCol="0" anchor="ctr"/>
          <a:lstStyle/>
          <a:p>
            <a:pPr marL="0" indent="0">
              <a:buNone/>
            </a:pPr>
            <a:r>
              <a:rPr lang="en-US" sz="900" b="0" dirty="0">
                <a:solidFill>
                  <a:srgbClr val="888780"/>
                </a:solidFill>
                <a:latin typeface="Calibri"/>
              </a:rPr>
              <a:t>0.9752 (-0.002)</a:t>
            </a:r>
          </a:p>
        </p:txBody>
      </p:sp>
      <p:sp>
        <p:nvSpPr>
          <p:cNvPr id="34" name="r3s1"/>
          <p:cNvSpPr>
            <a:spLocks noGrp="1"/>
          </p:cNvSpPr>
          <p:nvPr/>
        </p:nvSpPr>
        <p:spPr>
          <a:xfrm>
            <a:off x="3428600" y="1350000"/>
            <a:ext cx="1100000" cy="230000"/>
          </a:xfrm>
          <a:prstGeom prst="rect">
            <a:avLst/>
          </a:prstGeom>
          <a:solidFill>
            <a:srgbClr val="FFFFFF"/>
          </a:solidFill>
          <a:ln/>
        </p:spPr>
        <p:txBody>
          <a:bodyPr wrap="square" lIns="91440" tIns="30000" rIns="91440" bIns="30000" rtlCol="0" anchor="ctr"/>
          <a:lstStyle/>
          <a:p>
            <a:pPr marL="0" indent="0">
              <a:buNone/>
            </a:pPr>
            <a:r>
              <a:rPr lang="en-US" sz="900" b="0" dirty="0">
                <a:solidFill>
                  <a:srgbClr val="888780"/>
                </a:solidFill>
                <a:latin typeface="Calibri"/>
              </a:rPr>
              <a:t>0.9354 (+0.008)</a:t>
            </a:r>
          </a:p>
        </p:txBody>
      </p:sp>
      <p:sp>
        <p:nvSpPr>
          <p:cNvPr id="35" name="r3s2"/>
          <p:cNvSpPr>
            <a:spLocks noGrp="1"/>
          </p:cNvSpPr>
          <p:nvPr/>
        </p:nvSpPr>
        <p:spPr>
          <a:xfrm>
            <a:off x="4528600" y="1350000"/>
            <a:ext cx="1100000" cy="230000"/>
          </a:xfrm>
          <a:prstGeom prst="rect">
            <a:avLst/>
          </a:prstGeom>
          <a:solidFill>
            <a:srgbClr val="FFFFFF"/>
          </a:solidFill>
          <a:ln/>
        </p:spPr>
        <p:txBody>
          <a:bodyPr wrap="square" lIns="91440" tIns="30000" rIns="91440" bIns="30000" rtlCol="0" anchor="ctr"/>
          <a:lstStyle/>
          <a:p>
            <a:pPr marL="0" indent="0">
              <a:buNone/>
            </a:pPr>
            <a:r>
              <a:rPr lang="en-US" sz="900" b="0" dirty="0">
                <a:solidFill>
                  <a:srgbClr val="888780"/>
                </a:solidFill>
                <a:latin typeface="Calibri"/>
              </a:rPr>
              <a:t>0.9216 (+0.007)</a:t>
            </a:r>
          </a:p>
        </p:txBody>
      </p:sp>
      <p:sp>
        <p:nvSpPr>
          <p:cNvPr id="36" name="r3s3"/>
          <p:cNvSpPr>
            <a:spLocks noGrp="1"/>
          </p:cNvSpPr>
          <p:nvPr/>
        </p:nvSpPr>
        <p:spPr>
          <a:xfrm>
            <a:off x="5628600" y="1350000"/>
            <a:ext cx="1100000" cy="230000"/>
          </a:xfrm>
          <a:prstGeom prst="rect">
            <a:avLst/>
          </a:prstGeom>
          <a:solidFill>
            <a:srgbClr val="FFFFFF"/>
          </a:solidFill>
          <a:ln/>
        </p:spPr>
        <p:txBody>
          <a:bodyPr wrap="square" lIns="91440" tIns="30000" rIns="91440" bIns="30000" rtlCol="0" anchor="ctr"/>
          <a:lstStyle/>
          <a:p>
            <a:pPr marL="0" indent="0">
              <a:buNone/>
            </a:pPr>
            <a:r>
              <a:rPr lang="en-US" sz="900" b="0" dirty="0">
                <a:solidFill>
                  <a:srgbClr val="1D6B3E"/>
                </a:solidFill>
                <a:latin typeface="Calibri"/>
              </a:rPr>
              <a:t>0.8175 (+0.028)</a:t>
            </a:r>
          </a:p>
        </p:txBody>
      </p:sp>
      <p:sp>
        <p:nvSpPr>
          <p:cNvPr id="37" name="r3s4"/>
          <p:cNvSpPr>
            <a:spLocks noGrp="1"/>
          </p:cNvSpPr>
          <p:nvPr/>
        </p:nvSpPr>
        <p:spPr>
          <a:xfrm>
            <a:off x="6728600" y="1350000"/>
            <a:ext cx="1100000" cy="230000"/>
          </a:xfrm>
          <a:prstGeom prst="rect">
            <a:avLst/>
          </a:prstGeom>
          <a:solidFill>
            <a:srgbClr val="FFFFFF"/>
          </a:solidFill>
          <a:ln/>
        </p:spPr>
        <p:txBody>
          <a:bodyPr wrap="square" lIns="91440" tIns="30000" rIns="91440" bIns="30000" rtlCol="0" anchor="ctr"/>
          <a:lstStyle/>
          <a:p>
            <a:pPr marL="0" indent="0">
              <a:buNone/>
            </a:pPr>
            <a:r>
              <a:rPr lang="en-US" sz="900" b="1" dirty="0">
                <a:solidFill>
                  <a:srgbClr val="1D6B3E"/>
                </a:solidFill>
                <a:latin typeface="Calibri"/>
              </a:rPr>
              <a:t>0.9085 (+0.034)</a:t>
            </a:r>
          </a:p>
        </p:txBody>
      </p:sp>
      <p:sp>
        <p:nvSpPr>
          <p:cNvPr id="38" name="r3mean"/>
          <p:cNvSpPr>
            <a:spLocks noGrp="1"/>
          </p:cNvSpPr>
          <p:nvPr/>
        </p:nvSpPr>
        <p:spPr>
          <a:xfrm>
            <a:off x="7828600" y="1350000"/>
            <a:ext cx="1100000" cy="230000"/>
          </a:xfrm>
          <a:prstGeom prst="rect">
            <a:avLst/>
          </a:prstGeom>
          <a:solidFill>
            <a:srgbClr val="FFFFFF"/>
          </a:solidFill>
          <a:ln/>
        </p:spPr>
        <p:txBody>
          <a:bodyPr wrap="square" lIns="91440" tIns="30000" rIns="91440" bIns="30000" rtlCol="0" anchor="ctr"/>
          <a:lstStyle/>
          <a:p>
            <a:pPr marL="0" indent="0">
              <a:buNone/>
            </a:pPr>
            <a:r>
              <a:rPr lang="en-US" sz="950" b="0" dirty="0">
                <a:solidFill>
                  <a:srgbClr val="1D6B3E"/>
                </a:solidFill>
                <a:latin typeface="Calibri"/>
              </a:rPr>
              <a:t>0.9116</a:t>
            </a:r>
          </a:p>
        </p:txBody>
      </p:sp>
      <p:sp>
        <p:nvSpPr>
          <p:cNvPr id="39" name="r4m"/>
          <p:cNvSpPr>
            <a:spLocks noGrp="1"/>
          </p:cNvSpPr>
          <p:nvPr/>
        </p:nvSpPr>
        <p:spPr>
          <a:xfrm>
            <a:off x="228600" y="1580000"/>
            <a:ext cx="2100000" cy="230000"/>
          </a:xfrm>
          <a:prstGeom prst="rect">
            <a:avLst/>
          </a:prstGeom>
          <a:solidFill>
            <a:srgbClr val="F0F4FA"/>
          </a:solidFill>
          <a:ln/>
        </p:spPr>
        <p:txBody>
          <a:bodyPr wrap="square" lIns="91440" tIns="30000" rIns="91440" bIns="30000" rtlCol="0" anchor="ctr"/>
          <a:lstStyle/>
          <a:p>
            <a:pPr marL="0" indent="0">
              <a:buNone/>
            </a:pPr>
            <a:r>
              <a:rPr lang="en-US" sz="980" b="0" dirty="0">
                <a:solidFill>
                  <a:srgbClr val="888780"/>
                </a:solidFill>
                <a:latin typeface="Calibri"/>
              </a:rPr>
              <a:t>FedAdapt</a:t>
            </a:r>
          </a:p>
        </p:txBody>
      </p:sp>
      <p:sp>
        <p:nvSpPr>
          <p:cNvPr id="40" name="r4s0"/>
          <p:cNvSpPr>
            <a:spLocks noGrp="1"/>
          </p:cNvSpPr>
          <p:nvPr/>
        </p:nvSpPr>
        <p:spPr>
          <a:xfrm>
            <a:off x="2328600" y="1580000"/>
            <a:ext cx="1100000" cy="230000"/>
          </a:xfrm>
          <a:prstGeom prst="rect">
            <a:avLst/>
          </a:prstGeom>
          <a:solidFill>
            <a:srgbClr val="F0F4FA"/>
          </a:solidFill>
          <a:ln/>
        </p:spPr>
        <p:txBody>
          <a:bodyPr wrap="square" lIns="91440" tIns="30000" rIns="91440" bIns="30000" rtlCol="0" anchor="ctr"/>
          <a:lstStyle/>
          <a:p>
            <a:pPr marL="0" indent="0">
              <a:buNone/>
            </a:pPr>
            <a:r>
              <a:rPr lang="en-US" sz="900" b="0" dirty="0">
                <a:solidFill>
                  <a:srgbClr val="C0392B"/>
                </a:solidFill>
                <a:latin typeface="Calibri"/>
              </a:rPr>
              <a:t>0.8977 (-0.079)</a:t>
            </a:r>
          </a:p>
        </p:txBody>
      </p:sp>
      <p:sp>
        <p:nvSpPr>
          <p:cNvPr id="41" name="r4s1"/>
          <p:cNvSpPr>
            <a:spLocks noGrp="1"/>
          </p:cNvSpPr>
          <p:nvPr/>
        </p:nvSpPr>
        <p:spPr>
          <a:xfrm>
            <a:off x="3428600" y="1580000"/>
            <a:ext cx="1100000" cy="230000"/>
          </a:xfrm>
          <a:prstGeom prst="rect">
            <a:avLst/>
          </a:prstGeom>
          <a:solidFill>
            <a:srgbClr val="F0F4FA"/>
          </a:solidFill>
          <a:ln/>
        </p:spPr>
        <p:txBody>
          <a:bodyPr wrap="square" lIns="91440" tIns="30000" rIns="91440" bIns="30000" rtlCol="0" anchor="ctr"/>
          <a:lstStyle/>
          <a:p>
            <a:pPr marL="0" indent="0">
              <a:buNone/>
            </a:pPr>
            <a:r>
              <a:rPr lang="en-US" sz="900" b="0" dirty="0">
                <a:solidFill>
                  <a:srgbClr val="C0392B"/>
                </a:solidFill>
                <a:latin typeface="Calibri"/>
              </a:rPr>
              <a:t>0.8780 (-0.049)</a:t>
            </a:r>
          </a:p>
        </p:txBody>
      </p:sp>
      <p:sp>
        <p:nvSpPr>
          <p:cNvPr id="42" name="r4s2"/>
          <p:cNvSpPr>
            <a:spLocks noGrp="1"/>
          </p:cNvSpPr>
          <p:nvPr/>
        </p:nvSpPr>
        <p:spPr>
          <a:xfrm>
            <a:off x="4528600" y="1580000"/>
            <a:ext cx="1100000" cy="230000"/>
          </a:xfrm>
          <a:prstGeom prst="rect">
            <a:avLst/>
          </a:prstGeom>
          <a:solidFill>
            <a:srgbClr val="F0F4FA"/>
          </a:solidFill>
          <a:ln/>
        </p:spPr>
        <p:txBody>
          <a:bodyPr wrap="square" lIns="91440" tIns="30000" rIns="91440" bIns="30000" rtlCol="0" anchor="ctr"/>
          <a:lstStyle/>
          <a:p>
            <a:pPr marL="0" indent="0">
              <a:buNone/>
            </a:pPr>
            <a:r>
              <a:rPr lang="en-US" sz="900" b="0" dirty="0">
                <a:solidFill>
                  <a:srgbClr val="C0392B"/>
                </a:solidFill>
                <a:latin typeface="Calibri"/>
              </a:rPr>
              <a:t>0.8733 (-0.041)</a:t>
            </a:r>
          </a:p>
        </p:txBody>
      </p:sp>
      <p:sp>
        <p:nvSpPr>
          <p:cNvPr id="43" name="r4s3"/>
          <p:cNvSpPr>
            <a:spLocks noGrp="1"/>
          </p:cNvSpPr>
          <p:nvPr/>
        </p:nvSpPr>
        <p:spPr>
          <a:xfrm>
            <a:off x="5628600" y="1580000"/>
            <a:ext cx="1100000" cy="230000"/>
          </a:xfrm>
          <a:prstGeom prst="rect">
            <a:avLst/>
          </a:prstGeom>
          <a:solidFill>
            <a:srgbClr val="F0F4FA"/>
          </a:solidFill>
          <a:ln/>
        </p:spPr>
        <p:txBody>
          <a:bodyPr wrap="square" lIns="91440" tIns="30000" rIns="91440" bIns="30000" rtlCol="0" anchor="ctr"/>
          <a:lstStyle/>
          <a:p>
            <a:pPr marL="0" indent="0">
              <a:buNone/>
            </a:pPr>
            <a:r>
              <a:rPr lang="en-US" sz="900" b="0" dirty="0">
                <a:solidFill>
                  <a:srgbClr val="1D6B3E"/>
                </a:solidFill>
                <a:latin typeface="Calibri"/>
              </a:rPr>
              <a:t>0.7996 (+0.010)</a:t>
            </a:r>
          </a:p>
        </p:txBody>
      </p:sp>
      <p:sp>
        <p:nvSpPr>
          <p:cNvPr id="44" name="r4s4"/>
          <p:cNvSpPr>
            <a:spLocks noGrp="1"/>
          </p:cNvSpPr>
          <p:nvPr/>
        </p:nvSpPr>
        <p:spPr>
          <a:xfrm>
            <a:off x="6728600" y="1580000"/>
            <a:ext cx="1100000" cy="230000"/>
          </a:xfrm>
          <a:prstGeom prst="rect">
            <a:avLst/>
          </a:prstGeom>
          <a:solidFill>
            <a:srgbClr val="F0F4FA"/>
          </a:solidFill>
          <a:ln/>
        </p:spPr>
        <p:txBody>
          <a:bodyPr wrap="square" lIns="91440" tIns="30000" rIns="91440" bIns="30000" rtlCol="0" anchor="ctr"/>
          <a:lstStyle/>
          <a:p>
            <a:pPr marL="0" indent="0">
              <a:buNone/>
            </a:pPr>
            <a:r>
              <a:rPr lang="en-US" sz="900" b="0" dirty="0">
                <a:solidFill>
                  <a:srgbClr val="1D6B3E"/>
                </a:solidFill>
                <a:latin typeface="Calibri"/>
              </a:rPr>
              <a:t>0.8961 (+0.022)</a:t>
            </a:r>
          </a:p>
        </p:txBody>
      </p:sp>
      <p:sp>
        <p:nvSpPr>
          <p:cNvPr id="45" name="r4mean"/>
          <p:cNvSpPr>
            <a:spLocks noGrp="1"/>
          </p:cNvSpPr>
          <p:nvPr/>
        </p:nvSpPr>
        <p:spPr>
          <a:xfrm>
            <a:off x="7828600" y="1580000"/>
            <a:ext cx="1100000" cy="230000"/>
          </a:xfrm>
          <a:prstGeom prst="rect">
            <a:avLst/>
          </a:prstGeom>
          <a:solidFill>
            <a:srgbClr val="F0F4FA"/>
          </a:solidFill>
          <a:ln/>
        </p:spPr>
        <p:txBody>
          <a:bodyPr wrap="square" lIns="91440" tIns="30000" rIns="91440" bIns="30000" rtlCol="0" anchor="ctr"/>
          <a:lstStyle/>
          <a:p>
            <a:pPr marL="0" indent="0">
              <a:buNone/>
            </a:pPr>
            <a:r>
              <a:rPr lang="en-US" sz="950" b="0" dirty="0">
                <a:solidFill>
                  <a:srgbClr val="C0392B"/>
                </a:solidFill>
                <a:latin typeface="Calibri"/>
              </a:rPr>
              <a:t>0.8689</a:t>
            </a:r>
          </a:p>
        </p:txBody>
      </p:sp>
      <p:sp>
        <p:nvSpPr>
          <p:cNvPr id="46" name="r5m"/>
          <p:cNvSpPr>
            <a:spLocks noGrp="1"/>
          </p:cNvSpPr>
          <p:nvPr/>
        </p:nvSpPr>
        <p:spPr>
          <a:xfrm>
            <a:off x="228600" y="1810000"/>
            <a:ext cx="2100000" cy="230000"/>
          </a:xfrm>
          <a:prstGeom prst="rect">
            <a:avLst/>
          </a:prstGeom>
          <a:solidFill>
            <a:srgbClr val="FFFFFF"/>
          </a:solidFill>
          <a:ln/>
        </p:spPr>
        <p:txBody>
          <a:bodyPr wrap="square" lIns="91440" tIns="30000" rIns="91440" bIns="30000" rtlCol="0" anchor="ctr"/>
          <a:lstStyle/>
          <a:p>
            <a:pPr marL="0" indent="0">
              <a:buNone/>
            </a:pPr>
            <a:r>
              <a:rPr lang="en-US" sz="980" b="0" dirty="0">
                <a:solidFill>
                  <a:srgbClr val="BA7517"/>
                </a:solidFill>
                <a:latin typeface="Calibri"/>
              </a:rPr>
              <a:t>FedAdaptProto</a:t>
            </a:r>
          </a:p>
        </p:txBody>
      </p:sp>
      <p:sp>
        <p:nvSpPr>
          <p:cNvPr id="47" name="r5s0"/>
          <p:cNvSpPr>
            <a:spLocks noGrp="1"/>
          </p:cNvSpPr>
          <p:nvPr/>
        </p:nvSpPr>
        <p:spPr>
          <a:xfrm>
            <a:off x="2328600" y="1810000"/>
            <a:ext cx="1100000" cy="230000"/>
          </a:xfrm>
          <a:prstGeom prst="rect">
            <a:avLst/>
          </a:prstGeom>
          <a:solidFill>
            <a:srgbClr val="FFFFFF"/>
          </a:solidFill>
          <a:ln/>
        </p:spPr>
        <p:txBody>
          <a:bodyPr wrap="square" lIns="91440" tIns="30000" rIns="91440" bIns="30000" rtlCol="0" anchor="ctr"/>
          <a:lstStyle/>
          <a:p>
            <a:pPr marL="0" indent="0">
              <a:buNone/>
            </a:pPr>
            <a:r>
              <a:rPr lang="en-US" sz="900" b="0" dirty="0">
                <a:solidFill>
                  <a:srgbClr val="C0392B"/>
                </a:solidFill>
                <a:latin typeface="Calibri"/>
              </a:rPr>
              <a:t>0.9412 (-0.036)</a:t>
            </a:r>
          </a:p>
        </p:txBody>
      </p:sp>
      <p:sp>
        <p:nvSpPr>
          <p:cNvPr id="48" name="r5s1"/>
          <p:cNvSpPr>
            <a:spLocks noGrp="1"/>
          </p:cNvSpPr>
          <p:nvPr/>
        </p:nvSpPr>
        <p:spPr>
          <a:xfrm>
            <a:off x="3428600" y="1810000"/>
            <a:ext cx="1100000" cy="230000"/>
          </a:xfrm>
          <a:prstGeom prst="rect">
            <a:avLst/>
          </a:prstGeom>
          <a:solidFill>
            <a:srgbClr val="FFFFFF"/>
          </a:solidFill>
          <a:ln/>
        </p:spPr>
        <p:txBody>
          <a:bodyPr wrap="square" lIns="91440" tIns="30000" rIns="91440" bIns="30000" rtlCol="0" anchor="ctr"/>
          <a:lstStyle/>
          <a:p>
            <a:pPr marL="0" indent="0">
              <a:buNone/>
            </a:pPr>
            <a:r>
              <a:rPr lang="en-US" sz="900" b="0" dirty="0">
                <a:solidFill>
                  <a:srgbClr val="C0392B"/>
                </a:solidFill>
                <a:latin typeface="Calibri"/>
              </a:rPr>
              <a:t>0.9005 (-0.027)</a:t>
            </a:r>
          </a:p>
        </p:txBody>
      </p:sp>
      <p:sp>
        <p:nvSpPr>
          <p:cNvPr id="49" name="r5s2"/>
          <p:cNvSpPr>
            <a:spLocks noGrp="1"/>
          </p:cNvSpPr>
          <p:nvPr/>
        </p:nvSpPr>
        <p:spPr>
          <a:xfrm>
            <a:off x="4528600" y="1810000"/>
            <a:ext cx="1100000" cy="230000"/>
          </a:xfrm>
          <a:prstGeom prst="rect">
            <a:avLst/>
          </a:prstGeom>
          <a:solidFill>
            <a:srgbClr val="FFFFFF"/>
          </a:solidFill>
          <a:ln/>
        </p:spPr>
        <p:txBody>
          <a:bodyPr wrap="square" lIns="91440" tIns="30000" rIns="91440" bIns="30000" rtlCol="0" anchor="ctr"/>
          <a:lstStyle/>
          <a:p>
            <a:pPr marL="0" indent="0">
              <a:buNone/>
            </a:pPr>
            <a:r>
              <a:rPr lang="en-US" sz="900" b="0" dirty="0">
                <a:solidFill>
                  <a:srgbClr val="888780"/>
                </a:solidFill>
                <a:latin typeface="Calibri"/>
              </a:rPr>
              <a:t>0.9126 (-0.002)</a:t>
            </a:r>
          </a:p>
        </p:txBody>
      </p:sp>
      <p:sp>
        <p:nvSpPr>
          <p:cNvPr id="50" name="r5s3"/>
          <p:cNvSpPr>
            <a:spLocks noGrp="1"/>
          </p:cNvSpPr>
          <p:nvPr/>
        </p:nvSpPr>
        <p:spPr>
          <a:xfrm>
            <a:off x="5628600" y="1810000"/>
            <a:ext cx="1100000" cy="230000"/>
          </a:xfrm>
          <a:prstGeom prst="rect">
            <a:avLst/>
          </a:prstGeom>
          <a:solidFill>
            <a:srgbClr val="FFFFFF"/>
          </a:solidFill>
          <a:ln/>
        </p:spPr>
        <p:txBody>
          <a:bodyPr wrap="square" lIns="91440" tIns="30000" rIns="91440" bIns="30000" rtlCol="0" anchor="ctr"/>
          <a:lstStyle/>
          <a:p>
            <a:pPr marL="0" indent="0">
              <a:buNone/>
            </a:pPr>
            <a:r>
              <a:rPr lang="en-US" sz="900" b="1" dirty="0">
                <a:solidFill>
                  <a:srgbClr val="1D6B3E"/>
                </a:solidFill>
                <a:latin typeface="Calibri"/>
              </a:rPr>
              <a:t>0.8532 (+0.064)</a:t>
            </a:r>
          </a:p>
        </p:txBody>
      </p:sp>
      <p:sp>
        <p:nvSpPr>
          <p:cNvPr id="51" name="r5s4"/>
          <p:cNvSpPr>
            <a:spLocks noGrp="1"/>
          </p:cNvSpPr>
          <p:nvPr/>
        </p:nvSpPr>
        <p:spPr>
          <a:xfrm>
            <a:off x="6728600" y="1810000"/>
            <a:ext cx="1100000" cy="230000"/>
          </a:xfrm>
          <a:prstGeom prst="rect">
            <a:avLst/>
          </a:prstGeom>
          <a:solidFill>
            <a:srgbClr val="FFFFFF"/>
          </a:solidFill>
          <a:ln/>
        </p:spPr>
        <p:txBody>
          <a:bodyPr wrap="square" lIns="91440" tIns="30000" rIns="91440" bIns="30000" rtlCol="0" anchor="ctr"/>
          <a:lstStyle/>
          <a:p>
            <a:pPr marL="0" indent="0">
              <a:buNone/>
            </a:pPr>
            <a:r>
              <a:rPr lang="en-US" sz="900" b="1" dirty="0">
                <a:solidFill>
                  <a:srgbClr val="1D6B3E"/>
                </a:solidFill>
                <a:latin typeface="Calibri"/>
              </a:rPr>
              <a:t>0.9119 (+0.038)</a:t>
            </a:r>
          </a:p>
        </p:txBody>
      </p:sp>
      <p:sp>
        <p:nvSpPr>
          <p:cNvPr id="52" name="r5mean"/>
          <p:cNvSpPr>
            <a:spLocks noGrp="1"/>
          </p:cNvSpPr>
          <p:nvPr/>
        </p:nvSpPr>
        <p:spPr>
          <a:xfrm>
            <a:off x="7828600" y="1810000"/>
            <a:ext cx="1100000" cy="230000"/>
          </a:xfrm>
          <a:prstGeom prst="rect">
            <a:avLst/>
          </a:prstGeom>
          <a:solidFill>
            <a:srgbClr val="FFFFFF"/>
          </a:solidFill>
          <a:ln/>
        </p:spPr>
        <p:txBody>
          <a:bodyPr wrap="square" lIns="91440" tIns="30000" rIns="91440" bIns="30000" rtlCol="0" anchor="ctr"/>
          <a:lstStyle/>
          <a:p>
            <a:pPr marL="0" indent="0">
              <a:buNone/>
            </a:pPr>
            <a:r>
              <a:rPr lang="en-US" sz="950" b="0" dirty="0">
                <a:solidFill>
                  <a:srgbClr val="888780"/>
                </a:solidFill>
                <a:latin typeface="Calibri"/>
              </a:rPr>
              <a:t>0.9039</a:t>
            </a:r>
          </a:p>
        </p:txBody>
      </p:sp>
      <p:sp>
        <p:nvSpPr>
          <p:cNvPr id="53" name="r6m"/>
          <p:cNvSpPr>
            <a:spLocks noGrp="1"/>
          </p:cNvSpPr>
          <p:nvPr/>
        </p:nvSpPr>
        <p:spPr>
          <a:xfrm>
            <a:off x="228600" y="2040000"/>
            <a:ext cx="2100000" cy="230000"/>
          </a:xfrm>
          <a:prstGeom prst="rect">
            <a:avLst/>
          </a:prstGeom>
          <a:solidFill>
            <a:srgbClr val="FFF8F0"/>
          </a:solidFill>
          <a:ln/>
        </p:spPr>
        <p:txBody>
          <a:bodyPr wrap="square" lIns="91440" tIns="30000" rIns="91440" bIns="30000" rtlCol="0" anchor="ctr"/>
          <a:lstStyle/>
          <a:p>
            <a:pPr marL="0" indent="0">
              <a:buNone/>
            </a:pPr>
            <a:r>
              <a:rPr lang="en-US" sz="980" b="1" dirty="0">
                <a:solidFill>
                  <a:srgbClr val="C0392B"/>
                </a:solidFill>
                <a:latin typeface="Calibri"/>
              </a:rPr>
              <a:t>FedAdaptProto v2.3</a:t>
            </a:r>
          </a:p>
        </p:txBody>
      </p:sp>
      <p:sp>
        <p:nvSpPr>
          <p:cNvPr id="54" name="r6s0"/>
          <p:cNvSpPr>
            <a:spLocks noGrp="1"/>
          </p:cNvSpPr>
          <p:nvPr/>
        </p:nvSpPr>
        <p:spPr>
          <a:xfrm>
            <a:off x="2328600" y="2040000"/>
            <a:ext cx="1100000" cy="230000"/>
          </a:xfrm>
          <a:prstGeom prst="rect">
            <a:avLst/>
          </a:prstGeom>
          <a:solidFill>
            <a:srgbClr val="FFF8F0"/>
          </a:solidFill>
          <a:ln/>
        </p:spPr>
        <p:txBody>
          <a:bodyPr wrap="square" lIns="91440" tIns="30000" rIns="91440" bIns="30000" rtlCol="0" anchor="ctr"/>
          <a:lstStyle/>
          <a:p>
            <a:pPr marL="0" indent="0">
              <a:buNone/>
            </a:pPr>
            <a:r>
              <a:rPr lang="en-US" sz="900" b="0" dirty="0">
                <a:solidFill>
                  <a:srgbClr val="C0392B"/>
                </a:solidFill>
                <a:latin typeface="Calibri"/>
              </a:rPr>
              <a:t>0.9418 (-0.035)</a:t>
            </a:r>
          </a:p>
        </p:txBody>
      </p:sp>
      <p:sp>
        <p:nvSpPr>
          <p:cNvPr id="55" name="r6s1"/>
          <p:cNvSpPr>
            <a:spLocks noGrp="1"/>
          </p:cNvSpPr>
          <p:nvPr/>
        </p:nvSpPr>
        <p:spPr>
          <a:xfrm>
            <a:off x="3428600" y="2040000"/>
            <a:ext cx="1100000" cy="230000"/>
          </a:xfrm>
          <a:prstGeom prst="rect">
            <a:avLst/>
          </a:prstGeom>
          <a:solidFill>
            <a:srgbClr val="FFF8F0"/>
          </a:solidFill>
          <a:ln/>
        </p:spPr>
        <p:txBody>
          <a:bodyPr wrap="square" lIns="91440" tIns="30000" rIns="91440" bIns="30000" rtlCol="0" anchor="ctr"/>
          <a:lstStyle/>
          <a:p>
            <a:pPr marL="0" indent="0">
              <a:buNone/>
            </a:pPr>
            <a:r>
              <a:rPr lang="en-US" sz="900" b="0" dirty="0">
                <a:solidFill>
                  <a:srgbClr val="888780"/>
                </a:solidFill>
                <a:latin typeface="Calibri"/>
              </a:rPr>
              <a:t>0.9334 (+0.006)</a:t>
            </a:r>
          </a:p>
        </p:txBody>
      </p:sp>
      <p:sp>
        <p:nvSpPr>
          <p:cNvPr id="56" name="r6s2"/>
          <p:cNvSpPr>
            <a:spLocks noGrp="1"/>
          </p:cNvSpPr>
          <p:nvPr/>
        </p:nvSpPr>
        <p:spPr>
          <a:xfrm>
            <a:off x="4528600" y="2040000"/>
            <a:ext cx="1100000" cy="230000"/>
          </a:xfrm>
          <a:prstGeom prst="rect">
            <a:avLst/>
          </a:prstGeom>
          <a:solidFill>
            <a:srgbClr val="FFF8F0"/>
          </a:solidFill>
          <a:ln/>
        </p:spPr>
        <p:txBody>
          <a:bodyPr wrap="square" lIns="91440" tIns="30000" rIns="91440" bIns="30000" rtlCol="0" anchor="ctr"/>
          <a:lstStyle/>
          <a:p>
            <a:pPr marL="0" indent="0">
              <a:buNone/>
            </a:pPr>
            <a:r>
              <a:rPr lang="en-US" sz="900" b="0" dirty="0">
                <a:solidFill>
                  <a:srgbClr val="C0392B"/>
                </a:solidFill>
                <a:latin typeface="Calibri"/>
              </a:rPr>
              <a:t>0.8724 (-0.042)</a:t>
            </a:r>
          </a:p>
        </p:txBody>
      </p:sp>
      <p:sp>
        <p:nvSpPr>
          <p:cNvPr id="57" name="r6s3"/>
          <p:cNvSpPr>
            <a:spLocks noGrp="1"/>
          </p:cNvSpPr>
          <p:nvPr/>
        </p:nvSpPr>
        <p:spPr>
          <a:xfrm>
            <a:off x="5628600" y="2040000"/>
            <a:ext cx="1100000" cy="230000"/>
          </a:xfrm>
          <a:prstGeom prst="rect">
            <a:avLst/>
          </a:prstGeom>
          <a:solidFill>
            <a:srgbClr val="FFF8F0"/>
          </a:solidFill>
          <a:ln/>
        </p:spPr>
        <p:txBody>
          <a:bodyPr wrap="square" lIns="91440" tIns="30000" rIns="91440" bIns="30000" rtlCol="0" anchor="ctr"/>
          <a:lstStyle/>
          <a:p>
            <a:pPr marL="0" indent="0">
              <a:buNone/>
            </a:pPr>
            <a:r>
              <a:rPr lang="en-US" sz="900" b="1" dirty="0">
                <a:solidFill>
                  <a:srgbClr val="1D6B3E"/>
                </a:solidFill>
                <a:latin typeface="Calibri"/>
              </a:rPr>
              <a:t>0.8328 (+0.043)</a:t>
            </a:r>
          </a:p>
        </p:txBody>
      </p:sp>
      <p:sp>
        <p:nvSpPr>
          <p:cNvPr id="58" name="r6s4"/>
          <p:cNvSpPr>
            <a:spLocks noGrp="1"/>
          </p:cNvSpPr>
          <p:nvPr/>
        </p:nvSpPr>
        <p:spPr>
          <a:xfrm>
            <a:off x="6728600" y="2040000"/>
            <a:ext cx="1100000" cy="230000"/>
          </a:xfrm>
          <a:prstGeom prst="rect">
            <a:avLst/>
          </a:prstGeom>
          <a:solidFill>
            <a:srgbClr val="FFF8F0"/>
          </a:solidFill>
          <a:ln/>
        </p:spPr>
        <p:txBody>
          <a:bodyPr wrap="square" lIns="91440" tIns="30000" rIns="91440" bIns="30000" rtlCol="0" anchor="ctr"/>
          <a:lstStyle/>
          <a:p>
            <a:pPr marL="0" indent="0">
              <a:buNone/>
            </a:pPr>
            <a:r>
              <a:rPr lang="en-US" sz="900" b="0" dirty="0">
                <a:solidFill>
                  <a:srgbClr val="1D6B3E"/>
                </a:solidFill>
                <a:latin typeface="Calibri"/>
              </a:rPr>
              <a:t>0.8943 (+0.020)</a:t>
            </a:r>
          </a:p>
        </p:txBody>
      </p:sp>
      <p:sp>
        <p:nvSpPr>
          <p:cNvPr id="59" name="r6mean"/>
          <p:cNvSpPr>
            <a:spLocks noGrp="1"/>
          </p:cNvSpPr>
          <p:nvPr/>
        </p:nvSpPr>
        <p:spPr>
          <a:xfrm>
            <a:off x="7828600" y="2040000"/>
            <a:ext cx="1100000" cy="230000"/>
          </a:xfrm>
          <a:prstGeom prst="rect">
            <a:avLst/>
          </a:prstGeom>
          <a:solidFill>
            <a:srgbClr val="FFF8F0"/>
          </a:solidFill>
          <a:ln/>
        </p:spPr>
        <p:txBody>
          <a:bodyPr wrap="square" lIns="91440" tIns="30000" rIns="91440" bIns="30000" rtlCol="0" anchor="ctr"/>
          <a:lstStyle/>
          <a:p>
            <a:pPr marL="0" indent="0">
              <a:buNone/>
            </a:pPr>
            <a:r>
              <a:rPr lang="en-US" sz="950" b="1" dirty="0">
                <a:solidFill>
                  <a:srgbClr val="888780"/>
                </a:solidFill>
                <a:latin typeface="Calibri"/>
              </a:rPr>
              <a:t>0.8949</a:t>
            </a:r>
          </a:p>
        </p:txBody>
      </p:sp>
      <p:sp>
        <p:nvSpPr>
          <p:cNvPr id="60" name="r7m"/>
          <p:cNvSpPr>
            <a:spLocks noGrp="1"/>
          </p:cNvSpPr>
          <p:nvPr/>
        </p:nvSpPr>
        <p:spPr>
          <a:xfrm>
            <a:off x="228600" y="2270000"/>
            <a:ext cx="2100000" cy="230000"/>
          </a:xfrm>
          <a:prstGeom prst="rect">
            <a:avLst/>
          </a:prstGeom>
          <a:solidFill>
            <a:srgbClr val="FFF8F0"/>
          </a:solidFill>
          <a:ln/>
        </p:spPr>
        <p:txBody>
          <a:bodyPr wrap="square" lIns="91440" tIns="30000" rIns="91440" bIns="30000" rtlCol="0" anchor="ctr"/>
          <a:lstStyle/>
          <a:p>
            <a:pPr marL="0" indent="0">
              <a:buNone/>
            </a:pPr>
            <a:r>
              <a:rPr lang="en-US" sz="980" b="1" dirty="0">
                <a:solidFill>
                  <a:srgbClr val="C0392B"/>
                </a:solidFill>
                <a:latin typeface="Calibri"/>
              </a:rPr>
              <a:t>FedAdaptProto v2.4</a:t>
            </a:r>
          </a:p>
        </p:txBody>
      </p:sp>
      <p:sp>
        <p:nvSpPr>
          <p:cNvPr id="61" name="r7s0"/>
          <p:cNvSpPr>
            <a:spLocks noGrp="1"/>
          </p:cNvSpPr>
          <p:nvPr/>
        </p:nvSpPr>
        <p:spPr>
          <a:xfrm>
            <a:off x="2328600" y="2270000"/>
            <a:ext cx="1100000" cy="230000"/>
          </a:xfrm>
          <a:prstGeom prst="rect">
            <a:avLst/>
          </a:prstGeom>
          <a:solidFill>
            <a:srgbClr val="FFF8F0"/>
          </a:solidFill>
          <a:ln/>
        </p:spPr>
        <p:txBody>
          <a:bodyPr wrap="square" lIns="91440" tIns="30000" rIns="91440" bIns="30000" rtlCol="0" anchor="ctr"/>
          <a:lstStyle/>
          <a:p>
            <a:pPr marL="0" indent="0">
              <a:buNone/>
            </a:pPr>
            <a:r>
              <a:rPr lang="en-US" sz="900" b="0" dirty="0">
                <a:solidFill>
                  <a:srgbClr val="888780"/>
                </a:solidFill>
                <a:latin typeface="Calibri"/>
              </a:rPr>
              <a:t>0.9704 (-0.006)</a:t>
            </a:r>
          </a:p>
        </p:txBody>
      </p:sp>
      <p:sp>
        <p:nvSpPr>
          <p:cNvPr id="62" name="r7s1"/>
          <p:cNvSpPr>
            <a:spLocks noGrp="1"/>
          </p:cNvSpPr>
          <p:nvPr/>
        </p:nvSpPr>
        <p:spPr>
          <a:xfrm>
            <a:off x="3428600" y="2270000"/>
            <a:ext cx="1100000" cy="230000"/>
          </a:xfrm>
          <a:prstGeom prst="rect">
            <a:avLst/>
          </a:prstGeom>
          <a:solidFill>
            <a:srgbClr val="FFF8F0"/>
          </a:solidFill>
          <a:ln/>
        </p:spPr>
        <p:txBody>
          <a:bodyPr wrap="square" lIns="91440" tIns="30000" rIns="91440" bIns="30000" rtlCol="0" anchor="ctr"/>
          <a:lstStyle/>
          <a:p>
            <a:pPr marL="0" indent="0">
              <a:buNone/>
            </a:pPr>
            <a:r>
              <a:rPr lang="en-US" sz="900" b="0" dirty="0">
                <a:solidFill>
                  <a:srgbClr val="888780"/>
                </a:solidFill>
                <a:latin typeface="Calibri"/>
              </a:rPr>
              <a:t>0.9192 (-0.008)</a:t>
            </a:r>
          </a:p>
        </p:txBody>
      </p:sp>
      <p:sp>
        <p:nvSpPr>
          <p:cNvPr id="63" name="r7s2"/>
          <p:cNvSpPr>
            <a:spLocks noGrp="1"/>
          </p:cNvSpPr>
          <p:nvPr/>
        </p:nvSpPr>
        <p:spPr>
          <a:xfrm>
            <a:off x="4528600" y="2270000"/>
            <a:ext cx="1100000" cy="230000"/>
          </a:xfrm>
          <a:prstGeom prst="rect">
            <a:avLst/>
          </a:prstGeom>
          <a:solidFill>
            <a:srgbClr val="FFF8F0"/>
          </a:solidFill>
          <a:ln/>
        </p:spPr>
        <p:txBody>
          <a:bodyPr wrap="square" lIns="91440" tIns="30000" rIns="91440" bIns="30000" rtlCol="0" anchor="ctr"/>
          <a:lstStyle/>
          <a:p>
            <a:pPr marL="0" indent="0">
              <a:buNone/>
            </a:pPr>
            <a:r>
              <a:rPr lang="en-US" sz="900" b="0" dirty="0">
                <a:solidFill>
                  <a:srgbClr val="C0392B"/>
                </a:solidFill>
                <a:latin typeface="Calibri"/>
              </a:rPr>
              <a:t>0.8904 (-0.024)</a:t>
            </a:r>
          </a:p>
        </p:txBody>
      </p:sp>
      <p:sp>
        <p:nvSpPr>
          <p:cNvPr id="64" name="r7s3"/>
          <p:cNvSpPr>
            <a:spLocks noGrp="1"/>
          </p:cNvSpPr>
          <p:nvPr/>
        </p:nvSpPr>
        <p:spPr>
          <a:xfrm>
            <a:off x="5628600" y="2270000"/>
            <a:ext cx="1100000" cy="230000"/>
          </a:xfrm>
          <a:prstGeom prst="rect">
            <a:avLst/>
          </a:prstGeom>
          <a:solidFill>
            <a:srgbClr val="FFF8F0"/>
          </a:solidFill>
          <a:ln/>
        </p:spPr>
        <p:txBody>
          <a:bodyPr wrap="square" lIns="91440" tIns="30000" rIns="91440" bIns="30000" rtlCol="0" anchor="ctr"/>
          <a:lstStyle/>
          <a:p>
            <a:pPr marL="0" indent="0">
              <a:buNone/>
            </a:pPr>
            <a:r>
              <a:rPr lang="en-US" sz="900" b="1" dirty="0">
                <a:solidFill>
                  <a:srgbClr val="1D6B3E"/>
                </a:solidFill>
                <a:latin typeface="Calibri"/>
              </a:rPr>
              <a:t>0.8223 (+0.033)</a:t>
            </a:r>
          </a:p>
        </p:txBody>
      </p:sp>
      <p:sp>
        <p:nvSpPr>
          <p:cNvPr id="65" name="r7s4"/>
          <p:cNvSpPr>
            <a:spLocks noGrp="1"/>
          </p:cNvSpPr>
          <p:nvPr/>
        </p:nvSpPr>
        <p:spPr>
          <a:xfrm>
            <a:off x="6728600" y="2270000"/>
            <a:ext cx="1100000" cy="230000"/>
          </a:xfrm>
          <a:prstGeom prst="rect">
            <a:avLst/>
          </a:prstGeom>
          <a:solidFill>
            <a:srgbClr val="FFF8F0"/>
          </a:solidFill>
          <a:ln/>
        </p:spPr>
        <p:txBody>
          <a:bodyPr wrap="square" lIns="91440" tIns="30000" rIns="91440" bIns="30000" rtlCol="0" anchor="ctr"/>
          <a:lstStyle/>
          <a:p>
            <a:pPr marL="0" indent="0">
              <a:buNone/>
            </a:pPr>
            <a:r>
              <a:rPr lang="en-US" sz="900" b="0" dirty="0">
                <a:solidFill>
                  <a:srgbClr val="1D6B3E"/>
                </a:solidFill>
                <a:latin typeface="Calibri"/>
              </a:rPr>
              <a:t>0.8964 (+0.022)</a:t>
            </a:r>
          </a:p>
        </p:txBody>
      </p:sp>
      <p:sp>
        <p:nvSpPr>
          <p:cNvPr id="66" name="r7mean"/>
          <p:cNvSpPr>
            <a:spLocks noGrp="1"/>
          </p:cNvSpPr>
          <p:nvPr/>
        </p:nvSpPr>
        <p:spPr>
          <a:xfrm>
            <a:off x="7828600" y="2270000"/>
            <a:ext cx="1100000" cy="230000"/>
          </a:xfrm>
          <a:prstGeom prst="rect">
            <a:avLst/>
          </a:prstGeom>
          <a:solidFill>
            <a:srgbClr val="FFF8F0"/>
          </a:solidFill>
          <a:ln/>
        </p:spPr>
        <p:txBody>
          <a:bodyPr wrap="square" lIns="91440" tIns="30000" rIns="91440" bIns="30000" rtlCol="0" anchor="ctr"/>
          <a:lstStyle/>
          <a:p>
            <a:pPr marL="0" indent="0">
              <a:buNone/>
            </a:pPr>
            <a:r>
              <a:rPr lang="en-US" sz="950" b="1" dirty="0">
                <a:solidFill>
                  <a:srgbClr val="888780"/>
                </a:solidFill>
                <a:latin typeface="Calibri"/>
              </a:rPr>
              <a:t>0.8997</a:t>
            </a:r>
          </a:p>
        </p:txBody>
      </p:sp>
      <p:sp>
        <p:nvSpPr>
          <p:cNvPr id="67" name="notes"/>
          <p:cNvSpPr>
            <a:spLocks noGrp="1"/>
          </p:cNvSpPr>
          <p:nvPr/>
        </p:nvSpPr>
        <p:spPr>
          <a:xfrm>
            <a:off x="228600" y="2560000"/>
            <a:ext cx="8687400" cy="800000"/>
          </a:xfrm>
          <a:prstGeom prst="rect">
            <a:avLst/>
          </a:prstGeom>
          <a:solidFill>
            <a:srgbClr val="E8F0FB"/>
          </a:solidFill>
          <a:ln/>
        </p:spPr>
        <p:txBody>
          <a:bodyPr wrap="square" lIns="182880" tIns="91440" rIns="182880" bIns="91440" rtlCol="0" anchor="t"/>
          <a:lstStyle/>
          <a:p>
            <a:pPr marL="0" indent="0">
              <a:buNone/>
            </a:pPr>
            <a:r>
              <a:rPr lang="en-US" sz="1100" b="1" dirty="0">
                <a:solidFill>
                  <a:srgbClr val="1E3A5F"/>
                </a:solidFill>
                <a:latin typeface="Calibri"/>
              </a:rPr>
              <a:t>Key findings  (alpha=0.3, gamma=0.75)</a:t>
            </a:r>
          </a:p>
          <a:p>
            <a:pPr marL="0" indent="0">
              <a:buNone/>
            </a:pPr>
            <a:r>
              <a:rPr lang="en-US" sz="1000" b="0" dirty="0">
                <a:solidFill>
                  <a:srgbClr val="000000"/>
                </a:solidFill>
                <a:latin typeface="Calibri"/>
              </a:rPr>
              <a:t>SCAFFOLD achieves highest mean AUROC (0.9116) and best FL-gain on primary benefitter sites (site_D +0.028, site_E +0.034).</a:t>
            </a:r>
          </a:p>
          <a:p>
            <a:pPr marL="0" indent="0">
              <a:buNone/>
            </a:pPr>
            <a:r>
              <a:rPr lang="en-US" sz="1000" b="0" dirty="0">
                <a:solidFill>
                  <a:srgbClr val="000000"/>
                </a:solidFill>
                <a:latin typeface="Calibri"/>
              </a:rPr>
              <a:t>FedAdaptProto (original) achieves strongest site_D gain (+0.064) — largest FL benefit for the highest-gain site. Validates FL-gain index.</a:t>
            </a:r>
          </a:p>
          <a:p>
            <a:pPr marL="0" indent="0">
              <a:buNone/>
            </a:pPr>
            <a:r>
              <a:rPr lang="en-US" sz="1000" b="0" dirty="0">
                <a:solidFill>
                  <a:srgbClr val="000000"/>
                </a:solidFill>
                <a:latin typeface="Calibri"/>
              </a:rPr>
              <a:t>FedAdaptProto v2.3 (manual K): site_D +0.043, site_E +0.020. FL-gain validated 5/5. Best personalisation-aware result.</a:t>
            </a:r>
          </a:p>
          <a:p>
            <a:pPr marL="0" indent="0">
              <a:buNone/>
            </a:pPr>
            <a:r>
              <a:rPr lang="en-US" sz="1000" b="0" dirty="0">
                <a:solidFill>
                  <a:srgbClr val="000000"/>
                </a:solidFill>
                <a:latin typeface="Calibri"/>
              </a:rPr>
              <a:t>FedAdaptProto v2.4 (auto-K, 5-seed mean): site_D +0.033, site_E +0.022. Competitive. Best mean AUROC among FedAdaptProto variants.</a:t>
            </a:r>
          </a:p>
          <a:p>
            <a:pPr marL="0" indent="0">
              <a:buNone/>
            </a:pPr>
            <a:r>
              <a:rPr lang="en-US" sz="1000" b="0" dirty="0">
                <a:solidFill>
                  <a:srgbClr val="000000"/>
                </a:solidFill>
                <a:latin typeface="Calibri"/>
              </a:rPr>
              <a:t>FedAdapt consistently underperforms — no prototype alignment, adversarial-only approach insufficient for heterogeneous clinical networks.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FedAdaptProto Config">
    <p:bg>
      <p:bgPr>
        <a:solidFill>
          <a:srgbClr val="FFFFFF"/>
        </a:solidFill>
        <a:effectLst/>
      </p:bgPr>
    </p:bg>
    <p:spTree>
      <p:nvGrpSpPr>
        <p:cNvPr id="1" name=""/>
        <p:cNvGrpSpPr/>
        <p:nvPr/>
      </p:nvGrpSpPr>
      <p:grpSpPr>
        <a:xfrm>
          <a:off x="0" y="0"/>
          <a:ext cx="0" cy="0"/>
          <a:chOff x="0" y="0"/>
          <a:chExt cx="0" cy="0"/>
        </a:xfrm>
      </p:grpSpPr>
      <p:sp>
        <p:nvSpPr>
          <p:cNvPr id="2" name="hdr"/>
          <p:cNvSpPr/>
          <p:nvPr/>
        </p:nvSpPr>
        <p:spPr>
          <a:xfrm>
            <a:off x="0" y="0"/>
            <a:ext cx="9144000" cy="420000"/>
          </a:xfrm>
          <a:prstGeom prst="rect">
            <a:avLst/>
          </a:prstGeom>
          <a:solidFill>
            <a:srgbClr val="1E3A5F"/>
          </a:solidFill>
          <a:ln/>
        </p:spPr>
        <p:txBody>
          <a:bodyPr wrap="square" lIns="274638" tIns="91440" rIns="274638" bIns="91440" rtlCol="0" anchor="ctr"/>
          <a:lstStyle/>
          <a:p>
            <a:pPr marL="0" indent="0">
              <a:buNone/>
            </a:pPr>
            <a:r>
              <a:rPr lang="en-US" sz="1800" b="1" dirty="0">
                <a:solidFill>
                  <a:srgbClr val="FFFFFF"/>
                </a:solidFill>
                <a:latin typeface="Calibri"/>
              </a:rPr>
              <a:t>Phase 2: FedAdaptProto v2.3 — Architecture and Configuration</a:t>
            </a:r>
          </a:p>
        </p:txBody>
      </p:sp>
      <p:sp>
        <p:nvSpPr>
          <p:cNvPr id="3" name="arch_hdr"/>
          <p:cNvSpPr/>
          <p:nvPr/>
        </p:nvSpPr>
        <p:spPr>
          <a:xfrm>
            <a:off x="228600" y="480000"/>
            <a:ext cx="4100000" cy="230000"/>
          </a:xfrm>
          <a:prstGeom prst="rect">
            <a:avLst/>
          </a:prstGeom>
          <a:solidFill>
            <a:srgbClr val="1E3A5F"/>
          </a:solidFill>
        </p:spPr>
        <p:txBody>
          <a:bodyPr wrap="square" lIns="182880" tIns="45720" rIns="182880" bIns="45720" rtlCol="0" anchor="ctr"/>
          <a:lstStyle/>
          <a:p>
            <a:pPr marL="0" indent="0">
              <a:buNone/>
            </a:pPr>
            <a:r>
              <a:rPr lang="en-US" sz="1400" b="1" dirty="0">
                <a:solidFill>
                  <a:srgbClr val="FFFFFF"/>
                </a:solidFill>
                <a:latin typeface="Calibri"/>
              </a:rPr>
              <a:t>Model Architecture</a:t>
            </a:r>
          </a:p>
        </p:txBody>
      </p:sp>
      <p:sp>
        <p:nvSpPr>
          <p:cNvPr id="4" name="arch_body"/>
          <p:cNvSpPr/>
          <p:nvPr/>
        </p:nvSpPr>
        <p:spPr>
          <a:xfrm>
            <a:off x="228600" y="730000"/>
            <a:ext cx="4100000" cy="2600000"/>
          </a:xfrm>
          <a:prstGeom prst="rect">
            <a:avLst/>
          </a:prstGeom>
          <a:solidFill>
            <a:srgbClr val="F0F4FA"/>
          </a:solidFill>
        </p:spPr>
        <p:txBody>
          <a:bodyPr wrap="square" lIns="182880" tIns="91440" rIns="182880" bIns="91440" rtlCol="0" anchor="t"/>
          <a:lstStyle/>
          <a:p>
            <a:pPr marL="0" indent="0">
              <a:buNone/>
            </a:pPr>
            <a:r>
              <a:rPr lang="en-US" sz="1200" b="1" dirty="0">
                <a:latin typeface="Calibri"/>
              </a:rPr>
              <a:t>SiteInputAdapter</a:t>
            </a:r>
          </a:p>
          <a:p>
            <a:pPr marL="182880" indent="0">
              <a:buNone/>
            </a:pPr>
            <a:r>
              <a:rPr lang="en-US" sz="1100" dirty="0">
                <a:latin typeface="Calibri"/>
              </a:rPr>
              <a:t>Site-specific linear projection: input_dim → 64-dim embedding</a:t>
            </a:r>
          </a:p>
          <a:p>
            <a:pPr marL="0" indent="0">
              <a:buNone/>
            </a:pPr>
            <a:endParaRPr lang="en-US" sz="1100" dirty="0">
              <a:latin typeface="Calibri"/>
            </a:endParaRPr>
          </a:p>
          <a:p>
            <a:pPr marL="0" indent="0">
              <a:buNone/>
            </a:pPr>
            <a:r>
              <a:rPr lang="en-US" sz="1200" b="1" dirty="0">
                <a:latin typeface="Calibri"/>
              </a:rPr>
              <a:t>SharedBody</a:t>
            </a:r>
          </a:p>
          <a:p>
            <a:pPr marL="182880" indent="0">
              <a:buNone/>
            </a:pPr>
            <a:r>
              <a:rPr lang="en-US" sz="1100" dirty="0">
                <a:latin typeface="Calibri"/>
              </a:rPr>
              <a:t>64 → 128 → 64 (federated across all sites each round)</a:t>
            </a:r>
          </a:p>
          <a:p>
            <a:pPr marL="0" indent="0">
              <a:buNone/>
            </a:pPr>
            <a:endParaRPr lang="en-US" sz="1100" dirty="0">
              <a:latin typeface="Calibri"/>
            </a:endParaRPr>
          </a:p>
          <a:p>
            <a:pPr marL="0" indent="0">
              <a:buNone/>
            </a:pPr>
            <a:r>
              <a:rPr lang="en-US" sz="1200" b="1" dirty="0">
                <a:latin typeface="Calibri"/>
              </a:rPr>
              <a:t>GRLGroupDiscriminator</a:t>
            </a:r>
          </a:p>
          <a:p>
            <a:pPr marL="182880" indent="0">
              <a:buNone/>
            </a:pPr>
            <a:r>
              <a:rPr lang="en-US" sz="1100" dirty="0">
                <a:latin typeface="Calibri"/>
              </a:rPr>
              <a:t>Adversarial head via Gradient Reversal Layer; lambda_adv scaled by site data richness</a:t>
            </a:r>
          </a:p>
          <a:p>
            <a:pPr marL="0" indent="0">
              <a:buNone/>
            </a:pPr>
            <a:endParaRPr lang="en-US" sz="1100" dirty="0">
              <a:latin typeface="Calibri"/>
            </a:endParaRPr>
          </a:p>
          <a:p>
            <a:pPr marL="0" indent="0">
              <a:buNone/>
            </a:pPr>
            <a:r>
              <a:rPr lang="en-US" sz="1200" b="1" dirty="0">
                <a:latin typeface="Calibri"/>
              </a:rPr>
              <a:t>PersonalHead</a:t>
            </a:r>
          </a:p>
          <a:p>
            <a:pPr marL="182880" indent="0">
              <a:buNone/>
            </a:pPr>
            <a:r>
              <a:rPr lang="en-US" sz="1100" dirty="0">
                <a:latin typeface="Calibri"/>
              </a:rPr>
              <a:t>Local classifier; frozen during federation, fine-tuned post-convergence</a:t>
            </a:r>
          </a:p>
          <a:p>
            <a:pPr marL="0" indent="0">
              <a:buNone/>
            </a:pPr>
            <a:endParaRPr lang="en-US" sz="1100" dirty="0">
              <a:latin typeface="Calibri"/>
            </a:endParaRPr>
          </a:p>
        </p:txBody>
      </p:sp>
      <p:sp>
        <p:nvSpPr>
          <p:cNvPr id="5" name="cfg_hdr"/>
          <p:cNvSpPr/>
          <p:nvPr/>
        </p:nvSpPr>
        <p:spPr>
          <a:xfrm>
            <a:off x="4600000" y="480000"/>
            <a:ext cx="4316000" cy="230000"/>
          </a:xfrm>
          <a:prstGeom prst="rect">
            <a:avLst/>
          </a:prstGeom>
          <a:solidFill>
            <a:srgbClr val="1E3A5F"/>
          </a:solidFill>
        </p:spPr>
        <p:txBody>
          <a:bodyPr wrap="square" lIns="182880" tIns="45720" rIns="182880" bIns="45720" rtlCol="0" anchor="ctr"/>
          <a:lstStyle/>
          <a:p>
            <a:pPr marL="0" indent="0">
              <a:buNone/>
            </a:pPr>
            <a:r>
              <a:rPr lang="en-US" sz="1400" b="1" dirty="0">
                <a:solidFill>
                  <a:srgbClr val="FFFFFF"/>
                </a:solidFill>
                <a:latin typeface="Calibri"/>
              </a:rPr>
              <a:t>v2.3 Configuration</a:t>
            </a:r>
          </a:p>
        </p:txBody>
      </p:sp>
      <p:sp>
        <p:nvSpPr>
          <p:cNvPr id="6" name="cfg_body"/>
          <p:cNvSpPr/>
          <p:nvPr/>
        </p:nvSpPr>
        <p:spPr>
          <a:xfrm>
            <a:off x="4600000" y="730000"/>
            <a:ext cx="4316000" cy="1300000"/>
          </a:xfrm>
          <a:prstGeom prst="rect">
            <a:avLst/>
          </a:prstGeom>
          <a:solidFill>
            <a:srgbClr val="F0F4FA"/>
          </a:solidFill>
        </p:spPr>
        <p:txBody>
          <a:bodyPr wrap="square" lIns="182880" tIns="91440" rIns="182880" bIns="91440" rtlCol="0" anchor="t"/>
          <a:lstStyle/>
          <a:p>
            <a:pPr marL="0" indent="0">
              <a:buNone/>
            </a:pPr>
            <a:r>
              <a:rPr lang="en-US" sz="1200" b="1" dirty="0">
                <a:latin typeface="Calibri"/>
              </a:rPr>
              <a:t>Training: </a:t>
            </a:r>
            <a:r>
              <a:rPr lang="en-US" sz="1200" dirty="0">
                <a:latin typeface="Calibri"/>
              </a:rPr>
              <a:t>50 rounds x 5 local epochs, lr=0.001, batch=256</a:t>
            </a:r>
          </a:p>
          <a:p>
            <a:pPr marL="0" indent="0">
              <a:buNone/>
            </a:pPr>
            <a:r>
              <a:rPr lang="en-US" sz="1200" b="1" dirty="0">
                <a:latin typeface="Calibri"/>
              </a:rPr>
              <a:t>Warm-up: </a:t>
            </a:r>
            <a:r>
              <a:rPr lang="en-US" sz="1200" dirty="0">
                <a:latin typeface="Calibri"/>
              </a:rPr>
              <a:t>rounds 1-10, lambda_adv and alpha_proto ramp from 0 to target</a:t>
            </a:r>
          </a:p>
          <a:p>
            <a:pPr marL="0" indent="0">
              <a:buNone/>
            </a:pPr>
            <a:r>
              <a:rPr lang="en-US" sz="1200" b="1" dirty="0">
                <a:latin typeface="Calibri"/>
              </a:rPr>
              <a:t>Heterogeneity: </a:t>
            </a:r>
            <a:r>
              <a:rPr lang="en-US" sz="1200" dirty="0">
                <a:latin typeface="Calibri"/>
              </a:rPr>
              <a:t>alpha=0.3, gamma=0.75 (moderate non-IID + covariate shift)</a:t>
            </a:r>
          </a:p>
          <a:p>
            <a:pPr marL="0" indent="0">
              <a:buNone/>
            </a:pPr>
            <a:r>
              <a:rPr lang="en-US" sz="1200" b="1" dirty="0">
                <a:latin typeface="Calibri"/>
              </a:rPr>
              <a:t>Embedding dim: </a:t>
            </a:r>
            <a:r>
              <a:rPr lang="en-US" sz="1200" dirty="0">
                <a:latin typeface="Calibri"/>
              </a:rPr>
              <a:t>64, hidden=128, alpha_proto=1.0</a:t>
            </a:r>
          </a:p>
        </p:txBody>
      </p:sp>
      <p:sp>
        <p:nvSpPr>
          <p:cNvPr id="7" name="psk_hdr"/>
          <p:cNvSpPr/>
          <p:nvPr/>
        </p:nvSpPr>
        <p:spPr>
          <a:xfrm>
            <a:off x="4600000" y="2090000"/>
            <a:ext cx="4316000" cy="230000"/>
          </a:xfrm>
          <a:prstGeom prst="rect">
            <a:avLst/>
          </a:prstGeom>
          <a:solidFill>
            <a:srgbClr val="2E6DA4"/>
          </a:solidFill>
        </p:spPr>
        <p:txBody>
          <a:bodyPr wrap="square" lIns="182880" tIns="45720" rIns="182880" bIns="45720" rtlCol="0" anchor="ctr"/>
          <a:lstStyle/>
          <a:p>
            <a:pPr marL="0" indent="0">
              <a:buNone/>
            </a:pPr>
            <a:r>
              <a:rPr lang="en-US" sz="1300" b="1" dirty="0">
                <a:solidFill>
                  <a:srgbClr val="FFFFFF"/>
                </a:solidFill>
                <a:latin typeface="Calibri"/>
              </a:rPr>
              <a:t>Key Innovation: Per-Site Prototype Clusters (K)</a:t>
            </a:r>
          </a:p>
        </p:txBody>
      </p:sp>
      <p:sp>
        <p:nvSpPr>
          <p:cNvPr id="8" name="psk_body"/>
          <p:cNvSpPr/>
          <p:nvPr/>
        </p:nvSpPr>
        <p:spPr>
          <a:xfrm>
            <a:off x="4600000" y="2340000"/>
            <a:ext cx="4316000" cy="950000"/>
          </a:xfrm>
          <a:prstGeom prst="rect">
            <a:avLst/>
          </a:prstGeom>
          <a:solidFill>
            <a:srgbClr val="E8F0FB"/>
          </a:solidFill>
        </p:spPr>
        <p:txBody>
          <a:bodyPr wrap="square" lIns="182880" tIns="91440" rIns="182880" bIns="91440" rtlCol="0" anchor="t"/>
          <a:lstStyle/>
          <a:p>
            <a:pPr marL="0" indent="0">
              <a:buNone/>
            </a:pPr>
            <a:r>
              <a:rPr lang="en-US" sz="1150" dirty="0">
                <a:latin typeface="Calibri"/>
              </a:rPr>
              <a:t>Silhouette analysis revealed embedding structure varies by site. K=3 at data-rich sites (A, B, C) vs K=2 at data-sparse sites (D, E) produces tighter, more stable prototypes where sample counts are limited.</a:t>
            </a:r>
          </a:p>
          <a:p>
            <a:pPr marL="0" indent="0">
              <a:buNone/>
            </a:pPr>
            <a:endParaRPr lang="en-US" sz="1150" dirty="0">
              <a:latin typeface="Calibri"/>
            </a:endParaRPr>
          </a:p>
          <a:p>
            <a:pPr marL="0" indent="0">
              <a:buNone/>
            </a:pPr>
            <a:r>
              <a:rPr lang="en-US" sz="1200" b="1" dirty="0">
                <a:latin typeface="Calibri"/>
              </a:rPr>
              <a:t>site_A, site_B, site_C: K=3</a:t>
            </a:r>
            <a:r>
              <a:rPr lang="en-US" sz="1200" dirty="0">
                <a:latin typeface="Calibri"/>
              </a:rPr>
              <a:t>  (rich embedding structure, 33k patients each)</a:t>
            </a:r>
          </a:p>
          <a:p>
            <a:pPr marL="0" indent="0">
              <a:buNone/>
            </a:pPr>
            <a:r>
              <a:rPr lang="en-US" sz="1200" b="1" dirty="0">
                <a:latin typeface="Calibri"/>
              </a:rPr>
              <a:t>site_D, site_E: K=2</a:t>
            </a:r>
            <a:r>
              <a:rPr lang="en-US" sz="1200" dirty="0">
                <a:latin typeface="Calibri"/>
              </a:rPr>
              <a:t>   (sparse features, 5-10% AKI, tighter prototypes)</a:t>
            </a:r>
          </a:p>
        </p:txBody>
      </p:sp>
      <p:sp>
        <p:nvSpPr>
          <p:cNvPr id="9" name="ladv_box"/>
          <p:cNvSpPr/>
          <p:nvPr/>
        </p:nvSpPr>
        <p:spPr>
          <a:xfrm>
            <a:off x="228600" y="3510000"/>
            <a:ext cx="8687400" cy="620000"/>
          </a:xfrm>
          <a:prstGeom prst="rect">
            <a:avLst/>
          </a:prstGeom>
          <a:solidFill>
            <a:srgbClr val="F8F8F8"/>
          </a:solidFill>
          <a:ln w="6350">
            <a:solidFill>
              <a:srgbClr val="1E3A5F"/>
            </a:solidFill>
          </a:ln>
        </p:spPr>
        <p:txBody>
          <a:bodyPr wrap="square" lIns="182880" tIns="91440" rIns="182880" bIns="91440" rtlCol="0" anchor="ctr"/>
          <a:lstStyle/>
          <a:p>
            <a:pPr marL="0" indent="0">
              <a:buNone/>
            </a:pPr>
            <a:r>
              <a:rPr lang="en-US" sz="1200" b="1" dirty="0">
                <a:latin typeface="Calibri"/>
              </a:rPr>
              <a:t>lambda_adv (adversarial weight) scaled by site data richness: </a:t>
            </a:r>
            <a:r>
              <a:rPr lang="en-US" sz="1200" dirty="0">
                <a:latin typeface="Calibri"/>
              </a:rPr>
              <a:t>site_A=0.10  |  site_B=0.075  |  site_C=0.060  |  site_D=0.050  |  site_E=0.034</a:t>
            </a:r>
          </a:p>
          <a:p>
            <a:pPr marL="0" indent="0">
              <a:buNone/>
            </a:pPr>
            <a:r>
              <a:rPr lang="en-US" sz="1100" dirty="0">
                <a:latin typeface="Calibri"/>
              </a:rPr>
              <a:t>Richer sites (more features, higher AKI rate) apply stronger adversarial regularization to prevent overfitting their embedding space to their local distribution.</a:t>
            </a:r>
          </a:p>
        </p:txBody>
      </p:sp>
      <p:sp>
        <p:nvSpPr>
          <p:cNvPr id="99" name="alpha_proto_box"/>
          <p:cNvSpPr>
            <a:spLocks noGrp="1"/>
          </p:cNvSpPr>
          <p:nvPr/>
        </p:nvSpPr>
        <p:spPr>
          <a:xfrm>
            <a:off x="228600" y="4195000"/>
            <a:ext cx="8687400" cy="780000"/>
          </a:xfrm>
          <a:prstGeom prst="rect">
            <a:avLst/>
          </a:prstGeom>
          <a:solidFill>
            <a:srgbClr val="E8F0FB"/>
          </a:solidFill>
          <a:ln/>
        </p:spPr>
        <p:txBody>
          <a:bodyPr wrap="square" lIns="182880" tIns="91440" rIns="182880" bIns="91440" rtlCol="0" anchor="t"/>
          <a:lstStyle/>
          <a:p>
            <a:pPr marL="0" indent="0">
              <a:buNone/>
            </a:pPr>
            <a:r>
              <a:rPr lang="en-US" sz="1100" b="1" dirty="0">
                <a:solidFill>
                  <a:srgbClr val="1E3A5F"/>
                </a:solidFill>
                <a:latin typeface="Calibri"/>
              </a:rPr>
              <a:t>alpha_proto = 1.0  —  Prototype Alignment Loss Weight</a:t>
            </a:r>
          </a:p>
          <a:p>
            <a:pPr marL="0" indent="0">
              <a:buNone/>
            </a:pPr>
            <a:r>
              <a:rPr lang="en-US" sz="1000" b="0" dirty="0">
                <a:solidFill>
                  <a:srgbClr val="000000"/>
                </a:solidFill>
                <a:latin typeface="Calibri"/>
              </a:rPr>
              <a:t>Total loss:  L = L_classify  +  lambda_adv x L_adv  +  alpha_proto x L_proto</a:t>
            </a:r>
          </a:p>
          <a:p>
            <a:pPr marL="0" indent="0">
              <a:buNone/>
            </a:pPr>
            <a:r>
              <a:rPr lang="en-US" sz="800" b="0" dirty="0">
                <a:solidFill>
                  <a:srgbClr val="000000"/>
                </a:solidFill>
                <a:latin typeface="Calibri"/>
              </a:rPr>
              <a:t> </a:t>
            </a:r>
          </a:p>
          <a:p>
            <a:pPr marL="0" indent="0">
              <a:buNone/>
            </a:pPr>
            <a:r>
              <a:rPr lang="en-US" sz="1050" b="1" dirty="0">
                <a:solidFill>
                  <a:srgbClr val="2E6DA4"/>
                </a:solidFill>
                <a:latin typeface="Calibri"/>
              </a:rPr>
              <a:t>L_proto (nearest_proto_loss):</a:t>
            </a:r>
          </a:p>
          <a:p>
            <a:pPr marL="182880" indent="0">
              <a:buNone/>
            </a:pPr>
            <a:r>
              <a:rPr lang="en-US" sz="1000" b="0" dirty="0">
                <a:solidFill>
                  <a:srgbClr val="000000"/>
                </a:solidFill>
                <a:latin typeface="Calibri"/>
              </a:rPr>
              <a:t>For each patient embedding h, find nearest global prototype centroid for their class. Penalise distance: mean ||h - nearest_centroid||^2. Pulls local embeddings toward cross-site AKI representations without forcing identical distributions.</a:t>
            </a:r>
          </a:p>
          <a:p>
            <a:pPr marL="0" indent="0">
              <a:buNone/>
            </a:pPr>
            <a:r>
              <a:rPr lang="en-US" sz="800" b="0" dirty="0">
                <a:solidFill>
                  <a:srgbClr val="000000"/>
                </a:solidFill>
                <a:latin typeface="Calibri"/>
              </a:rPr>
              <a:t> </a:t>
            </a:r>
          </a:p>
          <a:p>
            <a:pPr marL="0" indent="0">
              <a:buNone/>
            </a:pPr>
            <a:r>
              <a:rPr lang="en-US" sz="1050" b="1" dirty="0">
                <a:solidFill>
                  <a:srgbClr val="BA7517"/>
                </a:solidFill>
                <a:latin typeface="Calibri"/>
              </a:rPr>
              <a:t>alpha_proto=0: no prototype alignment.  alpha_proto=1.0: equal weight with classification.  Ramps 0 to 1.0 over warmup rounds 1-10.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FedAdaptProto Results">
    <p:bg>
      <p:bgPr>
        <a:solidFill>
          <a:srgbClr val="FFFFFF"/>
        </a:solidFill>
        <a:effectLst/>
      </p:bgPr>
    </p:bg>
    <p:spTree>
      <p:nvGrpSpPr>
        <p:cNvPr id="1" name=""/>
        <p:cNvGrpSpPr/>
        <p:nvPr/>
      </p:nvGrpSpPr>
      <p:grpSpPr>
        <a:xfrm>
          <a:off x="0" y="0"/>
          <a:ext cx="0" cy="0"/>
          <a:chOff x="0" y="0"/>
          <a:chExt cx="0" cy="0"/>
        </a:xfrm>
      </p:grpSpPr>
      <p:sp>
        <p:nvSpPr>
          <p:cNvPr id="2" name="hdr"/>
          <p:cNvSpPr/>
          <p:nvPr/>
        </p:nvSpPr>
        <p:spPr>
          <a:xfrm>
            <a:off x="0" y="0"/>
            <a:ext cx="9144000" cy="420000"/>
          </a:xfrm>
          <a:prstGeom prst="rect">
            <a:avLst/>
          </a:prstGeom>
          <a:solidFill>
            <a:srgbClr val="1E3A5F"/>
          </a:solidFill>
        </p:spPr>
        <p:txBody>
          <a:bodyPr wrap="square" lIns="274638" tIns="91440" rIns="274638" bIns="91440" rtlCol="0" anchor="ctr"/>
          <a:lstStyle/>
          <a:p>
            <a:pPr marL="0" indent="0">
              <a:buNone/>
            </a:pPr>
            <a:r>
              <a:rPr lang="en-US" sz="1800" b="1" dirty="0">
                <a:solidFill>
                  <a:srgbClr val="FFFFFF"/>
                </a:solidFill>
                <a:latin typeface="Calibri"/>
              </a:rPr>
              <a:t>FedAdaptProto v2.3 — Final Results (alpha=0.3, gamma=0.75)</a:t>
            </a:r>
          </a:p>
        </p:txBody>
      </p:sp>
      <p:sp>
        <p:nvSpPr>
          <p:cNvPr id="3" name="tbl_hdr"/>
          <p:cNvSpPr/>
          <p:nvPr/>
        </p:nvSpPr>
        <p:spPr>
          <a:xfrm>
            <a:off x="228600" y="480000"/>
            <a:ext cx="8687400" cy="270000"/>
          </a:xfrm>
          <a:prstGeom prst="rect">
            <a:avLst/>
          </a:prstGeom>
          <a:solidFill>
            <a:srgbClr val="2E6DA4"/>
          </a:solidFill>
        </p:spPr>
        <p:txBody>
          <a:bodyPr wrap="square" lIns="182880" tIns="45720" rIns="182880" bIns="45720" rtlCol="0" anchor="ctr"/>
          <a:lstStyle/>
          <a:p>
            <a:pPr marL="0" indent="0">
              <a:buNone/>
            </a:pPr>
            <a:r>
              <a:rPr lang="en-US" sz="1300" b="1" dirty="0">
                <a:solidFill>
                  <a:srgbClr val="FFFFFF"/>
                </a:solidFill>
                <a:latin typeface="Calibri"/>
              </a:rPr>
              <a:t>Site                     Local AUROC     FedAdaptProto v2.3     Delta          F1        AUPRC</a:t>
            </a:r>
          </a:p>
        </p:txBody>
      </p:sp>
      <p:sp>
        <p:nvSpPr>
          <p:cNvPr id="4" name="row_a"/>
          <p:cNvSpPr/>
          <p:nvPr/>
        </p:nvSpPr>
        <p:spPr>
          <a:xfrm>
            <a:off x="228600" y="760000"/>
            <a:ext cx="8687400" cy="250000"/>
          </a:xfrm>
          <a:prstGeom prst="rect">
            <a:avLst/>
          </a:prstGeom>
          <a:solidFill>
            <a:srgbClr val="F0F4FA"/>
          </a:solidFill>
        </p:spPr>
        <p:txBody>
          <a:bodyPr wrap="square" lIns="182880" tIns="45720" rIns="182880" bIns="45720" rtlCol="0" anchor="ctr"/>
          <a:lstStyle/>
          <a:p>
            <a:pPr marL="0" indent="0">
              <a:buNone/>
            </a:pPr>
            <a:r>
              <a:rPr lang="en-US" sz="1200" b="1" dirty="0">
                <a:latin typeface="Calibri"/>
              </a:rPr>
              <a:t>site_A  ICU  (AKI 23.4%, 40 feat)     </a:t>
            </a:r>
            <a:r>
              <a:rPr lang="en-US" sz="1200" dirty="0">
                <a:latin typeface="Calibri"/>
              </a:rPr>
              <a:t>0.9719              0.9418                      -0.030       0.675     0.844</a:t>
            </a:r>
          </a:p>
        </p:txBody>
      </p:sp>
      <p:sp>
        <p:nvSpPr>
          <p:cNvPr id="5" name="row_b"/>
          <p:cNvSpPr/>
          <p:nvPr/>
        </p:nvSpPr>
        <p:spPr>
          <a:xfrm>
            <a:off x="228600" y="1020000"/>
            <a:ext cx="8687400" cy="250000"/>
          </a:xfrm>
          <a:prstGeom prst="rect">
            <a:avLst/>
          </a:prstGeom>
          <a:solidFill>
            <a:srgbClr val="E8F5E9"/>
          </a:solidFill>
        </p:spPr>
        <p:txBody>
          <a:bodyPr wrap="square" lIns="182880" tIns="45720" rIns="182880" bIns="45720" rtlCol="0" anchor="ctr"/>
          <a:lstStyle/>
          <a:p>
            <a:pPr marL="0" indent="0">
              <a:buNone/>
            </a:pPr>
            <a:r>
              <a:rPr lang="en-US" sz="1200" b="1" dirty="0">
                <a:latin typeface="Calibri"/>
              </a:rPr>
              <a:t>site_B  Ward  (AKI 11.3%, 60 feat)    </a:t>
            </a:r>
            <a:r>
              <a:rPr lang="en-US" sz="1200" dirty="0">
                <a:latin typeface="Calibri"/>
              </a:rPr>
              <a:t>0.9106              0.9334                      +0.023      0.533     0.605</a:t>
            </a:r>
          </a:p>
        </p:txBody>
      </p:sp>
      <p:sp>
        <p:nvSpPr>
          <p:cNvPr id="6" name="row_c"/>
          <p:cNvSpPr/>
          <p:nvPr/>
        </p:nvSpPr>
        <p:spPr>
          <a:xfrm>
            <a:off x="228600" y="1280000"/>
            <a:ext cx="8687400" cy="250000"/>
          </a:xfrm>
          <a:prstGeom prst="rect">
            <a:avLst/>
          </a:prstGeom>
          <a:solidFill>
            <a:srgbClr val="F0F4FA"/>
          </a:solidFill>
        </p:spPr>
        <p:txBody>
          <a:bodyPr wrap="square" lIns="182880" tIns="45720" rIns="182880" bIns="45720" rtlCol="0" anchor="ctr"/>
          <a:lstStyle/>
          <a:p>
            <a:pPr marL="0" indent="0">
              <a:buNone/>
            </a:pPr>
            <a:r>
              <a:rPr lang="en-US" sz="1200" b="1" dirty="0">
                <a:latin typeface="Calibri"/>
              </a:rPr>
              <a:t>site_C  Anchor (AKI 9.0%, 110 feat)   </a:t>
            </a:r>
            <a:r>
              <a:rPr lang="en-US" sz="1200" dirty="0">
                <a:latin typeface="Calibri"/>
              </a:rPr>
              <a:t>0.8831              0.8724                      -0.011       0.297     0.468</a:t>
            </a:r>
          </a:p>
        </p:txBody>
      </p:sp>
      <p:sp>
        <p:nvSpPr>
          <p:cNvPr id="7" name="row_d"/>
          <p:cNvSpPr/>
          <p:nvPr/>
        </p:nvSpPr>
        <p:spPr>
          <a:xfrm>
            <a:off x="228600" y="1540000"/>
            <a:ext cx="8687400" cy="250000"/>
          </a:xfrm>
          <a:prstGeom prst="rect">
            <a:avLst/>
          </a:prstGeom>
          <a:solidFill>
            <a:srgbClr val="E3F2FD"/>
          </a:solidFill>
        </p:spPr>
        <p:txBody>
          <a:bodyPr wrap="square" lIns="182880" tIns="45720" rIns="182880" bIns="45720" rtlCol="0" anchor="ctr"/>
          <a:lstStyle/>
          <a:p>
            <a:pPr marL="0" indent="0">
              <a:buNone/>
            </a:pPr>
            <a:r>
              <a:rPr lang="en-US" sz="1200" b="1" dirty="0">
                <a:solidFill>
                  <a:srgbClr val="0D5C8F"/>
                </a:solidFill>
                <a:latin typeface="Calibri"/>
              </a:rPr>
              <a:t>site_D  Community (AKI 7.5%, 48 feat) 0.7801              0.8328                      +0.053      0.269     0.377   PRIMARY BENEFITTER</a:t>
            </a:r>
          </a:p>
        </p:txBody>
      </p:sp>
      <p:sp>
        <p:nvSpPr>
          <p:cNvPr id="8" name="row_e"/>
          <p:cNvSpPr/>
          <p:nvPr/>
        </p:nvSpPr>
        <p:spPr>
          <a:xfrm>
            <a:off x="228600" y="1800000"/>
            <a:ext cx="8687400" cy="250000"/>
          </a:xfrm>
          <a:prstGeom prst="rect">
            <a:avLst/>
          </a:prstGeom>
          <a:solidFill>
            <a:srgbClr val="E3F2FD"/>
          </a:solidFill>
        </p:spPr>
        <p:txBody>
          <a:bodyPr wrap="square" lIns="182880" tIns="45720" rIns="182880" bIns="45720" rtlCol="0" anchor="ctr"/>
          <a:lstStyle/>
          <a:p>
            <a:pPr marL="0" indent="0">
              <a:buNone/>
            </a:pPr>
            <a:r>
              <a:rPr lang="en-US" sz="1200" b="1" dirty="0">
                <a:solidFill>
                  <a:srgbClr val="0D5C8F"/>
                </a:solidFill>
                <a:latin typeface="Calibri"/>
              </a:rPr>
              <a:t>site_E  Rural  (AKI 5.2%, 25 feat)   0.8590              0.8943                      +0.035      0.302     0.405   PRIMARY BENEFITTER</a:t>
            </a:r>
          </a:p>
        </p:txBody>
      </p:sp>
      <p:sp>
        <p:nvSpPr>
          <p:cNvPr id="9" name="finding_hdr"/>
          <p:cNvSpPr/>
          <p:nvPr/>
        </p:nvSpPr>
        <p:spPr>
          <a:xfrm>
            <a:off x="228600" y="2120000"/>
            <a:ext cx="8687400" cy="230000"/>
          </a:xfrm>
          <a:prstGeom prst="rect">
            <a:avLst/>
          </a:prstGeom>
          <a:solidFill>
            <a:srgbClr val="1E3A5F"/>
          </a:solidFill>
        </p:spPr>
        <p:txBody>
          <a:bodyPr wrap="square" lIns="182880" tIns="45720" rIns="182880" bIns="45720" rtlCol="0" anchor="ctr"/>
          <a:lstStyle/>
          <a:p>
            <a:pPr marL="0" indent="0">
              <a:buNone/>
            </a:pPr>
            <a:r>
              <a:rPr lang="en-US" sz="1300" b="1" dirty="0">
                <a:solidFill>
                  <a:srgbClr val="FFFFFF"/>
                </a:solidFill>
                <a:latin typeface="Calibri"/>
              </a:rPr>
              <a:t>Key Findings</a:t>
            </a:r>
          </a:p>
        </p:txBody>
      </p:sp>
      <p:sp>
        <p:nvSpPr>
          <p:cNvPr id="10" name="findings_l"/>
          <p:cNvSpPr/>
          <p:nvPr/>
        </p:nvSpPr>
        <p:spPr>
          <a:xfrm>
            <a:off x="228600" y="2370000"/>
            <a:ext cx="4250000" cy="1660000"/>
          </a:xfrm>
          <a:prstGeom prst="rect">
            <a:avLst/>
          </a:prstGeom>
          <a:solidFill>
            <a:srgbClr val="F0F4FA"/>
          </a:solidFill>
        </p:spPr>
        <p:txBody>
          <a:bodyPr wrap="square" lIns="182880" tIns="91440" rIns="182880" bIns="91440" rtlCol="0" anchor="t"/>
          <a:lstStyle/>
          <a:p>
            <a:pPr marL="0" indent="0">
              <a:buNone/>
            </a:pPr>
            <a:r>
              <a:rPr lang="en-US" sz="1200" b="1" dirty="0">
                <a:latin typeface="Calibri"/>
              </a:rPr>
              <a:t>3 of 5 sites benefit from federation</a:t>
            </a:r>
          </a:p>
          <a:p>
            <a:pPr marL="182880" indent="0">
              <a:buNone/>
            </a:pPr>
            <a:r>
              <a:rPr lang="en-US" sz="1100" dirty="0">
                <a:latin typeface="Calibri"/>
              </a:rPr>
              <a:t>site_B, site_D, site_E all gain; consistent with FL-gain index prediction</a:t>
            </a:r>
          </a:p>
          <a:p>
            <a:pPr marL="0" indent="0">
              <a:buNone/>
            </a:pPr>
            <a:endParaRPr lang="en-US" sz="1100" dirty="0">
              <a:latin typeface="Calibri"/>
            </a:endParaRPr>
          </a:p>
          <a:p>
            <a:pPr marL="0" indent="0">
              <a:buNone/>
            </a:pPr>
            <a:r>
              <a:rPr lang="en-US" sz="1200" b="1" dirty="0">
                <a:latin typeface="Calibri"/>
              </a:rPr>
              <a:t>site_D largest gain: +0.053 AUROC</a:t>
            </a:r>
          </a:p>
          <a:p>
            <a:pPr marL="182880" indent="0">
              <a:buNone/>
            </a:pPr>
            <a:r>
              <a:rPr lang="en-US" sz="1100" dirty="0">
                <a:latin typeface="Calibri"/>
              </a:rPr>
              <a:t>Community clinic with 25 features; per-site K=2 reduced alignment noise</a:t>
            </a:r>
          </a:p>
          <a:p>
            <a:pPr marL="0" indent="0">
              <a:buNone/>
            </a:pPr>
            <a:endParaRPr lang="en-US" sz="1100" dirty="0">
              <a:latin typeface="Calibri"/>
            </a:endParaRPr>
          </a:p>
          <a:p>
            <a:pPr marL="0" indent="0">
              <a:buNone/>
            </a:pPr>
            <a:r>
              <a:rPr lang="en-US" sz="1200" b="1" dirty="0">
                <a:latin typeface="Calibri"/>
              </a:rPr>
              <a:t>site_E still climbing at round 50</a:t>
            </a:r>
          </a:p>
          <a:p>
            <a:pPr marL="182880" indent="0">
              <a:buNone/>
            </a:pPr>
            <a:r>
              <a:rPr lang="en-US" sz="1100" dirty="0">
                <a:latin typeface="Calibri"/>
              </a:rPr>
              <a:t>Best AUROC is round 50 (0.8943); extended training would likely improve further</a:t>
            </a:r>
          </a:p>
        </p:txBody>
      </p:sp>
      <p:sp>
        <p:nvSpPr>
          <p:cNvPr id="11" name="findings_r"/>
          <p:cNvSpPr/>
          <p:nvPr/>
        </p:nvSpPr>
        <p:spPr>
          <a:xfrm>
            <a:off x="4666000" y="2370000"/>
            <a:ext cx="4250000" cy="1660000"/>
          </a:xfrm>
          <a:prstGeom prst="rect">
            <a:avLst/>
          </a:prstGeom>
          <a:solidFill>
            <a:srgbClr val="F0F4FA"/>
          </a:solidFill>
        </p:spPr>
        <p:txBody>
          <a:bodyPr wrap="square" lIns="182880" tIns="91440" rIns="182880" bIns="91440" rtlCol="0" anchor="t"/>
          <a:lstStyle/>
          <a:p>
            <a:pPr marL="0" indent="0">
              <a:buNone/>
            </a:pPr>
            <a:r>
              <a:rPr lang="en-US" sz="1200" b="1" dirty="0">
                <a:latin typeface="Calibri"/>
              </a:rPr>
              <a:t>Losses on site_A and site_C are tolerable</a:t>
            </a:r>
          </a:p>
          <a:p>
            <a:pPr marL="182880" indent="0">
              <a:buNone/>
            </a:pPr>
            <a:r>
              <a:rPr lang="en-US" sz="1100" dirty="0">
                <a:latin typeface="Calibri"/>
              </a:rPr>
              <a:t>site_A best-round was 0.957 (round 7); final 0.942 reflects late-round drift not metric failure. site_A absolute AUROC still excellent.</a:t>
            </a:r>
          </a:p>
          <a:p>
            <a:pPr marL="0" indent="0">
              <a:buNone/>
            </a:pPr>
            <a:endParaRPr lang="en-US" sz="1100" dirty="0">
              <a:latin typeface="Calibri"/>
            </a:endParaRPr>
          </a:p>
          <a:p>
            <a:pPr marL="0" indent="0">
              <a:buNone/>
            </a:pPr>
            <a:r>
              <a:rPr lang="en-US" sz="1200" b="1" dirty="0">
                <a:latin typeface="Calibri"/>
              </a:rPr>
              <a:t>F1 / AUPRC low at sparse sites — expected</a:t>
            </a:r>
          </a:p>
          <a:p>
            <a:pPr marL="182880" indent="0">
              <a:buNone/>
            </a:pPr>
            <a:r>
              <a:rPr lang="en-US" sz="1100" dirty="0">
                <a:latin typeface="Calibri"/>
              </a:rPr>
              <a:t>site_C at 5% AKI: F1=0.297, AUPRC=0.468 — reflects class imbalance, not model failure. AUROC remains primary metric.</a:t>
            </a:r>
          </a:p>
          <a:p>
            <a:pPr marL="0" indent="0">
              <a:buNone/>
            </a:pPr>
            <a:endParaRPr lang="en-US" sz="1100" dirty="0">
              <a:latin typeface="Calibri"/>
            </a:endParaRPr>
          </a:p>
          <a:p>
            <a:pPr marL="0" indent="0">
              <a:buNone/>
            </a:pPr>
            <a:r>
              <a:rPr lang="en-US" sz="1200" b="1" dirty="0">
                <a:latin typeface="Calibri"/>
              </a:rPr>
              <a:t>Warm-up + per-site K = best variant</a:t>
            </a:r>
          </a:p>
          <a:p>
            <a:pPr marL="182880" indent="0">
              <a:buNone/>
            </a:pPr>
            <a:r>
              <a:rPr lang="en-US" sz="1100" dirty="0">
                <a:latin typeface="Calibri"/>
              </a:rPr>
              <a:t>v2.3 is the final FedAdaptProto configuration reported in this paper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FL Gain Validation">
    <p:bg>
      <p:bgPr>
        <a:solidFill>
          <a:srgbClr val="FFFFFF"/>
        </a:solidFill>
        <a:effectLst/>
      </p:bgPr>
    </p:bg>
    <p:spTree>
      <p:nvGrpSpPr>
        <p:cNvPr id="1" name=""/>
        <p:cNvGrpSpPr/>
        <p:nvPr/>
      </p:nvGrpSpPr>
      <p:grpSpPr>
        <a:xfrm>
          <a:off x="0" y="0"/>
          <a:ext cx="0" cy="0"/>
          <a:chOff x="0" y="0"/>
          <a:chExt cx="0" cy="0"/>
        </a:xfrm>
      </p:grpSpPr>
      <p:sp>
        <p:nvSpPr>
          <p:cNvPr id="2" name="hdr"/>
          <p:cNvSpPr/>
          <p:nvPr/>
        </p:nvSpPr>
        <p:spPr>
          <a:xfrm>
            <a:off x="0" y="0"/>
            <a:ext cx="9144000" cy="420000"/>
          </a:xfrm>
          <a:prstGeom prst="rect">
            <a:avLst/>
          </a:prstGeom>
          <a:solidFill>
            <a:srgbClr val="1E3A5F"/>
          </a:solidFill>
        </p:spPr>
        <p:txBody>
          <a:bodyPr wrap="square" lIns="274638" tIns="91440" rIns="274638" bIns="91440" rtlCol="0" anchor="ctr"/>
          <a:lstStyle/>
          <a:p>
            <a:pPr marL="0" indent="0">
              <a:buNone/>
            </a:pPr>
            <a:r>
              <a:rPr lang="en-US" sz="1800" b="1" dirty="0">
                <a:solidFill>
                  <a:srgbClr val="FFFFFF"/>
                </a:solidFill>
                <a:latin typeface="Calibri"/>
              </a:rPr>
              <a:t>FL-Gain Index Validation — 5/5 Direction Accuracy</a:t>
            </a:r>
          </a:p>
        </p:txBody>
      </p:sp>
      <p:sp>
        <p:nvSpPr>
          <p:cNvPr id="3" name="formula"/>
          <p:cNvSpPr/>
          <p:nvPr/>
        </p:nvSpPr>
        <p:spPr>
          <a:xfrm>
            <a:off x="228600" y="480000"/>
            <a:ext cx="8687400" cy="340000"/>
          </a:xfrm>
          <a:prstGeom prst="rect">
            <a:avLst/>
          </a:prstGeom>
          <a:solidFill>
            <a:srgbClr val="F0F4FA"/>
          </a:solidFill>
        </p:spPr>
        <p:txBody>
          <a:bodyPr wrap="square" lIns="182880" tIns="45720" rIns="182880" bIns="45720" rtlCol="0" anchor="ctr"/>
          <a:lstStyle/>
          <a:p>
            <a:pPr marL="0" indent="0">
              <a:buNone/>
            </a:pPr>
            <a:r>
              <a:rPr lang="en-US" sz="1200" b="1" dirty="0">
                <a:latin typeface="Calibri"/>
              </a:rPr>
              <a:t>FL-Gain Index = </a:t>
            </a:r>
            <a:r>
              <a:rPr lang="en-US" sz="1200" dirty="0">
                <a:latin typeface="Calibri"/>
              </a:rPr>
              <a:t>0.30 * positive_case_scarcity  +  0.30 * class_imbalance  +  0.40 * feature_sparsity</a:t>
            </a:r>
          </a:p>
          <a:p>
            <a:pPr marL="0" indent="0">
              <a:buNone/>
            </a:pPr>
            <a:r>
              <a:rPr lang="en-US" sz="1100" dirty="0">
                <a:latin typeface="Calibri"/>
              </a:rPr>
              <a:t>Thresholds: Primary benefitter &gt;= 0.68  |  Conditional 0.52-0.68  |  Contributor &lt; 0.52</a:t>
            </a:r>
          </a:p>
        </p:txBody>
      </p:sp>
      <p:sp>
        <p:nvSpPr>
          <p:cNvPr id="4" name="vtbl_hdr"/>
          <p:cNvSpPr/>
          <p:nvPr/>
        </p:nvSpPr>
        <p:spPr>
          <a:xfrm>
            <a:off x="228600" y="870000"/>
            <a:ext cx="8687400" cy="260000"/>
          </a:xfrm>
          <a:prstGeom prst="rect">
            <a:avLst/>
          </a:prstGeom>
          <a:solidFill>
            <a:srgbClr val="2E6DA4"/>
          </a:solidFill>
        </p:spPr>
        <p:txBody>
          <a:bodyPr wrap="square" lIns="182880" tIns="45720" rIns="182880" bIns="45720" rtlCol="0" anchor="ctr"/>
          <a:lstStyle/>
          <a:p>
            <a:pPr marL="0" indent="0">
              <a:buNone/>
            </a:pPr>
            <a:r>
              <a:rPr lang="en-US" sz="1300" b="1" dirty="0">
                <a:solidFill>
                  <a:srgbClr val="FFFFFF"/>
                </a:solidFill>
                <a:latin typeface="Calibri"/>
              </a:rPr>
              <a:t>Site             FL-Gain Index     Predicted Role              Local AUROC     Fed AUROC     Actual Delta     Match?</a:t>
            </a:r>
          </a:p>
        </p:txBody>
      </p:sp>
      <p:sp>
        <p:nvSpPr>
          <p:cNvPr id="5" name="ve"/>
          <p:cNvSpPr/>
          <p:nvPr/>
        </p:nvSpPr>
        <p:spPr>
          <a:xfrm>
            <a:off x="228600" y="1140000"/>
            <a:ext cx="8687400" cy="240000"/>
          </a:xfrm>
          <a:prstGeom prst="rect">
            <a:avLst/>
          </a:prstGeom>
          <a:solidFill>
            <a:srgbClr val="E8F5E9"/>
          </a:solidFill>
        </p:spPr>
        <p:txBody>
          <a:bodyPr wrap="square" lIns="182880" tIns="45720" rIns="182880" bIns="45720" rtlCol="0" anchor="ctr"/>
          <a:lstStyle/>
          <a:p>
            <a:pPr marL="0" indent="0">
              <a:buNone/>
            </a:pPr>
            <a:r>
              <a:rPr lang="en-US" sz="1200" dirty="0">
                <a:latin typeface="Calibri"/>
              </a:rPr>
              <a:t>site_E (Rural)   0.871             Primary (&gt;=0.68)           0.8590           0.8943         +0.035           YES</a:t>
            </a:r>
          </a:p>
        </p:txBody>
      </p:sp>
      <p:sp>
        <p:nvSpPr>
          <p:cNvPr id="6" name="vd"/>
          <p:cNvSpPr/>
          <p:nvPr/>
        </p:nvSpPr>
        <p:spPr>
          <a:xfrm>
            <a:off x="228600" y="1390000"/>
            <a:ext cx="8687400" cy="240000"/>
          </a:xfrm>
          <a:prstGeom prst="rect">
            <a:avLst/>
          </a:prstGeom>
          <a:solidFill>
            <a:srgbClr val="E8F5E9"/>
          </a:solidFill>
        </p:spPr>
        <p:txBody>
          <a:bodyPr wrap="square" lIns="182880" tIns="45720" rIns="182880" bIns="45720" rtlCol="0" anchor="ctr"/>
          <a:lstStyle/>
          <a:p>
            <a:pPr marL="0" indent="0">
              <a:buNone/>
            </a:pPr>
            <a:r>
              <a:rPr lang="en-US" sz="1200" dirty="0">
                <a:latin typeface="Calibri"/>
              </a:rPr>
              <a:t>site_D (Community) 0.770           Primary (&gt;=0.68)           0.7801           0.8328         +0.053           YES</a:t>
            </a:r>
          </a:p>
        </p:txBody>
      </p:sp>
      <p:sp>
        <p:nvSpPr>
          <p:cNvPr id="7" name="vb"/>
          <p:cNvSpPr/>
          <p:nvPr/>
        </p:nvSpPr>
        <p:spPr>
          <a:xfrm>
            <a:off x="228600" y="1640000"/>
            <a:ext cx="8687400" cy="240000"/>
          </a:xfrm>
          <a:prstGeom prst="rect">
            <a:avLst/>
          </a:prstGeom>
          <a:solidFill>
            <a:srgbClr val="E8F5E9"/>
          </a:solidFill>
        </p:spPr>
        <p:txBody>
          <a:bodyPr wrap="square" lIns="182880" tIns="45720" rIns="182880" bIns="45720" rtlCol="0" anchor="ctr"/>
          <a:lstStyle/>
          <a:p>
            <a:pPr marL="0" indent="0">
              <a:buNone/>
            </a:pPr>
            <a:r>
              <a:rPr lang="en-US" sz="1200" dirty="0">
                <a:latin typeface="Calibri"/>
              </a:rPr>
              <a:t>site_B (Ward)    0.695             Primary (&gt;=0.68)           0.9106           0.9334         +0.023           YES</a:t>
            </a:r>
          </a:p>
        </p:txBody>
      </p:sp>
      <p:sp>
        <p:nvSpPr>
          <p:cNvPr id="8" name="va"/>
          <p:cNvSpPr/>
          <p:nvPr/>
        </p:nvSpPr>
        <p:spPr>
          <a:xfrm>
            <a:off x="228600" y="1890000"/>
            <a:ext cx="8687400" cy="240000"/>
          </a:xfrm>
          <a:prstGeom prst="rect">
            <a:avLst/>
          </a:prstGeom>
          <a:solidFill>
            <a:srgbClr val="FFF8E1"/>
          </a:solidFill>
        </p:spPr>
        <p:txBody>
          <a:bodyPr wrap="square" lIns="182880" tIns="45720" rIns="182880" bIns="45720" rtlCol="0" anchor="ctr"/>
          <a:lstStyle/>
          <a:p>
            <a:pPr marL="0" indent="0">
              <a:buNone/>
            </a:pPr>
            <a:r>
              <a:rPr lang="en-US" sz="1200" dirty="0">
                <a:latin typeface="Calibri"/>
              </a:rPr>
              <a:t>site_A (ICU)     0.666             Conditional (0.52-0.68)    0.9719           0.9418         -0.030           YES</a:t>
            </a:r>
          </a:p>
        </p:txBody>
      </p:sp>
      <p:sp>
        <p:nvSpPr>
          <p:cNvPr id="9" name="vc"/>
          <p:cNvSpPr/>
          <p:nvPr/>
        </p:nvSpPr>
        <p:spPr>
          <a:xfrm>
            <a:off x="228600" y="2140000"/>
            <a:ext cx="8687400" cy="240000"/>
          </a:xfrm>
          <a:prstGeom prst="rect">
            <a:avLst/>
          </a:prstGeom>
          <a:solidFill>
            <a:srgbClr val="FFF8E1"/>
          </a:solidFill>
        </p:spPr>
        <p:txBody>
          <a:bodyPr wrap="square" lIns="182880" tIns="45720" rIns="182880" bIns="45720" rtlCol="0" anchor="ctr"/>
          <a:lstStyle/>
          <a:p>
            <a:pPr marL="0" indent="0">
              <a:buNone/>
            </a:pPr>
            <a:r>
              <a:rPr lang="en-US" sz="1200" dirty="0">
                <a:latin typeface="Calibri"/>
              </a:rPr>
              <a:t>site_C (Anchor)  0.536             Conditional (0.52-0.68)    0.8831           0.8724         -0.011           YES</a:t>
            </a:r>
          </a:p>
        </p:txBody>
      </p:sp>
      <p:sp>
        <p:nvSpPr>
          <p:cNvPr id="10" name="interp_hdr"/>
          <p:cNvSpPr/>
          <p:nvPr/>
        </p:nvSpPr>
        <p:spPr>
          <a:xfrm>
            <a:off x="228600" y="2450000"/>
            <a:ext cx="8687400" cy="230000"/>
          </a:xfrm>
          <a:prstGeom prst="rect">
            <a:avLst/>
          </a:prstGeom>
          <a:solidFill>
            <a:srgbClr val="1E3A5F"/>
          </a:solidFill>
        </p:spPr>
        <p:txBody>
          <a:bodyPr wrap="square" lIns="182880" tIns="45720" rIns="182880" bIns="45720" rtlCol="0" anchor="ctr"/>
          <a:lstStyle/>
          <a:p>
            <a:pPr marL="0" indent="0">
              <a:buNone/>
            </a:pPr>
            <a:r>
              <a:rPr lang="en-US" sz="1300" b="1" dirty="0">
                <a:solidFill>
                  <a:srgbClr val="FFFFFF"/>
                </a:solidFill>
                <a:latin typeface="Calibri"/>
              </a:rPr>
              <a:t>Interpretation</a:t>
            </a:r>
          </a:p>
        </p:txBody>
      </p:sp>
      <p:sp>
        <p:nvSpPr>
          <p:cNvPr id="11" name="interp_body"/>
          <p:cNvSpPr/>
          <p:nvPr/>
        </p:nvSpPr>
        <p:spPr>
          <a:xfrm>
            <a:off x="228600" y="2700000"/>
            <a:ext cx="8687400" cy="1330000"/>
          </a:xfrm>
          <a:prstGeom prst="rect">
            <a:avLst/>
          </a:prstGeom>
          <a:solidFill>
            <a:srgbClr val="F0F4FA"/>
          </a:solidFill>
        </p:spPr>
        <p:txBody>
          <a:bodyPr wrap="square" lIns="182880" tIns="91440" rIns="182880" bIns="91440" rtlCol="0" anchor="t"/>
          <a:lstStyle/>
          <a:p>
            <a:pPr marL="0" indent="0">
              <a:buNone/>
            </a:pPr>
            <a:r>
              <a:rPr lang="en-US" sz="1200" b="1" dirty="0">
                <a:latin typeface="Calibri"/>
              </a:rPr>
              <a:t>5/5 direction match: </a:t>
            </a:r>
            <a:r>
              <a:rPr lang="en-US" sz="1200" dirty="0">
                <a:latin typeface="Calibri"/>
              </a:rPr>
              <a:t>Every site classified as Primary or Conditional correctly predicted whether that site gained or lost from federation. The FL-gain index is a reliable pre-training signal.</a:t>
            </a:r>
          </a:p>
          <a:p>
            <a:pPr marL="0" indent="0">
              <a:buNone/>
            </a:pPr>
            <a:endParaRPr lang="en-US" sz="1200" dirty="0">
              <a:latin typeface="Calibri"/>
            </a:endParaRPr>
          </a:p>
          <a:p>
            <a:pPr marL="0" indent="0">
              <a:buNone/>
            </a:pPr>
            <a:r>
              <a:rPr lang="en-US" sz="1200" b="1" dirty="0">
                <a:latin typeface="Calibri"/>
              </a:rPr>
              <a:t>site_B at index=0.695 sits just above the Primary threshold (0.68): </a:t>
            </a:r>
            <a:r>
              <a:rPr lang="en-US" sz="1200" dirty="0">
                <a:latin typeface="Calibri"/>
              </a:rPr>
              <a:t>Its observed gain (+0.023) confirms the boundary is calibrated correctly, not a coincidence.</a:t>
            </a:r>
          </a:p>
          <a:p>
            <a:pPr marL="0" indent="0">
              <a:buNone/>
            </a:pPr>
            <a:endParaRPr lang="en-US" sz="1200" dirty="0">
              <a:latin typeface="Calibri"/>
            </a:endParaRPr>
          </a:p>
          <a:p>
            <a:pPr marL="0" indent="0">
              <a:buNone/>
            </a:pPr>
            <a:r>
              <a:rPr lang="en-US" sz="1200" b="1" dirty="0">
                <a:latin typeface="Calibri"/>
              </a:rPr>
              <a:t>site_A and site_C losses are by design: </a:t>
            </a:r>
            <a:r>
              <a:rPr lang="en-US" sz="1200" dirty="0">
                <a:latin typeface="Calibri"/>
              </a:rPr>
              <a:t>High-resource sites subsidize the federation; their absolute AUROC (0.942 and 0.872) remains clinically strong. This is the expected federated learning trade-off.</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Next Steps">
    <p:bg>
      <p:bgPr>
        <a:solidFill>
          <a:srgbClr val="FFFFFF"/>
        </a:solidFill>
        <a:effectLst/>
      </p:bgPr>
    </p:bg>
    <p:spTree>
      <p:nvGrpSpPr>
        <p:cNvPr id="1" name=""/>
        <p:cNvGrpSpPr/>
        <p:nvPr/>
      </p:nvGrpSpPr>
      <p:grpSpPr>
        <a:xfrm>
          <a:off x="0" y="0"/>
          <a:ext cx="0" cy="0"/>
          <a:chOff x="0" y="0"/>
          <a:chExt cx="0" cy="0"/>
        </a:xfrm>
      </p:grpSpPr>
      <p:sp>
        <p:nvSpPr>
          <p:cNvPr id="2" name="hdr"/>
          <p:cNvSpPr/>
          <p:nvPr/>
        </p:nvSpPr>
        <p:spPr>
          <a:xfrm>
            <a:off x="0" y="0"/>
            <a:ext cx="9144000" cy="420000"/>
          </a:xfrm>
          <a:prstGeom prst="rect">
            <a:avLst/>
          </a:prstGeom>
          <a:solidFill>
            <a:srgbClr val="1E3A5F"/>
          </a:solidFill>
          <a:ln/>
        </p:spPr>
        <p:txBody>
          <a:bodyPr wrap="square" lIns="274638" tIns="91440" rIns="274638" bIns="91440" rtlCol="0" anchor="ctr"/>
          <a:lstStyle/>
          <a:p>
            <a:pPr marL="0" indent="0">
              <a:buNone/>
            </a:pPr>
            <a:r>
              <a:rPr lang="en-US" sz="1800" b="1" dirty="0">
                <a:solidFill>
                  <a:srgbClr val="FFFFFF"/>
                </a:solidFill>
                <a:latin typeface="Calibri"/>
              </a:rPr>
              <a:t>Summary and Next Steps</a:t>
            </a:r>
          </a:p>
        </p:txBody>
      </p:sp>
      <p:sp>
        <p:nvSpPr>
          <p:cNvPr id="3" name="sum_hdr"/>
          <p:cNvSpPr/>
          <p:nvPr/>
        </p:nvSpPr>
        <p:spPr>
          <a:xfrm>
            <a:off x="228600" y="480000"/>
            <a:ext cx="4200000" cy="230000"/>
          </a:xfrm>
          <a:prstGeom prst="rect">
            <a:avLst/>
          </a:prstGeom>
          <a:solidFill>
            <a:srgbClr val="1E3A5F"/>
          </a:solidFill>
          <a:ln/>
        </p:spPr>
        <p:txBody>
          <a:bodyPr wrap="square" lIns="91440" tIns="45720" rIns="91440" bIns="45720" rtlCol="0" anchor="ctr"/>
          <a:lstStyle/>
          <a:p>
            <a:pPr marL="0" indent="0" algn="ctr">
              <a:buNone/>
            </a:pPr>
            <a:r>
              <a:rPr lang="en-US" sz="1000" b="1" dirty="0">
                <a:solidFill>
                  <a:srgbClr val="FFFFFF"/>
                </a:solidFill>
                <a:latin typeface="Calibri"/>
              </a:rPr>
              <a:t>Key Conclusions</a:t>
            </a:r>
          </a:p>
        </p:txBody>
      </p:sp>
      <p:sp>
        <p:nvSpPr>
          <p:cNvPr id="4" name="sum_body"/>
          <p:cNvSpPr/>
          <p:nvPr/>
        </p:nvSpPr>
        <p:spPr>
          <a:xfrm>
            <a:off x="228600" y="710000"/>
            <a:ext cx="4200000" cy="4130000"/>
          </a:xfrm>
          <a:prstGeom prst="rect">
            <a:avLst/>
          </a:prstGeom>
          <a:solidFill>
            <a:srgbClr val="F8FAFC"/>
          </a:solidFill>
          <a:ln w="6350">
            <a:solidFill>
              <a:srgbClr val="CBD5E1"/>
            </a:solidFill>
          </a:ln>
        </p:spPr>
        <p:txBody>
          <a:bodyPr wrap="square" lIns="137160" tIns="91440" rIns="137160" bIns="91440" rtlCol="0" anchor="t"/>
          <a:lstStyle/>
          <a:p>
            <a:pPr marL="0" indent="0">
              <a:buNone/>
            </a:pPr>
            <a:r>
              <a:rPr lang="en-US" sz="900" b="1" dirty="0">
                <a:solidFill>
                  <a:srgbClr val="2563EB"/>
                </a:solidFill>
                <a:latin typeface="Calibri"/>
              </a:rPr>
              <a:t>1. SCAFFOLD &gt; FedAvg &gt; FedProx (p&lt;0.001)</a:t>
            </a:r>
          </a:p>
          <a:p>
            <a:pPr marL="0" indent="0">
              <a:buNone/>
            </a:pPr>
            <a:r>
              <a:rPr lang="en-US" sz="825" dirty="0">
                <a:solidFill>
                  <a:schemeClr val="tx1"/>
                </a:solidFill>
                <a:latin typeface="Calibri"/>
              </a:rPr>
              <a:t>Control variates reduce gradient variance and consistently win across all 8 conditions. FedProx over-regularises in heterogeneous clinical networks.</a:t>
            </a:r>
          </a:p>
          <a:p>
            <a:pPr marL="0" indent="0">
              <a:buNone/>
            </a:pPr>
            <a:endParaRPr lang="en-US" sz="825" dirty="0"/>
          </a:p>
          <a:p>
            <a:pPr marL="0" indent="0">
              <a:buNone/>
            </a:pPr>
            <a:r>
              <a:rPr lang="en-US" sz="900" b="1" dirty="0">
                <a:solidFill>
                  <a:srgbClr val="16A34A"/>
                </a:solidFill>
                <a:latin typeface="Calibri"/>
              </a:rPr>
              <a:t>2. Federation benefit requires BOTH shift types</a:t>
            </a:r>
          </a:p>
          <a:p>
            <a:pPr marL="0" indent="0">
              <a:buNone/>
            </a:pPr>
            <a:r>
              <a:rPr lang="en-US" sz="825" dirty="0">
                <a:solidFill>
                  <a:schemeClr val="tx1"/>
                </a:solidFill>
                <a:latin typeface="Calibri"/>
              </a:rPr>
              <a:t>Single-axis heterogeneity (label or covariate only) is insufficient. FL advantage peaks at +7.5 points under both max heterogeneity.</a:t>
            </a:r>
          </a:p>
          <a:p>
            <a:pPr marL="0" indent="0">
              <a:buNone/>
            </a:pPr>
            <a:endParaRPr lang="en-US" sz="825" dirty="0"/>
          </a:p>
          <a:p>
            <a:pPr marL="0" indent="0">
              <a:buNone/>
            </a:pPr>
            <a:r>
              <a:rPr lang="en-US" sz="900" b="1" dirty="0">
                <a:solidFill>
                  <a:srgbClr val="C2410C"/>
                </a:solidFill>
                <a:latin typeface="Calibri"/>
              </a:rPr>
              <a:t>3. FL surpasses centralised under combined shift</a:t>
            </a:r>
          </a:p>
          <a:p>
            <a:pPr marL="0" indent="0">
              <a:buNone/>
            </a:pPr>
            <a:r>
              <a:rPr lang="en-US" sz="825" dirty="0">
                <a:solidFill>
                  <a:schemeClr val="tx1"/>
                </a:solidFill>
                <a:latin typeface="Calibri"/>
              </a:rPr>
              <a:t>105.5% of centralised AUROC at Both max. Weighted gradient aggregation outperforms naive pooling when distributions are highly heterogeneous.</a:t>
            </a:r>
          </a:p>
          <a:p>
            <a:pPr marL="0" indent="0">
              <a:buNone/>
            </a:pPr>
            <a:endParaRPr lang="en-US" sz="825" dirty="0"/>
          </a:p>
          <a:p>
            <a:pPr marL="0" indent="0">
              <a:buNone/>
            </a:pPr>
            <a:r>
              <a:rPr lang="en-US" sz="900" b="1" dirty="0">
                <a:solidFill>
                  <a:srgbClr val="7C3AED"/>
                </a:solidFill>
                <a:latin typeface="Calibri"/>
              </a:rPr>
              <a:t>4. Site_E fairness gap is clinically significant</a:t>
            </a:r>
          </a:p>
          <a:p>
            <a:pPr marL="0" indent="0">
              <a:buNone/>
            </a:pPr>
            <a:r>
              <a:rPr lang="en-US" sz="825" dirty="0">
                <a:solidFill>
                  <a:schemeClr val="tx1"/>
                </a:solidFill>
                <a:latin typeface="Calibri"/>
              </a:rPr>
              <a:t>Rural site (18 feat, 5% AKI) lags anchor by 10 AUROC points under max heterogeneity. Covariate shift is the primary driver (Δ−0.051 vs Δ−0.010 for label shift).</a:t>
            </a:r>
          </a:p>
          <a:p>
            <a:pPr marL="0" indent="0">
              <a:buNone/>
            </a:pPr>
            <a:endParaRPr lang="en-US" sz="825" dirty="0"/>
          </a:p>
          <a:p>
            <a:pPr marL="0" indent="0">
              <a:buNone/>
            </a:pPr>
            <a:r>
              <a:rPr lang="en-US" sz="900" b="1" dirty="0">
                <a:solidFill>
                  <a:srgbClr val="111827"/>
                </a:solidFill>
                <a:latin typeface="Calibri"/>
              </a:rPr>
              <a:t>5. SCAFFOLD+clip: same performance, better stability</a:t>
            </a:r>
          </a:p>
          <a:p>
            <a:pPr marL="0" indent="0">
              <a:buNone/>
            </a:pPr>
            <a:r>
              <a:rPr lang="en-US" sz="825" dirty="0">
                <a:solidFill>
                  <a:schemeClr val="tx1"/>
                </a:solidFill>
                <a:latin typeface="Calibri"/>
              </a:rPr>
              <a:t>CV clipping reduces std without sacrificing AUROC. Preferred for clinical deployment where reproducibility across runs matters.</a:t>
            </a:r>
          </a:p>
        </p:txBody>
      </p:sp>
      <p:sp>
        <p:nvSpPr>
          <p:cNvPr id="5" name="next_hdr"/>
          <p:cNvSpPr/>
          <p:nvPr/>
        </p:nvSpPr>
        <p:spPr>
          <a:xfrm>
            <a:off x="4715400" y="480000"/>
            <a:ext cx="4200000" cy="230000"/>
          </a:xfrm>
          <a:prstGeom prst="rect">
            <a:avLst/>
          </a:prstGeom>
          <a:solidFill>
            <a:srgbClr val="065A82"/>
          </a:solidFill>
          <a:ln/>
        </p:spPr>
        <p:txBody>
          <a:bodyPr wrap="square" lIns="91440" tIns="45720" rIns="91440" bIns="45720" rtlCol="0" anchor="ctr"/>
          <a:lstStyle/>
          <a:p>
            <a:pPr marL="0" indent="0" algn="ctr">
              <a:buNone/>
            </a:pPr>
            <a:r>
              <a:rPr lang="en-US" sz="1000" b="1" dirty="0">
                <a:solidFill>
                  <a:srgbClr val="FFFFFF"/>
                </a:solidFill>
                <a:latin typeface="Calibri"/>
              </a:rPr>
              <a:t>Next Steps</a:t>
            </a:r>
          </a:p>
        </p:txBody>
      </p:sp>
      <p:sp>
        <p:nvSpPr>
          <p:cNvPr id="6" name="next_body"/>
          <p:cNvSpPr/>
          <p:nvPr/>
        </p:nvSpPr>
        <p:spPr>
          <a:xfrm>
            <a:off x="4715400" y="710000"/>
            <a:ext cx="4200000" cy="4130000"/>
          </a:xfrm>
          <a:prstGeom prst="rect">
            <a:avLst/>
          </a:prstGeom>
          <a:solidFill>
            <a:srgbClr val="F0F9FF"/>
          </a:solidFill>
          <a:ln w="6350">
            <a:solidFill>
              <a:srgbClr val="BAE6FD"/>
            </a:solidFill>
          </a:ln>
        </p:spPr>
        <p:txBody>
          <a:bodyPr wrap="square" lIns="137160" tIns="91440" rIns="137160" bIns="91440" rtlCol="0" anchor="t"/>
          <a:lstStyle/>
          <a:p>
            <a:pPr marL="0" indent="0">
              <a:buNone/>
            </a:pPr>
            <a:r>
              <a:rPr lang="en-US" sz="900" b="1" dirty="0">
                <a:solidFill>
                  <a:srgbClr val="1E3A5F"/>
                </a:solidFill>
                <a:latin typeface="Calibri"/>
              </a:rPr>
              <a:t>1. Personalization — FedBABU body-head split</a:t>
            </a:r>
          </a:p>
          <a:p>
            <a:pPr marL="0" indent="0">
              <a:buNone/>
            </a:pPr>
            <a:r>
              <a:rPr lang="en-US" sz="825" dirty="0">
                <a:solidFill>
                  <a:schemeClr val="tx1"/>
                </a:solidFill>
                <a:latin typeface="Calibri"/>
              </a:rPr>
              <a:t>Shared body learns cross-site representations. Per-site head fine-tuned locally. Expected to recover site_E’s 10-point deficit.</a:t>
            </a:r>
          </a:p>
          <a:p>
            <a:pPr marL="0" indent="0">
              <a:buNone/>
            </a:pPr>
            <a:endParaRPr lang="en-US" sz="825" dirty="0"/>
          </a:p>
          <a:p>
            <a:pPr marL="0" indent="0">
              <a:buNone/>
            </a:pPr>
            <a:r>
              <a:rPr lang="en-US" sz="900" b="1" dirty="0">
                <a:solidFill>
                  <a:srgbClr val="1E3A5F"/>
                </a:solidFill>
                <a:latin typeface="Calibri"/>
              </a:rPr>
              <a:t>2. SCAFFOLD+clip hyperparameter sweep</a:t>
            </a:r>
          </a:p>
          <a:p>
            <a:pPr marL="0" indent="0">
              <a:buNone/>
            </a:pPr>
            <a:r>
              <a:rPr lang="en-US" sz="825" dirty="0">
                <a:solidFill>
                  <a:schemeClr val="tx1"/>
                </a:solidFill>
                <a:latin typeface="Calibri"/>
              </a:rPr>
              <a:t>Sweep cv_clip in {0.1, 0.5, 1.0, 5.0} on Both max condition. Current cv_clip=1.0 not tuned — further stability gains possible.</a:t>
            </a:r>
          </a:p>
          <a:p>
            <a:pPr marL="0" indent="0">
              <a:buNone/>
            </a:pPr>
            <a:endParaRPr lang="en-US" sz="825" dirty="0"/>
          </a:p>
          <a:p>
            <a:pPr marL="0" indent="0">
              <a:buNone/>
            </a:pPr>
            <a:r>
              <a:rPr lang="en-US" sz="900" b="1" dirty="0">
                <a:solidFill>
                  <a:srgbClr val="1E3A5F"/>
                </a:solidFill>
                <a:latin typeface="Calibri"/>
              </a:rPr>
              <a:t>3. GPC dataset validation</a:t>
            </a:r>
          </a:p>
          <a:p>
            <a:pPr marL="0" indent="0">
              <a:buNone/>
            </a:pPr>
            <a:r>
              <a:rPr lang="en-US" sz="825" dirty="0">
                <a:solidFill>
                  <a:schemeClr val="tx1"/>
                </a:solidFill>
                <a:latin typeface="Calibri"/>
              </a:rPr>
              <a:t>Map MIMIC-IV features to GPC feature set. Real federated validation confirms simulated heterogeneity generalises to a truly distributed clinical network.</a:t>
            </a:r>
          </a:p>
          <a:p>
            <a:pPr marL="0" indent="0">
              <a:buNone/>
            </a:pPr>
            <a:endParaRPr lang="en-US" sz="825" dirty="0"/>
          </a:p>
          <a:p>
            <a:pPr marL="0" indent="0">
              <a:buNone/>
            </a:pPr>
            <a:r>
              <a:rPr lang="en-US" sz="900" b="1" dirty="0">
                <a:solidFill>
                  <a:srgbClr val="1E3A5F"/>
                </a:solidFill>
                <a:latin typeface="Calibri"/>
              </a:rPr>
              <a:t>4. Missing-feature architecture</a:t>
            </a:r>
          </a:p>
          <a:p>
            <a:pPr marL="0" indent="0">
              <a:buNone/>
            </a:pPr>
            <a:r>
              <a:rPr lang="en-US" sz="825" dirty="0">
                <a:solidFill>
                  <a:schemeClr val="tx1"/>
                </a:solidFill>
                <a:latin typeface="Calibri"/>
              </a:rPr>
              <a:t>Replace mask-sentinel imputation with site-specific input projections. Site_D (25 feat) and site_E (18 feat) should only connect to observed features.</a:t>
            </a:r>
          </a:p>
          <a:p>
            <a:pPr marL="0" indent="0">
              <a:buNone/>
            </a:pPr>
            <a:endParaRPr lang="en-US" sz="825" dirty="0"/>
          </a:p>
          <a:p>
            <a:pPr marL="0" indent="0">
              <a:buNone/>
            </a:pPr>
            <a:r>
              <a:rPr lang="en-US" sz="900" b="1" dirty="0">
                <a:solidFill>
                  <a:srgbClr val="1E3A5F"/>
                </a:solidFill>
                <a:latin typeface="Calibri"/>
              </a:rPr>
              <a:t>5. Communication efficiency</a:t>
            </a:r>
          </a:p>
          <a:p>
            <a:pPr marL="0" indent="0">
              <a:buNone/>
            </a:pPr>
            <a:r>
              <a:rPr lang="en-US" sz="825" dirty="0">
                <a:solidFill>
                  <a:schemeClr val="tx1"/>
                </a:solidFill>
                <a:latin typeface="Calibri"/>
              </a:rPr>
              <a:t>Gradient compression and partial model updates to reduce bandwidth — critical for rural hospitals on limited connectivity.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7DC40-61C8-4EF2-79F6-0780A4263D61}"/>
            </a:ext>
          </a:extLst>
        </p:cNvPr>
        <p:cNvGrpSpPr/>
        <p:nvPr/>
      </p:nvGrpSpPr>
      <p:grpSpPr>
        <a:xfrm>
          <a:off x="0" y="0"/>
          <a:ext cx="0" cy="0"/>
          <a:chOff x="0" y="0"/>
          <a:chExt cx="0" cy="0"/>
        </a:xfrm>
      </p:grpSpPr>
      <p:sp>
        <p:nvSpPr>
          <p:cNvPr id="2" name="hdr">
            <a:extLst>
              <a:ext uri="{FF2B5EF4-FFF2-40B4-BE49-F238E27FC236}">
                <a16:creationId xmlns:a16="http://schemas.microsoft.com/office/drawing/2014/main" id="{359748C6-A0D1-7543-E937-152F4838ADE8}"/>
              </a:ext>
            </a:extLst>
          </p:cNvPr>
          <p:cNvSpPr/>
          <p:nvPr/>
        </p:nvSpPr>
        <p:spPr>
          <a:xfrm>
            <a:off x="0" y="0"/>
            <a:ext cx="9144000" cy="420000"/>
          </a:xfrm>
          <a:prstGeom prst="rect">
            <a:avLst/>
          </a:prstGeom>
          <a:solidFill>
            <a:srgbClr val="1E3A5F"/>
          </a:solidFill>
          <a:ln/>
        </p:spPr>
        <p:txBody>
          <a:bodyPr wrap="square" lIns="274638" tIns="60960" rIns="274638" bIns="60960" rtlCol="0" anchor="ctr"/>
          <a:lstStyle/>
          <a:p>
            <a:pPr marL="0" indent="0">
              <a:buNone/>
            </a:pPr>
            <a:r>
              <a:rPr lang="en-US" sz="1700" b="1" dirty="0">
                <a:solidFill>
                  <a:srgbClr val="FFFFFF"/>
                </a:solidFill>
                <a:latin typeface="Calibri"/>
              </a:rPr>
              <a:t>Per-Site Analysis: Are any sites penalized?</a:t>
            </a:r>
          </a:p>
        </p:txBody>
      </p:sp>
      <p:graphicFrame>
        <p:nvGraphicFramePr>
          <p:cNvPr id="20" name="Tbl20">
            <a:extLst>
              <a:ext uri="{FF2B5EF4-FFF2-40B4-BE49-F238E27FC236}">
                <a16:creationId xmlns:a16="http://schemas.microsoft.com/office/drawing/2014/main" id="{8D53B91F-13CA-128B-10C3-AB26FF0E0FDF}"/>
              </a:ext>
            </a:extLst>
          </p:cNvPr>
          <p:cNvGraphicFramePr>
            <a:graphicFrameLocks noGrp="1"/>
          </p:cNvGraphicFramePr>
          <p:nvPr>
            <p:extLst>
              <p:ext uri="{D42A27DB-BD31-4B8C-83A1-F6EECF244321}">
                <p14:modId xmlns:p14="http://schemas.microsoft.com/office/powerpoint/2010/main" val="4084085515"/>
              </p:ext>
            </p:extLst>
          </p:nvPr>
        </p:nvGraphicFramePr>
        <p:xfrm>
          <a:off x="228600" y="460000"/>
          <a:ext cx="8240000" cy="4903470"/>
        </p:xfrm>
        <a:graphic>
          <a:graphicData uri="http://schemas.openxmlformats.org/drawingml/2006/table">
            <a:tbl>
              <a:tblPr>
                <a:noFill/>
              </a:tblPr>
              <a:tblGrid>
                <a:gridCol w="2100000">
                  <a:extLst>
                    <a:ext uri="{9D8B030D-6E8A-4147-A177-3AD203B41FA5}">
                      <a16:colId xmlns:a16="http://schemas.microsoft.com/office/drawing/2014/main" val="20000"/>
                    </a:ext>
                  </a:extLst>
                </a:gridCol>
                <a:gridCol w="760000">
                  <a:extLst>
                    <a:ext uri="{9D8B030D-6E8A-4147-A177-3AD203B41FA5}">
                      <a16:colId xmlns:a16="http://schemas.microsoft.com/office/drawing/2014/main" val="20001"/>
                    </a:ext>
                  </a:extLst>
                </a:gridCol>
                <a:gridCol w="760000">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gridCol w="760000">
                  <a:extLst>
                    <a:ext uri="{9D8B030D-6E8A-4147-A177-3AD203B41FA5}">
                      <a16:colId xmlns:a16="http://schemas.microsoft.com/office/drawing/2014/main" val="20004"/>
                    </a:ext>
                  </a:extLst>
                </a:gridCol>
                <a:gridCol w="900000">
                  <a:extLst>
                    <a:ext uri="{9D8B030D-6E8A-4147-A177-3AD203B41FA5}">
                      <a16:colId xmlns:a16="http://schemas.microsoft.com/office/drawing/2014/main" val="20005"/>
                    </a:ext>
                  </a:extLst>
                </a:gridCol>
                <a:gridCol w="2060000">
                  <a:extLst>
                    <a:ext uri="{9D8B030D-6E8A-4147-A177-3AD203B41FA5}">
                      <a16:colId xmlns:a16="http://schemas.microsoft.com/office/drawing/2014/main" val="20006"/>
                    </a:ext>
                  </a:extLst>
                </a:gridCol>
              </a:tblGrid>
              <a:tr h="192000">
                <a:tc>
                  <a:txBody>
                    <a:bodyPr/>
                    <a:lstStyle/>
                    <a:p>
                      <a:pPr marL="0" indent="0">
                        <a:buNone/>
                      </a:pPr>
                      <a:r>
                        <a:rPr lang="en-US" sz="775" b="1" i="0" dirty="0">
                          <a:solidFill>
                            <a:srgbClr val="FFFFFF"/>
                          </a:solidFill>
                          <a:latin typeface="Calibri"/>
                        </a:rPr>
                        <a:t>Site / Condition</a:t>
                      </a:r>
                    </a:p>
                  </a:txBody>
                  <a:tcPr>
                    <a:solidFill>
                      <a:srgbClr val="1E3A5F"/>
                    </a:solidFill>
                  </a:tcPr>
                </a:tc>
                <a:tc>
                  <a:txBody>
                    <a:bodyPr/>
                    <a:lstStyle/>
                    <a:p>
                      <a:pPr marL="0" indent="0">
                        <a:buNone/>
                      </a:pPr>
                      <a:r>
                        <a:rPr lang="en-US" sz="775" b="1" i="0" dirty="0">
                          <a:solidFill>
                            <a:srgbClr val="FFFFFF"/>
                          </a:solidFill>
                          <a:latin typeface="Calibri"/>
                        </a:rPr>
                        <a:t>FL (S+clip)</a:t>
                      </a:r>
                    </a:p>
                  </a:txBody>
                  <a:tcPr>
                    <a:solidFill>
                      <a:srgbClr val="1E3A5F"/>
                    </a:solidFill>
                  </a:tcPr>
                </a:tc>
                <a:tc>
                  <a:txBody>
                    <a:bodyPr/>
                    <a:lstStyle/>
                    <a:p>
                      <a:pPr marL="0" indent="0">
                        <a:buNone/>
                      </a:pPr>
                      <a:r>
                        <a:rPr lang="en-US" sz="775" b="1" i="0" dirty="0">
                          <a:solidFill>
                            <a:srgbClr val="FFFFFF"/>
                          </a:solidFill>
                          <a:latin typeface="Calibri"/>
                        </a:rPr>
                        <a:t>Local</a:t>
                      </a:r>
                    </a:p>
                  </a:txBody>
                  <a:tcPr>
                    <a:solidFill>
                      <a:srgbClr val="1E3A5F"/>
                    </a:solidFill>
                  </a:tcPr>
                </a:tc>
                <a:tc>
                  <a:txBody>
                    <a:bodyPr/>
                    <a:lstStyle/>
                    <a:p>
                      <a:pPr marL="0" indent="0">
                        <a:buNone/>
                      </a:pPr>
                      <a:r>
                        <a:rPr lang="en-US" sz="775" b="1" i="0" dirty="0">
                          <a:solidFill>
                            <a:srgbClr val="FFFFFF"/>
                          </a:solidFill>
                          <a:latin typeface="Calibri"/>
                        </a:rPr>
                        <a:t>Δ FL-Local</a:t>
                      </a:r>
                    </a:p>
                  </a:txBody>
                  <a:tcPr>
                    <a:solidFill>
                      <a:srgbClr val="1E3A5F"/>
                    </a:solidFill>
                  </a:tcPr>
                </a:tc>
                <a:tc>
                  <a:txBody>
                    <a:bodyPr/>
                    <a:lstStyle/>
                    <a:p>
                      <a:pPr marL="0" indent="0">
                        <a:buNone/>
                      </a:pPr>
                      <a:r>
                        <a:rPr lang="en-US" sz="775" b="1" i="0" dirty="0">
                          <a:solidFill>
                            <a:srgbClr val="FFFFFF"/>
                          </a:solidFill>
                          <a:latin typeface="Calibri"/>
                        </a:rPr>
                        <a:t>Central</a:t>
                      </a:r>
                    </a:p>
                  </a:txBody>
                  <a:tcPr>
                    <a:solidFill>
                      <a:srgbClr val="1E3A5F"/>
                    </a:solidFill>
                  </a:tcPr>
                </a:tc>
                <a:tc>
                  <a:txBody>
                    <a:bodyPr/>
                    <a:lstStyle/>
                    <a:p>
                      <a:pPr marL="0" indent="0">
                        <a:buNone/>
                      </a:pPr>
                      <a:r>
                        <a:rPr lang="en-US" sz="775" b="1" i="0" dirty="0">
                          <a:solidFill>
                            <a:srgbClr val="FFFFFF"/>
                          </a:solidFill>
                          <a:latin typeface="Calibri"/>
                        </a:rPr>
                        <a:t>Δ FL-Cen</a:t>
                      </a:r>
                    </a:p>
                  </a:txBody>
                  <a:tcPr>
                    <a:solidFill>
                      <a:srgbClr val="1E3A5F"/>
                    </a:solidFill>
                  </a:tcPr>
                </a:tc>
                <a:tc>
                  <a:txBody>
                    <a:bodyPr/>
                    <a:lstStyle/>
                    <a:p>
                      <a:pPr marL="0" indent="0">
                        <a:buNone/>
                      </a:pPr>
                      <a:r>
                        <a:rPr lang="en-US" sz="775" b="1" i="0" dirty="0">
                          <a:solidFill>
                            <a:srgbClr val="FFFFFF"/>
                          </a:solidFill>
                          <a:latin typeface="Calibri"/>
                        </a:rPr>
                        <a:t>Verdict</a:t>
                      </a:r>
                    </a:p>
                  </a:txBody>
                  <a:tcPr>
                    <a:solidFill>
                      <a:srgbClr val="1E3A5F"/>
                    </a:solidFill>
                  </a:tcPr>
                </a:tc>
                <a:extLst>
                  <a:ext uri="{0D108BD9-81ED-4DB2-BD59-A6C34878D82A}">
                    <a16:rowId xmlns:a16="http://schemas.microsoft.com/office/drawing/2014/main" val="10000"/>
                  </a:ext>
                </a:extLst>
              </a:tr>
              <a:tr h="245000">
                <a:tc>
                  <a:txBody>
                    <a:bodyPr/>
                    <a:lstStyle/>
                    <a:p>
                      <a:pPr marL="0" indent="0">
                        <a:buNone/>
                      </a:pPr>
                      <a:r>
                        <a:rPr lang="en-US" sz="775" b="1" i="0" dirty="0">
                          <a:solidFill>
                            <a:srgbClr val="DC2626"/>
                          </a:solidFill>
                          <a:latin typeface="Calibri"/>
                        </a:rPr>
                        <a:t>site_A  ICU  43% AKI  39 feat</a:t>
                      </a:r>
                    </a:p>
                  </a:txBody>
                  <a:tcPr>
                    <a:solidFill>
                      <a:srgbClr val="FEE2E2"/>
                    </a:solidFill>
                  </a:tcPr>
                </a:tc>
                <a:tc>
                  <a:txBody>
                    <a:bodyPr/>
                    <a:lstStyle/>
                    <a:p>
                      <a:pPr marL="0" indent="0">
                        <a:buNone/>
                      </a:pPr>
                      <a:endParaRPr/>
                    </a:p>
                  </a:txBody>
                  <a:tcPr>
                    <a:solidFill>
                      <a:srgbClr val="FEE2E2"/>
                    </a:solidFill>
                  </a:tcPr>
                </a:tc>
                <a:tc>
                  <a:txBody>
                    <a:bodyPr/>
                    <a:lstStyle/>
                    <a:p>
                      <a:pPr marL="0" indent="0">
                        <a:buNone/>
                      </a:pPr>
                      <a:endParaRPr/>
                    </a:p>
                  </a:txBody>
                  <a:tcPr>
                    <a:solidFill>
                      <a:srgbClr val="FEE2E2"/>
                    </a:solidFill>
                  </a:tcPr>
                </a:tc>
                <a:tc>
                  <a:txBody>
                    <a:bodyPr/>
                    <a:lstStyle/>
                    <a:p>
                      <a:pPr marL="0" indent="0">
                        <a:buNone/>
                      </a:pPr>
                      <a:endParaRPr/>
                    </a:p>
                  </a:txBody>
                  <a:tcPr>
                    <a:solidFill>
                      <a:srgbClr val="FEE2E2"/>
                    </a:solidFill>
                  </a:tcPr>
                </a:tc>
                <a:tc>
                  <a:txBody>
                    <a:bodyPr/>
                    <a:lstStyle/>
                    <a:p>
                      <a:pPr marL="0" indent="0">
                        <a:buNone/>
                      </a:pPr>
                      <a:endParaRPr/>
                    </a:p>
                  </a:txBody>
                  <a:tcPr>
                    <a:solidFill>
                      <a:srgbClr val="FEE2E2"/>
                    </a:solidFill>
                  </a:tcPr>
                </a:tc>
                <a:tc>
                  <a:txBody>
                    <a:bodyPr/>
                    <a:lstStyle/>
                    <a:p>
                      <a:pPr marL="0" indent="0">
                        <a:buNone/>
                      </a:pPr>
                      <a:endParaRPr/>
                    </a:p>
                  </a:txBody>
                  <a:tcPr>
                    <a:solidFill>
                      <a:srgbClr val="FEE2E2"/>
                    </a:solidFill>
                  </a:tcPr>
                </a:tc>
                <a:tc>
                  <a:txBody>
                    <a:bodyPr/>
                    <a:lstStyle/>
                    <a:p>
                      <a:pPr marL="0" indent="0">
                        <a:buNone/>
                      </a:pPr>
                      <a:endParaRPr/>
                    </a:p>
                  </a:txBody>
                  <a:tcPr>
                    <a:solidFill>
                      <a:srgbClr val="FEE2E2"/>
                    </a:solidFill>
                  </a:tcPr>
                </a:tc>
                <a:extLst>
                  <a:ext uri="{0D108BD9-81ED-4DB2-BD59-A6C34878D82A}">
                    <a16:rowId xmlns:a16="http://schemas.microsoft.com/office/drawing/2014/main" val="10001"/>
                  </a:ext>
                </a:extLst>
              </a:tr>
              <a:tr h="192000">
                <a:tc>
                  <a:txBody>
                    <a:bodyPr/>
                    <a:lstStyle/>
                    <a:p>
                      <a:pPr marL="0" indent="0">
                        <a:buNone/>
                      </a:pPr>
                      <a:r>
                        <a:rPr lang="en-US" sz="750" b="0" i="0" dirty="0">
                          <a:solidFill>
                            <a:srgbClr val="111827"/>
                          </a:solidFill>
                          <a:latin typeface="Calibri"/>
                        </a:rPr>
                        <a:t>  IID</a:t>
                      </a:r>
                    </a:p>
                  </a:txBody>
                  <a:tcPr>
                    <a:solidFill>
                      <a:srgbClr val="EFF6FF"/>
                    </a:solidFill>
                  </a:tcPr>
                </a:tc>
                <a:tc>
                  <a:txBody>
                    <a:bodyPr/>
                    <a:lstStyle/>
                    <a:p>
                      <a:pPr marL="0" indent="0">
                        <a:buNone/>
                      </a:pPr>
                      <a:r>
                        <a:rPr lang="en-US" sz="750" b="0" i="0" dirty="0">
                          <a:solidFill>
                            <a:srgbClr val="111827"/>
                          </a:solidFill>
                          <a:latin typeface="Calibri"/>
                        </a:rPr>
                        <a:t>0.881</a:t>
                      </a:r>
                    </a:p>
                  </a:txBody>
                  <a:tcPr>
                    <a:solidFill>
                      <a:srgbClr val="EFF6FF"/>
                    </a:solidFill>
                  </a:tcPr>
                </a:tc>
                <a:tc>
                  <a:txBody>
                    <a:bodyPr/>
                    <a:lstStyle/>
                    <a:p>
                      <a:pPr marL="0" indent="0">
                        <a:buNone/>
                      </a:pPr>
                      <a:r>
                        <a:rPr lang="en-US" sz="750" b="0" i="0" dirty="0">
                          <a:solidFill>
                            <a:srgbClr val="111827"/>
                          </a:solidFill>
                          <a:latin typeface="Calibri"/>
                        </a:rPr>
                        <a:t>0.848</a:t>
                      </a:r>
                    </a:p>
                  </a:txBody>
                  <a:tcPr>
                    <a:solidFill>
                      <a:srgbClr val="EFF6FF"/>
                    </a:solidFill>
                  </a:tcPr>
                </a:tc>
                <a:tc>
                  <a:txBody>
                    <a:bodyPr/>
                    <a:lstStyle/>
                    <a:p>
                      <a:pPr marL="0" indent="0">
                        <a:buNone/>
                      </a:pPr>
                      <a:r>
                        <a:rPr lang="en-US" sz="750" b="0" i="0" dirty="0">
                          <a:solidFill>
                            <a:srgbClr val="16A34A"/>
                          </a:solidFill>
                          <a:latin typeface="Calibri"/>
                        </a:rPr>
                        <a:t>+0.033</a:t>
                      </a:r>
                    </a:p>
                  </a:txBody>
                  <a:tcPr>
                    <a:solidFill>
                      <a:srgbClr val="EFF6FF"/>
                    </a:solidFill>
                  </a:tcPr>
                </a:tc>
                <a:tc>
                  <a:txBody>
                    <a:bodyPr/>
                    <a:lstStyle/>
                    <a:p>
                      <a:pPr marL="0" indent="0">
                        <a:buNone/>
                      </a:pPr>
                      <a:r>
                        <a:rPr lang="en-US" sz="750" b="0" i="0" dirty="0">
                          <a:solidFill>
                            <a:srgbClr val="111827"/>
                          </a:solidFill>
                          <a:latin typeface="Calibri"/>
                        </a:rPr>
                        <a:t>0.884</a:t>
                      </a:r>
                    </a:p>
                  </a:txBody>
                  <a:tcPr>
                    <a:solidFill>
                      <a:srgbClr val="EFF6FF"/>
                    </a:solidFill>
                  </a:tcPr>
                </a:tc>
                <a:tc>
                  <a:txBody>
                    <a:bodyPr/>
                    <a:lstStyle/>
                    <a:p>
                      <a:pPr marL="0" indent="0">
                        <a:buNone/>
                      </a:pPr>
                      <a:r>
                        <a:rPr lang="en-US" sz="750" b="0" i="0" dirty="0">
                          <a:solidFill>
                            <a:srgbClr val="111827"/>
                          </a:solidFill>
                          <a:latin typeface="Calibri"/>
                        </a:rPr>
                        <a:t>−0.003</a:t>
                      </a:r>
                    </a:p>
                  </a:txBody>
                  <a:tcPr>
                    <a:solidFill>
                      <a:srgbClr val="EFF6FF"/>
                    </a:solidFill>
                  </a:tcPr>
                </a:tc>
                <a:tc>
                  <a:txBody>
                    <a:bodyPr/>
                    <a:lstStyle/>
                    <a:p>
                      <a:pPr marL="0" indent="0">
                        <a:buNone/>
                      </a:pPr>
                      <a:r>
                        <a:rPr lang="en-US" sz="750" b="0" i="0" dirty="0">
                          <a:solidFill>
                            <a:srgbClr val="374151"/>
                          </a:solidFill>
                          <a:latin typeface="Calibri"/>
                        </a:rPr>
                        <a:t>FL beats local; ties central</a:t>
                      </a:r>
                    </a:p>
                  </a:txBody>
                  <a:tcPr>
                    <a:noFill/>
                  </a:tcPr>
                </a:tc>
                <a:extLst>
                  <a:ext uri="{0D108BD9-81ED-4DB2-BD59-A6C34878D82A}">
                    <a16:rowId xmlns:a16="http://schemas.microsoft.com/office/drawing/2014/main" val="10002"/>
                  </a:ext>
                </a:extLst>
              </a:tr>
              <a:tr h="192000">
                <a:tc>
                  <a:txBody>
                    <a:bodyPr/>
                    <a:lstStyle/>
                    <a:p>
                      <a:pPr marL="0" indent="0">
                        <a:buNone/>
                      </a:pPr>
                      <a:r>
                        <a:rPr lang="en-US" sz="750" b="0" i="0" dirty="0">
                          <a:solidFill>
                            <a:srgbClr val="111827"/>
                          </a:solidFill>
                          <a:latin typeface="Calibri"/>
                        </a:rPr>
                        <a:t>  Covariate only</a:t>
                      </a:r>
                    </a:p>
                  </a:txBody>
                  <a:tcPr>
                    <a:noFill/>
                  </a:tcPr>
                </a:tc>
                <a:tc>
                  <a:txBody>
                    <a:bodyPr/>
                    <a:lstStyle/>
                    <a:p>
                      <a:pPr marL="0" indent="0">
                        <a:buNone/>
                      </a:pPr>
                      <a:r>
                        <a:rPr lang="en-US" sz="750" b="0" i="0" dirty="0">
                          <a:solidFill>
                            <a:srgbClr val="111827"/>
                          </a:solidFill>
                          <a:latin typeface="Calibri"/>
                        </a:rPr>
                        <a:t>0.957</a:t>
                      </a:r>
                    </a:p>
                  </a:txBody>
                  <a:tcPr>
                    <a:noFill/>
                  </a:tcPr>
                </a:tc>
                <a:tc>
                  <a:txBody>
                    <a:bodyPr/>
                    <a:lstStyle/>
                    <a:p>
                      <a:pPr marL="0" indent="0">
                        <a:buNone/>
                      </a:pPr>
                      <a:r>
                        <a:rPr lang="en-US" sz="750" b="0" i="0" dirty="0">
                          <a:solidFill>
                            <a:srgbClr val="111827"/>
                          </a:solidFill>
                          <a:latin typeface="Calibri"/>
                        </a:rPr>
                        <a:t>0.970</a:t>
                      </a:r>
                    </a:p>
                  </a:txBody>
                  <a:tcPr>
                    <a:noFill/>
                  </a:tcPr>
                </a:tc>
                <a:tc>
                  <a:txBody>
                    <a:bodyPr/>
                    <a:lstStyle/>
                    <a:p>
                      <a:pPr marL="0" indent="0">
                        <a:buNone/>
                      </a:pPr>
                      <a:r>
                        <a:rPr lang="en-US" sz="750" b="1" i="0" dirty="0">
                          <a:solidFill>
                            <a:srgbClr val="DC2626"/>
                          </a:solidFill>
                          <a:latin typeface="Calibri"/>
                        </a:rPr>
                        <a:t>−0.013</a:t>
                      </a:r>
                    </a:p>
                  </a:txBody>
                  <a:tcPr>
                    <a:noFill/>
                  </a:tcPr>
                </a:tc>
                <a:tc>
                  <a:txBody>
                    <a:bodyPr/>
                    <a:lstStyle/>
                    <a:p>
                      <a:pPr marL="0" indent="0">
                        <a:buNone/>
                      </a:pPr>
                      <a:r>
                        <a:rPr lang="en-US" sz="750" b="0" i="0" dirty="0">
                          <a:solidFill>
                            <a:srgbClr val="111827"/>
                          </a:solidFill>
                          <a:latin typeface="Calibri"/>
                        </a:rPr>
                        <a:t>0.962</a:t>
                      </a:r>
                    </a:p>
                  </a:txBody>
                  <a:tcPr>
                    <a:noFill/>
                  </a:tcPr>
                </a:tc>
                <a:tc>
                  <a:txBody>
                    <a:bodyPr/>
                    <a:lstStyle/>
                    <a:p>
                      <a:pPr marL="0" indent="0">
                        <a:buNone/>
                      </a:pPr>
                      <a:r>
                        <a:rPr lang="en-US" sz="750" b="0" i="0" dirty="0">
                          <a:solidFill>
                            <a:srgbClr val="111827"/>
                          </a:solidFill>
                          <a:latin typeface="Calibri"/>
                        </a:rPr>
                        <a:t>−0.005</a:t>
                      </a:r>
                    </a:p>
                  </a:txBody>
                  <a:tcPr>
                    <a:noFill/>
                  </a:tcPr>
                </a:tc>
                <a:tc>
                  <a:txBody>
                    <a:bodyPr/>
                    <a:lstStyle/>
                    <a:p>
                      <a:pPr marL="0" indent="0">
                        <a:buNone/>
                      </a:pPr>
                      <a:r>
                        <a:rPr lang="en-US" sz="750" b="1" i="0" dirty="0">
                          <a:solidFill>
                            <a:srgbClr val="DC2626"/>
                          </a:solidFill>
                          <a:latin typeface="Calibri"/>
                        </a:rPr>
                        <a:t>LOCAL WINS — penalized by FL</a:t>
                      </a:r>
                    </a:p>
                  </a:txBody>
                  <a:tcPr>
                    <a:noFill/>
                  </a:tcPr>
                </a:tc>
                <a:extLst>
                  <a:ext uri="{0D108BD9-81ED-4DB2-BD59-A6C34878D82A}">
                    <a16:rowId xmlns:a16="http://schemas.microsoft.com/office/drawing/2014/main" val="10003"/>
                  </a:ext>
                </a:extLst>
              </a:tr>
              <a:tr h="192000">
                <a:tc>
                  <a:txBody>
                    <a:bodyPr/>
                    <a:lstStyle/>
                    <a:p>
                      <a:pPr marL="0" indent="0">
                        <a:buNone/>
                      </a:pPr>
                      <a:r>
                        <a:rPr lang="en-US" sz="750" b="0" i="0" dirty="0">
                          <a:solidFill>
                            <a:srgbClr val="111827"/>
                          </a:solidFill>
                          <a:latin typeface="Calibri"/>
                        </a:rPr>
                        <a:t>  Both max</a:t>
                      </a:r>
                    </a:p>
                  </a:txBody>
                  <a:tcPr>
                    <a:noFill/>
                  </a:tcPr>
                </a:tc>
                <a:tc>
                  <a:txBody>
                    <a:bodyPr/>
                    <a:lstStyle/>
                    <a:p>
                      <a:pPr marL="0" indent="0">
                        <a:buNone/>
                      </a:pPr>
                      <a:r>
                        <a:rPr lang="en-US" sz="750" b="0" i="0" dirty="0">
                          <a:solidFill>
                            <a:srgbClr val="111827"/>
                          </a:solidFill>
                          <a:latin typeface="Calibri"/>
                        </a:rPr>
                        <a:t>0.782</a:t>
                      </a:r>
                    </a:p>
                  </a:txBody>
                  <a:tcPr>
                    <a:noFill/>
                  </a:tcPr>
                </a:tc>
                <a:tc>
                  <a:txBody>
                    <a:bodyPr/>
                    <a:lstStyle/>
                    <a:p>
                      <a:pPr marL="0" indent="0">
                        <a:buNone/>
                      </a:pPr>
                      <a:r>
                        <a:rPr lang="en-US" sz="750" b="0" i="0" dirty="0">
                          <a:solidFill>
                            <a:srgbClr val="111827"/>
                          </a:solidFill>
                          <a:latin typeface="Calibri"/>
                        </a:rPr>
                        <a:t>0.748</a:t>
                      </a:r>
                    </a:p>
                  </a:txBody>
                  <a:tcPr>
                    <a:noFill/>
                  </a:tcPr>
                </a:tc>
                <a:tc>
                  <a:txBody>
                    <a:bodyPr/>
                    <a:lstStyle/>
                    <a:p>
                      <a:pPr marL="0" indent="0">
                        <a:buNone/>
                      </a:pPr>
                      <a:r>
                        <a:rPr lang="en-US" sz="750" b="0" i="0" dirty="0">
                          <a:solidFill>
                            <a:srgbClr val="16A34A"/>
                          </a:solidFill>
                          <a:latin typeface="Calibri"/>
                        </a:rPr>
                        <a:t>+0.035</a:t>
                      </a:r>
                    </a:p>
                  </a:txBody>
                  <a:tcPr>
                    <a:noFill/>
                  </a:tcPr>
                </a:tc>
                <a:tc>
                  <a:txBody>
                    <a:bodyPr/>
                    <a:lstStyle/>
                    <a:p>
                      <a:pPr marL="0" indent="0">
                        <a:buNone/>
                      </a:pPr>
                      <a:r>
                        <a:rPr lang="en-US" sz="750" b="0" i="0" dirty="0">
                          <a:solidFill>
                            <a:srgbClr val="111827"/>
                          </a:solidFill>
                          <a:latin typeface="Calibri"/>
                        </a:rPr>
                        <a:t>0.782</a:t>
                      </a:r>
                    </a:p>
                  </a:txBody>
                  <a:tcPr>
                    <a:noFill/>
                  </a:tcPr>
                </a:tc>
                <a:tc>
                  <a:txBody>
                    <a:bodyPr/>
                    <a:lstStyle/>
                    <a:p>
                      <a:pPr marL="0" indent="0">
                        <a:buNone/>
                      </a:pPr>
                      <a:r>
                        <a:rPr lang="en-US" sz="750" b="0" i="0" dirty="0">
                          <a:solidFill>
                            <a:srgbClr val="111827"/>
                          </a:solidFill>
                          <a:latin typeface="Calibri"/>
                        </a:rPr>
                        <a:t>+0.001</a:t>
                      </a:r>
                    </a:p>
                  </a:txBody>
                  <a:tcPr>
                    <a:noFill/>
                  </a:tcPr>
                </a:tc>
                <a:tc>
                  <a:txBody>
                    <a:bodyPr/>
                    <a:lstStyle/>
                    <a:p>
                      <a:pPr marL="0" indent="0">
                        <a:buNone/>
                      </a:pPr>
                      <a:r>
                        <a:rPr lang="en-US" sz="750" b="0" i="0" dirty="0">
                          <a:solidFill>
                            <a:srgbClr val="374151"/>
                          </a:solidFill>
                          <a:latin typeface="Calibri"/>
                        </a:rPr>
                        <a:t>FL beats local; ties central</a:t>
                      </a:r>
                    </a:p>
                  </a:txBody>
                  <a:tcPr>
                    <a:noFill/>
                  </a:tcPr>
                </a:tc>
                <a:extLst>
                  <a:ext uri="{0D108BD9-81ED-4DB2-BD59-A6C34878D82A}">
                    <a16:rowId xmlns:a16="http://schemas.microsoft.com/office/drawing/2014/main" val="10004"/>
                  </a:ext>
                </a:extLst>
              </a:tr>
              <a:tr h="245000">
                <a:tc>
                  <a:txBody>
                    <a:bodyPr/>
                    <a:lstStyle/>
                    <a:p>
                      <a:pPr marL="0" indent="0">
                        <a:buNone/>
                      </a:pPr>
                      <a:r>
                        <a:rPr lang="en-US" sz="775" b="1" i="0" dirty="0">
                          <a:solidFill>
                            <a:srgbClr val="D97706"/>
                          </a:solidFill>
                          <a:latin typeface="Calibri"/>
                        </a:rPr>
                        <a:t>site_B  Ward  17% AKI  39 feat</a:t>
                      </a:r>
                    </a:p>
                  </a:txBody>
                  <a:tcPr>
                    <a:solidFill>
                      <a:srgbClr val="FFFBEB"/>
                    </a:solidFill>
                  </a:tcPr>
                </a:tc>
                <a:tc>
                  <a:txBody>
                    <a:bodyPr/>
                    <a:lstStyle/>
                    <a:p>
                      <a:pPr marL="0" indent="0">
                        <a:buNone/>
                      </a:pPr>
                      <a:endParaRPr/>
                    </a:p>
                  </a:txBody>
                  <a:tcPr>
                    <a:solidFill>
                      <a:srgbClr val="FFFBEB"/>
                    </a:solidFill>
                  </a:tcPr>
                </a:tc>
                <a:tc>
                  <a:txBody>
                    <a:bodyPr/>
                    <a:lstStyle/>
                    <a:p>
                      <a:pPr marL="0" indent="0">
                        <a:buNone/>
                      </a:pPr>
                      <a:endParaRPr/>
                    </a:p>
                  </a:txBody>
                  <a:tcPr>
                    <a:solidFill>
                      <a:srgbClr val="FFFBEB"/>
                    </a:solidFill>
                  </a:tcPr>
                </a:tc>
                <a:tc>
                  <a:txBody>
                    <a:bodyPr/>
                    <a:lstStyle/>
                    <a:p>
                      <a:pPr marL="0" indent="0">
                        <a:buNone/>
                      </a:pPr>
                      <a:endParaRPr/>
                    </a:p>
                  </a:txBody>
                  <a:tcPr>
                    <a:solidFill>
                      <a:srgbClr val="FFFBEB"/>
                    </a:solidFill>
                  </a:tcPr>
                </a:tc>
                <a:tc>
                  <a:txBody>
                    <a:bodyPr/>
                    <a:lstStyle/>
                    <a:p>
                      <a:pPr marL="0" indent="0">
                        <a:buNone/>
                      </a:pPr>
                      <a:endParaRPr/>
                    </a:p>
                  </a:txBody>
                  <a:tcPr>
                    <a:solidFill>
                      <a:srgbClr val="FFFBEB"/>
                    </a:solidFill>
                  </a:tcPr>
                </a:tc>
                <a:tc>
                  <a:txBody>
                    <a:bodyPr/>
                    <a:lstStyle/>
                    <a:p>
                      <a:pPr marL="0" indent="0">
                        <a:buNone/>
                      </a:pPr>
                      <a:endParaRPr/>
                    </a:p>
                  </a:txBody>
                  <a:tcPr>
                    <a:solidFill>
                      <a:srgbClr val="FFFBEB"/>
                    </a:solidFill>
                  </a:tcPr>
                </a:tc>
                <a:tc>
                  <a:txBody>
                    <a:bodyPr/>
                    <a:lstStyle/>
                    <a:p>
                      <a:pPr marL="0" indent="0">
                        <a:buNone/>
                      </a:pPr>
                      <a:endParaRPr/>
                    </a:p>
                  </a:txBody>
                  <a:tcPr>
                    <a:solidFill>
                      <a:srgbClr val="FFFBEB"/>
                    </a:solidFill>
                  </a:tcPr>
                </a:tc>
                <a:extLst>
                  <a:ext uri="{0D108BD9-81ED-4DB2-BD59-A6C34878D82A}">
                    <a16:rowId xmlns:a16="http://schemas.microsoft.com/office/drawing/2014/main" val="10005"/>
                  </a:ext>
                </a:extLst>
              </a:tr>
              <a:tr h="192000">
                <a:tc>
                  <a:txBody>
                    <a:bodyPr/>
                    <a:lstStyle/>
                    <a:p>
                      <a:pPr marL="0" indent="0">
                        <a:buNone/>
                      </a:pPr>
                      <a:r>
                        <a:rPr lang="en-US" sz="750" b="0" i="0" dirty="0">
                          <a:solidFill>
                            <a:srgbClr val="111827"/>
                          </a:solidFill>
                          <a:latin typeface="Calibri"/>
                        </a:rPr>
                        <a:t>  IID</a:t>
                      </a:r>
                    </a:p>
                  </a:txBody>
                  <a:tcPr>
                    <a:solidFill>
                      <a:srgbClr val="FFFFFF"/>
                    </a:solidFill>
                  </a:tcPr>
                </a:tc>
                <a:tc>
                  <a:txBody>
                    <a:bodyPr/>
                    <a:lstStyle/>
                    <a:p>
                      <a:pPr marL="0" indent="0">
                        <a:buNone/>
                      </a:pPr>
                      <a:r>
                        <a:rPr lang="en-US" sz="750" b="0" i="0" dirty="0">
                          <a:solidFill>
                            <a:srgbClr val="111827"/>
                          </a:solidFill>
                          <a:latin typeface="Calibri"/>
                        </a:rPr>
                        <a:t>0.873</a:t>
                      </a:r>
                    </a:p>
                  </a:txBody>
                  <a:tcPr>
                    <a:solidFill>
                      <a:srgbClr val="FFFFFF"/>
                    </a:solidFill>
                  </a:tcPr>
                </a:tc>
                <a:tc>
                  <a:txBody>
                    <a:bodyPr/>
                    <a:lstStyle/>
                    <a:p>
                      <a:pPr marL="0" indent="0">
                        <a:buNone/>
                      </a:pPr>
                      <a:r>
                        <a:rPr lang="en-US" sz="750" b="0" i="0" dirty="0">
                          <a:solidFill>
                            <a:srgbClr val="111827"/>
                          </a:solidFill>
                          <a:latin typeface="Calibri"/>
                        </a:rPr>
                        <a:t>0.848</a:t>
                      </a:r>
                    </a:p>
                  </a:txBody>
                  <a:tcPr>
                    <a:solidFill>
                      <a:srgbClr val="FFFFFF"/>
                    </a:solidFill>
                  </a:tcPr>
                </a:tc>
                <a:tc>
                  <a:txBody>
                    <a:bodyPr/>
                    <a:lstStyle/>
                    <a:p>
                      <a:pPr marL="0" indent="0">
                        <a:buNone/>
                      </a:pPr>
                      <a:r>
                        <a:rPr lang="en-US" sz="750" b="0" i="0" dirty="0">
                          <a:solidFill>
                            <a:srgbClr val="16A34A"/>
                          </a:solidFill>
                          <a:latin typeface="Calibri"/>
                        </a:rPr>
                        <a:t>+0.025</a:t>
                      </a:r>
                    </a:p>
                  </a:txBody>
                  <a:tcPr>
                    <a:solidFill>
                      <a:srgbClr val="FFFFFF"/>
                    </a:solidFill>
                  </a:tcPr>
                </a:tc>
                <a:tc>
                  <a:txBody>
                    <a:bodyPr/>
                    <a:lstStyle/>
                    <a:p>
                      <a:pPr marL="0" indent="0">
                        <a:buNone/>
                      </a:pPr>
                      <a:r>
                        <a:rPr lang="en-US" sz="750" b="0" i="0" dirty="0">
                          <a:solidFill>
                            <a:srgbClr val="111827"/>
                          </a:solidFill>
                          <a:latin typeface="Calibri"/>
                        </a:rPr>
                        <a:t>0.876</a:t>
                      </a:r>
                    </a:p>
                  </a:txBody>
                  <a:tcPr>
                    <a:solidFill>
                      <a:srgbClr val="FFFFFF"/>
                    </a:solidFill>
                  </a:tcPr>
                </a:tc>
                <a:tc>
                  <a:txBody>
                    <a:bodyPr/>
                    <a:lstStyle/>
                    <a:p>
                      <a:pPr marL="0" indent="0">
                        <a:buNone/>
                      </a:pPr>
                      <a:r>
                        <a:rPr lang="en-US" sz="750" b="0" i="0" dirty="0">
                          <a:solidFill>
                            <a:srgbClr val="111827"/>
                          </a:solidFill>
                          <a:latin typeface="Calibri"/>
                        </a:rPr>
                        <a:t>−0.003</a:t>
                      </a:r>
                    </a:p>
                  </a:txBody>
                  <a:tcPr>
                    <a:solidFill>
                      <a:srgbClr val="FFFFFF"/>
                    </a:solidFill>
                  </a:tcPr>
                </a:tc>
                <a:tc>
                  <a:txBody>
                    <a:bodyPr/>
                    <a:lstStyle/>
                    <a:p>
                      <a:pPr marL="0" indent="0">
                        <a:buNone/>
                      </a:pPr>
                      <a:r>
                        <a:rPr lang="en-US" sz="750" b="0" i="0" dirty="0">
                          <a:solidFill>
                            <a:srgbClr val="374151"/>
                          </a:solidFill>
                          <a:latin typeface="Calibri"/>
                        </a:rPr>
                        <a:t>FL beats local in all 8 conditions</a:t>
                      </a:r>
                    </a:p>
                  </a:txBody>
                  <a:tcPr>
                    <a:solidFill>
                      <a:srgbClr val="FFFFFF"/>
                    </a:solidFill>
                  </a:tcPr>
                </a:tc>
                <a:extLst>
                  <a:ext uri="{0D108BD9-81ED-4DB2-BD59-A6C34878D82A}">
                    <a16:rowId xmlns:a16="http://schemas.microsoft.com/office/drawing/2014/main" val="10006"/>
                  </a:ext>
                </a:extLst>
              </a:tr>
              <a:tr h="192000">
                <a:tc>
                  <a:txBody>
                    <a:bodyPr/>
                    <a:lstStyle/>
                    <a:p>
                      <a:pPr marL="0" indent="0">
                        <a:buNone/>
                      </a:pPr>
                      <a:r>
                        <a:rPr lang="en-US" sz="750" b="0" i="0" dirty="0">
                          <a:solidFill>
                            <a:srgbClr val="111827"/>
                          </a:solidFill>
                          <a:latin typeface="Calibri"/>
                        </a:rPr>
                        <a:t>  Both max</a:t>
                      </a:r>
                    </a:p>
                  </a:txBody>
                  <a:tcPr>
                    <a:solidFill>
                      <a:srgbClr val="FFFFFF"/>
                    </a:solidFill>
                  </a:tcPr>
                </a:tc>
                <a:tc>
                  <a:txBody>
                    <a:bodyPr/>
                    <a:lstStyle/>
                    <a:p>
                      <a:pPr marL="0" indent="0">
                        <a:buNone/>
                      </a:pPr>
                      <a:r>
                        <a:rPr lang="en-US" sz="750" b="0" i="0" dirty="0">
                          <a:solidFill>
                            <a:srgbClr val="111827"/>
                          </a:solidFill>
                          <a:latin typeface="Calibri"/>
                        </a:rPr>
                        <a:t>0.895</a:t>
                      </a:r>
                    </a:p>
                  </a:txBody>
                  <a:tcPr>
                    <a:solidFill>
                      <a:srgbClr val="FFFFFF"/>
                    </a:solidFill>
                  </a:tcPr>
                </a:tc>
                <a:tc>
                  <a:txBody>
                    <a:bodyPr/>
                    <a:lstStyle/>
                    <a:p>
                      <a:pPr marL="0" indent="0">
                        <a:buNone/>
                      </a:pPr>
                      <a:r>
                        <a:rPr lang="en-US" sz="750" b="0" i="0" dirty="0">
                          <a:solidFill>
                            <a:srgbClr val="111827"/>
                          </a:solidFill>
                          <a:latin typeface="Calibri"/>
                        </a:rPr>
                        <a:t>0.864</a:t>
                      </a:r>
                    </a:p>
                  </a:txBody>
                  <a:tcPr>
                    <a:solidFill>
                      <a:srgbClr val="FFFFFF"/>
                    </a:solidFill>
                  </a:tcPr>
                </a:tc>
                <a:tc>
                  <a:txBody>
                    <a:bodyPr/>
                    <a:lstStyle/>
                    <a:p>
                      <a:pPr marL="0" indent="0">
                        <a:buNone/>
                      </a:pPr>
                      <a:r>
                        <a:rPr lang="en-US" sz="750" b="0" i="0" dirty="0">
                          <a:solidFill>
                            <a:srgbClr val="16A34A"/>
                          </a:solidFill>
                          <a:latin typeface="Calibri"/>
                        </a:rPr>
                        <a:t>+0.031</a:t>
                      </a:r>
                    </a:p>
                  </a:txBody>
                  <a:tcPr>
                    <a:solidFill>
                      <a:srgbClr val="FFFFFF"/>
                    </a:solidFill>
                  </a:tcPr>
                </a:tc>
                <a:tc>
                  <a:txBody>
                    <a:bodyPr/>
                    <a:lstStyle/>
                    <a:p>
                      <a:pPr marL="0" indent="0">
                        <a:buNone/>
                      </a:pPr>
                      <a:r>
                        <a:rPr lang="en-US" sz="750" b="0" i="0" dirty="0">
                          <a:solidFill>
                            <a:srgbClr val="111827"/>
                          </a:solidFill>
                          <a:latin typeface="Calibri"/>
                        </a:rPr>
                        <a:t>0.894</a:t>
                      </a:r>
                    </a:p>
                  </a:txBody>
                  <a:tcPr>
                    <a:solidFill>
                      <a:srgbClr val="FFFFFF"/>
                    </a:solidFill>
                  </a:tcPr>
                </a:tc>
                <a:tc>
                  <a:txBody>
                    <a:bodyPr/>
                    <a:lstStyle/>
                    <a:p>
                      <a:pPr marL="0" indent="0">
                        <a:buNone/>
                      </a:pPr>
                      <a:r>
                        <a:rPr lang="en-US" sz="750" b="0" i="0" dirty="0">
                          <a:solidFill>
                            <a:srgbClr val="111827"/>
                          </a:solidFill>
                          <a:latin typeface="Calibri"/>
                        </a:rPr>
                        <a:t>+0.001</a:t>
                      </a:r>
                    </a:p>
                  </a:txBody>
                  <a:tcPr>
                    <a:solidFill>
                      <a:srgbClr val="FFFFFF"/>
                    </a:solidFill>
                  </a:tcPr>
                </a:tc>
                <a:tc>
                  <a:txBody>
                    <a:bodyPr/>
                    <a:lstStyle/>
                    <a:p>
                      <a:pPr marL="0" indent="0">
                        <a:buNone/>
                      </a:pPr>
                      <a:r>
                        <a:rPr lang="en-US" sz="750" b="0" i="0" dirty="0">
                          <a:solidFill>
                            <a:srgbClr val="374151"/>
                          </a:solidFill>
                          <a:latin typeface="Calibri"/>
                        </a:rPr>
                        <a:t>FL beats both ✓✓ Never penalised</a:t>
                      </a:r>
                    </a:p>
                  </a:txBody>
                  <a:tcPr>
                    <a:solidFill>
                      <a:srgbClr val="FFFFFF"/>
                    </a:solidFill>
                  </a:tcPr>
                </a:tc>
                <a:extLst>
                  <a:ext uri="{0D108BD9-81ED-4DB2-BD59-A6C34878D82A}">
                    <a16:rowId xmlns:a16="http://schemas.microsoft.com/office/drawing/2014/main" val="10007"/>
                  </a:ext>
                </a:extLst>
              </a:tr>
              <a:tr h="245000">
                <a:tc>
                  <a:txBody>
                    <a:bodyPr/>
                    <a:lstStyle/>
                    <a:p>
                      <a:pPr marL="0" indent="0">
                        <a:buNone/>
                      </a:pPr>
                      <a:r>
                        <a:rPr lang="en-US" sz="775" b="1" i="0" dirty="0">
                          <a:solidFill>
                            <a:srgbClr val="16A34A"/>
                          </a:solidFill>
                          <a:latin typeface="Calibri"/>
                        </a:rPr>
                        <a:t>site_C  Anchor  12.6% AKI  66k patients</a:t>
                      </a:r>
                    </a:p>
                  </a:txBody>
                  <a:tcPr>
                    <a:solidFill>
                      <a:srgbClr val="DCFCE7"/>
                    </a:solidFill>
                  </a:tcPr>
                </a:tc>
                <a:tc>
                  <a:txBody>
                    <a:bodyPr/>
                    <a:lstStyle/>
                    <a:p>
                      <a:pPr marL="0" indent="0">
                        <a:buNone/>
                      </a:pPr>
                      <a:endParaRPr/>
                    </a:p>
                  </a:txBody>
                  <a:tcPr>
                    <a:solidFill>
                      <a:srgbClr val="DCFCE7"/>
                    </a:solidFill>
                  </a:tcPr>
                </a:tc>
                <a:tc>
                  <a:txBody>
                    <a:bodyPr/>
                    <a:lstStyle/>
                    <a:p>
                      <a:pPr marL="0" indent="0">
                        <a:buNone/>
                      </a:pPr>
                      <a:endParaRPr/>
                    </a:p>
                  </a:txBody>
                  <a:tcPr>
                    <a:solidFill>
                      <a:srgbClr val="DCFCE7"/>
                    </a:solidFill>
                  </a:tcPr>
                </a:tc>
                <a:tc>
                  <a:txBody>
                    <a:bodyPr/>
                    <a:lstStyle/>
                    <a:p>
                      <a:pPr marL="0" indent="0">
                        <a:buNone/>
                      </a:pPr>
                      <a:endParaRPr/>
                    </a:p>
                  </a:txBody>
                  <a:tcPr>
                    <a:solidFill>
                      <a:srgbClr val="DCFCE7"/>
                    </a:solidFill>
                  </a:tcPr>
                </a:tc>
                <a:tc>
                  <a:txBody>
                    <a:bodyPr/>
                    <a:lstStyle/>
                    <a:p>
                      <a:pPr marL="0" indent="0">
                        <a:buNone/>
                      </a:pPr>
                      <a:endParaRPr/>
                    </a:p>
                  </a:txBody>
                  <a:tcPr>
                    <a:solidFill>
                      <a:srgbClr val="DCFCE7"/>
                    </a:solidFill>
                  </a:tcPr>
                </a:tc>
                <a:tc>
                  <a:txBody>
                    <a:bodyPr/>
                    <a:lstStyle/>
                    <a:p>
                      <a:pPr marL="0" indent="0">
                        <a:buNone/>
                      </a:pPr>
                      <a:endParaRPr/>
                    </a:p>
                  </a:txBody>
                  <a:tcPr>
                    <a:solidFill>
                      <a:srgbClr val="DCFCE7"/>
                    </a:solidFill>
                  </a:tcPr>
                </a:tc>
                <a:tc>
                  <a:txBody>
                    <a:bodyPr/>
                    <a:lstStyle/>
                    <a:p>
                      <a:pPr marL="0" indent="0">
                        <a:buNone/>
                      </a:pPr>
                      <a:endParaRPr/>
                    </a:p>
                  </a:txBody>
                  <a:tcPr>
                    <a:solidFill>
                      <a:srgbClr val="DCFCE7"/>
                    </a:solidFill>
                  </a:tcPr>
                </a:tc>
                <a:extLst>
                  <a:ext uri="{0D108BD9-81ED-4DB2-BD59-A6C34878D82A}">
                    <a16:rowId xmlns:a16="http://schemas.microsoft.com/office/drawing/2014/main" val="10008"/>
                  </a:ext>
                </a:extLst>
              </a:tr>
              <a:tr h="192000">
                <a:tc>
                  <a:txBody>
                    <a:bodyPr/>
                    <a:lstStyle/>
                    <a:p>
                      <a:pPr marL="0" indent="0">
                        <a:buNone/>
                      </a:pPr>
                      <a:r>
                        <a:rPr lang="en-US" sz="750" b="0" i="0" dirty="0">
                          <a:solidFill>
                            <a:srgbClr val="111827"/>
                          </a:solidFill>
                          <a:latin typeface="Calibri"/>
                        </a:rPr>
                        <a:t>  IID</a:t>
                      </a:r>
                    </a:p>
                  </a:txBody>
                  <a:tcPr>
                    <a:noFill/>
                  </a:tcPr>
                </a:tc>
                <a:tc>
                  <a:txBody>
                    <a:bodyPr/>
                    <a:lstStyle/>
                    <a:p>
                      <a:pPr marL="0" indent="0">
                        <a:buNone/>
                      </a:pPr>
                      <a:r>
                        <a:rPr lang="en-US" sz="750" b="0" i="0" dirty="0">
                          <a:solidFill>
                            <a:srgbClr val="111827"/>
                          </a:solidFill>
                          <a:latin typeface="Calibri"/>
                        </a:rPr>
                        <a:t>0.876</a:t>
                      </a:r>
                    </a:p>
                  </a:txBody>
                  <a:tcPr>
                    <a:noFill/>
                  </a:tcPr>
                </a:tc>
                <a:tc>
                  <a:txBody>
                    <a:bodyPr/>
                    <a:lstStyle/>
                    <a:p>
                      <a:pPr marL="0" indent="0">
                        <a:buNone/>
                      </a:pPr>
                      <a:r>
                        <a:rPr lang="en-US" sz="750" b="0" i="0" dirty="0">
                          <a:solidFill>
                            <a:srgbClr val="111827"/>
                          </a:solidFill>
                          <a:latin typeface="Calibri"/>
                        </a:rPr>
                        <a:t>0.865</a:t>
                      </a:r>
                    </a:p>
                  </a:txBody>
                  <a:tcPr>
                    <a:noFill/>
                  </a:tcPr>
                </a:tc>
                <a:tc>
                  <a:txBody>
                    <a:bodyPr/>
                    <a:lstStyle/>
                    <a:p>
                      <a:pPr marL="0" indent="0">
                        <a:buNone/>
                      </a:pPr>
                      <a:r>
                        <a:rPr lang="en-US" sz="750" b="0" i="0" dirty="0">
                          <a:solidFill>
                            <a:srgbClr val="16A34A"/>
                          </a:solidFill>
                          <a:latin typeface="Calibri"/>
                        </a:rPr>
                        <a:t>+0.011</a:t>
                      </a:r>
                    </a:p>
                  </a:txBody>
                  <a:tcPr>
                    <a:noFill/>
                  </a:tcPr>
                </a:tc>
                <a:tc>
                  <a:txBody>
                    <a:bodyPr/>
                    <a:lstStyle/>
                    <a:p>
                      <a:pPr marL="0" indent="0">
                        <a:buNone/>
                      </a:pPr>
                      <a:r>
                        <a:rPr lang="en-US" sz="750" b="0" i="0" dirty="0">
                          <a:solidFill>
                            <a:srgbClr val="111827"/>
                          </a:solidFill>
                          <a:latin typeface="Calibri"/>
                        </a:rPr>
                        <a:t>0.881</a:t>
                      </a:r>
                    </a:p>
                  </a:txBody>
                  <a:tcPr>
                    <a:noFill/>
                  </a:tcPr>
                </a:tc>
                <a:tc>
                  <a:txBody>
                    <a:bodyPr/>
                    <a:lstStyle/>
                    <a:p>
                      <a:pPr marL="0" indent="0">
                        <a:buNone/>
                      </a:pPr>
                      <a:r>
                        <a:rPr lang="en-US" sz="750" b="0" i="0" dirty="0">
                          <a:solidFill>
                            <a:srgbClr val="111827"/>
                          </a:solidFill>
                          <a:latin typeface="Calibri"/>
                        </a:rPr>
                        <a:t>−0.005</a:t>
                      </a:r>
                    </a:p>
                  </a:txBody>
                  <a:tcPr>
                    <a:noFill/>
                  </a:tcPr>
                </a:tc>
                <a:tc>
                  <a:txBody>
                    <a:bodyPr/>
                    <a:lstStyle/>
                    <a:p>
                      <a:pPr marL="0" indent="0">
                        <a:buNone/>
                      </a:pPr>
                      <a:r>
                        <a:rPr lang="en-US" sz="750" b="0" i="0" dirty="0">
                          <a:solidFill>
                            <a:srgbClr val="374151"/>
                          </a:solidFill>
                          <a:latin typeface="Calibri"/>
                        </a:rPr>
                        <a:t>FL beats local; central 0–0.005 better</a:t>
                      </a:r>
                    </a:p>
                  </a:txBody>
                  <a:tcPr>
                    <a:noFill/>
                  </a:tcPr>
                </a:tc>
                <a:extLst>
                  <a:ext uri="{0D108BD9-81ED-4DB2-BD59-A6C34878D82A}">
                    <a16:rowId xmlns:a16="http://schemas.microsoft.com/office/drawing/2014/main" val="10009"/>
                  </a:ext>
                </a:extLst>
              </a:tr>
              <a:tr h="192000">
                <a:tc>
                  <a:txBody>
                    <a:bodyPr/>
                    <a:lstStyle/>
                    <a:p>
                      <a:pPr marL="0" indent="0">
                        <a:buNone/>
                      </a:pPr>
                      <a:r>
                        <a:rPr lang="en-US" sz="750" b="0" i="0" dirty="0">
                          <a:solidFill>
                            <a:srgbClr val="111827"/>
                          </a:solidFill>
                          <a:latin typeface="Calibri"/>
                        </a:rPr>
                        <a:t>  Both max</a:t>
                      </a:r>
                    </a:p>
                  </a:txBody>
                  <a:tcPr>
                    <a:noFill/>
                  </a:tcPr>
                </a:tc>
                <a:tc>
                  <a:txBody>
                    <a:bodyPr/>
                    <a:lstStyle/>
                    <a:p>
                      <a:pPr marL="0" indent="0">
                        <a:buNone/>
                      </a:pPr>
                      <a:r>
                        <a:rPr lang="en-US" sz="750" b="0" i="0" dirty="0">
                          <a:solidFill>
                            <a:srgbClr val="111827"/>
                          </a:solidFill>
                          <a:latin typeface="Calibri"/>
                        </a:rPr>
                        <a:t>0.880</a:t>
                      </a:r>
                    </a:p>
                  </a:txBody>
                  <a:tcPr>
                    <a:noFill/>
                  </a:tcPr>
                </a:tc>
                <a:tc>
                  <a:txBody>
                    <a:bodyPr/>
                    <a:lstStyle/>
                    <a:p>
                      <a:pPr marL="0" indent="0">
                        <a:buNone/>
                      </a:pPr>
                      <a:r>
                        <a:rPr lang="en-US" sz="750" b="0" i="0" dirty="0">
                          <a:solidFill>
                            <a:srgbClr val="111827"/>
                          </a:solidFill>
                          <a:latin typeface="Calibri"/>
                        </a:rPr>
                        <a:t>0.858</a:t>
                      </a:r>
                    </a:p>
                  </a:txBody>
                  <a:tcPr>
                    <a:noFill/>
                  </a:tcPr>
                </a:tc>
                <a:tc>
                  <a:txBody>
                    <a:bodyPr/>
                    <a:lstStyle/>
                    <a:p>
                      <a:pPr marL="0" indent="0">
                        <a:buNone/>
                      </a:pPr>
                      <a:r>
                        <a:rPr lang="en-US" sz="750" b="0" i="0" dirty="0">
                          <a:solidFill>
                            <a:srgbClr val="16A34A"/>
                          </a:solidFill>
                          <a:latin typeface="Calibri"/>
                        </a:rPr>
                        <a:t>+0.022</a:t>
                      </a:r>
                    </a:p>
                  </a:txBody>
                  <a:tcPr>
                    <a:noFill/>
                  </a:tcPr>
                </a:tc>
                <a:tc>
                  <a:txBody>
                    <a:bodyPr/>
                    <a:lstStyle/>
                    <a:p>
                      <a:pPr marL="0" indent="0">
                        <a:buNone/>
                      </a:pPr>
                      <a:r>
                        <a:rPr lang="en-US" sz="750" b="0" i="0" dirty="0">
                          <a:solidFill>
                            <a:srgbClr val="111827"/>
                          </a:solidFill>
                          <a:latin typeface="Calibri"/>
                        </a:rPr>
                        <a:t>0.882</a:t>
                      </a:r>
                    </a:p>
                  </a:txBody>
                  <a:tcPr>
                    <a:noFill/>
                  </a:tcPr>
                </a:tc>
                <a:tc>
                  <a:txBody>
                    <a:bodyPr/>
                    <a:lstStyle/>
                    <a:p>
                      <a:pPr marL="0" indent="0">
                        <a:buNone/>
                      </a:pPr>
                      <a:r>
                        <a:rPr lang="en-US" sz="750" b="0" i="0" dirty="0">
                          <a:solidFill>
                            <a:srgbClr val="111827"/>
                          </a:solidFill>
                          <a:latin typeface="Calibri"/>
                        </a:rPr>
                        <a:t>−0.001</a:t>
                      </a:r>
                    </a:p>
                  </a:txBody>
                  <a:tcPr>
                    <a:noFill/>
                  </a:tcPr>
                </a:tc>
                <a:tc>
                  <a:txBody>
                    <a:bodyPr/>
                    <a:lstStyle/>
                    <a:p>
                      <a:pPr marL="0" indent="0">
                        <a:buNone/>
                      </a:pPr>
                      <a:r>
                        <a:rPr lang="en-US" sz="750" b="0" i="0" dirty="0">
                          <a:solidFill>
                            <a:srgbClr val="374151"/>
                          </a:solidFill>
                          <a:latin typeface="Calibri"/>
                        </a:rPr>
                        <a:t>FL beats local; ties central</a:t>
                      </a:r>
                    </a:p>
                  </a:txBody>
                  <a:tcPr>
                    <a:noFill/>
                  </a:tcPr>
                </a:tc>
                <a:extLst>
                  <a:ext uri="{0D108BD9-81ED-4DB2-BD59-A6C34878D82A}">
                    <a16:rowId xmlns:a16="http://schemas.microsoft.com/office/drawing/2014/main" val="10010"/>
                  </a:ext>
                </a:extLst>
              </a:tr>
              <a:tr h="192000">
                <a:tc>
                  <a:txBody>
                    <a:bodyPr/>
                    <a:lstStyle/>
                    <a:p>
                      <a:pPr marL="0" indent="0">
                        <a:buNone/>
                      </a:pPr>
                      <a:r>
                        <a:rPr lang="en-US" sz="750" b="0" i="1" dirty="0">
                          <a:solidFill>
                            <a:srgbClr val="16A34A"/>
                          </a:solidFill>
                          <a:latin typeface="Calibri"/>
                        </a:rPr>
                        <a:t>  Never penalized ,IS the anchor; global model always learns toward site_C</a:t>
                      </a:r>
                    </a:p>
                  </a:txBody>
                  <a:tcPr>
                    <a:solidFill>
                      <a:srgbClr val="F0FDF4"/>
                    </a:solidFill>
                  </a:tcPr>
                </a:tc>
                <a:tc>
                  <a:txBody>
                    <a:bodyPr/>
                    <a:lstStyle/>
                    <a:p>
                      <a:pPr marL="0" indent="0">
                        <a:buNone/>
                      </a:pPr>
                      <a:endParaRPr/>
                    </a:p>
                  </a:txBody>
                  <a:tcPr>
                    <a:solidFill>
                      <a:srgbClr val="F0FDF4"/>
                    </a:solidFill>
                  </a:tcPr>
                </a:tc>
                <a:tc>
                  <a:txBody>
                    <a:bodyPr/>
                    <a:lstStyle/>
                    <a:p>
                      <a:pPr marL="0" indent="0">
                        <a:buNone/>
                      </a:pPr>
                      <a:endParaRPr/>
                    </a:p>
                  </a:txBody>
                  <a:tcPr>
                    <a:solidFill>
                      <a:srgbClr val="F0FDF4"/>
                    </a:solidFill>
                  </a:tcPr>
                </a:tc>
                <a:tc>
                  <a:txBody>
                    <a:bodyPr/>
                    <a:lstStyle/>
                    <a:p>
                      <a:pPr marL="0" indent="0">
                        <a:buNone/>
                      </a:pPr>
                      <a:endParaRPr/>
                    </a:p>
                  </a:txBody>
                  <a:tcPr>
                    <a:solidFill>
                      <a:srgbClr val="F0FDF4"/>
                    </a:solidFill>
                  </a:tcPr>
                </a:tc>
                <a:tc>
                  <a:txBody>
                    <a:bodyPr/>
                    <a:lstStyle/>
                    <a:p>
                      <a:pPr marL="0" indent="0">
                        <a:buNone/>
                      </a:pPr>
                      <a:endParaRPr/>
                    </a:p>
                  </a:txBody>
                  <a:tcPr>
                    <a:solidFill>
                      <a:srgbClr val="F0FDF4"/>
                    </a:solidFill>
                  </a:tcPr>
                </a:tc>
                <a:tc>
                  <a:txBody>
                    <a:bodyPr/>
                    <a:lstStyle/>
                    <a:p>
                      <a:pPr marL="0" indent="0">
                        <a:buNone/>
                      </a:pPr>
                      <a:endParaRPr/>
                    </a:p>
                  </a:txBody>
                  <a:tcPr>
                    <a:solidFill>
                      <a:srgbClr val="F0FDF4"/>
                    </a:solidFill>
                  </a:tcPr>
                </a:tc>
                <a:tc>
                  <a:txBody>
                    <a:bodyPr/>
                    <a:lstStyle/>
                    <a:p>
                      <a:pPr marL="0" indent="0">
                        <a:buNone/>
                      </a:pPr>
                      <a:endParaRPr/>
                    </a:p>
                  </a:txBody>
                  <a:tcPr>
                    <a:solidFill>
                      <a:srgbClr val="F0FDF4"/>
                    </a:solidFill>
                  </a:tcPr>
                </a:tc>
                <a:extLst>
                  <a:ext uri="{0D108BD9-81ED-4DB2-BD59-A6C34878D82A}">
                    <a16:rowId xmlns:a16="http://schemas.microsoft.com/office/drawing/2014/main" val="10011"/>
                  </a:ext>
                </a:extLst>
              </a:tr>
              <a:tr h="245000">
                <a:tc>
                  <a:txBody>
                    <a:bodyPr/>
                    <a:lstStyle/>
                    <a:p>
                      <a:pPr marL="0" indent="0">
                        <a:buNone/>
                      </a:pPr>
                      <a:r>
                        <a:rPr lang="en-US" sz="775" b="1" i="0" dirty="0">
                          <a:solidFill>
                            <a:srgbClr val="9333EA"/>
                          </a:solidFill>
                          <a:latin typeface="Calibri"/>
                        </a:rPr>
                        <a:t>site_D  Community  10% AKI  25 feat</a:t>
                      </a:r>
                    </a:p>
                  </a:txBody>
                  <a:tcPr>
                    <a:solidFill>
                      <a:srgbClr val="F3E8FF"/>
                    </a:solidFill>
                  </a:tcPr>
                </a:tc>
                <a:tc>
                  <a:txBody>
                    <a:bodyPr/>
                    <a:lstStyle/>
                    <a:p>
                      <a:pPr marL="0" indent="0">
                        <a:buNone/>
                      </a:pPr>
                      <a:endParaRPr/>
                    </a:p>
                  </a:txBody>
                  <a:tcPr>
                    <a:solidFill>
                      <a:srgbClr val="F3E8FF"/>
                    </a:solidFill>
                  </a:tcPr>
                </a:tc>
                <a:tc>
                  <a:txBody>
                    <a:bodyPr/>
                    <a:lstStyle/>
                    <a:p>
                      <a:pPr marL="0" indent="0">
                        <a:buNone/>
                      </a:pPr>
                      <a:endParaRPr/>
                    </a:p>
                  </a:txBody>
                  <a:tcPr>
                    <a:solidFill>
                      <a:srgbClr val="F3E8FF"/>
                    </a:solidFill>
                  </a:tcPr>
                </a:tc>
                <a:tc>
                  <a:txBody>
                    <a:bodyPr/>
                    <a:lstStyle/>
                    <a:p>
                      <a:pPr marL="0" indent="0">
                        <a:buNone/>
                      </a:pPr>
                      <a:endParaRPr/>
                    </a:p>
                  </a:txBody>
                  <a:tcPr>
                    <a:solidFill>
                      <a:srgbClr val="F3E8FF"/>
                    </a:solidFill>
                  </a:tcPr>
                </a:tc>
                <a:tc>
                  <a:txBody>
                    <a:bodyPr/>
                    <a:lstStyle/>
                    <a:p>
                      <a:pPr marL="0" indent="0">
                        <a:buNone/>
                      </a:pPr>
                      <a:endParaRPr/>
                    </a:p>
                  </a:txBody>
                  <a:tcPr>
                    <a:solidFill>
                      <a:srgbClr val="F3E8FF"/>
                    </a:solidFill>
                  </a:tcPr>
                </a:tc>
                <a:tc>
                  <a:txBody>
                    <a:bodyPr/>
                    <a:lstStyle/>
                    <a:p>
                      <a:pPr marL="0" indent="0">
                        <a:buNone/>
                      </a:pPr>
                      <a:endParaRPr/>
                    </a:p>
                  </a:txBody>
                  <a:tcPr>
                    <a:solidFill>
                      <a:srgbClr val="F3E8FF"/>
                    </a:solidFill>
                  </a:tcPr>
                </a:tc>
                <a:tc>
                  <a:txBody>
                    <a:bodyPr/>
                    <a:lstStyle/>
                    <a:p>
                      <a:pPr marL="0" indent="0">
                        <a:buNone/>
                      </a:pPr>
                      <a:endParaRPr/>
                    </a:p>
                  </a:txBody>
                  <a:tcPr>
                    <a:solidFill>
                      <a:srgbClr val="F3E8FF"/>
                    </a:solidFill>
                  </a:tcPr>
                </a:tc>
                <a:extLst>
                  <a:ext uri="{0D108BD9-81ED-4DB2-BD59-A6C34878D82A}">
                    <a16:rowId xmlns:a16="http://schemas.microsoft.com/office/drawing/2014/main" val="10012"/>
                  </a:ext>
                </a:extLst>
              </a:tr>
              <a:tr h="192000">
                <a:tc>
                  <a:txBody>
                    <a:bodyPr/>
                    <a:lstStyle/>
                    <a:p>
                      <a:pPr marL="0" indent="0">
                        <a:buNone/>
                      </a:pPr>
                      <a:r>
                        <a:rPr lang="en-US" sz="750" b="0" i="0" dirty="0">
                          <a:solidFill>
                            <a:srgbClr val="111827"/>
                          </a:solidFill>
                          <a:latin typeface="Calibri"/>
                        </a:rPr>
                        <a:t>  IID</a:t>
                      </a:r>
                    </a:p>
                  </a:txBody>
                  <a:tcPr>
                    <a:solidFill>
                      <a:srgbClr val="FFFFFF"/>
                    </a:solidFill>
                  </a:tcPr>
                </a:tc>
                <a:tc>
                  <a:txBody>
                    <a:bodyPr/>
                    <a:lstStyle/>
                    <a:p>
                      <a:pPr marL="0" indent="0">
                        <a:buNone/>
                      </a:pPr>
                      <a:r>
                        <a:rPr lang="en-US" sz="750" b="0" i="0" dirty="0">
                          <a:solidFill>
                            <a:srgbClr val="111827"/>
                          </a:solidFill>
                          <a:latin typeface="Calibri"/>
                        </a:rPr>
                        <a:t>0.846</a:t>
                      </a:r>
                    </a:p>
                  </a:txBody>
                  <a:tcPr>
                    <a:solidFill>
                      <a:srgbClr val="FFFFFF"/>
                    </a:solidFill>
                  </a:tcPr>
                </a:tc>
                <a:tc>
                  <a:txBody>
                    <a:bodyPr/>
                    <a:lstStyle/>
                    <a:p>
                      <a:pPr marL="0" indent="0">
                        <a:buNone/>
                      </a:pPr>
                      <a:r>
                        <a:rPr lang="en-US" sz="750" b="0" i="0" dirty="0">
                          <a:solidFill>
                            <a:srgbClr val="111827"/>
                          </a:solidFill>
                          <a:latin typeface="Calibri"/>
                        </a:rPr>
                        <a:t>0.843</a:t>
                      </a:r>
                    </a:p>
                  </a:txBody>
                  <a:tcPr>
                    <a:solidFill>
                      <a:srgbClr val="FFFFFF"/>
                    </a:solidFill>
                  </a:tcPr>
                </a:tc>
                <a:tc>
                  <a:txBody>
                    <a:bodyPr/>
                    <a:lstStyle/>
                    <a:p>
                      <a:pPr marL="0" indent="0">
                        <a:buNone/>
                      </a:pPr>
                      <a:r>
                        <a:rPr lang="en-US" sz="750" b="0" i="0" dirty="0">
                          <a:solidFill>
                            <a:srgbClr val="16A34A"/>
                          </a:solidFill>
                          <a:latin typeface="Calibri"/>
                        </a:rPr>
                        <a:t>+0.003</a:t>
                      </a:r>
                    </a:p>
                  </a:txBody>
                  <a:tcPr>
                    <a:solidFill>
                      <a:srgbClr val="FFFFFF"/>
                    </a:solidFill>
                  </a:tcPr>
                </a:tc>
                <a:tc>
                  <a:txBody>
                    <a:bodyPr/>
                    <a:lstStyle/>
                    <a:p>
                      <a:pPr marL="0" indent="0">
                        <a:buNone/>
                      </a:pPr>
                      <a:r>
                        <a:rPr lang="en-US" sz="750" b="0" i="0" dirty="0">
                          <a:solidFill>
                            <a:srgbClr val="111827"/>
                          </a:solidFill>
                          <a:latin typeface="Calibri"/>
                        </a:rPr>
                        <a:t>0.851</a:t>
                      </a:r>
                    </a:p>
                  </a:txBody>
                  <a:tcPr>
                    <a:solidFill>
                      <a:srgbClr val="FFFFFF"/>
                    </a:solidFill>
                  </a:tcPr>
                </a:tc>
                <a:tc>
                  <a:txBody>
                    <a:bodyPr/>
                    <a:lstStyle/>
                    <a:p>
                      <a:pPr marL="0" indent="0">
                        <a:buNone/>
                      </a:pPr>
                      <a:r>
                        <a:rPr lang="en-US" sz="750" b="0" i="0" dirty="0">
                          <a:solidFill>
                            <a:srgbClr val="111827"/>
                          </a:solidFill>
                          <a:latin typeface="Calibri"/>
                        </a:rPr>
                        <a:t>−0.005</a:t>
                      </a:r>
                    </a:p>
                  </a:txBody>
                  <a:tcPr>
                    <a:solidFill>
                      <a:srgbClr val="FFFFFF"/>
                    </a:solidFill>
                  </a:tcPr>
                </a:tc>
                <a:tc>
                  <a:txBody>
                    <a:bodyPr/>
                    <a:lstStyle/>
                    <a:p>
                      <a:pPr marL="0" indent="0">
                        <a:buNone/>
                      </a:pPr>
                      <a:r>
                        <a:rPr lang="en-US" sz="800" dirty="0"/>
                        <a:t>LOCAL WINS  imputation of 21 absent features corrupts global at </a:t>
                      </a:r>
                      <a:r>
                        <a:rPr lang="en-US" sz="800" dirty="0" err="1"/>
                        <a:t>site_E</a:t>
                      </a:r>
                      <a:endParaRPr lang="en-US" sz="750" b="0" i="0" dirty="0">
                        <a:solidFill>
                          <a:srgbClr val="374151"/>
                        </a:solidFill>
                        <a:latin typeface="Calibri"/>
                      </a:endParaRPr>
                    </a:p>
                  </a:txBody>
                  <a:tcPr>
                    <a:solidFill>
                      <a:srgbClr val="FFFFFF"/>
                    </a:solidFill>
                  </a:tcPr>
                </a:tc>
                <a:extLst>
                  <a:ext uri="{0D108BD9-81ED-4DB2-BD59-A6C34878D82A}">
                    <a16:rowId xmlns:a16="http://schemas.microsoft.com/office/drawing/2014/main" val="10013"/>
                  </a:ext>
                </a:extLst>
              </a:tr>
              <a:tr h="192000">
                <a:tc>
                  <a:txBody>
                    <a:bodyPr/>
                    <a:lstStyle/>
                    <a:p>
                      <a:pPr marL="0" indent="0">
                        <a:buNone/>
                      </a:pPr>
                      <a:r>
                        <a:rPr lang="en-US" sz="750" b="0" i="0" dirty="0">
                          <a:solidFill>
                            <a:srgbClr val="111827"/>
                          </a:solidFill>
                          <a:latin typeface="Calibri"/>
                        </a:rPr>
                        <a:t>  Both max</a:t>
                      </a:r>
                    </a:p>
                  </a:txBody>
                  <a:tcPr>
                    <a:solidFill>
                      <a:srgbClr val="FFFFFF"/>
                    </a:solidFill>
                  </a:tcPr>
                </a:tc>
                <a:tc>
                  <a:txBody>
                    <a:bodyPr/>
                    <a:lstStyle/>
                    <a:p>
                      <a:pPr marL="0" indent="0">
                        <a:buNone/>
                      </a:pPr>
                      <a:r>
                        <a:rPr lang="en-US" sz="750" b="0" i="0" dirty="0">
                          <a:solidFill>
                            <a:srgbClr val="111827"/>
                          </a:solidFill>
                          <a:latin typeface="Calibri"/>
                        </a:rPr>
                        <a:t>0.800</a:t>
                      </a:r>
                    </a:p>
                  </a:txBody>
                  <a:tcPr>
                    <a:solidFill>
                      <a:srgbClr val="FFFFFF"/>
                    </a:solidFill>
                  </a:tcPr>
                </a:tc>
                <a:tc>
                  <a:txBody>
                    <a:bodyPr/>
                    <a:lstStyle/>
                    <a:p>
                      <a:pPr marL="0" indent="0">
                        <a:buNone/>
                      </a:pPr>
                      <a:r>
                        <a:rPr lang="en-US" sz="750" b="0" i="0" dirty="0">
                          <a:solidFill>
                            <a:srgbClr val="111827"/>
                          </a:solidFill>
                          <a:latin typeface="Calibri"/>
                        </a:rPr>
                        <a:t>0.771</a:t>
                      </a:r>
                    </a:p>
                  </a:txBody>
                  <a:tcPr>
                    <a:solidFill>
                      <a:srgbClr val="FFFFFF"/>
                    </a:solidFill>
                  </a:tcPr>
                </a:tc>
                <a:tc>
                  <a:txBody>
                    <a:bodyPr/>
                    <a:lstStyle/>
                    <a:p>
                      <a:pPr marL="0" indent="0">
                        <a:buNone/>
                      </a:pPr>
                      <a:r>
                        <a:rPr lang="en-US" sz="750" b="0" i="0" dirty="0">
                          <a:solidFill>
                            <a:srgbClr val="16A34A"/>
                          </a:solidFill>
                          <a:latin typeface="Calibri"/>
                        </a:rPr>
                        <a:t>+0.029</a:t>
                      </a:r>
                    </a:p>
                  </a:txBody>
                  <a:tcPr>
                    <a:solidFill>
                      <a:srgbClr val="FFFFFF"/>
                    </a:solidFill>
                  </a:tcPr>
                </a:tc>
                <a:tc>
                  <a:txBody>
                    <a:bodyPr/>
                    <a:lstStyle/>
                    <a:p>
                      <a:pPr marL="0" indent="0">
                        <a:buNone/>
                      </a:pPr>
                      <a:r>
                        <a:rPr lang="en-US" sz="750" b="0" i="0" dirty="0">
                          <a:solidFill>
                            <a:srgbClr val="111827"/>
                          </a:solidFill>
                          <a:latin typeface="Calibri"/>
                        </a:rPr>
                        <a:t>0.804</a:t>
                      </a:r>
                    </a:p>
                  </a:txBody>
                  <a:tcPr>
                    <a:solidFill>
                      <a:srgbClr val="FFFFFF"/>
                    </a:solidFill>
                  </a:tcPr>
                </a:tc>
                <a:tc>
                  <a:txBody>
                    <a:bodyPr/>
                    <a:lstStyle/>
                    <a:p>
                      <a:pPr marL="0" indent="0">
                        <a:buNone/>
                      </a:pPr>
                      <a:r>
                        <a:rPr lang="en-US" sz="750" b="0" i="0" dirty="0">
                          <a:solidFill>
                            <a:srgbClr val="111827"/>
                          </a:solidFill>
                          <a:latin typeface="Calibri"/>
                        </a:rPr>
                        <a:t>−0.004</a:t>
                      </a:r>
                    </a:p>
                  </a:txBody>
                  <a:tcPr>
                    <a:solidFill>
                      <a:srgbClr val="FFFFFF"/>
                    </a:solidFill>
                  </a:tcPr>
                </a:tc>
                <a:tc>
                  <a:txBody>
                    <a:bodyPr/>
                    <a:lstStyle/>
                    <a:p>
                      <a:pPr marL="0" indent="0">
                        <a:buNone/>
                      </a:pPr>
                      <a:r>
                        <a:rPr lang="en-US" sz="750" b="0" i="0" dirty="0">
                          <a:solidFill>
                            <a:srgbClr val="374151"/>
                          </a:solidFill>
                          <a:latin typeface="Calibri"/>
                        </a:rPr>
                        <a:t>FL beats local; near central</a:t>
                      </a:r>
                    </a:p>
                  </a:txBody>
                  <a:tcPr>
                    <a:solidFill>
                      <a:srgbClr val="FFFFFF"/>
                    </a:solidFill>
                  </a:tcPr>
                </a:tc>
                <a:extLst>
                  <a:ext uri="{0D108BD9-81ED-4DB2-BD59-A6C34878D82A}">
                    <a16:rowId xmlns:a16="http://schemas.microsoft.com/office/drawing/2014/main" val="10014"/>
                  </a:ext>
                </a:extLst>
              </a:tr>
              <a:tr h="245000">
                <a:tc>
                  <a:txBody>
                    <a:bodyPr/>
                    <a:lstStyle/>
                    <a:p>
                      <a:pPr marL="0" indent="0">
                        <a:buNone/>
                      </a:pPr>
                      <a:r>
                        <a:rPr lang="en-US" sz="775" b="1" i="0" dirty="0">
                          <a:solidFill>
                            <a:srgbClr val="0891B2"/>
                          </a:solidFill>
                          <a:latin typeface="Calibri"/>
                        </a:rPr>
                        <a:t>site_E  Rural  5% AKI  18 feat</a:t>
                      </a:r>
                    </a:p>
                  </a:txBody>
                  <a:tcPr>
                    <a:solidFill>
                      <a:srgbClr val="E0F2FE"/>
                    </a:solidFill>
                  </a:tcPr>
                </a:tc>
                <a:tc>
                  <a:txBody>
                    <a:bodyPr/>
                    <a:lstStyle/>
                    <a:p>
                      <a:pPr marL="0" indent="0">
                        <a:buNone/>
                      </a:pPr>
                      <a:endParaRPr/>
                    </a:p>
                  </a:txBody>
                  <a:tcPr>
                    <a:solidFill>
                      <a:srgbClr val="E0F2FE"/>
                    </a:solidFill>
                  </a:tcPr>
                </a:tc>
                <a:tc>
                  <a:txBody>
                    <a:bodyPr/>
                    <a:lstStyle/>
                    <a:p>
                      <a:pPr marL="0" indent="0">
                        <a:buNone/>
                      </a:pPr>
                      <a:endParaRPr/>
                    </a:p>
                  </a:txBody>
                  <a:tcPr>
                    <a:solidFill>
                      <a:srgbClr val="E0F2FE"/>
                    </a:solidFill>
                  </a:tcPr>
                </a:tc>
                <a:tc>
                  <a:txBody>
                    <a:bodyPr/>
                    <a:lstStyle/>
                    <a:p>
                      <a:pPr marL="0" indent="0">
                        <a:buNone/>
                      </a:pPr>
                      <a:endParaRPr dirty="0"/>
                    </a:p>
                  </a:txBody>
                  <a:tcPr>
                    <a:solidFill>
                      <a:srgbClr val="E0F2FE"/>
                    </a:solidFill>
                  </a:tcPr>
                </a:tc>
                <a:tc>
                  <a:txBody>
                    <a:bodyPr/>
                    <a:lstStyle/>
                    <a:p>
                      <a:pPr marL="0" indent="0">
                        <a:buNone/>
                      </a:pPr>
                      <a:endParaRPr/>
                    </a:p>
                  </a:txBody>
                  <a:tcPr>
                    <a:solidFill>
                      <a:srgbClr val="E0F2FE"/>
                    </a:solidFill>
                  </a:tcPr>
                </a:tc>
                <a:tc>
                  <a:txBody>
                    <a:bodyPr/>
                    <a:lstStyle/>
                    <a:p>
                      <a:pPr marL="0" indent="0">
                        <a:buNone/>
                      </a:pPr>
                      <a:endParaRPr/>
                    </a:p>
                  </a:txBody>
                  <a:tcPr>
                    <a:solidFill>
                      <a:srgbClr val="E0F2FE"/>
                    </a:solidFill>
                  </a:tcPr>
                </a:tc>
                <a:tc>
                  <a:txBody>
                    <a:bodyPr/>
                    <a:lstStyle/>
                    <a:p>
                      <a:pPr marL="0" indent="0">
                        <a:buNone/>
                      </a:pPr>
                      <a:endParaRPr/>
                    </a:p>
                  </a:txBody>
                  <a:tcPr>
                    <a:solidFill>
                      <a:srgbClr val="E0F2FE"/>
                    </a:solidFill>
                  </a:tcPr>
                </a:tc>
                <a:extLst>
                  <a:ext uri="{0D108BD9-81ED-4DB2-BD59-A6C34878D82A}">
                    <a16:rowId xmlns:a16="http://schemas.microsoft.com/office/drawing/2014/main" val="10015"/>
                  </a:ext>
                </a:extLst>
              </a:tr>
              <a:tr h="192000">
                <a:tc>
                  <a:txBody>
                    <a:bodyPr/>
                    <a:lstStyle/>
                    <a:p>
                      <a:pPr marL="0" indent="0">
                        <a:buNone/>
                      </a:pPr>
                      <a:r>
                        <a:rPr lang="en-US" sz="750" b="0" i="0" dirty="0">
                          <a:solidFill>
                            <a:srgbClr val="111827"/>
                          </a:solidFill>
                          <a:latin typeface="Calibri"/>
                        </a:rPr>
                        <a:t>  IID</a:t>
                      </a:r>
                    </a:p>
                  </a:txBody>
                  <a:tcPr>
                    <a:noFill/>
                  </a:tcPr>
                </a:tc>
                <a:tc>
                  <a:txBody>
                    <a:bodyPr/>
                    <a:lstStyle/>
                    <a:p>
                      <a:pPr marL="0" indent="0">
                        <a:buNone/>
                      </a:pPr>
                      <a:r>
                        <a:rPr lang="en-US" sz="750" b="0" i="0" dirty="0">
                          <a:solidFill>
                            <a:srgbClr val="111827"/>
                          </a:solidFill>
                          <a:latin typeface="Calibri"/>
                        </a:rPr>
                        <a:t>0.833</a:t>
                      </a:r>
                    </a:p>
                  </a:txBody>
                  <a:tcPr>
                    <a:noFill/>
                  </a:tcPr>
                </a:tc>
                <a:tc>
                  <a:txBody>
                    <a:bodyPr/>
                    <a:lstStyle/>
                    <a:p>
                      <a:pPr marL="0" indent="0">
                        <a:buNone/>
                      </a:pPr>
                      <a:r>
                        <a:rPr lang="en-US" sz="750" b="0" i="0" dirty="0">
                          <a:solidFill>
                            <a:srgbClr val="111827"/>
                          </a:solidFill>
                          <a:latin typeface="Calibri"/>
                        </a:rPr>
                        <a:t>0.850</a:t>
                      </a:r>
                    </a:p>
                  </a:txBody>
                  <a:tcPr>
                    <a:noFill/>
                  </a:tcPr>
                </a:tc>
                <a:tc>
                  <a:txBody>
                    <a:bodyPr/>
                    <a:lstStyle/>
                    <a:p>
                      <a:pPr marL="0" indent="0">
                        <a:buNone/>
                      </a:pPr>
                      <a:r>
                        <a:rPr lang="en-US" sz="750" b="1" i="0" dirty="0">
                          <a:solidFill>
                            <a:srgbClr val="DC2626"/>
                          </a:solidFill>
                          <a:latin typeface="Calibri"/>
                        </a:rPr>
                        <a:t>−0.017</a:t>
                      </a:r>
                    </a:p>
                  </a:txBody>
                  <a:tcPr>
                    <a:noFill/>
                  </a:tcPr>
                </a:tc>
                <a:tc>
                  <a:txBody>
                    <a:bodyPr/>
                    <a:lstStyle/>
                    <a:p>
                      <a:pPr marL="0" indent="0">
                        <a:buNone/>
                      </a:pPr>
                      <a:r>
                        <a:rPr lang="en-US" sz="750" b="0" i="0" dirty="0">
                          <a:solidFill>
                            <a:srgbClr val="111827"/>
                          </a:solidFill>
                          <a:latin typeface="Calibri"/>
                        </a:rPr>
                        <a:t>0.847</a:t>
                      </a:r>
                    </a:p>
                  </a:txBody>
                  <a:tcPr>
                    <a:noFill/>
                  </a:tcPr>
                </a:tc>
                <a:tc>
                  <a:txBody>
                    <a:bodyPr/>
                    <a:lstStyle/>
                    <a:p>
                      <a:pPr marL="0" indent="0">
                        <a:buNone/>
                      </a:pPr>
                      <a:r>
                        <a:rPr lang="en-US" sz="750" b="0" i="0" dirty="0">
                          <a:solidFill>
                            <a:srgbClr val="111827"/>
                          </a:solidFill>
                          <a:latin typeface="Calibri"/>
                        </a:rPr>
                        <a:t>−0.014</a:t>
                      </a:r>
                    </a:p>
                  </a:txBody>
                  <a:tcPr>
                    <a:noFill/>
                  </a:tcPr>
                </a:tc>
                <a:tc>
                  <a:txBody>
                    <a:bodyPr/>
                    <a:lstStyle/>
                    <a:p>
                      <a:pPr marL="0" indent="0">
                        <a:buNone/>
                      </a:pPr>
                      <a:r>
                        <a:rPr lang="en-US" sz="750" b="1" i="0" dirty="0">
                          <a:solidFill>
                            <a:srgbClr val="DC2626"/>
                          </a:solidFill>
                          <a:latin typeface="Calibri"/>
                        </a:rPr>
                        <a:t> LOCAL WINS, global tuned to 12.6% AKI</a:t>
                      </a:r>
                    </a:p>
                  </a:txBody>
                  <a:tcPr>
                    <a:noFill/>
                  </a:tcPr>
                </a:tc>
                <a:extLst>
                  <a:ext uri="{0D108BD9-81ED-4DB2-BD59-A6C34878D82A}">
                    <a16:rowId xmlns:a16="http://schemas.microsoft.com/office/drawing/2014/main" val="10016"/>
                  </a:ext>
                </a:extLst>
              </a:tr>
              <a:tr h="192000">
                <a:tc>
                  <a:txBody>
                    <a:bodyPr/>
                    <a:lstStyle/>
                    <a:p>
                      <a:pPr marL="0" indent="0">
                        <a:buNone/>
                      </a:pPr>
                      <a:r>
                        <a:rPr lang="en-US" sz="750" b="0" i="0" dirty="0">
                          <a:solidFill>
                            <a:srgbClr val="111827"/>
                          </a:solidFill>
                          <a:latin typeface="Calibri"/>
                        </a:rPr>
                        <a:t>  Label only</a:t>
                      </a:r>
                    </a:p>
                  </a:txBody>
                  <a:tcPr>
                    <a:noFill/>
                  </a:tcPr>
                </a:tc>
                <a:tc>
                  <a:txBody>
                    <a:bodyPr/>
                    <a:lstStyle/>
                    <a:p>
                      <a:pPr marL="0" indent="0">
                        <a:buNone/>
                      </a:pPr>
                      <a:r>
                        <a:rPr lang="en-US" sz="750" b="0" i="0" dirty="0">
                          <a:solidFill>
                            <a:srgbClr val="111827"/>
                          </a:solidFill>
                          <a:latin typeface="Calibri"/>
                        </a:rPr>
                        <a:t>0.823</a:t>
                      </a:r>
                    </a:p>
                  </a:txBody>
                  <a:tcPr>
                    <a:noFill/>
                  </a:tcPr>
                </a:tc>
                <a:tc>
                  <a:txBody>
                    <a:bodyPr/>
                    <a:lstStyle/>
                    <a:p>
                      <a:pPr marL="0" indent="0">
                        <a:buNone/>
                      </a:pPr>
                      <a:r>
                        <a:rPr lang="en-US" sz="750" b="0" i="0" dirty="0">
                          <a:solidFill>
                            <a:srgbClr val="111827"/>
                          </a:solidFill>
                          <a:latin typeface="Calibri"/>
                        </a:rPr>
                        <a:t>0.828</a:t>
                      </a:r>
                    </a:p>
                  </a:txBody>
                  <a:tcPr>
                    <a:noFill/>
                  </a:tcPr>
                </a:tc>
                <a:tc>
                  <a:txBody>
                    <a:bodyPr/>
                    <a:lstStyle/>
                    <a:p>
                      <a:pPr marL="0" indent="0">
                        <a:buNone/>
                      </a:pPr>
                      <a:r>
                        <a:rPr lang="en-US" sz="750" b="1" i="0" dirty="0">
                          <a:solidFill>
                            <a:srgbClr val="DC2626"/>
                          </a:solidFill>
                          <a:latin typeface="Calibri"/>
                        </a:rPr>
                        <a:t>−0.005</a:t>
                      </a:r>
                    </a:p>
                  </a:txBody>
                  <a:tcPr>
                    <a:noFill/>
                  </a:tcPr>
                </a:tc>
                <a:tc>
                  <a:txBody>
                    <a:bodyPr/>
                    <a:lstStyle/>
                    <a:p>
                      <a:pPr marL="0" indent="0">
                        <a:buNone/>
                      </a:pPr>
                      <a:r>
                        <a:rPr lang="en-US" sz="750" b="0" i="0" dirty="0">
                          <a:solidFill>
                            <a:srgbClr val="111827"/>
                          </a:solidFill>
                          <a:latin typeface="Calibri"/>
                        </a:rPr>
                        <a:t>0.835</a:t>
                      </a:r>
                    </a:p>
                  </a:txBody>
                  <a:tcPr>
                    <a:noFill/>
                  </a:tcPr>
                </a:tc>
                <a:tc>
                  <a:txBody>
                    <a:bodyPr/>
                    <a:lstStyle/>
                    <a:p>
                      <a:pPr marL="0" indent="0">
                        <a:buNone/>
                      </a:pPr>
                      <a:r>
                        <a:rPr lang="en-US" sz="750" b="0" i="0" dirty="0">
                          <a:solidFill>
                            <a:srgbClr val="111827"/>
                          </a:solidFill>
                          <a:latin typeface="Calibri"/>
                        </a:rPr>
                        <a:t>−0.012</a:t>
                      </a:r>
                    </a:p>
                  </a:txBody>
                  <a:tcPr>
                    <a:noFill/>
                  </a:tcPr>
                </a:tc>
                <a:tc>
                  <a:txBody>
                    <a:bodyPr/>
                    <a:lstStyle/>
                    <a:p>
                      <a:pPr marL="0" indent="0">
                        <a:buNone/>
                      </a:pPr>
                      <a:r>
                        <a:rPr lang="en-US" sz="800" dirty="0">
                          <a:solidFill>
                            <a:srgbClr val="C00000"/>
                          </a:solidFill>
                        </a:rPr>
                        <a:t>LOCAL WINS. global pulled toward </a:t>
                      </a:r>
                      <a:r>
                        <a:rPr lang="en-US" sz="800" dirty="0" err="1">
                          <a:solidFill>
                            <a:srgbClr val="C00000"/>
                          </a:solidFill>
                        </a:rPr>
                        <a:t>site_A</a:t>
                      </a:r>
                      <a:r>
                        <a:rPr lang="en-US" sz="800" dirty="0">
                          <a:solidFill>
                            <a:srgbClr val="C00000"/>
                          </a:solidFill>
                        </a:rPr>
                        <a:t> (43% AKI); local calibrated to 5% AKI</a:t>
                      </a:r>
                      <a:endParaRPr lang="en-US" sz="750" b="1" i="0" dirty="0">
                        <a:solidFill>
                          <a:srgbClr val="C00000"/>
                        </a:solidFill>
                        <a:latin typeface="Calibri"/>
                      </a:endParaRPr>
                    </a:p>
                  </a:txBody>
                  <a:tcPr>
                    <a:noFill/>
                  </a:tcPr>
                </a:tc>
                <a:extLst>
                  <a:ext uri="{0D108BD9-81ED-4DB2-BD59-A6C34878D82A}">
                    <a16:rowId xmlns:a16="http://schemas.microsoft.com/office/drawing/2014/main" val="10017"/>
                  </a:ext>
                </a:extLst>
              </a:tr>
              <a:tr h="192000">
                <a:tc>
                  <a:txBody>
                    <a:bodyPr/>
                    <a:lstStyle/>
                    <a:p>
                      <a:pPr marL="0" indent="0">
                        <a:buNone/>
                      </a:pPr>
                      <a:r>
                        <a:rPr lang="en-US" sz="750" b="0" i="0" dirty="0">
                          <a:solidFill>
                            <a:srgbClr val="111827"/>
                          </a:solidFill>
                          <a:latin typeface="Calibri"/>
                        </a:rPr>
                        <a:t>  Both max</a:t>
                      </a:r>
                    </a:p>
                  </a:txBody>
                  <a:tcPr>
                    <a:noFill/>
                  </a:tcPr>
                </a:tc>
                <a:tc>
                  <a:txBody>
                    <a:bodyPr/>
                    <a:lstStyle/>
                    <a:p>
                      <a:pPr marL="0" indent="0">
                        <a:buNone/>
                      </a:pPr>
                      <a:r>
                        <a:rPr lang="en-US" sz="750" b="0" i="0" dirty="0">
                          <a:solidFill>
                            <a:srgbClr val="111827"/>
                          </a:solidFill>
                          <a:latin typeface="Calibri"/>
                        </a:rPr>
                        <a:t>0.777</a:t>
                      </a:r>
                    </a:p>
                  </a:txBody>
                  <a:tcPr>
                    <a:noFill/>
                  </a:tcPr>
                </a:tc>
                <a:tc>
                  <a:txBody>
                    <a:bodyPr/>
                    <a:lstStyle/>
                    <a:p>
                      <a:pPr marL="0" indent="0">
                        <a:buNone/>
                      </a:pPr>
                      <a:r>
                        <a:rPr lang="en-US" sz="750" b="0" i="0" dirty="0">
                          <a:solidFill>
                            <a:srgbClr val="111827"/>
                          </a:solidFill>
                          <a:latin typeface="Calibri"/>
                        </a:rPr>
                        <a:t>0.773</a:t>
                      </a:r>
                    </a:p>
                  </a:txBody>
                  <a:tcPr>
                    <a:noFill/>
                  </a:tcPr>
                </a:tc>
                <a:tc>
                  <a:txBody>
                    <a:bodyPr/>
                    <a:lstStyle/>
                    <a:p>
                      <a:pPr marL="0" indent="0">
                        <a:buNone/>
                      </a:pPr>
                      <a:r>
                        <a:rPr lang="en-US" sz="750" b="0" i="0" dirty="0">
                          <a:solidFill>
                            <a:srgbClr val="16A34A"/>
                          </a:solidFill>
                          <a:latin typeface="Calibri"/>
                        </a:rPr>
                        <a:t>+0.004</a:t>
                      </a:r>
                    </a:p>
                  </a:txBody>
                  <a:tcPr>
                    <a:noFill/>
                  </a:tcPr>
                </a:tc>
                <a:tc>
                  <a:txBody>
                    <a:bodyPr/>
                    <a:lstStyle/>
                    <a:p>
                      <a:pPr marL="0" indent="0">
                        <a:buNone/>
                      </a:pPr>
                      <a:r>
                        <a:rPr lang="en-US" sz="750" b="0" i="0" dirty="0">
                          <a:solidFill>
                            <a:srgbClr val="111827"/>
                          </a:solidFill>
                          <a:latin typeface="Calibri"/>
                        </a:rPr>
                        <a:t>0.796</a:t>
                      </a:r>
                    </a:p>
                  </a:txBody>
                  <a:tcPr>
                    <a:noFill/>
                  </a:tcPr>
                </a:tc>
                <a:tc>
                  <a:txBody>
                    <a:bodyPr/>
                    <a:lstStyle/>
                    <a:p>
                      <a:pPr marL="0" indent="0">
                        <a:buNone/>
                      </a:pPr>
                      <a:r>
                        <a:rPr lang="en-US" sz="750" b="0" i="0" dirty="0">
                          <a:solidFill>
                            <a:srgbClr val="111827"/>
                          </a:solidFill>
                          <a:latin typeface="Calibri"/>
                        </a:rPr>
                        <a:t>−0.019</a:t>
                      </a:r>
                    </a:p>
                  </a:txBody>
                  <a:tcPr>
                    <a:noFill/>
                  </a:tcPr>
                </a:tc>
                <a:tc>
                  <a:txBody>
                    <a:bodyPr/>
                    <a:lstStyle/>
                    <a:p>
                      <a:pPr marL="0" indent="0">
                        <a:buNone/>
                      </a:pPr>
                      <a:r>
                        <a:rPr lang="en-US" sz="750" b="0" i="0" dirty="0">
                          <a:solidFill>
                            <a:srgbClr val="374151"/>
                          </a:solidFill>
                          <a:latin typeface="Calibri"/>
                        </a:rPr>
                        <a:t>Tie FL/local; central always best at site_E</a:t>
                      </a:r>
                    </a:p>
                  </a:txBody>
                  <a:tcPr>
                    <a:noFill/>
                  </a:tcPr>
                </a:tc>
                <a:extLst>
                  <a:ext uri="{0D108BD9-81ED-4DB2-BD59-A6C34878D82A}">
                    <a16:rowId xmlns:a16="http://schemas.microsoft.com/office/drawing/2014/main" val="10018"/>
                  </a:ext>
                </a:extLst>
              </a:tr>
            </a:tbl>
          </a:graphicData>
        </a:graphic>
      </p:graphicFrame>
    </p:spTree>
    <p:extLst>
      <p:ext uri="{BB962C8B-B14F-4D97-AF65-F5344CB8AC3E}">
        <p14:creationId xmlns:p14="http://schemas.microsoft.com/office/powerpoint/2010/main" val="28440898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43204-CB69-CC8E-85B9-781C20EA1E36}"/>
            </a:ext>
          </a:extLst>
        </p:cNvPr>
        <p:cNvGrpSpPr/>
        <p:nvPr/>
      </p:nvGrpSpPr>
      <p:grpSpPr>
        <a:xfrm>
          <a:off x="0" y="0"/>
          <a:ext cx="0" cy="0"/>
          <a:chOff x="0" y="0"/>
          <a:chExt cx="0" cy="0"/>
        </a:xfrm>
      </p:grpSpPr>
      <p:sp>
        <p:nvSpPr>
          <p:cNvPr id="2" name="hdr">
            <a:extLst>
              <a:ext uri="{FF2B5EF4-FFF2-40B4-BE49-F238E27FC236}">
                <a16:creationId xmlns:a16="http://schemas.microsoft.com/office/drawing/2014/main" id="{A2EBEB7F-FCB2-D91E-314A-B80DB30B6143}"/>
              </a:ext>
            </a:extLst>
          </p:cNvPr>
          <p:cNvSpPr/>
          <p:nvPr/>
        </p:nvSpPr>
        <p:spPr>
          <a:xfrm>
            <a:off x="0" y="0"/>
            <a:ext cx="9144000" cy="420000"/>
          </a:xfrm>
          <a:prstGeom prst="rect">
            <a:avLst/>
          </a:prstGeom>
          <a:solidFill>
            <a:srgbClr val="1E3A5F"/>
          </a:solidFill>
          <a:ln/>
        </p:spPr>
        <p:txBody>
          <a:bodyPr wrap="square" lIns="274638" tIns="60960" rIns="274638" bIns="60960" rtlCol="0" anchor="ctr"/>
          <a:lstStyle/>
          <a:p>
            <a:pPr marL="0" indent="0">
              <a:buNone/>
            </a:pPr>
            <a:r>
              <a:rPr lang="en-US" sz="1700" b="1" dirty="0">
                <a:solidFill>
                  <a:srgbClr val="FFFFFF"/>
                </a:solidFill>
                <a:latin typeface="Calibri"/>
              </a:rPr>
              <a:t>Personalization Recommendations per Site</a:t>
            </a:r>
          </a:p>
        </p:txBody>
      </p:sp>
      <p:graphicFrame>
        <p:nvGraphicFramePr>
          <p:cNvPr id="20" name="Tbl20">
            <a:extLst>
              <a:ext uri="{FF2B5EF4-FFF2-40B4-BE49-F238E27FC236}">
                <a16:creationId xmlns:a16="http://schemas.microsoft.com/office/drawing/2014/main" id="{6BF6D8A7-05F6-EABF-0C3A-607060C1D207}"/>
              </a:ext>
            </a:extLst>
          </p:cNvPr>
          <p:cNvGraphicFramePr>
            <a:graphicFrameLocks noGrp="1"/>
          </p:cNvGraphicFramePr>
          <p:nvPr>
            <p:extLst>
              <p:ext uri="{D42A27DB-BD31-4B8C-83A1-F6EECF244321}">
                <p14:modId xmlns:p14="http://schemas.microsoft.com/office/powerpoint/2010/main" val="1334658283"/>
              </p:ext>
            </p:extLst>
          </p:nvPr>
        </p:nvGraphicFramePr>
        <p:xfrm>
          <a:off x="228600" y="460000"/>
          <a:ext cx="8086800" cy="3510000"/>
        </p:xfrm>
        <a:graphic>
          <a:graphicData uri="http://schemas.openxmlformats.org/drawingml/2006/table">
            <a:tbl>
              <a:tblPr>
                <a:noFill/>
              </a:tblPr>
              <a:tblGrid>
                <a:gridCol w="1100000">
                  <a:extLst>
                    <a:ext uri="{9D8B030D-6E8A-4147-A177-3AD203B41FA5}">
                      <a16:colId xmlns:a16="http://schemas.microsoft.com/office/drawing/2014/main" val="20000"/>
                    </a:ext>
                  </a:extLst>
                </a:gridCol>
                <a:gridCol w="65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gridCol w="2000000">
                  <a:extLst>
                    <a:ext uri="{9D8B030D-6E8A-4147-A177-3AD203B41FA5}">
                      <a16:colId xmlns:a16="http://schemas.microsoft.com/office/drawing/2014/main" val="20003"/>
                    </a:ext>
                  </a:extLst>
                </a:gridCol>
                <a:gridCol w="850000">
                  <a:extLst>
                    <a:ext uri="{9D8B030D-6E8A-4147-A177-3AD203B41FA5}">
                      <a16:colId xmlns:a16="http://schemas.microsoft.com/office/drawing/2014/main" val="20004"/>
                    </a:ext>
                  </a:extLst>
                </a:gridCol>
                <a:gridCol w="2086800">
                  <a:extLst>
                    <a:ext uri="{9D8B030D-6E8A-4147-A177-3AD203B41FA5}">
                      <a16:colId xmlns:a16="http://schemas.microsoft.com/office/drawing/2014/main" val="20005"/>
                    </a:ext>
                  </a:extLst>
                </a:gridCol>
              </a:tblGrid>
              <a:tr h="560000">
                <a:tc>
                  <a:txBody>
                    <a:bodyPr/>
                    <a:lstStyle/>
                    <a:p>
                      <a:pPr marL="0" indent="0">
                        <a:buNone/>
                      </a:pPr>
                      <a:r>
                        <a:rPr lang="en-US" sz="825" b="1" i="0" dirty="0">
                          <a:solidFill>
                            <a:srgbClr val="FFFFFF"/>
                          </a:solidFill>
                          <a:latin typeface="Calibri"/>
                        </a:rPr>
                        <a:t>Site</a:t>
                      </a:r>
                    </a:p>
                  </a:txBody>
                  <a:tcPr>
                    <a:solidFill>
                      <a:srgbClr val="1E3A5F"/>
                    </a:solidFill>
                  </a:tcPr>
                </a:tc>
                <a:tc>
                  <a:txBody>
                    <a:bodyPr/>
                    <a:lstStyle/>
                    <a:p>
                      <a:pPr marL="0" indent="0">
                        <a:buNone/>
                      </a:pPr>
                      <a:r>
                        <a:rPr lang="en-US" sz="825" b="1" i="0" dirty="0">
                          <a:solidFill>
                            <a:srgbClr val="FFFFFF"/>
                          </a:solidFill>
                          <a:latin typeface="Calibri"/>
                        </a:rPr>
                        <a:t>AKI%</a:t>
                      </a:r>
                    </a:p>
                  </a:txBody>
                  <a:tcPr>
                    <a:solidFill>
                      <a:srgbClr val="1E3A5F"/>
                    </a:solidFill>
                  </a:tcPr>
                </a:tc>
                <a:tc>
                  <a:txBody>
                    <a:bodyPr/>
                    <a:lstStyle/>
                    <a:p>
                      <a:pPr marL="0" indent="0">
                        <a:buNone/>
                      </a:pPr>
                      <a:r>
                        <a:rPr lang="en-US" sz="825" b="1" i="0" dirty="0">
                          <a:solidFill>
                            <a:srgbClr val="FFFFFF"/>
                          </a:solidFill>
                          <a:latin typeface="Calibri"/>
                        </a:rPr>
                        <a:t>Features</a:t>
                      </a:r>
                    </a:p>
                  </a:txBody>
                  <a:tcPr>
                    <a:solidFill>
                      <a:srgbClr val="1E3A5F"/>
                    </a:solidFill>
                  </a:tcPr>
                </a:tc>
                <a:tc>
                  <a:txBody>
                    <a:bodyPr/>
                    <a:lstStyle/>
                    <a:p>
                      <a:pPr marL="0" indent="0">
                        <a:buNone/>
                      </a:pPr>
                      <a:r>
                        <a:rPr lang="en-US" sz="825" b="1" i="0" dirty="0">
                          <a:solidFill>
                            <a:srgbClr val="FFFFFF"/>
                          </a:solidFill>
                          <a:latin typeface="Calibri"/>
                        </a:rPr>
                        <a:t>FL Verdict</a:t>
                      </a:r>
                    </a:p>
                  </a:txBody>
                  <a:tcPr>
                    <a:solidFill>
                      <a:srgbClr val="1E3A5F"/>
                    </a:solidFill>
                  </a:tcPr>
                </a:tc>
                <a:tc>
                  <a:txBody>
                    <a:bodyPr/>
                    <a:lstStyle/>
                    <a:p>
                      <a:pPr marL="0" indent="0">
                        <a:buNone/>
                      </a:pPr>
                      <a:r>
                        <a:rPr lang="en-US" sz="825" b="1" i="0" dirty="0">
                          <a:solidFill>
                            <a:srgbClr val="FFFFFF"/>
                          </a:solidFill>
                          <a:latin typeface="Calibri"/>
                        </a:rPr>
                        <a:t>Penalized?</a:t>
                      </a:r>
                    </a:p>
                  </a:txBody>
                  <a:tcPr>
                    <a:solidFill>
                      <a:srgbClr val="1E3A5F"/>
                    </a:solidFill>
                  </a:tcPr>
                </a:tc>
                <a:tc>
                  <a:txBody>
                    <a:bodyPr/>
                    <a:lstStyle/>
                    <a:p>
                      <a:pPr marL="0" indent="0">
                        <a:buNone/>
                      </a:pPr>
                      <a:r>
                        <a:rPr lang="en-US" sz="825" b="1" i="0" dirty="0">
                          <a:solidFill>
                            <a:srgbClr val="FFFFFF"/>
                          </a:solidFill>
                          <a:latin typeface="Calibri"/>
                        </a:rPr>
                        <a:t>Personalization Needed</a:t>
                      </a:r>
                    </a:p>
                  </a:txBody>
                  <a:tcPr>
                    <a:solidFill>
                      <a:srgbClr val="1E3A5F"/>
                    </a:solidFill>
                  </a:tcPr>
                </a:tc>
                <a:extLst>
                  <a:ext uri="{0D108BD9-81ED-4DB2-BD59-A6C34878D82A}">
                    <a16:rowId xmlns:a16="http://schemas.microsoft.com/office/drawing/2014/main" val="10000"/>
                  </a:ext>
                </a:extLst>
              </a:tr>
              <a:tr h="590000">
                <a:tc>
                  <a:txBody>
                    <a:bodyPr/>
                    <a:lstStyle/>
                    <a:p>
                      <a:pPr marL="0" indent="0">
                        <a:buNone/>
                      </a:pPr>
                      <a:r>
                        <a:rPr lang="en-US" sz="800" b="1" i="0" dirty="0">
                          <a:solidFill>
                            <a:srgbClr val="DC2626"/>
                          </a:solidFill>
                          <a:latin typeface="Calibri"/>
                        </a:rPr>
                        <a:t>site_A</a:t>
                      </a:r>
                    </a:p>
                  </a:txBody>
                  <a:tcPr>
                    <a:solidFill>
                      <a:srgbClr val="EFF6FF"/>
                    </a:solidFill>
                  </a:tcPr>
                </a:tc>
                <a:tc>
                  <a:txBody>
                    <a:bodyPr/>
                    <a:lstStyle/>
                    <a:p>
                      <a:pPr marL="0" indent="0">
                        <a:buNone/>
                      </a:pPr>
                      <a:r>
                        <a:rPr lang="en-US" sz="800" b="0" i="0" dirty="0">
                          <a:solidFill>
                            <a:srgbClr val="111827"/>
                          </a:solidFill>
                          <a:latin typeface="Calibri"/>
                        </a:rPr>
                        <a:t>43%</a:t>
                      </a:r>
                    </a:p>
                  </a:txBody>
                  <a:tcPr>
                    <a:solidFill>
                      <a:srgbClr val="EFF6FF"/>
                    </a:solidFill>
                  </a:tcPr>
                </a:tc>
                <a:tc>
                  <a:txBody>
                    <a:bodyPr/>
                    <a:lstStyle/>
                    <a:p>
                      <a:pPr marL="0" indent="0">
                        <a:buNone/>
                      </a:pPr>
                      <a:r>
                        <a:rPr lang="en-US" sz="800" b="0" i="0" dirty="0">
                          <a:solidFill>
                            <a:srgbClr val="111827"/>
                          </a:solidFill>
                          <a:latin typeface="Calibri"/>
                        </a:rPr>
                        <a:t>39 feat
(all groups)</a:t>
                      </a:r>
                    </a:p>
                  </a:txBody>
                  <a:tcPr>
                    <a:solidFill>
                      <a:srgbClr val="EFF6FF"/>
                    </a:solidFill>
                  </a:tcPr>
                </a:tc>
                <a:tc>
                  <a:txBody>
                    <a:bodyPr/>
                    <a:lstStyle/>
                    <a:p>
                      <a:pPr marL="0" indent="0">
                        <a:buNone/>
                      </a:pPr>
                      <a:r>
                        <a:rPr lang="en-US" sz="800" b="0" i="0" dirty="0">
                          <a:solidFill>
                            <a:srgbClr val="111827"/>
                          </a:solidFill>
                          <a:latin typeface="Calibri"/>
                        </a:rPr>
                        <a:t>FL helps (IID/Both max). Penalised under covariate shift only (−1.3 pts).</a:t>
                      </a:r>
                    </a:p>
                  </a:txBody>
                  <a:tcPr>
                    <a:solidFill>
                      <a:srgbClr val="EFF6FF"/>
                    </a:solidFill>
                  </a:tcPr>
                </a:tc>
                <a:tc>
                  <a:txBody>
                    <a:bodyPr/>
                    <a:lstStyle/>
                    <a:p>
                      <a:pPr marL="0" indent="0">
                        <a:buNone/>
                      </a:pPr>
                      <a:r>
                        <a:rPr lang="en-US" sz="800" b="1" i="0" dirty="0">
                          <a:solidFill>
                            <a:srgbClr val="DC2626"/>
                          </a:solidFill>
                          <a:latin typeface="Calibri"/>
                        </a:rPr>
                        <a:t>Yes,  cov. shift</a:t>
                      </a:r>
                    </a:p>
                  </a:txBody>
                  <a:tcPr>
                    <a:solidFill>
                      <a:srgbClr val="EFF6FF"/>
                    </a:solidFill>
                  </a:tcPr>
                </a:tc>
                <a:tc>
                  <a:txBody>
                    <a:bodyPr/>
                    <a:lstStyle/>
                    <a:p>
                      <a:pPr marL="0" indent="0">
                        <a:buNone/>
                      </a:pPr>
                      <a:r>
                        <a:rPr lang="en-US" sz="800" b="0" i="0" dirty="0">
                          <a:solidFill>
                            <a:srgbClr val="111827"/>
                          </a:solidFill>
                          <a:latin typeface="Calibri"/>
                        </a:rPr>
                        <a:t>Local head calibrates threshold for 43% prevalence. Global body retained.</a:t>
                      </a:r>
                    </a:p>
                  </a:txBody>
                  <a:tcPr>
                    <a:solidFill>
                      <a:srgbClr val="EFF6FF"/>
                    </a:solidFill>
                  </a:tcPr>
                </a:tc>
                <a:extLst>
                  <a:ext uri="{0D108BD9-81ED-4DB2-BD59-A6C34878D82A}">
                    <a16:rowId xmlns:a16="http://schemas.microsoft.com/office/drawing/2014/main" val="10001"/>
                  </a:ext>
                </a:extLst>
              </a:tr>
              <a:tr h="590000">
                <a:tc>
                  <a:txBody>
                    <a:bodyPr/>
                    <a:lstStyle/>
                    <a:p>
                      <a:pPr marL="0" indent="0">
                        <a:buNone/>
                      </a:pPr>
                      <a:r>
                        <a:rPr lang="en-US" sz="800" b="1" i="0" dirty="0">
                          <a:solidFill>
                            <a:srgbClr val="D97706"/>
                          </a:solidFill>
                          <a:latin typeface="Calibri"/>
                        </a:rPr>
                        <a:t>site_B</a:t>
                      </a:r>
                    </a:p>
                  </a:txBody>
                  <a:tcPr>
                    <a:solidFill>
                      <a:srgbClr val="FFFFFF"/>
                    </a:solidFill>
                  </a:tcPr>
                </a:tc>
                <a:tc>
                  <a:txBody>
                    <a:bodyPr/>
                    <a:lstStyle/>
                    <a:p>
                      <a:pPr marL="0" indent="0">
                        <a:buNone/>
                      </a:pPr>
                      <a:r>
                        <a:rPr lang="en-US" sz="800" b="0" i="0" dirty="0">
                          <a:solidFill>
                            <a:srgbClr val="111827"/>
                          </a:solidFill>
                          <a:latin typeface="Calibri"/>
                        </a:rPr>
                        <a:t>17%</a:t>
                      </a:r>
                    </a:p>
                  </a:txBody>
                  <a:tcPr>
                    <a:solidFill>
                      <a:srgbClr val="FFFFFF"/>
                    </a:solidFill>
                  </a:tcPr>
                </a:tc>
                <a:tc>
                  <a:txBody>
                    <a:bodyPr/>
                    <a:lstStyle/>
                    <a:p>
                      <a:pPr marL="0" indent="0">
                        <a:buNone/>
                      </a:pPr>
                      <a:r>
                        <a:rPr lang="en-US" sz="800" b="0" i="0" dirty="0">
                          <a:solidFill>
                            <a:srgbClr val="111827"/>
                          </a:solidFill>
                          <a:latin typeface="Calibri"/>
                        </a:rPr>
                        <a:t>39 feat
(all groups)</a:t>
                      </a:r>
                    </a:p>
                  </a:txBody>
                  <a:tcPr>
                    <a:solidFill>
                      <a:srgbClr val="FFFFFF"/>
                    </a:solidFill>
                  </a:tcPr>
                </a:tc>
                <a:tc>
                  <a:txBody>
                    <a:bodyPr/>
                    <a:lstStyle/>
                    <a:p>
                      <a:pPr marL="0" indent="0">
                        <a:buNone/>
                      </a:pPr>
                      <a:r>
                        <a:rPr lang="en-US" sz="800" b="0" i="0" dirty="0">
                          <a:solidFill>
                            <a:srgbClr val="111827"/>
                          </a:solidFill>
                          <a:latin typeface="Calibri"/>
                        </a:rPr>
                        <a:t>FL beats local in all 8 conditions (+1.9–3.1 pts). Matches centralised.</a:t>
                      </a:r>
                    </a:p>
                  </a:txBody>
                  <a:tcPr>
                    <a:solidFill>
                      <a:srgbClr val="FFFFFF"/>
                    </a:solidFill>
                  </a:tcPr>
                </a:tc>
                <a:tc>
                  <a:txBody>
                    <a:bodyPr/>
                    <a:lstStyle/>
                    <a:p>
                      <a:pPr marL="0" indent="0">
                        <a:buNone/>
                      </a:pPr>
                      <a:r>
                        <a:rPr lang="en-US" sz="800" b="1" i="0" dirty="0">
                          <a:solidFill>
                            <a:srgbClr val="16A34A"/>
                          </a:solidFill>
                          <a:latin typeface="Calibri"/>
                        </a:rPr>
                        <a:t>No</a:t>
                      </a:r>
                    </a:p>
                  </a:txBody>
                  <a:tcPr>
                    <a:solidFill>
                      <a:srgbClr val="FFFFFF"/>
                    </a:solidFill>
                  </a:tcPr>
                </a:tc>
                <a:tc>
                  <a:txBody>
                    <a:bodyPr/>
                    <a:lstStyle/>
                    <a:p>
                      <a:pPr marL="0" indent="0">
                        <a:buNone/>
                      </a:pPr>
                      <a:r>
                        <a:rPr lang="en-US" sz="800" b="0" i="0" dirty="0">
                          <a:solidFill>
                            <a:srgbClr val="111827"/>
                          </a:solidFill>
                          <a:latin typeface="Calibri"/>
                        </a:rPr>
                        <a:t>Global model fits well. Sits near distribution centre.</a:t>
                      </a:r>
                    </a:p>
                  </a:txBody>
                  <a:tcPr>
                    <a:solidFill>
                      <a:srgbClr val="FFFFFF"/>
                    </a:solidFill>
                  </a:tcPr>
                </a:tc>
                <a:extLst>
                  <a:ext uri="{0D108BD9-81ED-4DB2-BD59-A6C34878D82A}">
                    <a16:rowId xmlns:a16="http://schemas.microsoft.com/office/drawing/2014/main" val="10002"/>
                  </a:ext>
                </a:extLst>
              </a:tr>
              <a:tr h="590000">
                <a:tc>
                  <a:txBody>
                    <a:bodyPr/>
                    <a:lstStyle/>
                    <a:p>
                      <a:pPr marL="0" indent="0">
                        <a:buNone/>
                      </a:pPr>
                      <a:r>
                        <a:rPr lang="en-US" sz="800" b="1" i="0" dirty="0">
                          <a:solidFill>
                            <a:srgbClr val="16A34A"/>
                          </a:solidFill>
                          <a:latin typeface="Calibri"/>
                        </a:rPr>
                        <a:t>site_C</a:t>
                      </a:r>
                    </a:p>
                  </a:txBody>
                  <a:tcPr>
                    <a:solidFill>
                      <a:srgbClr val="EFF6FF"/>
                    </a:solidFill>
                  </a:tcPr>
                </a:tc>
                <a:tc>
                  <a:txBody>
                    <a:bodyPr/>
                    <a:lstStyle/>
                    <a:p>
                      <a:pPr marL="0" indent="0">
                        <a:buNone/>
                      </a:pPr>
                      <a:r>
                        <a:rPr lang="en-US" sz="800" b="0" i="0" dirty="0">
                          <a:solidFill>
                            <a:srgbClr val="111827"/>
                          </a:solidFill>
                          <a:latin typeface="Calibri"/>
                        </a:rPr>
                        <a:t>12.6%</a:t>
                      </a:r>
                    </a:p>
                  </a:txBody>
                  <a:tcPr>
                    <a:solidFill>
                      <a:srgbClr val="EFF6FF"/>
                    </a:solidFill>
                  </a:tcPr>
                </a:tc>
                <a:tc>
                  <a:txBody>
                    <a:bodyPr/>
                    <a:lstStyle/>
                    <a:p>
                      <a:pPr marL="0" indent="0">
                        <a:buNone/>
                      </a:pPr>
                      <a:r>
                        <a:rPr lang="en-US" sz="800" b="0" i="0" dirty="0">
                          <a:solidFill>
                            <a:srgbClr val="111827"/>
                          </a:solidFill>
                          <a:latin typeface="Calibri"/>
                        </a:rPr>
                        <a:t>39 feat
(all groups)
66,520 pts</a:t>
                      </a:r>
                    </a:p>
                  </a:txBody>
                  <a:tcPr>
                    <a:solidFill>
                      <a:srgbClr val="EFF6FF"/>
                    </a:solidFill>
                  </a:tcPr>
                </a:tc>
                <a:tc>
                  <a:txBody>
                    <a:bodyPr/>
                    <a:lstStyle/>
                    <a:p>
                      <a:pPr marL="0" indent="0">
                        <a:buNone/>
                      </a:pPr>
                      <a:r>
                        <a:rPr lang="en-US" sz="800" b="0" i="0" dirty="0">
                          <a:solidFill>
                            <a:srgbClr val="111827"/>
                          </a:solidFill>
                          <a:latin typeface="Calibri"/>
                        </a:rPr>
                        <a:t>Never penalised. FL +0.9–2.2 pts over local. IS the anchor — global model learns toward it.</a:t>
                      </a:r>
                    </a:p>
                  </a:txBody>
                  <a:tcPr>
                    <a:solidFill>
                      <a:srgbClr val="EFF6FF"/>
                    </a:solidFill>
                  </a:tcPr>
                </a:tc>
                <a:tc>
                  <a:txBody>
                    <a:bodyPr/>
                    <a:lstStyle/>
                    <a:p>
                      <a:pPr marL="0" indent="0">
                        <a:buNone/>
                      </a:pPr>
                      <a:r>
                        <a:rPr lang="en-US" sz="800" b="1" i="0" dirty="0">
                          <a:solidFill>
                            <a:srgbClr val="16A34A"/>
                          </a:solidFill>
                          <a:latin typeface="Calibri"/>
                        </a:rPr>
                        <a:t>No</a:t>
                      </a:r>
                    </a:p>
                  </a:txBody>
                  <a:tcPr>
                    <a:solidFill>
                      <a:srgbClr val="EFF6FF"/>
                    </a:solidFill>
                  </a:tcPr>
                </a:tc>
                <a:tc>
                  <a:txBody>
                    <a:bodyPr/>
                    <a:lstStyle/>
                    <a:p>
                      <a:pPr marL="0" indent="0">
                        <a:buNone/>
                      </a:pPr>
                      <a:r>
                        <a:rPr lang="en-US" sz="800" b="0" i="0" dirty="0">
                          <a:solidFill>
                            <a:srgbClr val="111827"/>
                          </a:solidFill>
                          <a:latin typeface="Calibri"/>
                        </a:rPr>
                        <a:t>None needed. Local model already strong (66k patients). Could serve as federation server.</a:t>
                      </a:r>
                    </a:p>
                  </a:txBody>
                  <a:tcPr>
                    <a:solidFill>
                      <a:srgbClr val="EFF6FF"/>
                    </a:solidFill>
                  </a:tcPr>
                </a:tc>
                <a:extLst>
                  <a:ext uri="{0D108BD9-81ED-4DB2-BD59-A6C34878D82A}">
                    <a16:rowId xmlns:a16="http://schemas.microsoft.com/office/drawing/2014/main" val="10003"/>
                  </a:ext>
                </a:extLst>
              </a:tr>
              <a:tr h="590000">
                <a:tc>
                  <a:txBody>
                    <a:bodyPr/>
                    <a:lstStyle/>
                    <a:p>
                      <a:pPr marL="0" indent="0">
                        <a:buNone/>
                      </a:pPr>
                      <a:r>
                        <a:rPr lang="en-US" sz="800" b="1" i="0" dirty="0">
                          <a:solidFill>
                            <a:srgbClr val="9333EA"/>
                          </a:solidFill>
                          <a:latin typeface="Calibri"/>
                        </a:rPr>
                        <a:t>site_D</a:t>
                      </a:r>
                    </a:p>
                  </a:txBody>
                  <a:tcPr>
                    <a:solidFill>
                      <a:srgbClr val="FFFFFF"/>
                    </a:solidFill>
                  </a:tcPr>
                </a:tc>
                <a:tc>
                  <a:txBody>
                    <a:bodyPr/>
                    <a:lstStyle/>
                    <a:p>
                      <a:pPr marL="0" indent="0">
                        <a:buNone/>
                      </a:pPr>
                      <a:r>
                        <a:rPr lang="en-US" sz="800" b="0" i="0" dirty="0">
                          <a:solidFill>
                            <a:srgbClr val="111827"/>
                          </a:solidFill>
                          <a:latin typeface="Calibri"/>
                        </a:rPr>
                        <a:t>10%</a:t>
                      </a:r>
                    </a:p>
                  </a:txBody>
                  <a:tcPr>
                    <a:solidFill>
                      <a:srgbClr val="FFFFFF"/>
                    </a:solidFill>
                  </a:tcPr>
                </a:tc>
                <a:tc>
                  <a:txBody>
                    <a:bodyPr/>
                    <a:lstStyle/>
                    <a:p>
                      <a:pPr marL="0" indent="0">
                        <a:buNone/>
                      </a:pPr>
                      <a:r>
                        <a:rPr lang="en-US" sz="800" b="0" i="0" dirty="0">
                          <a:solidFill>
                            <a:srgbClr val="111827"/>
                          </a:solidFill>
                          <a:latin typeface="Calibri"/>
                        </a:rPr>
                        <a:t>25 feat
(no inflammatory)</a:t>
                      </a:r>
                    </a:p>
                  </a:txBody>
                  <a:tcPr>
                    <a:solidFill>
                      <a:srgbClr val="FFFFFF"/>
                    </a:solidFill>
                  </a:tcPr>
                </a:tc>
                <a:tc>
                  <a:txBody>
                    <a:bodyPr/>
                    <a:lstStyle/>
                    <a:p>
                      <a:pPr marL="0" indent="0">
                        <a:buNone/>
                      </a:pPr>
                      <a:r>
                        <a:rPr lang="en-US" sz="800" b="0" i="0" dirty="0">
                          <a:solidFill>
                            <a:srgbClr val="111827"/>
                          </a:solidFill>
                          <a:latin typeface="Calibri"/>
                        </a:rPr>
                        <a:t>Modest FL benefit under combined shift (+2.9 pts). Sentinel imputation adds noise.</a:t>
                      </a:r>
                    </a:p>
                  </a:txBody>
                  <a:tcPr>
                    <a:solidFill>
                      <a:srgbClr val="FFFFFF"/>
                    </a:solidFill>
                  </a:tcPr>
                </a:tc>
                <a:tc>
                  <a:txBody>
                    <a:bodyPr/>
                    <a:lstStyle/>
                    <a:p>
                      <a:pPr marL="0" indent="0">
                        <a:buNone/>
                      </a:pPr>
                      <a:r>
                        <a:rPr lang="en-US" sz="800" b="1" i="0" dirty="0">
                          <a:solidFill>
                            <a:srgbClr val="16A34A"/>
                          </a:solidFill>
                          <a:latin typeface="Calibri"/>
                        </a:rPr>
                        <a:t>Partial</a:t>
                      </a:r>
                    </a:p>
                  </a:txBody>
                  <a:tcPr>
                    <a:solidFill>
                      <a:srgbClr val="FFFFFF"/>
                    </a:solidFill>
                  </a:tcPr>
                </a:tc>
                <a:tc>
                  <a:txBody>
                    <a:bodyPr/>
                    <a:lstStyle/>
                    <a:p>
                      <a:pPr marL="0" indent="0">
                        <a:buNone/>
                      </a:pPr>
                      <a:r>
                        <a:rPr lang="en-US" sz="800" b="0" i="0" dirty="0">
                          <a:solidFill>
                            <a:srgbClr val="111827"/>
                          </a:solidFill>
                          <a:latin typeface="Calibri"/>
                        </a:rPr>
                        <a:t>Site-specific input projection (25→hidden). Replace sentinel −3.0 imputation.</a:t>
                      </a:r>
                    </a:p>
                  </a:txBody>
                  <a:tcPr>
                    <a:solidFill>
                      <a:srgbClr val="FFFFFF"/>
                    </a:solidFill>
                  </a:tcPr>
                </a:tc>
                <a:extLst>
                  <a:ext uri="{0D108BD9-81ED-4DB2-BD59-A6C34878D82A}">
                    <a16:rowId xmlns:a16="http://schemas.microsoft.com/office/drawing/2014/main" val="10004"/>
                  </a:ext>
                </a:extLst>
              </a:tr>
              <a:tr h="590000">
                <a:tc>
                  <a:txBody>
                    <a:bodyPr/>
                    <a:lstStyle/>
                    <a:p>
                      <a:pPr marL="0" indent="0">
                        <a:buNone/>
                      </a:pPr>
                      <a:r>
                        <a:rPr lang="en-US" sz="800" b="1" i="0" dirty="0">
                          <a:solidFill>
                            <a:srgbClr val="0891B2"/>
                          </a:solidFill>
                          <a:latin typeface="Calibri"/>
                        </a:rPr>
                        <a:t>site_E</a:t>
                      </a:r>
                    </a:p>
                  </a:txBody>
                  <a:tcPr>
                    <a:solidFill>
                      <a:srgbClr val="EFF6FF"/>
                    </a:solidFill>
                  </a:tcPr>
                </a:tc>
                <a:tc>
                  <a:txBody>
                    <a:bodyPr/>
                    <a:lstStyle/>
                    <a:p>
                      <a:pPr marL="0" indent="0">
                        <a:buNone/>
                      </a:pPr>
                      <a:r>
                        <a:rPr lang="en-US" sz="800" b="0" i="0" dirty="0">
                          <a:solidFill>
                            <a:srgbClr val="111827"/>
                          </a:solidFill>
                          <a:latin typeface="Calibri"/>
                        </a:rPr>
                        <a:t>5%</a:t>
                      </a:r>
                    </a:p>
                  </a:txBody>
                  <a:tcPr>
                    <a:solidFill>
                      <a:srgbClr val="EFF6FF"/>
                    </a:solidFill>
                  </a:tcPr>
                </a:tc>
                <a:tc>
                  <a:txBody>
                    <a:bodyPr/>
                    <a:lstStyle/>
                    <a:p>
                      <a:pPr marL="0" indent="0">
                        <a:buNone/>
                      </a:pPr>
                      <a:r>
                        <a:rPr lang="en-US" sz="800" b="0" i="0" dirty="0">
                          <a:solidFill>
                            <a:srgbClr val="111827"/>
                          </a:solidFill>
                          <a:latin typeface="Calibri"/>
                        </a:rPr>
                        <a:t>18 feat
(renal+clinical
only)
1,512 AKI cases</a:t>
                      </a:r>
                    </a:p>
                  </a:txBody>
                  <a:tcPr>
                    <a:solidFill>
                      <a:srgbClr val="EFF6FF"/>
                    </a:solidFill>
                  </a:tcPr>
                </a:tc>
                <a:tc>
                  <a:txBody>
                    <a:bodyPr/>
                    <a:lstStyle/>
                    <a:p>
                      <a:pPr marL="0" indent="0">
                        <a:buNone/>
                      </a:pPr>
                      <a:r>
                        <a:rPr lang="en-US" sz="800" b="0" i="0" dirty="0">
                          <a:solidFill>
                            <a:srgbClr val="111827"/>
                          </a:solidFill>
                          <a:latin typeface="Calibri"/>
                        </a:rPr>
                        <a:t>Local BEATS FL under IID (−1.7 pts) and Label only (−0.5 pts). 10-pt gap vs site_C at Both max.</a:t>
                      </a:r>
                    </a:p>
                  </a:txBody>
                  <a:tcPr>
                    <a:solidFill>
                      <a:srgbClr val="EFF6FF"/>
                    </a:solidFill>
                  </a:tcPr>
                </a:tc>
                <a:tc>
                  <a:txBody>
                    <a:bodyPr/>
                    <a:lstStyle/>
                    <a:p>
                      <a:pPr marL="0" indent="0">
                        <a:buNone/>
                      </a:pPr>
                      <a:r>
                        <a:rPr lang="en-US" sz="800" b="1" i="0" dirty="0">
                          <a:solidFill>
                            <a:srgbClr val="DC2626"/>
                          </a:solidFill>
                          <a:latin typeface="Calibri"/>
                        </a:rPr>
                        <a:t>Yes, IID
&amp; label shift</a:t>
                      </a:r>
                    </a:p>
                  </a:txBody>
                  <a:tcPr>
                    <a:solidFill>
                      <a:srgbClr val="EFF6FF"/>
                    </a:solidFill>
                  </a:tcPr>
                </a:tc>
                <a:tc>
                  <a:txBody>
                    <a:bodyPr/>
                    <a:lstStyle/>
                    <a:p>
                      <a:pPr marL="0" indent="0">
                        <a:buNone/>
                      </a:pPr>
                      <a:r>
                        <a:rPr lang="en-US" sz="800" b="0" i="0" dirty="0">
                          <a:solidFill>
                            <a:srgbClr val="111827"/>
                          </a:solidFill>
                          <a:latin typeface="Calibri"/>
                        </a:rPr>
                        <a:t>FedBABU body-head split. Local head fine-tuned on 5% AKI distribution. Input projection (18→hidden).</a:t>
                      </a:r>
                    </a:p>
                  </a:txBody>
                  <a:tcPr>
                    <a:solidFill>
                      <a:srgbClr val="EFF6FF"/>
                    </a:solidFill>
                  </a:tcPr>
                </a:tc>
                <a:extLst>
                  <a:ext uri="{0D108BD9-81ED-4DB2-BD59-A6C34878D82A}">
                    <a16:rowId xmlns:a16="http://schemas.microsoft.com/office/drawing/2014/main" val="10005"/>
                  </a:ext>
                </a:extLst>
              </a:tr>
            </a:tbl>
          </a:graphicData>
        </a:graphic>
      </p:graphicFrame>
      <p:sp>
        <p:nvSpPr>
          <p:cNvPr id="30" name="note">
            <a:extLst>
              <a:ext uri="{FF2B5EF4-FFF2-40B4-BE49-F238E27FC236}">
                <a16:creationId xmlns:a16="http://schemas.microsoft.com/office/drawing/2014/main" id="{6833A34B-4A30-804C-575D-BBC2D81D19ED}"/>
              </a:ext>
            </a:extLst>
          </p:cNvPr>
          <p:cNvSpPr/>
          <p:nvPr/>
        </p:nvSpPr>
        <p:spPr>
          <a:xfrm>
            <a:off x="228600" y="4010000"/>
            <a:ext cx="8686800" cy="3510000"/>
          </a:xfrm>
          <a:prstGeom prst="rect">
            <a:avLst/>
          </a:prstGeom>
          <a:solidFill>
            <a:srgbClr val="FFF7ED"/>
          </a:solidFill>
          <a:ln w="9525">
            <a:solidFill>
              <a:srgbClr val="C2410C"/>
            </a:solidFill>
          </a:ln>
        </p:spPr>
        <p:txBody>
          <a:bodyPr wrap="square" lIns="137160" tIns="60960" rIns="137160" bIns="60960" rtlCol="0" anchor="t"/>
          <a:lstStyle/>
          <a:p>
            <a:pPr marL="0" indent="0">
              <a:buNone/>
            </a:pPr>
            <a:r>
              <a:rPr lang="en-US" sz="825" b="1" dirty="0">
                <a:solidFill>
                  <a:srgbClr val="7C2D12"/>
                </a:solidFill>
                <a:latin typeface="Calibri"/>
              </a:rPr>
              <a:t>Why personalisation would help penalized sites:</a:t>
            </a:r>
          </a:p>
          <a:p>
            <a:pPr marL="0" indent="0">
              <a:buNone/>
            </a:pPr>
            <a:r>
              <a:rPr lang="en-US" sz="800" b="1" dirty="0">
                <a:solidFill>
                  <a:schemeClr val="tx1"/>
                </a:solidFill>
                <a:latin typeface="Calibri"/>
              </a:rPr>
              <a:t>site_A: </a:t>
            </a:r>
            <a:r>
              <a:rPr lang="en-US" sz="800" dirty="0">
                <a:solidFill>
                  <a:schemeClr val="tx1"/>
                </a:solidFill>
                <a:latin typeface="Calibri"/>
              </a:rPr>
              <a:t>Local head corrects the prevalence calibration (43% vs 12.6%). Global body still provides ICU feature representations. Expected to recover the −1.3 pt deficit under covariate shift.</a:t>
            </a:r>
          </a:p>
          <a:p>
            <a:pPr marL="0" indent="0">
              <a:buNone/>
            </a:pPr>
            <a:r>
              <a:rPr lang="en-US" sz="800" b="1" dirty="0">
                <a:solidFill>
                  <a:schemeClr val="tx1"/>
                </a:solidFill>
                <a:latin typeface="Calibri"/>
              </a:rPr>
              <a:t>site_E: </a:t>
            </a:r>
            <a:r>
              <a:rPr lang="en-US" sz="800" dirty="0">
                <a:solidFill>
                  <a:schemeClr val="tx1"/>
                </a:solidFill>
                <a:latin typeface="Calibri"/>
              </a:rPr>
              <a:t>Global body provides rich representations from 32k+ AKI cases across all sites (vs 1,512 local). Local head calibrates to 5% AKI rural phenotype. Site-specific input projection removes sentinel noise. Expected to close the 10-point gap vs site_C.</a:t>
            </a:r>
          </a:p>
        </p:txBody>
      </p:sp>
    </p:spTree>
    <p:extLst>
      <p:ext uri="{BB962C8B-B14F-4D97-AF65-F5344CB8AC3E}">
        <p14:creationId xmlns:p14="http://schemas.microsoft.com/office/powerpoint/2010/main" val="41781606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128D15D-FBBE-CE09-30E5-BACB2E7785CC}"/>
              </a:ext>
            </a:extLst>
          </p:cNvPr>
          <p:cNvSpPr txBox="1"/>
          <p:nvPr/>
        </p:nvSpPr>
        <p:spPr>
          <a:xfrm>
            <a:off x="1416818" y="1497204"/>
            <a:ext cx="5772734" cy="2462213"/>
          </a:xfrm>
          <a:prstGeom prst="rect">
            <a:avLst/>
          </a:prstGeom>
          <a:noFill/>
        </p:spPr>
        <p:txBody>
          <a:bodyPr wrap="none" rtlCol="0">
            <a:spAutoFit/>
          </a:bodyPr>
          <a:lstStyle/>
          <a:p>
            <a:r>
              <a:rPr lang="en-US" dirty="0"/>
              <a:t>Full mimic-iv (221k patients, 39 features) </a:t>
            </a:r>
          </a:p>
          <a:p>
            <a:r>
              <a:rPr lang="en-US" dirty="0"/>
              <a:t>Step 1: subpopulation sampling based on acuity scores  (mean shift)</a:t>
            </a:r>
          </a:p>
          <a:p>
            <a:r>
              <a:rPr lang="en-US" dirty="0"/>
              <a:t>Stage 2: Dirichlet re-samples from that pool</a:t>
            </a:r>
          </a:p>
          <a:p>
            <a:r>
              <a:rPr lang="en-US" dirty="0"/>
              <a:t>Step 3: Feature masking – drop columns now based on feature groups</a:t>
            </a:r>
          </a:p>
          <a:p>
            <a:r>
              <a:rPr lang="en-US" dirty="0"/>
              <a:t>Step 4: Spread perturbation</a:t>
            </a:r>
          </a:p>
          <a:p>
            <a:endParaRPr lang="en-US" dirty="0"/>
          </a:p>
          <a:p>
            <a:r>
              <a:rPr lang="en-US" dirty="0"/>
              <a:t>Should a site sample patients based only on features it actually sees?</a:t>
            </a:r>
          </a:p>
          <a:p>
            <a:r>
              <a:rPr lang="en-US" dirty="0"/>
              <a:t>Will switching the stages around make a difference?</a:t>
            </a:r>
          </a:p>
          <a:p>
            <a:r>
              <a:rPr lang="en-US" dirty="0"/>
              <a:t>What will be most realistic?</a:t>
            </a:r>
          </a:p>
          <a:p>
            <a:r>
              <a:rPr lang="en-US" dirty="0"/>
              <a:t>Mean shift based on all labs or labs that trend up?</a:t>
            </a:r>
          </a:p>
          <a:p>
            <a:endParaRPr lang="en-US" dirty="0"/>
          </a:p>
        </p:txBody>
      </p:sp>
      <p:sp>
        <p:nvSpPr>
          <p:cNvPr id="11" name="TextBox 10">
            <a:extLst>
              <a:ext uri="{FF2B5EF4-FFF2-40B4-BE49-F238E27FC236}">
                <a16:creationId xmlns:a16="http://schemas.microsoft.com/office/drawing/2014/main" id="{9F78D6AE-4CE5-48C5-28EC-CBEA3C19D0E7}"/>
              </a:ext>
            </a:extLst>
          </p:cNvPr>
          <p:cNvSpPr txBox="1"/>
          <p:nvPr/>
        </p:nvSpPr>
        <p:spPr>
          <a:xfrm>
            <a:off x="1266092" y="854110"/>
            <a:ext cx="1390124" cy="369332"/>
          </a:xfrm>
          <a:prstGeom prst="rect">
            <a:avLst/>
          </a:prstGeom>
          <a:noFill/>
        </p:spPr>
        <p:txBody>
          <a:bodyPr wrap="none" rtlCol="0">
            <a:spAutoFit/>
          </a:bodyPr>
          <a:lstStyle/>
          <a:p>
            <a:r>
              <a:rPr lang="en-US" sz="1800" b="1" dirty="0"/>
              <a:t>Questions!</a:t>
            </a:r>
          </a:p>
        </p:txBody>
      </p:sp>
    </p:spTree>
    <p:extLst>
      <p:ext uri="{BB962C8B-B14F-4D97-AF65-F5344CB8AC3E}">
        <p14:creationId xmlns:p14="http://schemas.microsoft.com/office/powerpoint/2010/main" val="28402845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v2.3 vs v2.4 Strategy">
    <p:bg>
      <p:bgPr>
        <a:solidFill>
          <a:srgbClr val="FFFFFF"/>
        </a:solidFill>
        <a:effectLst/>
      </p:bgPr>
    </p:bg>
    <p:spTree>
      <p:nvGrpSpPr>
        <p:cNvPr id="1" name=""/>
        <p:cNvGrpSpPr/>
        <p:nvPr/>
      </p:nvGrpSpPr>
      <p:grpSpPr>
        <a:xfrm>
          <a:off x="0" y="0"/>
          <a:ext cx="0" cy="0"/>
          <a:chOff x="0" y="0"/>
          <a:chExt cx="0" cy="0"/>
        </a:xfrm>
      </p:grpSpPr>
      <p:sp>
        <p:nvSpPr>
          <p:cNvPr id="2" name="hdr"/>
          <p:cNvSpPr>
            <a:spLocks noGrp="1"/>
          </p:cNvSpPr>
          <p:nvPr/>
        </p:nvSpPr>
        <p:spPr>
          <a:xfrm>
            <a:off x="0" y="0"/>
            <a:ext cx="9144000" cy="400000"/>
          </a:xfrm>
          <a:prstGeom prst="rect">
            <a:avLst/>
          </a:prstGeom>
          <a:solidFill>
            <a:srgbClr val="1E3A5F"/>
          </a:solidFill>
          <a:ln/>
        </p:spPr>
        <p:txBody>
          <a:bodyPr wrap="square" lIns="182880" tIns="45720" rIns="182880" bIns="45720" rtlCol="0" anchor="ctr"/>
          <a:lstStyle/>
          <a:p>
            <a:pPr marL="0" indent="0">
              <a:buNone/>
            </a:pPr>
            <a:r>
              <a:rPr lang="en-US" sz="1800" b="1" dirty="0">
                <a:solidFill>
                  <a:srgbClr val="FFFFFF"/>
                </a:solidFill>
                <a:latin typeface="Calibri"/>
              </a:rPr>
              <a:t>FedAdaptProto v2.3 vs v2.4 — Training Strategy Comparison</a:t>
            </a:r>
          </a:p>
        </p:txBody>
      </p:sp>
      <p:sp>
        <p:nvSpPr>
          <p:cNvPr id="3" name="h23"/>
          <p:cNvSpPr>
            <a:spLocks noGrp="1"/>
          </p:cNvSpPr>
          <p:nvPr/>
        </p:nvSpPr>
        <p:spPr>
          <a:xfrm>
            <a:off x="228600" y="425000"/>
            <a:ext cx="4200000" cy="210000"/>
          </a:xfrm>
          <a:prstGeom prst="rect">
            <a:avLst/>
          </a:prstGeom>
          <a:solidFill>
            <a:srgbClr val="1D6B3E"/>
          </a:solidFill>
          <a:ln/>
        </p:spPr>
        <p:txBody>
          <a:bodyPr wrap="square" lIns="182880" tIns="45720" rIns="182880" bIns="45720" rtlCol="0" anchor="ctr"/>
          <a:lstStyle/>
          <a:p>
            <a:pPr marL="0" indent="0">
              <a:buNone/>
            </a:pPr>
            <a:r>
              <a:rPr lang="en-US" sz="1400" b="1" dirty="0">
                <a:solidFill>
                  <a:srgbClr val="FFFFFF"/>
                </a:solidFill>
                <a:latin typeface="Calibri"/>
              </a:rPr>
              <a:t>v2.3 — Manual K Selection</a:t>
            </a:r>
          </a:p>
        </p:txBody>
      </p:sp>
      <p:sp>
        <p:nvSpPr>
          <p:cNvPr id="4" name="h24"/>
          <p:cNvSpPr>
            <a:spLocks noGrp="1"/>
          </p:cNvSpPr>
          <p:nvPr/>
        </p:nvSpPr>
        <p:spPr>
          <a:xfrm>
            <a:off x="4700000" y="425000"/>
            <a:ext cx="4216000" cy="210000"/>
          </a:xfrm>
          <a:prstGeom prst="rect">
            <a:avLst/>
          </a:prstGeom>
          <a:solidFill>
            <a:srgbClr val="BA7517"/>
          </a:solidFill>
          <a:ln/>
        </p:spPr>
        <p:txBody>
          <a:bodyPr wrap="square" lIns="182880" tIns="45720" rIns="182880" bIns="45720" rtlCol="0" anchor="ctr"/>
          <a:lstStyle/>
          <a:p>
            <a:pPr marL="0" indent="0">
              <a:buNone/>
            </a:pPr>
            <a:r>
              <a:rPr lang="en-US" sz="1400" b="1" dirty="0">
                <a:solidFill>
                  <a:srgbClr val="FFFFFF"/>
                </a:solidFill>
                <a:latin typeface="Calibri"/>
              </a:rPr>
              <a:t>v2.4 — Automated K Selection</a:t>
            </a:r>
          </a:p>
        </p:txBody>
      </p:sp>
      <p:sp>
        <p:nvSpPr>
          <p:cNvPr id="5" name="b23"/>
          <p:cNvSpPr>
            <a:spLocks noGrp="1"/>
          </p:cNvSpPr>
          <p:nvPr/>
        </p:nvSpPr>
        <p:spPr>
          <a:xfrm>
            <a:off x="228600" y="655000"/>
            <a:ext cx="4200000" cy="2040000"/>
          </a:xfrm>
          <a:prstGeom prst="rect">
            <a:avLst/>
          </a:prstGeom>
          <a:solidFill>
            <a:srgbClr val="F0F9F4"/>
          </a:solidFill>
          <a:ln/>
        </p:spPr>
        <p:txBody>
          <a:bodyPr wrap="square" lIns="182880" tIns="91440" rIns="182880" bIns="91440" rtlCol="0" anchor="t"/>
          <a:lstStyle/>
          <a:p>
            <a:pPr marL="0" indent="0">
              <a:buNone/>
            </a:pPr>
            <a:r>
              <a:rPr lang="en-US" sz="1150" b="1" dirty="0">
                <a:solidFill>
                  <a:srgbClr val="1D6B3E"/>
                </a:solidFill>
                <a:latin typeface="Calibri"/>
              </a:rPr>
              <a:t>Training</a:t>
            </a:r>
          </a:p>
          <a:p>
            <a:pPr marL="182880" indent="0">
              <a:buNone/>
            </a:pPr>
            <a:r>
              <a:rPr lang="en-US" sz="1050" b="0" dirty="0">
                <a:solidFill>
                  <a:srgbClr val="000000"/>
                </a:solidFill>
                <a:latin typeface="Calibri"/>
              </a:rPr>
              <a:t>Single 50-round federation. Head trains jointly with body throughout — no phase separation.</a:t>
            </a:r>
          </a:p>
          <a:p>
            <a:pPr marL="0" indent="0">
              <a:buNone/>
            </a:pPr>
            <a:r>
              <a:rPr lang="en-US" sz="800" b="0" dirty="0">
                <a:solidFill>
                  <a:srgbClr val="000000"/>
                </a:solidFill>
                <a:latin typeface="Calibri"/>
              </a:rPr>
              <a:t> </a:t>
            </a:r>
          </a:p>
          <a:p>
            <a:pPr marL="0" indent="0">
              <a:buNone/>
            </a:pPr>
            <a:r>
              <a:rPr lang="en-US" sz="1150" b="1" dirty="0">
                <a:solidFill>
                  <a:srgbClr val="1D6B3E"/>
                </a:solidFill>
                <a:latin typeface="Calibri"/>
              </a:rPr>
              <a:t>K selection</a:t>
            </a:r>
          </a:p>
          <a:p>
            <a:pPr marL="182880" indent="0">
              <a:buNone/>
            </a:pPr>
            <a:r>
              <a:rPr lang="en-US" sz="1050" b="0" dirty="0">
                <a:solidFill>
                  <a:srgbClr val="000000"/>
                </a:solidFill>
                <a:latin typeface="Calibri"/>
              </a:rPr>
              <a:t>Run OFFLINE after training. Silhouette on fully converged jointly-trained embeddings. K manually specified, then full re-run from scratch.</a:t>
            </a:r>
          </a:p>
          <a:p>
            <a:pPr marL="0" indent="0">
              <a:buNone/>
            </a:pPr>
            <a:r>
              <a:rPr lang="en-US" sz="800" b="0" dirty="0">
                <a:solidFill>
                  <a:srgbClr val="000000"/>
                </a:solidFill>
                <a:latin typeface="Calibri"/>
              </a:rPr>
              <a:t> </a:t>
            </a:r>
          </a:p>
          <a:p>
            <a:pPr marL="0" indent="0">
              <a:buNone/>
            </a:pPr>
            <a:r>
              <a:rPr lang="en-US" sz="1150" b="1" dirty="0">
                <a:solidFill>
                  <a:srgbClr val="1D6B3E"/>
                </a:solidFill>
                <a:latin typeface="Calibri"/>
              </a:rPr>
              <a:t>K values</a:t>
            </a:r>
          </a:p>
          <a:p>
            <a:pPr marL="182880" indent="0">
              <a:buNone/>
            </a:pPr>
            <a:r>
              <a:rPr lang="en-US" sz="1050" b="0" dirty="0">
                <a:solidFill>
                  <a:srgbClr val="000000"/>
                </a:solidFill>
                <a:latin typeface="Calibri"/>
              </a:rPr>
              <a:t>A=3, B=3, C=3, D=2, E=2 (manually set)</a:t>
            </a:r>
          </a:p>
          <a:p>
            <a:pPr marL="0" indent="0">
              <a:buNone/>
            </a:pPr>
            <a:r>
              <a:rPr lang="en-US" sz="800" b="0" dirty="0">
                <a:solidFill>
                  <a:srgbClr val="000000"/>
                </a:solidFill>
                <a:latin typeface="Calibri"/>
              </a:rPr>
              <a:t> </a:t>
            </a:r>
          </a:p>
          <a:p>
            <a:pPr marL="0" indent="0">
              <a:buNone/>
            </a:pPr>
            <a:r>
              <a:rPr lang="en-US" sz="1150" b="1" dirty="0">
                <a:solidFill>
                  <a:srgbClr val="1D6B3E"/>
                </a:solidFill>
                <a:latin typeface="Calibri"/>
              </a:rPr>
              <a:t>Head fine-tuning</a:t>
            </a:r>
          </a:p>
          <a:p>
            <a:pPr marL="182880" indent="0">
              <a:buNone/>
            </a:pPr>
            <a:r>
              <a:rPr lang="en-US" sz="1050" b="0" dirty="0">
                <a:solidFill>
                  <a:srgbClr val="000000"/>
                </a:solidFill>
                <a:latin typeface="Calibri"/>
              </a:rPr>
              <a:t>Post-federation: freeze body, train head 10 epochs. Head has 50 rounds of joint training first.</a:t>
            </a:r>
          </a:p>
        </p:txBody>
      </p:sp>
      <p:sp>
        <p:nvSpPr>
          <p:cNvPr id="6" name="b24"/>
          <p:cNvSpPr>
            <a:spLocks noGrp="1"/>
          </p:cNvSpPr>
          <p:nvPr/>
        </p:nvSpPr>
        <p:spPr>
          <a:xfrm>
            <a:off x="4700000" y="655000"/>
            <a:ext cx="4216000" cy="2040000"/>
          </a:xfrm>
          <a:prstGeom prst="rect">
            <a:avLst/>
          </a:prstGeom>
          <a:solidFill>
            <a:srgbClr val="FFF8F0"/>
          </a:solidFill>
          <a:ln/>
        </p:spPr>
        <p:txBody>
          <a:bodyPr wrap="square" lIns="182880" tIns="91440" rIns="182880" bIns="91440" rtlCol="0" anchor="t"/>
          <a:lstStyle/>
          <a:p>
            <a:pPr marL="0" indent="0">
              <a:buNone/>
            </a:pPr>
            <a:r>
              <a:rPr lang="en-US" sz="1150" b="1" dirty="0">
                <a:solidFill>
                  <a:srgbClr val="BA7517"/>
                </a:solidFill>
                <a:latin typeface="Calibri"/>
              </a:rPr>
              <a:t>Training</a:t>
            </a:r>
          </a:p>
          <a:p>
            <a:pPr marL="182880" indent="0">
              <a:buNone/>
            </a:pPr>
            <a:r>
              <a:rPr lang="en-US" sz="1050" b="0" dirty="0">
                <a:solidFill>
                  <a:srgbClr val="000000"/>
                </a:solidFill>
                <a:latin typeface="Calibri"/>
              </a:rPr>
              <a:t>Two-phase. Phase 1: 50 rounds, head FROZEN. Phase 2: fresh model, 50 rounds, head FROZEN. Auto-selected K between phases.</a:t>
            </a:r>
          </a:p>
          <a:p>
            <a:pPr marL="0" indent="0">
              <a:buNone/>
            </a:pPr>
            <a:r>
              <a:rPr lang="en-US" sz="800" b="0" dirty="0">
                <a:solidFill>
                  <a:srgbClr val="000000"/>
                </a:solidFill>
                <a:latin typeface="Calibri"/>
              </a:rPr>
              <a:t> </a:t>
            </a:r>
          </a:p>
          <a:p>
            <a:pPr marL="0" indent="0">
              <a:buNone/>
            </a:pPr>
            <a:r>
              <a:rPr lang="en-US" sz="1150" b="1" dirty="0">
                <a:solidFill>
                  <a:srgbClr val="BA7517"/>
                </a:solidFill>
                <a:latin typeface="Calibri"/>
              </a:rPr>
              <a:t>K selection</a:t>
            </a:r>
          </a:p>
          <a:p>
            <a:pPr marL="182880" indent="0">
              <a:buNone/>
            </a:pPr>
            <a:r>
              <a:rPr lang="en-US" sz="1050" b="0" dirty="0">
                <a:solidFill>
                  <a:srgbClr val="000000"/>
                </a:solidFill>
                <a:latin typeface="Calibri"/>
              </a:rPr>
              <a:t>AUTOMATED. After phase 1 + full fine-tuning (30 epochs), silhouette on AKI class embeddings. K = argmax per site.</a:t>
            </a:r>
          </a:p>
          <a:p>
            <a:pPr marL="0" indent="0">
              <a:buNone/>
            </a:pPr>
            <a:r>
              <a:rPr lang="en-US" sz="800" b="0" dirty="0">
                <a:solidFill>
                  <a:srgbClr val="000000"/>
                </a:solidFill>
                <a:latin typeface="Calibri"/>
              </a:rPr>
              <a:t> </a:t>
            </a:r>
          </a:p>
          <a:p>
            <a:pPr marL="0" indent="0">
              <a:buNone/>
            </a:pPr>
            <a:r>
              <a:rPr lang="en-US" sz="1150" b="1" dirty="0">
                <a:solidFill>
                  <a:srgbClr val="BA7517"/>
                </a:solidFill>
                <a:latin typeface="Calibri"/>
              </a:rPr>
              <a:t>K values (5-seed mean)</a:t>
            </a:r>
          </a:p>
          <a:p>
            <a:pPr marL="182880" indent="0">
              <a:buNone/>
            </a:pPr>
            <a:r>
              <a:rPr lang="en-US" sz="1050" b="0" dirty="0">
                <a:solidFill>
                  <a:srgbClr val="000000"/>
                </a:solidFill>
                <a:latin typeface="Calibri"/>
              </a:rPr>
              <a:t>Mostly K=2 all sites. Occasionally K=3 (site_C/E) or K=4 (site_D). Bimodal AKI in federated space.</a:t>
            </a:r>
          </a:p>
          <a:p>
            <a:pPr marL="0" indent="0">
              <a:buNone/>
            </a:pPr>
            <a:r>
              <a:rPr lang="en-US" sz="800" b="0" dirty="0">
                <a:solidFill>
                  <a:srgbClr val="000000"/>
                </a:solidFill>
                <a:latin typeface="Calibri"/>
              </a:rPr>
              <a:t> </a:t>
            </a:r>
          </a:p>
          <a:p>
            <a:pPr marL="0" indent="0">
              <a:buNone/>
            </a:pPr>
            <a:r>
              <a:rPr lang="en-US" sz="1150" b="1" dirty="0">
                <a:solidFill>
                  <a:srgbClr val="BA7517"/>
                </a:solidFill>
                <a:latin typeface="Calibri"/>
              </a:rPr>
              <a:t>Head fine-tuning</a:t>
            </a:r>
          </a:p>
          <a:p>
            <a:pPr marL="182880" indent="0">
              <a:buNone/>
            </a:pPr>
            <a:r>
              <a:rPr lang="en-US" sz="1050" b="0" dirty="0">
                <a:solidFill>
                  <a:srgbClr val="000000"/>
                </a:solidFill>
                <a:latin typeface="Calibri"/>
              </a:rPr>
              <a:t>Post phase-2: freeze body, train head 30 epochs. Head is random-init at phase 2 start.</a:t>
            </a:r>
          </a:p>
        </p:txBody>
      </p:sp>
      <p:sp>
        <p:nvSpPr>
          <p:cNvPr id="7" name="why_hdr"/>
          <p:cNvSpPr>
            <a:spLocks noGrp="1"/>
          </p:cNvSpPr>
          <p:nvPr/>
        </p:nvSpPr>
        <p:spPr>
          <a:xfrm>
            <a:off x="228600" y="2725000"/>
            <a:ext cx="8687400" cy="210000"/>
          </a:xfrm>
          <a:prstGeom prst="rect">
            <a:avLst/>
          </a:prstGeom>
          <a:solidFill>
            <a:srgbClr val="2E6DA4"/>
          </a:solidFill>
          <a:ln/>
        </p:spPr>
        <p:txBody>
          <a:bodyPr wrap="square" lIns="182880" tIns="45720" rIns="182880" bIns="45720" rtlCol="0" anchor="ctr"/>
          <a:lstStyle/>
          <a:p>
            <a:pPr marL="0" indent="0">
              <a:buNone/>
            </a:pPr>
            <a:r>
              <a:rPr lang="en-US" sz="1200" b="1" dirty="0">
                <a:solidFill>
                  <a:srgbClr val="FFFFFF"/>
                </a:solidFill>
                <a:latin typeface="Calibri"/>
              </a:rPr>
              <a:t>Why K=3 in v2.3 but K=2 in v2.4?</a:t>
            </a:r>
          </a:p>
        </p:txBody>
      </p:sp>
      <p:sp>
        <p:nvSpPr>
          <p:cNvPr id="8" name="why"/>
          <p:cNvSpPr>
            <a:spLocks noGrp="1"/>
          </p:cNvSpPr>
          <p:nvPr/>
        </p:nvSpPr>
        <p:spPr>
          <a:xfrm>
            <a:off x="228600" y="2955000"/>
            <a:ext cx="8687400" cy="490000"/>
          </a:xfrm>
          <a:prstGeom prst="rect">
            <a:avLst/>
          </a:prstGeom>
          <a:solidFill>
            <a:srgbClr val="E8F0FB"/>
          </a:solidFill>
          <a:ln/>
        </p:spPr>
        <p:txBody>
          <a:bodyPr wrap="square" lIns="182880" tIns="91440" rIns="182880" bIns="91440" rtlCol="0" anchor="t"/>
          <a:lstStyle/>
          <a:p>
            <a:pPr marL="0" indent="0">
              <a:buNone/>
            </a:pPr>
            <a:r>
              <a:rPr lang="en-US" sz="1050" b="0" dirty="0">
                <a:solidFill>
                  <a:srgbClr val="000000"/>
                </a:solidFill>
                <a:latin typeface="Calibri"/>
              </a:rPr>
              <a:t>v2.3: head trains jointly for 50 rounds. Head gradients flow into body, creating richer AKI sub-cluster structure (mild/moderate/severe). Silhouette on this finds K=3 at feature-rich sites.</a:t>
            </a:r>
          </a:p>
          <a:p>
            <a:pPr marL="0" indent="0">
              <a:buNone/>
            </a:pPr>
            <a:r>
              <a:rPr lang="en-US" sz="800" b="0" dirty="0">
                <a:solidFill>
                  <a:srgbClr val="000000"/>
                </a:solidFill>
                <a:latin typeface="Calibri"/>
              </a:rPr>
              <a:t> </a:t>
            </a:r>
          </a:p>
          <a:p>
            <a:pPr marL="0" indent="0">
              <a:buNone/>
            </a:pPr>
            <a:r>
              <a:rPr lang="en-US" sz="1050" b="0" dirty="0">
                <a:solidFill>
                  <a:srgbClr val="000000"/>
                </a:solidFill>
                <a:latin typeface="Calibri"/>
              </a:rPr>
              <a:t>v2.4: phase 1 freezes head. Body learns from classification and adversarial losses only — no head feedback. AKI class collapses to two clusters. Silhouette finds K=2 consistently. This reflects the true federated embedding structure; K=3 in v2.3 was partly a joint-training artefact.</a:t>
            </a:r>
          </a:p>
        </p:txBody>
      </p:sp>
      <p:sp>
        <p:nvSpPr>
          <p:cNvPr id="9" name="out23_hdr"/>
          <p:cNvSpPr>
            <a:spLocks noGrp="1"/>
          </p:cNvSpPr>
          <p:nvPr/>
        </p:nvSpPr>
        <p:spPr>
          <a:xfrm>
            <a:off x="228600" y="3475000"/>
            <a:ext cx="4200000" cy="210000"/>
          </a:xfrm>
          <a:prstGeom prst="rect">
            <a:avLst/>
          </a:prstGeom>
          <a:solidFill>
            <a:srgbClr val="1D6B3E"/>
          </a:solidFill>
          <a:ln/>
        </p:spPr>
        <p:txBody>
          <a:bodyPr wrap="square" lIns="182880" tIns="45720" rIns="182880" bIns="45720" rtlCol="0" anchor="ctr"/>
          <a:lstStyle/>
          <a:p>
            <a:pPr marL="0" indent="0">
              <a:buNone/>
            </a:pPr>
            <a:r>
              <a:rPr lang="en-US" sz="1200" b="1" dirty="0">
                <a:solidFill>
                  <a:srgbClr val="FFFFFF"/>
                </a:solidFill>
                <a:latin typeface="Calibri"/>
              </a:rPr>
              <a:t>v2.3 Outcome</a:t>
            </a:r>
          </a:p>
        </p:txBody>
      </p:sp>
      <p:sp>
        <p:nvSpPr>
          <p:cNvPr id="10" name="out23"/>
          <p:cNvSpPr>
            <a:spLocks noGrp="1"/>
          </p:cNvSpPr>
          <p:nvPr/>
        </p:nvSpPr>
        <p:spPr>
          <a:xfrm>
            <a:off x="228600" y="3705000"/>
            <a:ext cx="4200000" cy="520000"/>
          </a:xfrm>
          <a:prstGeom prst="rect">
            <a:avLst/>
          </a:prstGeom>
          <a:solidFill>
            <a:srgbClr val="F0F9F4"/>
          </a:solidFill>
          <a:ln/>
        </p:spPr>
        <p:txBody>
          <a:bodyPr wrap="square" lIns="182880" tIns="91440" rIns="182880" bIns="91440" rtlCol="0" anchor="t"/>
          <a:lstStyle/>
          <a:p>
            <a:pPr marL="0" indent="0">
              <a:buNone/>
            </a:pPr>
            <a:r>
              <a:rPr lang="en-US" sz="1100" b="1" dirty="0">
                <a:solidFill>
                  <a:srgbClr val="1D6B3E"/>
                </a:solidFill>
                <a:latin typeface="Calibri"/>
              </a:rPr>
              <a:t>FL-gain validated: 5/5 direction match</a:t>
            </a:r>
          </a:p>
          <a:p>
            <a:pPr marL="182880" indent="0">
              <a:buNone/>
            </a:pPr>
            <a:r>
              <a:rPr lang="en-US" sz="1000" b="0" dirty="0">
                <a:solidFill>
                  <a:srgbClr val="000000"/>
                </a:solidFill>
                <a:latin typeface="Calibri"/>
              </a:rPr>
              <a:t>site_D +0.053, site_E +0.035 vs local. Primary benefitters gain as predicted by FL-gain index.</a:t>
            </a:r>
          </a:p>
          <a:p>
            <a:pPr marL="0" indent="0">
              <a:buNone/>
            </a:pPr>
            <a:r>
              <a:rPr lang="en-US" sz="800" b="0" dirty="0">
                <a:solidFill>
                  <a:srgbClr val="000000"/>
                </a:solidFill>
                <a:latin typeface="Calibri"/>
              </a:rPr>
              <a:t> </a:t>
            </a:r>
          </a:p>
          <a:p>
            <a:pPr marL="0" indent="0">
              <a:buNone/>
            </a:pPr>
            <a:r>
              <a:rPr lang="en-US" sz="1000" b="0" dirty="0">
                <a:solidFill>
                  <a:srgbClr val="000000"/>
                </a:solidFill>
                <a:latin typeface="Calibri"/>
              </a:rPr>
              <a:t>Primary result (Table 1). Best for FL-gain story.</a:t>
            </a:r>
          </a:p>
        </p:txBody>
      </p:sp>
      <p:sp>
        <p:nvSpPr>
          <p:cNvPr id="11" name="out24_hdr"/>
          <p:cNvSpPr>
            <a:spLocks noGrp="1"/>
          </p:cNvSpPr>
          <p:nvPr/>
        </p:nvSpPr>
        <p:spPr>
          <a:xfrm>
            <a:off x="4700000" y="3475000"/>
            <a:ext cx="4216000" cy="210000"/>
          </a:xfrm>
          <a:prstGeom prst="rect">
            <a:avLst/>
          </a:prstGeom>
          <a:solidFill>
            <a:srgbClr val="BA7517"/>
          </a:solidFill>
          <a:ln/>
        </p:spPr>
        <p:txBody>
          <a:bodyPr wrap="square" lIns="182880" tIns="45720" rIns="182880" bIns="45720" rtlCol="0" anchor="ctr"/>
          <a:lstStyle/>
          <a:p>
            <a:pPr marL="0" indent="0">
              <a:buNone/>
            </a:pPr>
            <a:r>
              <a:rPr lang="en-US" sz="1200" b="1" dirty="0">
                <a:solidFill>
                  <a:srgbClr val="FFFFFF"/>
                </a:solidFill>
                <a:latin typeface="Calibri"/>
              </a:rPr>
              <a:t>v2.4 Outcome (5 seeds)</a:t>
            </a:r>
          </a:p>
        </p:txBody>
      </p:sp>
      <p:sp>
        <p:nvSpPr>
          <p:cNvPr id="12" name="out24"/>
          <p:cNvSpPr>
            <a:spLocks noGrp="1"/>
          </p:cNvSpPr>
          <p:nvPr/>
        </p:nvSpPr>
        <p:spPr>
          <a:xfrm>
            <a:off x="4700000" y="3705000"/>
            <a:ext cx="4216000" cy="520000"/>
          </a:xfrm>
          <a:prstGeom prst="rect">
            <a:avLst/>
          </a:prstGeom>
          <a:solidFill>
            <a:srgbClr val="FFF8F0"/>
          </a:solidFill>
          <a:ln/>
        </p:spPr>
        <p:txBody>
          <a:bodyPr wrap="square" lIns="182880" tIns="91440" rIns="182880" bIns="91440" rtlCol="0" anchor="t"/>
          <a:lstStyle/>
          <a:p>
            <a:pPr marL="0" indent="0">
              <a:buNone/>
            </a:pPr>
            <a:r>
              <a:rPr lang="en-US" sz="1100" b="1" dirty="0">
                <a:solidFill>
                  <a:srgbClr val="BA7517"/>
                </a:solidFill>
                <a:latin typeface="Calibri"/>
              </a:rPr>
              <a:t>Higher mean AUROC: 0.900 vs 0.895</a:t>
            </a:r>
          </a:p>
          <a:p>
            <a:pPr marL="182880" indent="0">
              <a:buNone/>
            </a:pPr>
            <a:r>
              <a:rPr lang="en-US" sz="1000" b="0" dirty="0">
                <a:solidFill>
                  <a:srgbClr val="000000"/>
                </a:solidFill>
                <a:latin typeface="Calibri"/>
              </a:rPr>
              <a:t>Better on 3 of 5 sites. site_E neutral (-0.001±0.015). site_D loses (-0.027±0.009).</a:t>
            </a:r>
          </a:p>
          <a:p>
            <a:pPr marL="0" indent="0">
              <a:buNone/>
            </a:pPr>
            <a:r>
              <a:rPr lang="en-US" sz="800" b="0" dirty="0">
                <a:solidFill>
                  <a:srgbClr val="000000"/>
                </a:solidFill>
                <a:latin typeface="Calibri"/>
              </a:rPr>
              <a:t> </a:t>
            </a:r>
          </a:p>
          <a:p>
            <a:pPr marL="0" indent="0">
              <a:buNone/>
            </a:pPr>
            <a:r>
              <a:rPr lang="en-US" sz="1000" b="0" dirty="0">
                <a:solidFill>
                  <a:srgbClr val="000000"/>
                </a:solidFill>
                <a:latin typeface="Calibri"/>
              </a:rPr>
              <a:t>Methodological contribution. Reported as extension / future work.</a:t>
            </a:r>
          </a:p>
        </p:txBody>
      </p:sp>
      <p:sp>
        <p:nvSpPr>
          <p:cNvPr id="13" name="rec"/>
          <p:cNvSpPr>
            <a:spLocks noGrp="1"/>
          </p:cNvSpPr>
          <p:nvPr/>
        </p:nvSpPr>
        <p:spPr>
          <a:xfrm>
            <a:off x="228600" y="4255000"/>
            <a:ext cx="8687400" cy="210000"/>
          </a:xfrm>
          <a:prstGeom prst="rect">
            <a:avLst/>
          </a:prstGeom>
          <a:solidFill>
            <a:srgbClr val="1E3A5F"/>
          </a:solidFill>
          <a:ln/>
        </p:spPr>
        <p:txBody>
          <a:bodyPr wrap="square" lIns="182880" tIns="45720" rIns="182880" bIns="45720" rtlCol="0" anchor="ctr"/>
          <a:lstStyle/>
          <a:p>
            <a:pPr marL="0" indent="0">
              <a:buNone/>
            </a:pPr>
            <a:r>
              <a:rPr lang="en-US" sz="1100" b="1" dirty="0">
                <a:solidFill>
                  <a:srgbClr val="FFFFFF"/>
                </a:solidFill>
                <a:latin typeface="Calibri"/>
              </a:rPr>
              <a:t>Paper framing: v2.3 = primary FL-gain result  |  v2.4 = auto-K methodology contribution  |  Both reported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2"/>
        <p:cNvGrpSpPr/>
        <p:nvPr/>
      </p:nvGrpSpPr>
      <p:grpSpPr>
        <a:xfrm>
          <a:off x="0" y="0"/>
          <a:ext cx="0" cy="0"/>
          <a:chOff x="0" y="0"/>
          <a:chExt cx="0" cy="0"/>
        </a:xfrm>
      </p:grpSpPr>
      <p:sp>
        <p:nvSpPr>
          <p:cNvPr id="393" name="Google Shape;393;p15"/>
          <p:cNvSpPr/>
          <p:nvPr/>
        </p:nvSpPr>
        <p:spPr>
          <a:xfrm>
            <a:off x="0" y="0"/>
            <a:ext cx="9144000" cy="685800"/>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4" name="Google Shape;394;p15"/>
          <p:cNvSpPr/>
          <p:nvPr/>
        </p:nvSpPr>
        <p:spPr>
          <a:xfrm>
            <a:off x="320040" y="0"/>
            <a:ext cx="850392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2200"/>
              <a:buFont typeface="Calibri"/>
              <a:buNone/>
            </a:pPr>
            <a:r>
              <a:rPr lang="en-US" sz="2200" b="1">
                <a:solidFill>
                  <a:srgbClr val="1F2937"/>
                </a:solidFill>
                <a:latin typeface="Calibri"/>
                <a:ea typeface="Calibri"/>
                <a:cs typeface="Calibri"/>
                <a:sym typeface="Calibri"/>
              </a:rPr>
              <a:t>Our FTL Pipeline — Three-Component Architecture</a:t>
            </a:r>
            <a:endParaRPr sz="2200">
              <a:solidFill>
                <a:schemeClr val="dk1"/>
              </a:solidFill>
              <a:latin typeface="Calibri"/>
              <a:ea typeface="Calibri"/>
              <a:cs typeface="Calibri"/>
              <a:sym typeface="Calibri"/>
            </a:endParaRPr>
          </a:p>
        </p:txBody>
      </p:sp>
      <p:sp>
        <p:nvSpPr>
          <p:cNvPr id="395" name="Google Shape;395;p15"/>
          <p:cNvSpPr/>
          <p:nvPr/>
        </p:nvSpPr>
        <p:spPr>
          <a:xfrm>
            <a:off x="0" y="685800"/>
            <a:ext cx="9144000" cy="36576"/>
          </a:xfrm>
          <a:prstGeom prst="rect">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6" name="Google Shape;396;p15"/>
          <p:cNvSpPr/>
          <p:nvPr/>
        </p:nvSpPr>
        <p:spPr>
          <a:xfrm>
            <a:off x="365760" y="768096"/>
            <a:ext cx="84124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100"/>
              <a:buFont typeface="Calibri"/>
              <a:buNone/>
            </a:pPr>
            <a:r>
              <a:rPr lang="en-US" sz="1100" i="1">
                <a:solidFill>
                  <a:srgbClr val="6B7280"/>
                </a:solidFill>
                <a:latin typeface="Calibri"/>
                <a:ea typeface="Calibri"/>
                <a:cs typeface="Calibri"/>
                <a:sym typeface="Calibri"/>
              </a:rPr>
              <a:t>feature grouping + prototype alignment + body-head decoupling combined into one federated training loop</a:t>
            </a:r>
            <a:endParaRPr sz="1100">
              <a:solidFill>
                <a:schemeClr val="dk1"/>
              </a:solidFill>
              <a:latin typeface="Calibri"/>
              <a:ea typeface="Calibri"/>
              <a:cs typeface="Calibri"/>
              <a:sym typeface="Calibri"/>
            </a:endParaRPr>
          </a:p>
        </p:txBody>
      </p:sp>
      <p:sp>
        <p:nvSpPr>
          <p:cNvPr id="397" name="Google Shape;397;p15"/>
          <p:cNvSpPr/>
          <p:nvPr/>
        </p:nvSpPr>
        <p:spPr>
          <a:xfrm>
            <a:off x="164592" y="1115568"/>
            <a:ext cx="2834640" cy="3703320"/>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8" name="Google Shape;398;p15"/>
          <p:cNvSpPr/>
          <p:nvPr/>
        </p:nvSpPr>
        <p:spPr>
          <a:xfrm>
            <a:off x="164592" y="1115568"/>
            <a:ext cx="2834640" cy="36576"/>
          </a:xfrm>
          <a:prstGeom prst="rect">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9" name="Google Shape;399;p15"/>
          <p:cNvSpPr/>
          <p:nvPr/>
        </p:nvSpPr>
        <p:spPr>
          <a:xfrm>
            <a:off x="256032" y="1170432"/>
            <a:ext cx="26517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950"/>
              <a:buFont typeface="Calibri"/>
              <a:buNone/>
            </a:pPr>
            <a:r>
              <a:rPr lang="en-US" sz="950" i="1">
                <a:solidFill>
                  <a:srgbClr val="6B7280"/>
                </a:solidFill>
                <a:latin typeface="Calibri"/>
                <a:ea typeface="Calibri"/>
                <a:cs typeface="Calibri"/>
                <a:sym typeface="Calibri"/>
              </a:rPr>
              <a:t>Component C1  </a:t>
            </a:r>
            <a:endParaRPr sz="950">
              <a:solidFill>
                <a:schemeClr val="dk1"/>
              </a:solidFill>
              <a:latin typeface="Calibri"/>
              <a:ea typeface="Calibri"/>
              <a:cs typeface="Calibri"/>
              <a:sym typeface="Calibri"/>
            </a:endParaRPr>
          </a:p>
        </p:txBody>
      </p:sp>
      <p:sp>
        <p:nvSpPr>
          <p:cNvPr id="400" name="Google Shape;400;p15"/>
          <p:cNvSpPr/>
          <p:nvPr/>
        </p:nvSpPr>
        <p:spPr>
          <a:xfrm>
            <a:off x="256032" y="1435608"/>
            <a:ext cx="2651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200"/>
              <a:buFont typeface="Calibri"/>
              <a:buNone/>
            </a:pPr>
            <a:r>
              <a:rPr lang="en-US" sz="1200" b="1">
                <a:solidFill>
                  <a:srgbClr val="1F2937"/>
                </a:solidFill>
                <a:latin typeface="Calibri"/>
                <a:ea typeface="Calibri"/>
                <a:cs typeface="Calibri"/>
                <a:sym typeface="Calibri"/>
              </a:rPr>
              <a:t>Feature Group Encoders</a:t>
            </a:r>
            <a:endParaRPr sz="1200">
              <a:solidFill>
                <a:schemeClr val="dk1"/>
              </a:solidFill>
              <a:latin typeface="Calibri"/>
              <a:ea typeface="Calibri"/>
              <a:cs typeface="Calibri"/>
              <a:sym typeface="Calibri"/>
            </a:endParaRPr>
          </a:p>
        </p:txBody>
      </p:sp>
      <p:sp>
        <p:nvSpPr>
          <p:cNvPr id="401" name="Google Shape;401;p15"/>
          <p:cNvSpPr/>
          <p:nvPr/>
        </p:nvSpPr>
        <p:spPr>
          <a:xfrm>
            <a:off x="256032" y="1737360"/>
            <a:ext cx="2651760" cy="18288"/>
          </a:xfrm>
          <a:prstGeom prst="rect">
            <a:avLst/>
          </a:prstGeom>
          <a:solidFill>
            <a:srgbClr val="D1D5D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2" name="Google Shape;402;p15"/>
          <p:cNvSpPr/>
          <p:nvPr/>
        </p:nvSpPr>
        <p:spPr>
          <a:xfrm>
            <a:off x="256032" y="1801368"/>
            <a:ext cx="2651760" cy="8412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  Each site maps available feature groups (Renal, Hemodynamic, Labs, Clinical) into a shared, 64-dim embedding space (group-invariant)</a:t>
            </a:r>
            <a:endParaRPr sz="1000">
              <a:solidFill>
                <a:schemeClr val="dk1"/>
              </a:solidFill>
              <a:latin typeface="Calibri"/>
              <a:ea typeface="Calibri"/>
              <a:cs typeface="Calibri"/>
              <a:sym typeface="Calibri"/>
            </a:endParaRPr>
          </a:p>
        </p:txBody>
      </p:sp>
      <p:sp>
        <p:nvSpPr>
          <p:cNvPr id="403" name="Google Shape;403;p15"/>
          <p:cNvSpPr/>
          <p:nvPr/>
        </p:nvSpPr>
        <p:spPr>
          <a:xfrm>
            <a:off x="256032" y="2670048"/>
            <a:ext cx="2651760" cy="8412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  One encoder per group; sites with missing groups simply omit that branch</a:t>
            </a:r>
            <a:endParaRPr sz="1000">
              <a:solidFill>
                <a:schemeClr val="dk1"/>
              </a:solidFill>
              <a:latin typeface="Calibri"/>
              <a:ea typeface="Calibri"/>
              <a:cs typeface="Calibri"/>
              <a:sym typeface="Calibri"/>
            </a:endParaRPr>
          </a:p>
        </p:txBody>
      </p:sp>
      <p:sp>
        <p:nvSpPr>
          <p:cNvPr id="404" name="Google Shape;404;p15"/>
          <p:cNvSpPr/>
          <p:nvPr/>
        </p:nvSpPr>
        <p:spPr>
          <a:xfrm>
            <a:off x="256032" y="3538728"/>
            <a:ext cx="2651760" cy="8412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  All encoders map to the same latent space using adversarial training (ensuring group invariant embedding space), enabling prototype comparison across incompatible feature sets</a:t>
            </a:r>
            <a:endParaRPr sz="1000">
              <a:solidFill>
                <a:schemeClr val="dk1"/>
              </a:solidFill>
              <a:latin typeface="Calibri"/>
              <a:ea typeface="Calibri"/>
              <a:cs typeface="Calibri"/>
              <a:sym typeface="Calibri"/>
            </a:endParaRPr>
          </a:p>
        </p:txBody>
      </p:sp>
      <p:sp>
        <p:nvSpPr>
          <p:cNvPr id="405" name="Google Shape;405;p15"/>
          <p:cNvSpPr/>
          <p:nvPr/>
        </p:nvSpPr>
        <p:spPr>
          <a:xfrm>
            <a:off x="2971800" y="2834640"/>
            <a:ext cx="201168"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280"/>
              </a:buClr>
              <a:buSzPts val="1600"/>
              <a:buFont typeface="Calibri"/>
              <a:buNone/>
            </a:pPr>
            <a:r>
              <a:rPr lang="en-US" sz="1600" b="1">
                <a:solidFill>
                  <a:srgbClr val="6B7280"/>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406" name="Google Shape;406;p15"/>
          <p:cNvSpPr/>
          <p:nvPr/>
        </p:nvSpPr>
        <p:spPr>
          <a:xfrm>
            <a:off x="3136392" y="1115568"/>
            <a:ext cx="2834640" cy="3703320"/>
          </a:xfrm>
          <a:prstGeom prst="rect">
            <a:avLst/>
          </a:prstGeom>
          <a:solidFill>
            <a:srgbClr val="FFFFFF"/>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7" name="Google Shape;407;p15"/>
          <p:cNvSpPr/>
          <p:nvPr/>
        </p:nvSpPr>
        <p:spPr>
          <a:xfrm>
            <a:off x="3136392" y="1115568"/>
            <a:ext cx="2834640" cy="36576"/>
          </a:xfrm>
          <a:prstGeom prst="rect">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8" name="Google Shape;408;p15"/>
          <p:cNvSpPr/>
          <p:nvPr/>
        </p:nvSpPr>
        <p:spPr>
          <a:xfrm>
            <a:off x="3227832" y="1170432"/>
            <a:ext cx="26517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950"/>
              <a:buFont typeface="Calibri"/>
              <a:buNone/>
            </a:pPr>
            <a:r>
              <a:rPr lang="en-US" sz="950" i="1">
                <a:solidFill>
                  <a:srgbClr val="6B7280"/>
                </a:solidFill>
                <a:latin typeface="Calibri"/>
                <a:ea typeface="Calibri"/>
                <a:cs typeface="Calibri"/>
                <a:sym typeface="Calibri"/>
              </a:rPr>
              <a:t>Component C2  </a:t>
            </a:r>
            <a:endParaRPr sz="950">
              <a:solidFill>
                <a:schemeClr val="dk1"/>
              </a:solidFill>
              <a:latin typeface="Calibri"/>
              <a:ea typeface="Calibri"/>
              <a:cs typeface="Calibri"/>
              <a:sym typeface="Calibri"/>
            </a:endParaRPr>
          </a:p>
        </p:txBody>
      </p:sp>
      <p:sp>
        <p:nvSpPr>
          <p:cNvPr id="409" name="Google Shape;409;p15"/>
          <p:cNvSpPr/>
          <p:nvPr/>
        </p:nvSpPr>
        <p:spPr>
          <a:xfrm>
            <a:off x="3227832" y="1435608"/>
            <a:ext cx="2651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200"/>
              <a:buFont typeface="Calibri"/>
              <a:buNone/>
            </a:pPr>
            <a:r>
              <a:rPr lang="en-US" sz="1200" b="1">
                <a:solidFill>
                  <a:srgbClr val="1F2937"/>
                </a:solidFill>
                <a:latin typeface="Calibri"/>
                <a:ea typeface="Calibri"/>
                <a:cs typeface="Calibri"/>
                <a:sym typeface="Calibri"/>
              </a:rPr>
              <a:t>Prototype Alignment Layer</a:t>
            </a:r>
            <a:endParaRPr sz="1200">
              <a:solidFill>
                <a:schemeClr val="dk1"/>
              </a:solidFill>
              <a:latin typeface="Calibri"/>
              <a:ea typeface="Calibri"/>
              <a:cs typeface="Calibri"/>
              <a:sym typeface="Calibri"/>
            </a:endParaRPr>
          </a:p>
        </p:txBody>
      </p:sp>
      <p:sp>
        <p:nvSpPr>
          <p:cNvPr id="410" name="Google Shape;410;p15"/>
          <p:cNvSpPr/>
          <p:nvPr/>
        </p:nvSpPr>
        <p:spPr>
          <a:xfrm>
            <a:off x="3227832" y="1737360"/>
            <a:ext cx="2651760" cy="18288"/>
          </a:xfrm>
          <a:prstGeom prst="rect">
            <a:avLst/>
          </a:prstGeom>
          <a:solidFill>
            <a:srgbClr val="D1D5D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1" name="Google Shape;411;p15"/>
          <p:cNvSpPr/>
          <p:nvPr/>
        </p:nvSpPr>
        <p:spPr>
          <a:xfrm>
            <a:off x="3227832" y="1801368"/>
            <a:ext cx="2651760" cy="8412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  After encoding, each site computes proto_AKI and proto_¬AKI and sends to server</a:t>
            </a:r>
            <a:endParaRPr sz="1000">
              <a:solidFill>
                <a:schemeClr val="dk1"/>
              </a:solidFill>
              <a:latin typeface="Calibri"/>
              <a:ea typeface="Calibri"/>
              <a:cs typeface="Calibri"/>
              <a:sym typeface="Calibri"/>
            </a:endParaRPr>
          </a:p>
        </p:txBody>
      </p:sp>
      <p:sp>
        <p:nvSpPr>
          <p:cNvPr id="412" name="Google Shape;412;p15"/>
          <p:cNvSpPr/>
          <p:nvPr/>
        </p:nvSpPr>
        <p:spPr>
          <a:xfrm>
            <a:off x="3227832" y="2670048"/>
            <a:ext cx="2651760" cy="8412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  Server returns global prototypes (weighted average by site AKI case count)</a:t>
            </a:r>
            <a:endParaRPr sz="1000">
              <a:solidFill>
                <a:schemeClr val="dk1"/>
              </a:solidFill>
              <a:latin typeface="Calibri"/>
              <a:ea typeface="Calibri"/>
              <a:cs typeface="Calibri"/>
              <a:sym typeface="Calibri"/>
            </a:endParaRPr>
          </a:p>
        </p:txBody>
      </p:sp>
      <p:sp>
        <p:nvSpPr>
          <p:cNvPr id="413" name="Google Shape;413;p15"/>
          <p:cNvSpPr/>
          <p:nvPr/>
        </p:nvSpPr>
        <p:spPr>
          <a:xfrm>
            <a:off x="3227832" y="3538728"/>
            <a:ext cx="2651760" cy="8412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  Loss: L = L_classify + λ · ||z − global_proto||²   (λ ablated: 0.1, 0.5, 1.0)</a:t>
            </a:r>
            <a:endParaRPr sz="1000">
              <a:solidFill>
                <a:schemeClr val="dk1"/>
              </a:solidFill>
              <a:latin typeface="Calibri"/>
              <a:ea typeface="Calibri"/>
              <a:cs typeface="Calibri"/>
              <a:sym typeface="Calibri"/>
            </a:endParaRPr>
          </a:p>
        </p:txBody>
      </p:sp>
      <p:sp>
        <p:nvSpPr>
          <p:cNvPr id="414" name="Google Shape;414;p15"/>
          <p:cNvSpPr/>
          <p:nvPr/>
        </p:nvSpPr>
        <p:spPr>
          <a:xfrm>
            <a:off x="5943600" y="2834640"/>
            <a:ext cx="201168"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280"/>
              </a:buClr>
              <a:buSzPts val="1600"/>
              <a:buFont typeface="Calibri"/>
              <a:buNone/>
            </a:pPr>
            <a:r>
              <a:rPr lang="en-US" sz="1600" b="1">
                <a:solidFill>
                  <a:srgbClr val="6B7280"/>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415" name="Google Shape;415;p15"/>
          <p:cNvSpPr/>
          <p:nvPr/>
        </p:nvSpPr>
        <p:spPr>
          <a:xfrm>
            <a:off x="6108192" y="1115568"/>
            <a:ext cx="2834640" cy="3703320"/>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6" name="Google Shape;416;p15"/>
          <p:cNvSpPr/>
          <p:nvPr/>
        </p:nvSpPr>
        <p:spPr>
          <a:xfrm>
            <a:off x="6108192" y="1115568"/>
            <a:ext cx="2834640" cy="36576"/>
          </a:xfrm>
          <a:prstGeom prst="rect">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7" name="Google Shape;417;p15"/>
          <p:cNvSpPr/>
          <p:nvPr/>
        </p:nvSpPr>
        <p:spPr>
          <a:xfrm>
            <a:off x="6199632" y="1170432"/>
            <a:ext cx="26517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950"/>
              <a:buFont typeface="Calibri"/>
              <a:buNone/>
            </a:pPr>
            <a:r>
              <a:rPr lang="en-US" sz="950" i="1">
                <a:solidFill>
                  <a:srgbClr val="6B7280"/>
                </a:solidFill>
                <a:latin typeface="Calibri"/>
                <a:ea typeface="Calibri"/>
                <a:cs typeface="Calibri"/>
                <a:sym typeface="Calibri"/>
              </a:rPr>
              <a:t>Component C3  </a:t>
            </a:r>
            <a:endParaRPr sz="950">
              <a:solidFill>
                <a:schemeClr val="dk1"/>
              </a:solidFill>
              <a:latin typeface="Calibri"/>
              <a:ea typeface="Calibri"/>
              <a:cs typeface="Calibri"/>
              <a:sym typeface="Calibri"/>
            </a:endParaRPr>
          </a:p>
        </p:txBody>
      </p:sp>
      <p:sp>
        <p:nvSpPr>
          <p:cNvPr id="418" name="Google Shape;418;p15"/>
          <p:cNvSpPr/>
          <p:nvPr/>
        </p:nvSpPr>
        <p:spPr>
          <a:xfrm>
            <a:off x="6199632" y="1435608"/>
            <a:ext cx="2651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200"/>
              <a:buFont typeface="Calibri"/>
              <a:buNone/>
            </a:pPr>
            <a:r>
              <a:rPr lang="en-US" sz="1200" b="1">
                <a:solidFill>
                  <a:srgbClr val="1F2937"/>
                </a:solidFill>
                <a:latin typeface="Calibri"/>
                <a:ea typeface="Calibri"/>
                <a:cs typeface="Calibri"/>
                <a:sym typeface="Calibri"/>
              </a:rPr>
              <a:t>Body-Head Classifier</a:t>
            </a:r>
            <a:endParaRPr sz="1200">
              <a:solidFill>
                <a:schemeClr val="dk1"/>
              </a:solidFill>
              <a:latin typeface="Calibri"/>
              <a:ea typeface="Calibri"/>
              <a:cs typeface="Calibri"/>
              <a:sym typeface="Calibri"/>
            </a:endParaRPr>
          </a:p>
        </p:txBody>
      </p:sp>
      <p:sp>
        <p:nvSpPr>
          <p:cNvPr id="419" name="Google Shape;419;p15"/>
          <p:cNvSpPr/>
          <p:nvPr/>
        </p:nvSpPr>
        <p:spPr>
          <a:xfrm>
            <a:off x="6199632" y="1737360"/>
            <a:ext cx="2651760" cy="18288"/>
          </a:xfrm>
          <a:prstGeom prst="rect">
            <a:avLst/>
          </a:prstGeom>
          <a:solidFill>
            <a:srgbClr val="D1D5D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0" name="Google Shape;420;p15"/>
          <p:cNvSpPr/>
          <p:nvPr/>
        </p:nvSpPr>
        <p:spPr>
          <a:xfrm>
            <a:off x="6199632" y="1801368"/>
            <a:ext cx="2651760" cy="8412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  Encoder body is federated (FedAvg) across sites each round</a:t>
            </a:r>
            <a:endParaRPr sz="1000">
              <a:solidFill>
                <a:schemeClr val="dk1"/>
              </a:solidFill>
              <a:latin typeface="Calibri"/>
              <a:ea typeface="Calibri"/>
              <a:cs typeface="Calibri"/>
              <a:sym typeface="Calibri"/>
            </a:endParaRPr>
          </a:p>
        </p:txBody>
      </p:sp>
      <p:sp>
        <p:nvSpPr>
          <p:cNvPr id="421" name="Google Shape;421;p15"/>
          <p:cNvSpPr/>
          <p:nvPr/>
        </p:nvSpPr>
        <p:spPr>
          <a:xfrm>
            <a:off x="6199632" y="2670048"/>
            <a:ext cx="2651760" cy="8412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  Classification head is kept local and frozen during federation</a:t>
            </a:r>
            <a:endParaRPr sz="1000">
              <a:solidFill>
                <a:schemeClr val="dk1"/>
              </a:solidFill>
              <a:latin typeface="Calibri"/>
              <a:ea typeface="Calibri"/>
              <a:cs typeface="Calibri"/>
              <a:sym typeface="Calibri"/>
            </a:endParaRPr>
          </a:p>
        </p:txBody>
      </p:sp>
      <p:sp>
        <p:nvSpPr>
          <p:cNvPr id="422" name="Google Shape;422;p15"/>
          <p:cNvSpPr/>
          <p:nvPr/>
        </p:nvSpPr>
        <p:spPr>
          <a:xfrm>
            <a:off x="6199632" y="3538728"/>
            <a:ext cx="2651760" cy="8412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  After convergence: fine-tune head on local labels; Site E (missing labels) uses pseudo-labels by nearest prototype</a:t>
            </a:r>
            <a:endParaRPr sz="1000">
              <a:solidFill>
                <a:schemeClr val="dk1"/>
              </a:solidFill>
              <a:latin typeface="Calibri"/>
              <a:ea typeface="Calibri"/>
              <a:cs typeface="Calibri"/>
              <a:sym typeface="Calibri"/>
            </a:endParaRPr>
          </a:p>
        </p:txBody>
      </p:sp>
      <p:sp>
        <p:nvSpPr>
          <p:cNvPr id="423" name="Google Shape;423;p15"/>
          <p:cNvSpPr/>
          <p:nvPr/>
        </p:nvSpPr>
        <p:spPr>
          <a:xfrm>
            <a:off x="164592" y="4864608"/>
            <a:ext cx="8814816" cy="201168"/>
          </a:xfrm>
          <a:prstGeom prst="rect">
            <a:avLst/>
          </a:prstGeom>
          <a:solidFill>
            <a:srgbClr val="F3F4F6"/>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4" name="Google Shape;424;p15"/>
          <p:cNvSpPr/>
          <p:nvPr/>
        </p:nvSpPr>
        <p:spPr>
          <a:xfrm>
            <a:off x="274320" y="4864608"/>
            <a:ext cx="859536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950"/>
              <a:buFont typeface="Calibri"/>
              <a:buNone/>
            </a:pPr>
            <a:r>
              <a:rPr lang="en-US" sz="950">
                <a:solidFill>
                  <a:srgbClr val="6B7280"/>
                </a:solidFill>
                <a:latin typeface="Calibri"/>
                <a:ea typeface="Calibri"/>
                <a:cs typeface="Calibri"/>
                <a:sym typeface="Calibri"/>
              </a:rPr>
              <a:t>Each round:  sites encode → compute prototypes → server aggregates body + prototypes → sites update with L_classify + λ·L_proto, head frozen → repeat</a:t>
            </a:r>
            <a:endParaRPr sz="95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AutoK Algorithm">
    <p:bg>
      <p:bgPr>
        <a:solidFill>
          <a:srgbClr val="FFFFFF"/>
        </a:solidFill>
        <a:effectLst/>
      </p:bgPr>
    </p:bg>
    <p:spTree>
      <p:nvGrpSpPr>
        <p:cNvPr id="1" name=""/>
        <p:cNvGrpSpPr/>
        <p:nvPr/>
      </p:nvGrpSpPr>
      <p:grpSpPr>
        <a:xfrm>
          <a:off x="0" y="0"/>
          <a:ext cx="0" cy="0"/>
          <a:chOff x="0" y="0"/>
          <a:chExt cx="0" cy="0"/>
        </a:xfrm>
      </p:grpSpPr>
      <p:sp>
        <p:nvSpPr>
          <p:cNvPr id="2" name="hdr"/>
          <p:cNvSpPr>
            <a:spLocks noGrp="1"/>
          </p:cNvSpPr>
          <p:nvPr/>
        </p:nvSpPr>
        <p:spPr>
          <a:xfrm>
            <a:off x="0" y="0"/>
            <a:ext cx="9144000" cy="400000"/>
          </a:xfrm>
          <a:prstGeom prst="rect">
            <a:avLst/>
          </a:prstGeom>
          <a:solidFill>
            <a:srgbClr val="1E3A5F"/>
          </a:solidFill>
          <a:ln/>
        </p:spPr>
        <p:txBody>
          <a:bodyPr wrap="square" lIns="182880" tIns="45720" rIns="182880" bIns="45720" rtlCol="0" anchor="ctr"/>
          <a:lstStyle/>
          <a:p>
            <a:pPr marL="0" indent="0">
              <a:buNone/>
            </a:pPr>
            <a:r>
              <a:rPr lang="en-US" sz="1600" b="1" dirty="0">
                <a:solidFill>
                  <a:srgbClr val="FFFFFF"/>
                </a:solidFill>
                <a:latin typeface="Calibri"/>
              </a:rPr>
              <a:t>FedAdaptProto v2.4 — Auto-K Algorithm, Tunable Parameters, and Sparse-Site Fixes</a:t>
            </a:r>
          </a:p>
        </p:txBody>
      </p:sp>
      <p:sp>
        <p:nvSpPr>
          <p:cNvPr id="3" name="alg_hdr"/>
          <p:cNvSpPr>
            <a:spLocks noGrp="1"/>
          </p:cNvSpPr>
          <p:nvPr/>
        </p:nvSpPr>
        <p:spPr>
          <a:xfrm>
            <a:off x="228600" y="425000"/>
            <a:ext cx="4200000" cy="210000"/>
          </a:xfrm>
          <a:prstGeom prst="rect">
            <a:avLst/>
          </a:prstGeom>
          <a:solidFill>
            <a:srgbClr val="1E3A5F"/>
          </a:solidFill>
          <a:ln/>
        </p:spPr>
        <p:txBody>
          <a:bodyPr wrap="square" lIns="182880" tIns="45720" rIns="182880" bIns="45720" rtlCol="0" anchor="ctr"/>
          <a:lstStyle/>
          <a:p>
            <a:pPr marL="0" indent="0">
              <a:buNone/>
            </a:pPr>
            <a:r>
              <a:rPr lang="en-US" sz="1400" b="1" dirty="0">
                <a:solidFill>
                  <a:srgbClr val="FFFFFF"/>
                </a:solidFill>
                <a:latin typeface="Calibri"/>
              </a:rPr>
              <a:t>Two-Phase Auto-K Algorithm</a:t>
            </a:r>
          </a:p>
        </p:txBody>
      </p:sp>
      <p:sp>
        <p:nvSpPr>
          <p:cNvPr id="4" name="alg_body"/>
          <p:cNvSpPr>
            <a:spLocks noGrp="1"/>
          </p:cNvSpPr>
          <p:nvPr/>
        </p:nvSpPr>
        <p:spPr>
          <a:xfrm>
            <a:off x="228600" y="655000"/>
            <a:ext cx="4200000" cy="2130000"/>
          </a:xfrm>
          <a:prstGeom prst="rect">
            <a:avLst/>
          </a:prstGeom>
          <a:solidFill>
            <a:srgbClr val="F0F4FA"/>
          </a:solidFill>
          <a:ln/>
        </p:spPr>
        <p:txBody>
          <a:bodyPr wrap="square" lIns="182880" tIns="91440" rIns="182880" bIns="91440" rtlCol="0" anchor="t"/>
          <a:lstStyle/>
          <a:p>
            <a:pPr marL="0" indent="0">
              <a:buNone/>
            </a:pPr>
            <a:r>
              <a:rPr lang="en-US" sz="1150" b="1" dirty="0">
                <a:solidFill>
                  <a:srgbClr val="2E6DA4"/>
                </a:solidFill>
                <a:latin typeface="Calibri"/>
              </a:rPr>
              <a:t>Phase 1: Full federation (n_rounds, uniform K=k_min)</a:t>
            </a:r>
          </a:p>
          <a:p>
            <a:pPr marL="182880" indent="0">
              <a:buNone/>
            </a:pPr>
            <a:r>
              <a:rPr lang="en-US" sz="1000" b="0" dirty="0">
                <a:solidFill>
                  <a:srgbClr val="000000"/>
                </a:solidFill>
                <a:latin typeface="Calibri"/>
              </a:rPr>
              <a:t>Head frozen. Body, adapter, GRL learn cross-site AKI representations over all rounds.</a:t>
            </a:r>
          </a:p>
          <a:p>
            <a:pPr marL="0" indent="0">
              <a:buNone/>
            </a:pPr>
            <a:r>
              <a:rPr lang="en-US" sz="800" b="0" dirty="0">
                <a:solidFill>
                  <a:srgbClr val="000000"/>
                </a:solidFill>
                <a:latin typeface="Calibri"/>
              </a:rPr>
              <a:t> </a:t>
            </a:r>
          </a:p>
          <a:p>
            <a:pPr marL="0" indent="0">
              <a:buNone/>
            </a:pPr>
            <a:r>
              <a:rPr lang="en-US" sz="1150" b="1" dirty="0">
                <a:solidFill>
                  <a:srgbClr val="BA7517"/>
                </a:solidFill>
                <a:latin typeface="Calibri"/>
              </a:rPr>
              <a:t>Full head fine-tuning on phase 1 model (30 epochs)</a:t>
            </a:r>
          </a:p>
          <a:p>
            <a:pPr marL="182880" indent="0">
              <a:buNone/>
            </a:pPr>
            <a:r>
              <a:rPr lang="en-US" sz="1000" b="0" dirty="0">
                <a:solidFill>
                  <a:srgbClr val="000000"/>
                </a:solidFill>
                <a:latin typeface="Calibri"/>
              </a:rPr>
              <a:t>Body frozen, head trains to convergence. Restores local clinical structure to embeddings — matching v2.3 offline conditions.</a:t>
            </a:r>
          </a:p>
          <a:p>
            <a:pPr marL="0" indent="0">
              <a:buNone/>
            </a:pPr>
            <a:r>
              <a:rPr lang="en-US" sz="800" b="0" dirty="0">
                <a:solidFill>
                  <a:srgbClr val="000000"/>
                </a:solidFill>
                <a:latin typeface="Calibri"/>
              </a:rPr>
              <a:t> </a:t>
            </a:r>
          </a:p>
          <a:p>
            <a:pPr marL="0" indent="0">
              <a:buNone/>
            </a:pPr>
            <a:r>
              <a:rPr lang="en-US" sz="1150" b="1" dirty="0">
                <a:solidFill>
                  <a:srgbClr val="2E6DA4"/>
                </a:solidFill>
                <a:latin typeface="Calibri"/>
              </a:rPr>
              <a:t>Silhouette computed HERE on AKI class only</a:t>
            </a:r>
          </a:p>
          <a:p>
            <a:pPr marL="182880" indent="0">
              <a:buNone/>
            </a:pPr>
            <a:r>
              <a:rPr lang="en-US" sz="1000" b="0" dirty="0">
                <a:solidFill>
                  <a:srgbClr val="000000"/>
                </a:solidFill>
                <a:latin typeface="Calibri"/>
              </a:rPr>
              <a:t>K=k_min to k_max tested on AKI patients (cls=1) only. Per-site K = argmax silhouette. Non-AKI class logged but not used for selection.</a:t>
            </a:r>
          </a:p>
          <a:p>
            <a:pPr marL="0" indent="0">
              <a:buNone/>
            </a:pPr>
            <a:r>
              <a:rPr lang="en-US" sz="800" b="0" dirty="0">
                <a:solidFill>
                  <a:srgbClr val="000000"/>
                </a:solidFill>
                <a:latin typeface="Calibri"/>
              </a:rPr>
              <a:t> </a:t>
            </a:r>
          </a:p>
          <a:p>
            <a:pPr marL="0" indent="0">
              <a:buNone/>
            </a:pPr>
            <a:r>
              <a:rPr lang="en-US" sz="1150" b="1" dirty="0">
                <a:solidFill>
                  <a:srgbClr val="2E6DA4"/>
                </a:solidFill>
                <a:latin typeface="Calibri"/>
              </a:rPr>
              <a:t>Phase 2: Fresh model, n_rounds with selected K</a:t>
            </a:r>
          </a:p>
          <a:p>
            <a:pPr marL="182880" indent="0">
              <a:buNone/>
            </a:pPr>
            <a:r>
              <a:rPr lang="en-US" sz="1000" b="0" dirty="0">
                <a:solidFill>
                  <a:srgbClr val="000000"/>
                </a:solidFill>
                <a:latin typeface="Calibri"/>
              </a:rPr>
              <a:t>Head frozen throughout. Final head fine-tuning after convergence.</a:t>
            </a:r>
          </a:p>
        </p:txBody>
      </p:sp>
      <p:sp>
        <p:nvSpPr>
          <p:cNvPr id="5" name="fix_hdr"/>
          <p:cNvSpPr>
            <a:spLocks noGrp="1"/>
          </p:cNvSpPr>
          <p:nvPr/>
        </p:nvSpPr>
        <p:spPr>
          <a:xfrm>
            <a:off x="228600" y="2815000"/>
            <a:ext cx="4200000" cy="210000"/>
          </a:xfrm>
          <a:prstGeom prst="rect">
            <a:avLst/>
          </a:prstGeom>
          <a:solidFill>
            <a:srgbClr val="BA7517"/>
          </a:solidFill>
          <a:ln/>
        </p:spPr>
        <p:txBody>
          <a:bodyPr wrap="square" lIns="182880" tIns="45720" rIns="182880" bIns="45720" rtlCol="0" anchor="ctr"/>
          <a:lstStyle/>
          <a:p>
            <a:pPr marL="0" indent="0">
              <a:buNone/>
            </a:pPr>
            <a:r>
              <a:rPr lang="en-US" sz="1400" b="1" dirty="0">
                <a:solidFill>
                  <a:srgbClr val="FFFFFF"/>
                </a:solidFill>
                <a:latin typeface="Calibri"/>
              </a:rPr>
              <a:t>Sparse-Site Fixes (v2.4)</a:t>
            </a:r>
          </a:p>
        </p:txBody>
      </p:sp>
      <p:sp>
        <p:nvSpPr>
          <p:cNvPr id="6" name="fix_body"/>
          <p:cNvSpPr>
            <a:spLocks noGrp="1"/>
          </p:cNvSpPr>
          <p:nvPr/>
        </p:nvSpPr>
        <p:spPr>
          <a:xfrm>
            <a:off x="228600" y="3045000"/>
            <a:ext cx="4200000" cy="730000"/>
          </a:xfrm>
          <a:prstGeom prst="rect">
            <a:avLst/>
          </a:prstGeom>
          <a:solidFill>
            <a:srgbClr val="FFF8F0"/>
          </a:solidFill>
          <a:ln/>
        </p:spPr>
        <p:txBody>
          <a:bodyPr wrap="square" lIns="182880" tIns="91440" rIns="182880" bIns="91440" rtlCol="0" anchor="t"/>
          <a:lstStyle/>
          <a:p>
            <a:pPr marL="0" indent="0">
              <a:buNone/>
            </a:pPr>
            <a:r>
              <a:rPr lang="en-US" sz="1100" b="1" dirty="0">
                <a:solidFill>
                  <a:srgbClr val="BA7517"/>
                </a:solidFill>
                <a:latin typeface="Calibri"/>
              </a:rPr>
              <a:t>Fix 1: lambda_adv x (1 - FL-gain index)</a:t>
            </a:r>
          </a:p>
          <a:p>
            <a:pPr marL="182880" indent="0">
              <a:buNone/>
            </a:pPr>
            <a:r>
              <a:rPr lang="en-US" sz="1000" b="0" dirty="0">
                <a:solidFill>
                  <a:srgbClr val="000000"/>
                </a:solidFill>
                <a:latin typeface="Calibri"/>
              </a:rPr>
              <a:t>High-gain sparse sites get gentler GRL pressure. site_D: 0.043 to 0.010.</a:t>
            </a:r>
          </a:p>
          <a:p>
            <a:pPr marL="0" indent="0">
              <a:buNone/>
            </a:pPr>
            <a:r>
              <a:rPr lang="en-US" sz="1100" b="1" dirty="0">
                <a:solidFill>
                  <a:srgbClr val="BA7517"/>
                </a:solidFill>
                <a:latin typeface="Calibri"/>
              </a:rPr>
              <a:t>Fix 2: FL-gain weighted prototype aggregation</a:t>
            </a:r>
          </a:p>
          <a:p>
            <a:pPr marL="182880" indent="0">
              <a:buNone/>
            </a:pPr>
            <a:r>
              <a:rPr lang="en-US" sz="1000" b="0" dirty="0">
                <a:solidFill>
                  <a:srgbClr val="000000"/>
                </a:solidFill>
                <a:latin typeface="Calibri"/>
              </a:rPr>
              <a:t>Sparse sites contribute more to global prototype.</a:t>
            </a:r>
          </a:p>
          <a:p>
            <a:pPr marL="0" indent="0">
              <a:buNone/>
            </a:pPr>
            <a:r>
              <a:rPr lang="en-US" sz="1100" b="1" dirty="0">
                <a:solidFill>
                  <a:srgbClr val="BA7517"/>
                </a:solidFill>
                <a:latin typeface="Calibri"/>
              </a:rPr>
              <a:t>Fix 3: pos_weight BCE  (site_D: 12.3x, site_E: 18.2x)</a:t>
            </a:r>
          </a:p>
          <a:p>
            <a:pPr marL="182880" indent="0">
              <a:buNone/>
            </a:pPr>
            <a:r>
              <a:rPr lang="en-US" sz="1000" b="0" dirty="0">
                <a:solidFill>
                  <a:srgbClr val="000000"/>
                </a:solidFill>
                <a:latin typeface="Calibri"/>
              </a:rPr>
              <a:t>Prevents head collapsing to predict non-AKI for minority class.</a:t>
            </a:r>
          </a:p>
        </p:txBody>
      </p:sp>
      <p:sp>
        <p:nvSpPr>
          <p:cNvPr id="7" name="param_hdr"/>
          <p:cNvSpPr>
            <a:spLocks noGrp="1"/>
          </p:cNvSpPr>
          <p:nvPr/>
        </p:nvSpPr>
        <p:spPr>
          <a:xfrm>
            <a:off x="4700000" y="425000"/>
            <a:ext cx="4216000" cy="210000"/>
          </a:xfrm>
          <a:prstGeom prst="rect">
            <a:avLst/>
          </a:prstGeom>
          <a:solidFill>
            <a:srgbClr val="1E3A5F"/>
          </a:solidFill>
          <a:ln/>
        </p:spPr>
        <p:txBody>
          <a:bodyPr wrap="square" lIns="182880" tIns="45720" rIns="182880" bIns="45720" rtlCol="0" anchor="ctr"/>
          <a:lstStyle/>
          <a:p>
            <a:pPr marL="0" indent="0">
              <a:buNone/>
            </a:pPr>
            <a:r>
              <a:rPr lang="en-US" sz="1400" b="1" dirty="0">
                <a:solidFill>
                  <a:srgbClr val="FFFFFF"/>
                </a:solidFill>
                <a:latin typeface="Calibri"/>
              </a:rPr>
              <a:t>Tunable Parameters + GPC Guidance</a:t>
            </a:r>
          </a:p>
        </p:txBody>
      </p:sp>
      <p:sp>
        <p:nvSpPr>
          <p:cNvPr id="8" name="param_body"/>
          <p:cNvSpPr>
            <a:spLocks noGrp="1"/>
          </p:cNvSpPr>
          <p:nvPr/>
        </p:nvSpPr>
        <p:spPr>
          <a:xfrm>
            <a:off x="4700000" y="655000"/>
            <a:ext cx="4216000" cy="2130000"/>
          </a:xfrm>
          <a:prstGeom prst="rect">
            <a:avLst/>
          </a:prstGeom>
          <a:solidFill>
            <a:srgbClr val="F0F4FA"/>
          </a:solidFill>
          <a:ln/>
        </p:spPr>
        <p:txBody>
          <a:bodyPr wrap="square" lIns="182880" tIns="91440" rIns="182880" bIns="91440" rtlCol="0" anchor="t"/>
          <a:lstStyle/>
          <a:p>
            <a:pPr marL="0" indent="0">
              <a:buNone/>
            </a:pPr>
            <a:r>
              <a:rPr lang="en-US" sz="1150" b="1" dirty="0">
                <a:solidFill>
                  <a:srgbClr val="000000"/>
                </a:solidFill>
                <a:latin typeface="Calibri"/>
              </a:rPr>
              <a:t>k_select_round  (default = n_rounds)</a:t>
            </a:r>
          </a:p>
          <a:p>
            <a:pPr marL="182880" indent="0">
              <a:buNone/>
            </a:pPr>
            <a:r>
              <a:rPr lang="en-US" sz="1000" b="0" dirty="0">
                <a:solidFill>
                  <a:srgbClr val="000000"/>
                </a:solidFill>
                <a:latin typeface="Calibri"/>
              </a:rPr>
              <a:t>Rounds for phase 1. Full federation recommended. GPC: same default.</a:t>
            </a:r>
          </a:p>
          <a:p>
            <a:pPr marL="0" indent="0">
              <a:buNone/>
            </a:pPr>
            <a:r>
              <a:rPr lang="en-US" sz="800" b="0" dirty="0">
                <a:solidFill>
                  <a:srgbClr val="000000"/>
                </a:solidFill>
                <a:latin typeface="Calibri"/>
              </a:rPr>
              <a:t> </a:t>
            </a:r>
          </a:p>
          <a:p>
            <a:pPr marL="0" indent="0">
              <a:buNone/>
            </a:pPr>
            <a:r>
              <a:rPr lang="en-US" sz="1150" b="1" dirty="0">
                <a:solidFill>
                  <a:srgbClr val="000000"/>
                </a:solidFill>
                <a:latin typeface="Calibri"/>
              </a:rPr>
              <a:t>k_min / k_max  (default 2 to 5)</a:t>
            </a:r>
          </a:p>
          <a:p>
            <a:pPr marL="182880" indent="0">
              <a:buNone/>
            </a:pPr>
            <a:r>
              <a:rPr lang="en-US" sz="1000" b="0" dirty="0">
                <a:solidFill>
                  <a:srgbClr val="000000"/>
                </a:solidFill>
                <a:latin typeface="Calibri"/>
              </a:rPr>
              <a:t>GPC: keep k_min=2. Raise k_max to 6 for distinct subtypes (rapidly progressive vs slow IgA nephropathy).</a:t>
            </a:r>
          </a:p>
          <a:p>
            <a:pPr marL="0" indent="0">
              <a:buNone/>
            </a:pPr>
            <a:r>
              <a:rPr lang="en-US" sz="800" b="0" dirty="0">
                <a:solidFill>
                  <a:srgbClr val="000000"/>
                </a:solidFill>
                <a:latin typeface="Calibri"/>
              </a:rPr>
              <a:t> </a:t>
            </a:r>
          </a:p>
          <a:p>
            <a:pPr marL="0" indent="0">
              <a:buNone/>
            </a:pPr>
            <a:r>
              <a:rPr lang="en-US" sz="1150" b="1" dirty="0">
                <a:solidFill>
                  <a:srgbClr val="000000"/>
                </a:solidFill>
                <a:latin typeface="Calibri"/>
              </a:rPr>
              <a:t>warmup_rounds  (default 10)</a:t>
            </a:r>
          </a:p>
          <a:p>
            <a:pPr marL="182880" indent="0">
              <a:buNone/>
            </a:pPr>
            <a:r>
              <a:rPr lang="en-US" sz="1000" b="0" dirty="0">
                <a:solidFill>
                  <a:srgbClr val="000000"/>
                </a:solidFill>
                <a:latin typeface="Calibri"/>
              </a:rPr>
              <a:t>GRL and alpha_proto ramp from 0 to target. Must be less than k_select_round.</a:t>
            </a:r>
          </a:p>
          <a:p>
            <a:pPr marL="0" indent="0">
              <a:buNone/>
            </a:pPr>
            <a:r>
              <a:rPr lang="en-US" sz="800" b="0" dirty="0">
                <a:solidFill>
                  <a:srgbClr val="000000"/>
                </a:solidFill>
                <a:latin typeface="Calibri"/>
              </a:rPr>
              <a:t> </a:t>
            </a:r>
          </a:p>
          <a:p>
            <a:pPr marL="0" indent="0">
              <a:buNone/>
            </a:pPr>
            <a:r>
              <a:rPr lang="en-US" sz="1150" b="1" dirty="0">
                <a:solidFill>
                  <a:srgbClr val="000000"/>
                </a:solidFill>
                <a:latin typeface="Calibri"/>
              </a:rPr>
              <a:t>lambda_adv  (default 0.1, then FL-gain modulated)</a:t>
            </a:r>
          </a:p>
          <a:p>
            <a:pPr marL="182880" indent="0">
              <a:buNone/>
            </a:pPr>
            <a:r>
              <a:rPr lang="en-US" sz="1000" b="0" dirty="0">
                <a:solidFill>
                  <a:srgbClr val="000000"/>
                </a:solidFill>
                <a:latin typeface="Calibri"/>
              </a:rPr>
              <a:t>GPC: start at 0.05. Fix 1 modulation applies automatically from FL-gain index.</a:t>
            </a:r>
          </a:p>
          <a:p>
            <a:pPr marL="0" indent="0">
              <a:buNone/>
            </a:pPr>
            <a:r>
              <a:rPr lang="en-US" sz="800" b="0" dirty="0">
                <a:solidFill>
                  <a:srgbClr val="000000"/>
                </a:solidFill>
                <a:latin typeface="Calibri"/>
              </a:rPr>
              <a:t> </a:t>
            </a:r>
          </a:p>
          <a:p>
            <a:pPr marL="0" indent="0">
              <a:buNone/>
            </a:pPr>
            <a:r>
              <a:rPr lang="en-US" sz="1150" b="1" dirty="0">
                <a:solidFill>
                  <a:srgbClr val="000000"/>
                </a:solidFill>
                <a:latin typeface="Calibri"/>
              </a:rPr>
              <a:t>alpha_proto  (default 1.0)</a:t>
            </a:r>
          </a:p>
          <a:p>
            <a:pPr marL="182880" indent="0">
              <a:buNone/>
            </a:pPr>
            <a:r>
              <a:rPr lang="en-US" sz="1000" b="0" dirty="0">
                <a:solidFill>
                  <a:srgbClr val="000000"/>
                </a:solidFill>
                <a:latin typeface="Calibri"/>
              </a:rPr>
              <a:t>GPC: keep at 1.0. Fix 2 weighting applies automatically from FL-gain index.</a:t>
            </a:r>
          </a:p>
          <a:p>
            <a:pPr marL="0" indent="0">
              <a:buNone/>
            </a:pPr>
            <a:r>
              <a:rPr lang="en-US" sz="800" b="0" dirty="0">
                <a:solidFill>
                  <a:srgbClr val="000000"/>
                </a:solidFill>
                <a:latin typeface="Calibri"/>
              </a:rPr>
              <a:t> </a:t>
            </a:r>
          </a:p>
          <a:p>
            <a:pPr marL="0" indent="0">
              <a:buNone/>
            </a:pPr>
            <a:r>
              <a:rPr lang="en-US" sz="1150" b="1" dirty="0">
                <a:solidFill>
                  <a:srgbClr val="000000"/>
                </a:solidFill>
                <a:latin typeface="Calibri"/>
              </a:rPr>
              <a:t>Anchor site for silhouette monitoring</a:t>
            </a:r>
          </a:p>
          <a:p>
            <a:pPr marL="182880" indent="0">
              <a:buNone/>
            </a:pPr>
            <a:r>
              <a:rPr lang="en-US" sz="1000" b="0" dirty="0">
                <a:solidFill>
                  <a:srgbClr val="000000"/>
                </a:solidFill>
                <a:latin typeface="Calibri"/>
              </a:rPr>
              <a:t>AKI: site_C (109 features). GPC: most feature-rich site. K=2 consistent result across all sites — bimodal AKI structure in federated embeddings.</a:t>
            </a:r>
          </a:p>
        </p:txBody>
      </p:sp>
      <p:sp>
        <p:nvSpPr>
          <p:cNvPr id="9" name="sil_hdr"/>
          <p:cNvSpPr>
            <a:spLocks noGrp="1"/>
          </p:cNvSpPr>
          <p:nvPr/>
        </p:nvSpPr>
        <p:spPr>
          <a:xfrm>
            <a:off x="4700000" y="2815000"/>
            <a:ext cx="4216000" cy="210000"/>
          </a:xfrm>
          <a:prstGeom prst="rect">
            <a:avLst/>
          </a:prstGeom>
          <a:solidFill>
            <a:srgbClr val="2E6DA4"/>
          </a:solidFill>
          <a:ln/>
        </p:spPr>
        <p:txBody>
          <a:bodyPr wrap="square" lIns="182880" tIns="45720" rIns="182880" bIns="45720" rtlCol="0" anchor="ctr"/>
          <a:lstStyle/>
          <a:p>
            <a:pPr marL="0" indent="0">
              <a:buNone/>
            </a:pPr>
            <a:r>
              <a:rPr lang="en-US" sz="1400" b="1" dirty="0">
                <a:solidFill>
                  <a:srgbClr val="FFFFFF"/>
                </a:solidFill>
                <a:latin typeface="Calibri"/>
              </a:rPr>
              <a:t>Why AKI class only for silhouette?</a:t>
            </a:r>
          </a:p>
        </p:txBody>
      </p:sp>
      <p:sp>
        <p:nvSpPr>
          <p:cNvPr id="10" name="sil_body"/>
          <p:cNvSpPr>
            <a:spLocks noGrp="1"/>
          </p:cNvSpPr>
          <p:nvPr/>
        </p:nvSpPr>
        <p:spPr>
          <a:xfrm>
            <a:off x="4700000" y="3045000"/>
            <a:ext cx="4216000" cy="730000"/>
          </a:xfrm>
          <a:prstGeom prst="rect">
            <a:avLst/>
          </a:prstGeom>
          <a:solidFill>
            <a:srgbClr val="E8F0FB"/>
          </a:solidFill>
          <a:ln/>
        </p:spPr>
        <p:txBody>
          <a:bodyPr wrap="square" lIns="182880" tIns="91440" rIns="182880" bIns="91440" rtlCol="0" anchor="t"/>
          <a:lstStyle/>
          <a:p>
            <a:pPr marL="0" indent="0">
              <a:buNone/>
            </a:pPr>
            <a:r>
              <a:rPr lang="en-US" sz="1000" b="0" dirty="0">
                <a:solidFill>
                  <a:srgbClr val="000000"/>
                </a:solidFill>
                <a:latin typeface="Calibri"/>
              </a:rPr>
              <a:t>Non-AKI class is large (88-95% of patients) and homogeneous — silhouette on it biases toward K driven by majority-class structure, not AKI subtype structure.</a:t>
            </a:r>
          </a:p>
          <a:p>
            <a:pPr marL="0" indent="0">
              <a:buNone/>
            </a:pPr>
            <a:r>
              <a:rPr lang="en-US" sz="800" b="0" dirty="0">
                <a:solidFill>
                  <a:srgbClr val="000000"/>
                </a:solidFill>
                <a:latin typeface="Calibri"/>
              </a:rPr>
              <a:t> </a:t>
            </a:r>
          </a:p>
          <a:p>
            <a:pPr marL="0" indent="0">
              <a:buNone/>
            </a:pPr>
            <a:r>
              <a:rPr lang="en-US" sz="1000" b="0" dirty="0">
                <a:solidFill>
                  <a:srgbClr val="000000"/>
                </a:solidFill>
                <a:latin typeface="Calibri"/>
              </a:rPr>
              <a:t>Result: K=2 selected for all sites — consistent with bimodal AKI structure in federated space (mild vs severe AKI). K=3 from v2.3 offline analysis was artefact of joint head-body training.</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5seed Comparison">
    <p:bg>
      <p:bgPr>
        <a:solidFill>
          <a:srgbClr val="FFFFFF"/>
        </a:solidFill>
        <a:effectLst/>
      </p:bgPr>
    </p:bg>
    <p:spTree>
      <p:nvGrpSpPr>
        <p:cNvPr id="1" name=""/>
        <p:cNvGrpSpPr/>
        <p:nvPr/>
      </p:nvGrpSpPr>
      <p:grpSpPr>
        <a:xfrm>
          <a:off x="0" y="0"/>
          <a:ext cx="0" cy="0"/>
          <a:chOff x="0" y="0"/>
          <a:chExt cx="0" cy="0"/>
        </a:xfrm>
      </p:grpSpPr>
      <p:sp>
        <p:nvSpPr>
          <p:cNvPr id="2" name="hdr"/>
          <p:cNvSpPr>
            <a:spLocks noGrp="1"/>
          </p:cNvSpPr>
          <p:nvPr/>
        </p:nvSpPr>
        <p:spPr>
          <a:xfrm>
            <a:off x="0" y="0"/>
            <a:ext cx="9144000" cy="400000"/>
          </a:xfrm>
          <a:prstGeom prst="rect">
            <a:avLst/>
          </a:prstGeom>
          <a:solidFill>
            <a:srgbClr val="1E3A5F"/>
          </a:solidFill>
          <a:ln/>
        </p:spPr>
        <p:txBody>
          <a:bodyPr wrap="square" lIns="182880" tIns="45720" rIns="182880" bIns="45720" rtlCol="0" anchor="ctr"/>
          <a:lstStyle/>
          <a:p>
            <a:pPr marL="0" indent="0">
              <a:buNone/>
            </a:pPr>
            <a:r>
              <a:rPr lang="en-US" sz="1600" b="1" dirty="0">
                <a:solidFill>
                  <a:srgbClr val="FFFFFF"/>
                </a:solidFill>
                <a:latin typeface="Calibri"/>
              </a:rPr>
              <a:t>FedAdaptProto: Local vs v2.3 (Manual K) vs v2.4 (Auto-K, 5 seeds)  —  alpha=0.3, gamma=0.75</a:t>
            </a:r>
          </a:p>
        </p:txBody>
      </p:sp>
      <p:sp>
        <p:nvSpPr>
          <p:cNvPr id="3" name="ch0"/>
          <p:cNvSpPr>
            <a:spLocks noGrp="1"/>
          </p:cNvSpPr>
          <p:nvPr/>
        </p:nvSpPr>
        <p:spPr>
          <a:xfrm>
            <a:off x="228600" y="430000"/>
            <a:ext cx="1650000" cy="210000"/>
          </a:xfrm>
          <a:prstGeom prst="rect">
            <a:avLst/>
          </a:prstGeom>
          <a:solidFill>
            <a:srgbClr val="2E6DA4"/>
          </a:solidFill>
          <a:ln/>
        </p:spPr>
        <p:txBody>
          <a:bodyPr wrap="square" lIns="91440" tIns="30000" rIns="91440" bIns="30000" rtlCol="0" anchor="ctr"/>
          <a:lstStyle/>
          <a:p>
            <a:pPr marL="0" indent="0">
              <a:buNone/>
            </a:pPr>
            <a:r>
              <a:rPr lang="en-US" sz="1050" b="1" dirty="0">
                <a:solidFill>
                  <a:srgbClr val="FFFFFF"/>
                </a:solidFill>
                <a:latin typeface="Calibri"/>
              </a:rPr>
              <a:t>Site</a:t>
            </a:r>
          </a:p>
        </p:txBody>
      </p:sp>
      <p:sp>
        <p:nvSpPr>
          <p:cNvPr id="4" name="ch1"/>
          <p:cNvSpPr>
            <a:spLocks noGrp="1"/>
          </p:cNvSpPr>
          <p:nvPr/>
        </p:nvSpPr>
        <p:spPr>
          <a:xfrm>
            <a:off x="1888600" y="430000"/>
            <a:ext cx="1200000" cy="210000"/>
          </a:xfrm>
          <a:prstGeom prst="rect">
            <a:avLst/>
          </a:prstGeom>
          <a:solidFill>
            <a:srgbClr val="2E6DA4"/>
          </a:solidFill>
          <a:ln/>
        </p:spPr>
        <p:txBody>
          <a:bodyPr wrap="square" lIns="91440" tIns="30000" rIns="91440" bIns="30000" rtlCol="0" anchor="ctr"/>
          <a:lstStyle/>
          <a:p>
            <a:pPr marL="0" indent="0">
              <a:buNone/>
            </a:pPr>
            <a:r>
              <a:rPr lang="en-US" sz="1050" b="1" dirty="0">
                <a:solidFill>
                  <a:srgbClr val="FFFFFF"/>
                </a:solidFill>
                <a:latin typeface="Calibri"/>
              </a:rPr>
              <a:t>Local AUROC</a:t>
            </a:r>
          </a:p>
        </p:txBody>
      </p:sp>
      <p:sp>
        <p:nvSpPr>
          <p:cNvPr id="5" name="ch2"/>
          <p:cNvSpPr>
            <a:spLocks noGrp="1"/>
          </p:cNvSpPr>
          <p:nvPr/>
        </p:nvSpPr>
        <p:spPr>
          <a:xfrm>
            <a:off x="3098600" y="430000"/>
            <a:ext cx="1350000" cy="210000"/>
          </a:xfrm>
          <a:prstGeom prst="rect">
            <a:avLst/>
          </a:prstGeom>
          <a:solidFill>
            <a:srgbClr val="2E6DA4"/>
          </a:solidFill>
          <a:ln/>
        </p:spPr>
        <p:txBody>
          <a:bodyPr wrap="square" lIns="91440" tIns="30000" rIns="91440" bIns="30000" rtlCol="0" anchor="ctr"/>
          <a:lstStyle/>
          <a:p>
            <a:pPr marL="0" indent="0">
              <a:buNone/>
            </a:pPr>
            <a:r>
              <a:rPr lang="en-US" sz="1050" b="1" dirty="0">
                <a:solidFill>
                  <a:srgbClr val="FFFFFF"/>
                </a:solidFill>
                <a:latin typeface="Calibri"/>
              </a:rPr>
              <a:t>v2.3 (1 run)</a:t>
            </a:r>
          </a:p>
        </p:txBody>
      </p:sp>
      <p:sp>
        <p:nvSpPr>
          <p:cNvPr id="6" name="ch3"/>
          <p:cNvSpPr>
            <a:spLocks noGrp="1"/>
          </p:cNvSpPr>
          <p:nvPr/>
        </p:nvSpPr>
        <p:spPr>
          <a:xfrm>
            <a:off x="4458600" y="430000"/>
            <a:ext cx="1900000" cy="210000"/>
          </a:xfrm>
          <a:prstGeom prst="rect">
            <a:avLst/>
          </a:prstGeom>
          <a:solidFill>
            <a:srgbClr val="2E6DA4"/>
          </a:solidFill>
          <a:ln/>
        </p:spPr>
        <p:txBody>
          <a:bodyPr wrap="square" lIns="91440" tIns="30000" rIns="91440" bIns="30000" rtlCol="0" anchor="ctr"/>
          <a:lstStyle/>
          <a:p>
            <a:pPr marL="0" indent="0">
              <a:buNone/>
            </a:pPr>
            <a:r>
              <a:rPr lang="en-US" sz="1050" b="1" dirty="0">
                <a:solidFill>
                  <a:srgbClr val="FFFFFF"/>
                </a:solidFill>
                <a:latin typeface="Calibri"/>
              </a:rPr>
              <a:t>v2.4 mean±std (5 seeds)</a:t>
            </a:r>
          </a:p>
        </p:txBody>
      </p:sp>
      <p:sp>
        <p:nvSpPr>
          <p:cNvPr id="7" name="ch4"/>
          <p:cNvSpPr>
            <a:spLocks noGrp="1"/>
          </p:cNvSpPr>
          <p:nvPr/>
        </p:nvSpPr>
        <p:spPr>
          <a:xfrm>
            <a:off x="6368600" y="430000"/>
            <a:ext cx="1100000" cy="210000"/>
          </a:xfrm>
          <a:prstGeom prst="rect">
            <a:avLst/>
          </a:prstGeom>
          <a:solidFill>
            <a:srgbClr val="2E6DA4"/>
          </a:solidFill>
          <a:ln/>
        </p:spPr>
        <p:txBody>
          <a:bodyPr wrap="square" lIns="91440" tIns="30000" rIns="91440" bIns="30000" rtlCol="0" anchor="ctr"/>
          <a:lstStyle/>
          <a:p>
            <a:pPr marL="0" indent="0">
              <a:buNone/>
            </a:pPr>
            <a:r>
              <a:rPr lang="en-US" sz="1050" b="1" dirty="0">
                <a:solidFill>
                  <a:srgbClr val="FFFFFF"/>
                </a:solidFill>
                <a:latin typeface="Calibri"/>
              </a:rPr>
              <a:t>v2.3 vs Local</a:t>
            </a:r>
          </a:p>
        </p:txBody>
      </p:sp>
      <p:sp>
        <p:nvSpPr>
          <p:cNvPr id="8" name="ch5"/>
          <p:cNvSpPr>
            <a:spLocks noGrp="1"/>
          </p:cNvSpPr>
          <p:nvPr/>
        </p:nvSpPr>
        <p:spPr>
          <a:xfrm>
            <a:off x="7478600" y="430000"/>
            <a:ext cx="1100000" cy="210000"/>
          </a:xfrm>
          <a:prstGeom prst="rect">
            <a:avLst/>
          </a:prstGeom>
          <a:solidFill>
            <a:srgbClr val="2E6DA4"/>
          </a:solidFill>
          <a:ln/>
        </p:spPr>
        <p:txBody>
          <a:bodyPr wrap="square" lIns="91440" tIns="30000" rIns="91440" bIns="30000" rtlCol="0" anchor="ctr"/>
          <a:lstStyle/>
          <a:p>
            <a:pPr marL="0" indent="0">
              <a:buNone/>
            </a:pPr>
            <a:r>
              <a:rPr lang="en-US" sz="1050" b="1" dirty="0">
                <a:solidFill>
                  <a:srgbClr val="FFFFFF"/>
                </a:solidFill>
                <a:latin typeface="Calibri"/>
              </a:rPr>
              <a:t>v2.4 vs Local</a:t>
            </a:r>
          </a:p>
        </p:txBody>
      </p:sp>
      <p:sp>
        <p:nvSpPr>
          <p:cNvPr id="9" name="r0s"/>
          <p:cNvSpPr>
            <a:spLocks noGrp="1"/>
          </p:cNvSpPr>
          <p:nvPr/>
        </p:nvSpPr>
        <p:spPr>
          <a:xfrm>
            <a:off x="228600" y="660000"/>
            <a:ext cx="1650000" cy="240000"/>
          </a:xfrm>
          <a:prstGeom prst="rect">
            <a:avLst/>
          </a:prstGeom>
          <a:solidFill>
            <a:srgbClr val="F0F4FA"/>
          </a:solidFill>
          <a:ln/>
        </p:spPr>
        <p:txBody>
          <a:bodyPr wrap="square" lIns="91440" tIns="30000" rIns="91440" bIns="30000" rtlCol="0" anchor="ctr"/>
          <a:lstStyle/>
          <a:p>
            <a:pPr marL="0" indent="0">
              <a:buNone/>
            </a:pPr>
            <a:r>
              <a:rPr lang="en-US" sz="980" b="0" dirty="0">
                <a:solidFill>
                  <a:srgbClr val="000000"/>
                </a:solidFill>
                <a:latin typeface="Calibri"/>
              </a:rPr>
              <a:t>site_A  ICU (AKI 23.4%)</a:t>
            </a:r>
          </a:p>
        </p:txBody>
      </p:sp>
      <p:sp>
        <p:nvSpPr>
          <p:cNvPr id="10" name="r0l"/>
          <p:cNvSpPr>
            <a:spLocks noGrp="1"/>
          </p:cNvSpPr>
          <p:nvPr/>
        </p:nvSpPr>
        <p:spPr>
          <a:xfrm>
            <a:off x="1888600" y="660000"/>
            <a:ext cx="1200000" cy="240000"/>
          </a:xfrm>
          <a:prstGeom prst="rect">
            <a:avLst/>
          </a:prstGeom>
          <a:solidFill>
            <a:srgbClr val="F0F4FA"/>
          </a:solidFill>
          <a:ln/>
        </p:spPr>
        <p:txBody>
          <a:bodyPr wrap="square" lIns="91440" tIns="30000" rIns="91440" bIns="30000" rtlCol="0" anchor="ctr"/>
          <a:lstStyle/>
          <a:p>
            <a:pPr marL="0" indent="0">
              <a:buNone/>
            </a:pPr>
            <a:r>
              <a:rPr lang="en-US" sz="1050" b="1" dirty="0">
                <a:solidFill>
                  <a:srgbClr val="000000"/>
                </a:solidFill>
                <a:latin typeface="Calibri"/>
              </a:rPr>
              <a:t>0.9719</a:t>
            </a:r>
          </a:p>
        </p:txBody>
      </p:sp>
      <p:sp>
        <p:nvSpPr>
          <p:cNvPr id="11" name="r023"/>
          <p:cNvSpPr>
            <a:spLocks noGrp="1"/>
          </p:cNvSpPr>
          <p:nvPr/>
        </p:nvSpPr>
        <p:spPr>
          <a:xfrm>
            <a:off x="3098600" y="660000"/>
            <a:ext cx="1350000" cy="240000"/>
          </a:xfrm>
          <a:prstGeom prst="rect">
            <a:avLst/>
          </a:prstGeom>
          <a:solidFill>
            <a:srgbClr val="F0F4FA"/>
          </a:solidFill>
          <a:ln/>
        </p:spPr>
        <p:txBody>
          <a:bodyPr wrap="square" lIns="91440" tIns="30000" rIns="91440" bIns="30000" rtlCol="0" anchor="ctr"/>
          <a:lstStyle/>
          <a:p>
            <a:pPr marL="0" indent="0">
              <a:buNone/>
            </a:pPr>
            <a:r>
              <a:rPr lang="en-US" sz="1050" b="1" dirty="0">
                <a:solidFill>
                  <a:srgbClr val="000000"/>
                </a:solidFill>
                <a:latin typeface="Calibri"/>
              </a:rPr>
              <a:t>0.9418</a:t>
            </a:r>
          </a:p>
        </p:txBody>
      </p:sp>
      <p:sp>
        <p:nvSpPr>
          <p:cNvPr id="12" name="r024"/>
          <p:cNvSpPr>
            <a:spLocks noGrp="1"/>
          </p:cNvSpPr>
          <p:nvPr/>
        </p:nvSpPr>
        <p:spPr>
          <a:xfrm>
            <a:off x="4458600" y="660000"/>
            <a:ext cx="1900000" cy="240000"/>
          </a:xfrm>
          <a:prstGeom prst="rect">
            <a:avLst/>
          </a:prstGeom>
          <a:solidFill>
            <a:srgbClr val="F0F4FA"/>
          </a:solidFill>
          <a:ln/>
        </p:spPr>
        <p:txBody>
          <a:bodyPr wrap="square" lIns="91440" tIns="30000" rIns="91440" bIns="30000" rtlCol="0" anchor="ctr"/>
          <a:lstStyle/>
          <a:p>
            <a:pPr marL="0" indent="0">
              <a:buNone/>
            </a:pPr>
            <a:r>
              <a:rPr lang="en-US" sz="1000" b="0" dirty="0">
                <a:solidFill>
                  <a:srgbClr val="000000"/>
                </a:solidFill>
                <a:latin typeface="Calibri"/>
              </a:rPr>
              <a:t>0.9704 +/- 0.0021</a:t>
            </a:r>
          </a:p>
        </p:txBody>
      </p:sp>
      <p:sp>
        <p:nvSpPr>
          <p:cNvPr id="13" name="r0d23"/>
          <p:cNvSpPr>
            <a:spLocks noGrp="1"/>
          </p:cNvSpPr>
          <p:nvPr/>
        </p:nvSpPr>
        <p:spPr>
          <a:xfrm>
            <a:off x="6368600" y="660000"/>
            <a:ext cx="1100000" cy="240000"/>
          </a:xfrm>
          <a:prstGeom prst="rect">
            <a:avLst/>
          </a:prstGeom>
          <a:solidFill>
            <a:srgbClr val="F0F4FA"/>
          </a:solidFill>
          <a:ln/>
        </p:spPr>
        <p:txBody>
          <a:bodyPr wrap="square" lIns="91440" tIns="30000" rIns="91440" bIns="30000" rtlCol="0" anchor="ctr"/>
          <a:lstStyle/>
          <a:p>
            <a:pPr marL="0" indent="0">
              <a:buNone/>
            </a:pPr>
            <a:r>
              <a:rPr lang="en-US" sz="1050" b="1" dirty="0">
                <a:solidFill>
                  <a:srgbClr val="888780"/>
                </a:solidFill>
                <a:latin typeface="Calibri"/>
              </a:rPr>
              <a:t>-0.030</a:t>
            </a:r>
          </a:p>
        </p:txBody>
      </p:sp>
      <p:sp>
        <p:nvSpPr>
          <p:cNvPr id="14" name="r0d24"/>
          <p:cNvSpPr>
            <a:spLocks noGrp="1"/>
          </p:cNvSpPr>
          <p:nvPr/>
        </p:nvSpPr>
        <p:spPr>
          <a:xfrm>
            <a:off x="7478600" y="660000"/>
            <a:ext cx="1100000" cy="240000"/>
          </a:xfrm>
          <a:prstGeom prst="rect">
            <a:avLst/>
          </a:prstGeom>
          <a:solidFill>
            <a:srgbClr val="F0F4FA"/>
          </a:solidFill>
          <a:ln/>
        </p:spPr>
        <p:txBody>
          <a:bodyPr wrap="square" lIns="91440" tIns="30000" rIns="91440" bIns="30000" rtlCol="0" anchor="ctr"/>
          <a:lstStyle/>
          <a:p>
            <a:pPr marL="0" indent="0">
              <a:buNone/>
            </a:pPr>
            <a:r>
              <a:rPr lang="en-US" sz="1050" b="1" dirty="0">
                <a:solidFill>
                  <a:srgbClr val="1D6B3E"/>
                </a:solidFill>
                <a:latin typeface="Calibri"/>
              </a:rPr>
              <a:t>+0.003</a:t>
            </a:r>
          </a:p>
        </p:txBody>
      </p:sp>
      <p:sp>
        <p:nvSpPr>
          <p:cNvPr id="16" name="r1s"/>
          <p:cNvSpPr>
            <a:spLocks noGrp="1"/>
          </p:cNvSpPr>
          <p:nvPr/>
        </p:nvSpPr>
        <p:spPr>
          <a:xfrm>
            <a:off x="228600" y="920000"/>
            <a:ext cx="1650000" cy="240000"/>
          </a:xfrm>
          <a:prstGeom prst="rect">
            <a:avLst/>
          </a:prstGeom>
          <a:solidFill>
            <a:srgbClr val="F8F8F8"/>
          </a:solidFill>
          <a:ln/>
        </p:spPr>
        <p:txBody>
          <a:bodyPr wrap="square" lIns="91440" tIns="30000" rIns="91440" bIns="30000" rtlCol="0" anchor="ctr"/>
          <a:lstStyle/>
          <a:p>
            <a:pPr marL="0" indent="0">
              <a:buNone/>
            </a:pPr>
            <a:r>
              <a:rPr lang="en-US" sz="980" b="0" dirty="0">
                <a:solidFill>
                  <a:srgbClr val="000000"/>
                </a:solidFill>
                <a:latin typeface="Calibri"/>
              </a:rPr>
              <a:t>site_B  Ward (AKI 11.3%)</a:t>
            </a:r>
          </a:p>
        </p:txBody>
      </p:sp>
      <p:sp>
        <p:nvSpPr>
          <p:cNvPr id="17" name="r1l"/>
          <p:cNvSpPr>
            <a:spLocks noGrp="1"/>
          </p:cNvSpPr>
          <p:nvPr/>
        </p:nvSpPr>
        <p:spPr>
          <a:xfrm>
            <a:off x="1888600" y="920000"/>
            <a:ext cx="1200000" cy="240000"/>
          </a:xfrm>
          <a:prstGeom prst="rect">
            <a:avLst/>
          </a:prstGeom>
          <a:solidFill>
            <a:srgbClr val="F8F8F8"/>
          </a:solidFill>
          <a:ln/>
        </p:spPr>
        <p:txBody>
          <a:bodyPr wrap="square" lIns="91440" tIns="30000" rIns="91440" bIns="30000" rtlCol="0" anchor="ctr"/>
          <a:lstStyle/>
          <a:p>
            <a:pPr marL="0" indent="0">
              <a:buNone/>
            </a:pPr>
            <a:r>
              <a:rPr lang="en-US" sz="1050" b="1" dirty="0">
                <a:solidFill>
                  <a:srgbClr val="000000"/>
                </a:solidFill>
                <a:latin typeface="Calibri"/>
              </a:rPr>
              <a:t>0.9106</a:t>
            </a:r>
          </a:p>
        </p:txBody>
      </p:sp>
      <p:sp>
        <p:nvSpPr>
          <p:cNvPr id="18" name="r123"/>
          <p:cNvSpPr>
            <a:spLocks noGrp="1"/>
          </p:cNvSpPr>
          <p:nvPr/>
        </p:nvSpPr>
        <p:spPr>
          <a:xfrm>
            <a:off x="3098600" y="920000"/>
            <a:ext cx="1350000" cy="240000"/>
          </a:xfrm>
          <a:prstGeom prst="rect">
            <a:avLst/>
          </a:prstGeom>
          <a:solidFill>
            <a:srgbClr val="F8F8F8"/>
          </a:solidFill>
          <a:ln/>
        </p:spPr>
        <p:txBody>
          <a:bodyPr wrap="square" lIns="91440" tIns="30000" rIns="91440" bIns="30000" rtlCol="0" anchor="ctr"/>
          <a:lstStyle/>
          <a:p>
            <a:pPr marL="0" indent="0">
              <a:buNone/>
            </a:pPr>
            <a:r>
              <a:rPr lang="en-US" sz="1050" b="1" dirty="0">
                <a:solidFill>
                  <a:srgbClr val="000000"/>
                </a:solidFill>
                <a:latin typeface="Calibri"/>
              </a:rPr>
              <a:t>0.9334</a:t>
            </a:r>
          </a:p>
        </p:txBody>
      </p:sp>
      <p:sp>
        <p:nvSpPr>
          <p:cNvPr id="19" name="r124"/>
          <p:cNvSpPr>
            <a:spLocks noGrp="1"/>
          </p:cNvSpPr>
          <p:nvPr/>
        </p:nvSpPr>
        <p:spPr>
          <a:xfrm>
            <a:off x="4458600" y="920000"/>
            <a:ext cx="1900000" cy="240000"/>
          </a:xfrm>
          <a:prstGeom prst="rect">
            <a:avLst/>
          </a:prstGeom>
          <a:solidFill>
            <a:srgbClr val="F8F8F8"/>
          </a:solidFill>
          <a:ln/>
        </p:spPr>
        <p:txBody>
          <a:bodyPr wrap="square" lIns="91440" tIns="30000" rIns="91440" bIns="30000" rtlCol="0" anchor="ctr"/>
          <a:lstStyle/>
          <a:p>
            <a:pPr marL="0" indent="0">
              <a:buNone/>
            </a:pPr>
            <a:r>
              <a:rPr lang="en-US" sz="1000" b="0" dirty="0">
                <a:solidFill>
                  <a:srgbClr val="000000"/>
                </a:solidFill>
                <a:latin typeface="Calibri"/>
              </a:rPr>
              <a:t>0.9192 +/- 0.0119</a:t>
            </a:r>
          </a:p>
        </p:txBody>
      </p:sp>
      <p:sp>
        <p:nvSpPr>
          <p:cNvPr id="20" name="r1d23"/>
          <p:cNvSpPr>
            <a:spLocks noGrp="1"/>
          </p:cNvSpPr>
          <p:nvPr/>
        </p:nvSpPr>
        <p:spPr>
          <a:xfrm>
            <a:off x="6368600" y="920000"/>
            <a:ext cx="1100000" cy="240000"/>
          </a:xfrm>
          <a:prstGeom prst="rect">
            <a:avLst/>
          </a:prstGeom>
          <a:solidFill>
            <a:srgbClr val="F8F8F8"/>
          </a:solidFill>
          <a:ln/>
        </p:spPr>
        <p:txBody>
          <a:bodyPr wrap="square" lIns="91440" tIns="30000" rIns="91440" bIns="30000" rtlCol="0" anchor="ctr"/>
          <a:lstStyle/>
          <a:p>
            <a:pPr marL="0" indent="0">
              <a:buNone/>
            </a:pPr>
            <a:r>
              <a:rPr lang="en-US" sz="1050" b="1" dirty="0">
                <a:solidFill>
                  <a:srgbClr val="1D6B3E"/>
                </a:solidFill>
                <a:latin typeface="Calibri"/>
              </a:rPr>
              <a:t>+0.023</a:t>
            </a:r>
          </a:p>
        </p:txBody>
      </p:sp>
      <p:sp>
        <p:nvSpPr>
          <p:cNvPr id="21" name="r1d24"/>
          <p:cNvSpPr>
            <a:spLocks noGrp="1"/>
          </p:cNvSpPr>
          <p:nvPr/>
        </p:nvSpPr>
        <p:spPr>
          <a:xfrm>
            <a:off x="7478600" y="920000"/>
            <a:ext cx="1100000" cy="240000"/>
          </a:xfrm>
          <a:prstGeom prst="rect">
            <a:avLst/>
          </a:prstGeom>
          <a:solidFill>
            <a:srgbClr val="F8F8F8"/>
          </a:solidFill>
          <a:ln/>
        </p:spPr>
        <p:txBody>
          <a:bodyPr wrap="square" lIns="91440" tIns="30000" rIns="91440" bIns="30000" rtlCol="0" anchor="ctr"/>
          <a:lstStyle/>
          <a:p>
            <a:pPr marL="0" indent="0">
              <a:buNone/>
            </a:pPr>
            <a:r>
              <a:rPr lang="en-US" sz="1050" b="1" dirty="0">
                <a:solidFill>
                  <a:srgbClr val="C0392B"/>
                </a:solidFill>
                <a:latin typeface="Calibri"/>
              </a:rPr>
              <a:t>-0.026</a:t>
            </a:r>
          </a:p>
        </p:txBody>
      </p:sp>
      <p:sp>
        <p:nvSpPr>
          <p:cNvPr id="23" name="r2s"/>
          <p:cNvSpPr>
            <a:spLocks noGrp="1"/>
          </p:cNvSpPr>
          <p:nvPr/>
        </p:nvSpPr>
        <p:spPr>
          <a:xfrm>
            <a:off x="228600" y="1180000"/>
            <a:ext cx="1650000" cy="240000"/>
          </a:xfrm>
          <a:prstGeom prst="rect">
            <a:avLst/>
          </a:prstGeom>
          <a:solidFill>
            <a:srgbClr val="F0F4FA"/>
          </a:solidFill>
          <a:ln/>
        </p:spPr>
        <p:txBody>
          <a:bodyPr wrap="square" lIns="91440" tIns="30000" rIns="91440" bIns="30000" rtlCol="0" anchor="ctr"/>
          <a:lstStyle/>
          <a:p>
            <a:pPr marL="0" indent="0">
              <a:buNone/>
            </a:pPr>
            <a:r>
              <a:rPr lang="en-US" sz="980" b="0" dirty="0">
                <a:solidFill>
                  <a:srgbClr val="000000"/>
                </a:solidFill>
                <a:latin typeface="Calibri"/>
              </a:rPr>
              <a:t>site_C  Anchor (AKI 9.0%)</a:t>
            </a:r>
          </a:p>
        </p:txBody>
      </p:sp>
      <p:sp>
        <p:nvSpPr>
          <p:cNvPr id="24" name="r2l"/>
          <p:cNvSpPr>
            <a:spLocks noGrp="1"/>
          </p:cNvSpPr>
          <p:nvPr/>
        </p:nvSpPr>
        <p:spPr>
          <a:xfrm>
            <a:off x="1888600" y="1180000"/>
            <a:ext cx="1200000" cy="240000"/>
          </a:xfrm>
          <a:prstGeom prst="rect">
            <a:avLst/>
          </a:prstGeom>
          <a:solidFill>
            <a:srgbClr val="F0F4FA"/>
          </a:solidFill>
          <a:ln/>
        </p:spPr>
        <p:txBody>
          <a:bodyPr wrap="square" lIns="91440" tIns="30000" rIns="91440" bIns="30000" rtlCol="0" anchor="ctr"/>
          <a:lstStyle/>
          <a:p>
            <a:pPr marL="0" indent="0">
              <a:buNone/>
            </a:pPr>
            <a:r>
              <a:rPr lang="en-US" sz="1050" b="1" dirty="0">
                <a:solidFill>
                  <a:srgbClr val="000000"/>
                </a:solidFill>
                <a:latin typeface="Calibri"/>
              </a:rPr>
              <a:t>0.8831</a:t>
            </a:r>
          </a:p>
        </p:txBody>
      </p:sp>
      <p:sp>
        <p:nvSpPr>
          <p:cNvPr id="25" name="r223"/>
          <p:cNvSpPr>
            <a:spLocks noGrp="1"/>
          </p:cNvSpPr>
          <p:nvPr/>
        </p:nvSpPr>
        <p:spPr>
          <a:xfrm>
            <a:off x="3098600" y="1180000"/>
            <a:ext cx="1350000" cy="240000"/>
          </a:xfrm>
          <a:prstGeom prst="rect">
            <a:avLst/>
          </a:prstGeom>
          <a:solidFill>
            <a:srgbClr val="F0F4FA"/>
          </a:solidFill>
          <a:ln/>
        </p:spPr>
        <p:txBody>
          <a:bodyPr wrap="square" lIns="91440" tIns="30000" rIns="91440" bIns="30000" rtlCol="0" anchor="ctr"/>
          <a:lstStyle/>
          <a:p>
            <a:pPr marL="0" indent="0">
              <a:buNone/>
            </a:pPr>
            <a:r>
              <a:rPr lang="en-US" sz="1050" b="1" dirty="0">
                <a:solidFill>
                  <a:srgbClr val="000000"/>
                </a:solidFill>
                <a:latin typeface="Calibri"/>
              </a:rPr>
              <a:t>0.8724</a:t>
            </a:r>
          </a:p>
        </p:txBody>
      </p:sp>
      <p:sp>
        <p:nvSpPr>
          <p:cNvPr id="26" name="r224"/>
          <p:cNvSpPr>
            <a:spLocks noGrp="1"/>
          </p:cNvSpPr>
          <p:nvPr/>
        </p:nvSpPr>
        <p:spPr>
          <a:xfrm>
            <a:off x="4458600" y="1180000"/>
            <a:ext cx="1900000" cy="240000"/>
          </a:xfrm>
          <a:prstGeom prst="rect">
            <a:avLst/>
          </a:prstGeom>
          <a:solidFill>
            <a:srgbClr val="F0F4FA"/>
          </a:solidFill>
          <a:ln/>
        </p:spPr>
        <p:txBody>
          <a:bodyPr wrap="square" lIns="91440" tIns="30000" rIns="91440" bIns="30000" rtlCol="0" anchor="ctr"/>
          <a:lstStyle/>
          <a:p>
            <a:pPr marL="0" indent="0">
              <a:buNone/>
            </a:pPr>
            <a:r>
              <a:rPr lang="en-US" sz="1000" b="0" dirty="0">
                <a:solidFill>
                  <a:srgbClr val="000000"/>
                </a:solidFill>
                <a:latin typeface="Calibri"/>
              </a:rPr>
              <a:t>0.8904 +/- 0.0180</a:t>
            </a:r>
          </a:p>
        </p:txBody>
      </p:sp>
      <p:sp>
        <p:nvSpPr>
          <p:cNvPr id="27" name="r2d23"/>
          <p:cNvSpPr>
            <a:spLocks noGrp="1"/>
          </p:cNvSpPr>
          <p:nvPr/>
        </p:nvSpPr>
        <p:spPr>
          <a:xfrm>
            <a:off x="6368600" y="1180000"/>
            <a:ext cx="1100000" cy="240000"/>
          </a:xfrm>
          <a:prstGeom prst="rect">
            <a:avLst/>
          </a:prstGeom>
          <a:solidFill>
            <a:srgbClr val="F0F4FA"/>
          </a:solidFill>
          <a:ln/>
        </p:spPr>
        <p:txBody>
          <a:bodyPr wrap="square" lIns="91440" tIns="30000" rIns="91440" bIns="30000" rtlCol="0" anchor="ctr"/>
          <a:lstStyle/>
          <a:p>
            <a:pPr marL="0" indent="0">
              <a:buNone/>
            </a:pPr>
            <a:r>
              <a:rPr lang="en-US" sz="1050" b="1" dirty="0">
                <a:solidFill>
                  <a:srgbClr val="888780"/>
                </a:solidFill>
                <a:latin typeface="Calibri"/>
              </a:rPr>
              <a:t>-0.011</a:t>
            </a:r>
          </a:p>
        </p:txBody>
      </p:sp>
      <p:sp>
        <p:nvSpPr>
          <p:cNvPr id="28" name="r2d24"/>
          <p:cNvSpPr>
            <a:spLocks noGrp="1"/>
          </p:cNvSpPr>
          <p:nvPr/>
        </p:nvSpPr>
        <p:spPr>
          <a:xfrm>
            <a:off x="7478600" y="1180000"/>
            <a:ext cx="1100000" cy="240000"/>
          </a:xfrm>
          <a:prstGeom prst="rect">
            <a:avLst/>
          </a:prstGeom>
          <a:solidFill>
            <a:srgbClr val="F0F4FA"/>
          </a:solidFill>
          <a:ln/>
        </p:spPr>
        <p:txBody>
          <a:bodyPr wrap="square" lIns="91440" tIns="30000" rIns="91440" bIns="30000" rtlCol="0" anchor="ctr"/>
          <a:lstStyle/>
          <a:p>
            <a:pPr marL="0" indent="0">
              <a:buNone/>
            </a:pPr>
            <a:r>
              <a:rPr lang="en-US" sz="1050" b="1" dirty="0">
                <a:solidFill>
                  <a:srgbClr val="C0392B"/>
                </a:solidFill>
                <a:latin typeface="Calibri"/>
              </a:rPr>
              <a:t>-0.053</a:t>
            </a:r>
          </a:p>
        </p:txBody>
      </p:sp>
      <p:sp>
        <p:nvSpPr>
          <p:cNvPr id="30" name="r3s"/>
          <p:cNvSpPr>
            <a:spLocks noGrp="1"/>
          </p:cNvSpPr>
          <p:nvPr/>
        </p:nvSpPr>
        <p:spPr>
          <a:xfrm>
            <a:off x="228600" y="1440000"/>
            <a:ext cx="1650000" cy="240000"/>
          </a:xfrm>
          <a:prstGeom prst="rect">
            <a:avLst/>
          </a:prstGeom>
          <a:solidFill>
            <a:srgbClr val="FFF8F0"/>
          </a:solidFill>
          <a:ln/>
        </p:spPr>
        <p:txBody>
          <a:bodyPr wrap="square" lIns="91440" tIns="30000" rIns="91440" bIns="30000" rtlCol="0" anchor="ctr"/>
          <a:lstStyle/>
          <a:p>
            <a:pPr marL="0" indent="0">
              <a:buNone/>
            </a:pPr>
            <a:r>
              <a:rPr lang="en-US" sz="980" b="0" dirty="0">
                <a:solidFill>
                  <a:srgbClr val="000000"/>
                </a:solidFill>
                <a:latin typeface="Calibri"/>
              </a:rPr>
              <a:t>site_D  Community (AKI 7.5%)</a:t>
            </a:r>
          </a:p>
        </p:txBody>
      </p:sp>
      <p:sp>
        <p:nvSpPr>
          <p:cNvPr id="31" name="r3l"/>
          <p:cNvSpPr>
            <a:spLocks noGrp="1"/>
          </p:cNvSpPr>
          <p:nvPr/>
        </p:nvSpPr>
        <p:spPr>
          <a:xfrm>
            <a:off x="1888600" y="1440000"/>
            <a:ext cx="1200000" cy="240000"/>
          </a:xfrm>
          <a:prstGeom prst="rect">
            <a:avLst/>
          </a:prstGeom>
          <a:solidFill>
            <a:srgbClr val="FFF8F0"/>
          </a:solidFill>
          <a:ln/>
        </p:spPr>
        <p:txBody>
          <a:bodyPr wrap="square" lIns="91440" tIns="30000" rIns="91440" bIns="30000" rtlCol="0" anchor="ctr"/>
          <a:lstStyle/>
          <a:p>
            <a:pPr marL="0" indent="0">
              <a:buNone/>
            </a:pPr>
            <a:r>
              <a:rPr lang="en-US" sz="1050" b="1" dirty="0">
                <a:solidFill>
                  <a:srgbClr val="000000"/>
                </a:solidFill>
                <a:latin typeface="Calibri"/>
              </a:rPr>
              <a:t>0.7801</a:t>
            </a:r>
          </a:p>
        </p:txBody>
      </p:sp>
      <p:sp>
        <p:nvSpPr>
          <p:cNvPr id="32" name="r323"/>
          <p:cNvSpPr>
            <a:spLocks noGrp="1"/>
          </p:cNvSpPr>
          <p:nvPr/>
        </p:nvSpPr>
        <p:spPr>
          <a:xfrm>
            <a:off x="3098600" y="1440000"/>
            <a:ext cx="1350000" cy="240000"/>
          </a:xfrm>
          <a:prstGeom prst="rect">
            <a:avLst/>
          </a:prstGeom>
          <a:solidFill>
            <a:srgbClr val="FFF8F0"/>
          </a:solidFill>
          <a:ln/>
        </p:spPr>
        <p:txBody>
          <a:bodyPr wrap="square" lIns="91440" tIns="30000" rIns="91440" bIns="30000" rtlCol="0" anchor="ctr"/>
          <a:lstStyle/>
          <a:p>
            <a:pPr marL="0" indent="0">
              <a:buNone/>
            </a:pPr>
            <a:r>
              <a:rPr lang="en-US" sz="1050" b="1" dirty="0">
                <a:solidFill>
                  <a:srgbClr val="000000"/>
                </a:solidFill>
                <a:latin typeface="Calibri"/>
              </a:rPr>
              <a:t>0.8328</a:t>
            </a:r>
          </a:p>
        </p:txBody>
      </p:sp>
      <p:sp>
        <p:nvSpPr>
          <p:cNvPr id="33" name="r324"/>
          <p:cNvSpPr>
            <a:spLocks noGrp="1"/>
          </p:cNvSpPr>
          <p:nvPr/>
        </p:nvSpPr>
        <p:spPr>
          <a:xfrm>
            <a:off x="4458600" y="1440000"/>
            <a:ext cx="1900000" cy="240000"/>
          </a:xfrm>
          <a:prstGeom prst="rect">
            <a:avLst/>
          </a:prstGeom>
          <a:solidFill>
            <a:srgbClr val="FFF8F0"/>
          </a:solidFill>
          <a:ln/>
        </p:spPr>
        <p:txBody>
          <a:bodyPr wrap="square" lIns="91440" tIns="30000" rIns="91440" bIns="30000" rtlCol="0" anchor="ctr"/>
          <a:lstStyle/>
          <a:p>
            <a:pPr marL="0" indent="0">
              <a:buNone/>
            </a:pPr>
            <a:r>
              <a:rPr lang="en-US" sz="1000" b="0" dirty="0">
                <a:solidFill>
                  <a:srgbClr val="000000"/>
                </a:solidFill>
                <a:latin typeface="Calibri"/>
              </a:rPr>
              <a:t>0.8223 +/- 0.0085</a:t>
            </a:r>
          </a:p>
        </p:txBody>
      </p:sp>
      <p:sp>
        <p:nvSpPr>
          <p:cNvPr id="34" name="r3d23"/>
          <p:cNvSpPr>
            <a:spLocks noGrp="1"/>
          </p:cNvSpPr>
          <p:nvPr/>
        </p:nvSpPr>
        <p:spPr>
          <a:xfrm>
            <a:off x="6368600" y="1440000"/>
            <a:ext cx="1100000" cy="240000"/>
          </a:xfrm>
          <a:prstGeom prst="rect">
            <a:avLst/>
          </a:prstGeom>
          <a:solidFill>
            <a:srgbClr val="FFF8F0"/>
          </a:solidFill>
          <a:ln/>
        </p:spPr>
        <p:txBody>
          <a:bodyPr wrap="square" lIns="91440" tIns="30000" rIns="91440" bIns="30000" rtlCol="0" anchor="ctr"/>
          <a:lstStyle/>
          <a:p>
            <a:pPr marL="0" indent="0">
              <a:buNone/>
            </a:pPr>
            <a:r>
              <a:rPr lang="en-US" sz="1050" b="1" dirty="0">
                <a:solidFill>
                  <a:srgbClr val="1D6B3E"/>
                </a:solidFill>
                <a:latin typeface="Calibri"/>
              </a:rPr>
              <a:t>+0.053</a:t>
            </a:r>
          </a:p>
        </p:txBody>
      </p:sp>
      <p:sp>
        <p:nvSpPr>
          <p:cNvPr id="35" name="r3d24"/>
          <p:cNvSpPr>
            <a:spLocks noGrp="1"/>
          </p:cNvSpPr>
          <p:nvPr/>
        </p:nvSpPr>
        <p:spPr>
          <a:xfrm>
            <a:off x="7478600" y="1440000"/>
            <a:ext cx="1100000" cy="240000"/>
          </a:xfrm>
          <a:prstGeom prst="rect">
            <a:avLst/>
          </a:prstGeom>
          <a:solidFill>
            <a:srgbClr val="FFF8F0"/>
          </a:solidFill>
          <a:ln/>
        </p:spPr>
        <p:txBody>
          <a:bodyPr wrap="square" lIns="91440" tIns="30000" rIns="91440" bIns="30000" rtlCol="0" anchor="ctr"/>
          <a:lstStyle/>
          <a:p>
            <a:pPr marL="0" indent="0">
              <a:buNone/>
            </a:pPr>
            <a:r>
              <a:rPr lang="en-US" sz="1050" b="1" dirty="0">
                <a:solidFill>
                  <a:srgbClr val="C0392B"/>
                </a:solidFill>
                <a:latin typeface="Calibri"/>
              </a:rPr>
              <a:t>-0.027</a:t>
            </a:r>
          </a:p>
        </p:txBody>
      </p:sp>
      <p:sp>
        <p:nvSpPr>
          <p:cNvPr id="37" name="r4s"/>
          <p:cNvSpPr>
            <a:spLocks noGrp="1"/>
          </p:cNvSpPr>
          <p:nvPr/>
        </p:nvSpPr>
        <p:spPr>
          <a:xfrm>
            <a:off x="228600" y="1700000"/>
            <a:ext cx="1650000" cy="240000"/>
          </a:xfrm>
          <a:prstGeom prst="rect">
            <a:avLst/>
          </a:prstGeom>
          <a:solidFill>
            <a:srgbClr val="F0F4FA"/>
          </a:solidFill>
          <a:ln/>
        </p:spPr>
        <p:txBody>
          <a:bodyPr wrap="square" lIns="91440" tIns="30000" rIns="91440" bIns="30000" rtlCol="0" anchor="ctr"/>
          <a:lstStyle/>
          <a:p>
            <a:pPr marL="0" indent="0">
              <a:buNone/>
            </a:pPr>
            <a:r>
              <a:rPr lang="en-US" sz="980" b="0" dirty="0">
                <a:solidFill>
                  <a:srgbClr val="000000"/>
                </a:solidFill>
                <a:latin typeface="Calibri"/>
              </a:rPr>
              <a:t>site_E  Rural (AKI 5.2%)</a:t>
            </a:r>
          </a:p>
        </p:txBody>
      </p:sp>
      <p:sp>
        <p:nvSpPr>
          <p:cNvPr id="38" name="r4l"/>
          <p:cNvSpPr>
            <a:spLocks noGrp="1"/>
          </p:cNvSpPr>
          <p:nvPr/>
        </p:nvSpPr>
        <p:spPr>
          <a:xfrm>
            <a:off x="1888600" y="1700000"/>
            <a:ext cx="1200000" cy="240000"/>
          </a:xfrm>
          <a:prstGeom prst="rect">
            <a:avLst/>
          </a:prstGeom>
          <a:solidFill>
            <a:srgbClr val="F0F4FA"/>
          </a:solidFill>
          <a:ln/>
        </p:spPr>
        <p:txBody>
          <a:bodyPr wrap="square" lIns="91440" tIns="30000" rIns="91440" bIns="30000" rtlCol="0" anchor="ctr"/>
          <a:lstStyle/>
          <a:p>
            <a:pPr marL="0" indent="0">
              <a:buNone/>
            </a:pPr>
            <a:r>
              <a:rPr lang="en-US" sz="1050" b="1" dirty="0">
                <a:solidFill>
                  <a:srgbClr val="000000"/>
                </a:solidFill>
                <a:latin typeface="Calibri"/>
              </a:rPr>
              <a:t>0.8590</a:t>
            </a:r>
          </a:p>
        </p:txBody>
      </p:sp>
      <p:sp>
        <p:nvSpPr>
          <p:cNvPr id="39" name="r423"/>
          <p:cNvSpPr>
            <a:spLocks noGrp="1"/>
          </p:cNvSpPr>
          <p:nvPr/>
        </p:nvSpPr>
        <p:spPr>
          <a:xfrm>
            <a:off x="3098600" y="1700000"/>
            <a:ext cx="1350000" cy="240000"/>
          </a:xfrm>
          <a:prstGeom prst="rect">
            <a:avLst/>
          </a:prstGeom>
          <a:solidFill>
            <a:srgbClr val="F0F4FA"/>
          </a:solidFill>
          <a:ln/>
        </p:spPr>
        <p:txBody>
          <a:bodyPr wrap="square" lIns="91440" tIns="30000" rIns="91440" bIns="30000" rtlCol="0" anchor="ctr"/>
          <a:lstStyle/>
          <a:p>
            <a:pPr marL="0" indent="0">
              <a:buNone/>
            </a:pPr>
            <a:r>
              <a:rPr lang="en-US" sz="1050" b="1" dirty="0">
                <a:solidFill>
                  <a:srgbClr val="000000"/>
                </a:solidFill>
                <a:latin typeface="Calibri"/>
              </a:rPr>
              <a:t>0.8943</a:t>
            </a:r>
          </a:p>
        </p:txBody>
      </p:sp>
      <p:sp>
        <p:nvSpPr>
          <p:cNvPr id="40" name="r424"/>
          <p:cNvSpPr>
            <a:spLocks noGrp="1"/>
          </p:cNvSpPr>
          <p:nvPr/>
        </p:nvSpPr>
        <p:spPr>
          <a:xfrm>
            <a:off x="4458600" y="1700000"/>
            <a:ext cx="1900000" cy="240000"/>
          </a:xfrm>
          <a:prstGeom prst="rect">
            <a:avLst/>
          </a:prstGeom>
          <a:solidFill>
            <a:srgbClr val="F0F4FA"/>
          </a:solidFill>
          <a:ln/>
        </p:spPr>
        <p:txBody>
          <a:bodyPr wrap="square" lIns="91440" tIns="30000" rIns="91440" bIns="30000" rtlCol="0" anchor="ctr"/>
          <a:lstStyle/>
          <a:p>
            <a:pPr marL="0" indent="0">
              <a:buNone/>
            </a:pPr>
            <a:r>
              <a:rPr lang="en-US" sz="1000" b="0" dirty="0">
                <a:solidFill>
                  <a:srgbClr val="000000"/>
                </a:solidFill>
                <a:latin typeface="Calibri"/>
              </a:rPr>
              <a:t>0.8964 +/- 0.0147</a:t>
            </a:r>
          </a:p>
        </p:txBody>
      </p:sp>
      <p:sp>
        <p:nvSpPr>
          <p:cNvPr id="41" name="r4d23"/>
          <p:cNvSpPr>
            <a:spLocks noGrp="1"/>
          </p:cNvSpPr>
          <p:nvPr/>
        </p:nvSpPr>
        <p:spPr>
          <a:xfrm>
            <a:off x="6368600" y="1700000"/>
            <a:ext cx="1100000" cy="240000"/>
          </a:xfrm>
          <a:prstGeom prst="rect">
            <a:avLst/>
          </a:prstGeom>
          <a:solidFill>
            <a:srgbClr val="F0F4FA"/>
          </a:solidFill>
          <a:ln/>
        </p:spPr>
        <p:txBody>
          <a:bodyPr wrap="square" lIns="91440" tIns="30000" rIns="91440" bIns="30000" rtlCol="0" anchor="ctr"/>
          <a:lstStyle/>
          <a:p>
            <a:pPr marL="0" indent="0">
              <a:buNone/>
            </a:pPr>
            <a:r>
              <a:rPr lang="en-US" sz="1050" b="1" dirty="0">
                <a:solidFill>
                  <a:srgbClr val="1D6B3E"/>
                </a:solidFill>
                <a:latin typeface="Calibri"/>
              </a:rPr>
              <a:t>+0.035</a:t>
            </a:r>
          </a:p>
        </p:txBody>
      </p:sp>
      <p:sp>
        <p:nvSpPr>
          <p:cNvPr id="42" name="r4d24"/>
          <p:cNvSpPr>
            <a:spLocks noGrp="1"/>
          </p:cNvSpPr>
          <p:nvPr/>
        </p:nvSpPr>
        <p:spPr>
          <a:xfrm>
            <a:off x="7478600" y="1700000"/>
            <a:ext cx="1100000" cy="240000"/>
          </a:xfrm>
          <a:prstGeom prst="rect">
            <a:avLst/>
          </a:prstGeom>
          <a:solidFill>
            <a:srgbClr val="F0F4FA"/>
          </a:solidFill>
          <a:ln/>
        </p:spPr>
        <p:txBody>
          <a:bodyPr wrap="square" lIns="91440" tIns="30000" rIns="91440" bIns="30000" rtlCol="0" anchor="ctr"/>
          <a:lstStyle/>
          <a:p>
            <a:pPr marL="0" indent="0">
              <a:buNone/>
            </a:pPr>
            <a:r>
              <a:rPr lang="en-US" sz="1050" b="1" dirty="0">
                <a:solidFill>
                  <a:srgbClr val="888780"/>
                </a:solidFill>
                <a:latin typeface="Calibri"/>
              </a:rPr>
              <a:t>-0.001</a:t>
            </a:r>
          </a:p>
        </p:txBody>
      </p:sp>
      <p:sp>
        <p:nvSpPr>
          <p:cNvPr id="44" name="mean_s"/>
          <p:cNvSpPr>
            <a:spLocks noGrp="1"/>
          </p:cNvSpPr>
          <p:nvPr/>
        </p:nvSpPr>
        <p:spPr>
          <a:xfrm>
            <a:off x="228600" y="1960000"/>
            <a:ext cx="1650000" cy="230000"/>
          </a:xfrm>
          <a:prstGeom prst="rect">
            <a:avLst/>
          </a:prstGeom>
          <a:solidFill>
            <a:srgbClr val="E8F0FB"/>
          </a:solidFill>
          <a:ln/>
        </p:spPr>
        <p:txBody>
          <a:bodyPr wrap="square" lIns="91440" tIns="30000" rIns="91440" bIns="30000" rtlCol="0" anchor="ctr"/>
          <a:lstStyle/>
          <a:p>
            <a:pPr marL="0" indent="0">
              <a:buNone/>
            </a:pPr>
            <a:r>
              <a:rPr lang="en-US" sz="1050" b="1" dirty="0">
                <a:solidFill>
                  <a:srgbClr val="1E3A5F"/>
                </a:solidFill>
                <a:latin typeface="Calibri"/>
              </a:rPr>
              <a:t>Mean AUROC</a:t>
            </a:r>
          </a:p>
        </p:txBody>
      </p:sp>
      <p:sp>
        <p:nvSpPr>
          <p:cNvPr id="45" name="mean_l"/>
          <p:cNvSpPr>
            <a:spLocks noGrp="1"/>
          </p:cNvSpPr>
          <p:nvPr/>
        </p:nvSpPr>
        <p:spPr>
          <a:xfrm>
            <a:off x="1888600" y="1960000"/>
            <a:ext cx="1200000" cy="230000"/>
          </a:xfrm>
          <a:prstGeom prst="rect">
            <a:avLst/>
          </a:prstGeom>
          <a:solidFill>
            <a:srgbClr val="E8F0FB"/>
          </a:solidFill>
          <a:ln/>
        </p:spPr>
        <p:txBody>
          <a:bodyPr wrap="square" lIns="91440" tIns="30000" rIns="91440" bIns="30000" rtlCol="0" anchor="ctr"/>
          <a:lstStyle/>
          <a:p>
            <a:pPr marL="0" indent="0">
              <a:buNone/>
            </a:pPr>
            <a:r>
              <a:rPr lang="en-US" sz="1050" b="1" dirty="0">
                <a:solidFill>
                  <a:srgbClr val="1E3A5F"/>
                </a:solidFill>
                <a:latin typeface="Calibri"/>
              </a:rPr>
              <a:t>0.8809</a:t>
            </a:r>
          </a:p>
        </p:txBody>
      </p:sp>
      <p:sp>
        <p:nvSpPr>
          <p:cNvPr id="46" name="mean_23"/>
          <p:cNvSpPr>
            <a:spLocks noGrp="1"/>
          </p:cNvSpPr>
          <p:nvPr/>
        </p:nvSpPr>
        <p:spPr>
          <a:xfrm>
            <a:off x="3098600" y="1960000"/>
            <a:ext cx="1350000" cy="230000"/>
          </a:xfrm>
          <a:prstGeom prst="rect">
            <a:avLst/>
          </a:prstGeom>
          <a:solidFill>
            <a:srgbClr val="E8F0FB"/>
          </a:solidFill>
          <a:ln/>
        </p:spPr>
        <p:txBody>
          <a:bodyPr wrap="square" lIns="91440" tIns="30000" rIns="91440" bIns="30000" rtlCol="0" anchor="ctr"/>
          <a:lstStyle/>
          <a:p>
            <a:pPr marL="0" indent="0">
              <a:buNone/>
            </a:pPr>
            <a:r>
              <a:rPr lang="en-US" sz="1050" b="1" dirty="0">
                <a:solidFill>
                  <a:srgbClr val="1E3A5F"/>
                </a:solidFill>
                <a:latin typeface="Calibri"/>
              </a:rPr>
              <a:t>0.8949</a:t>
            </a:r>
          </a:p>
        </p:txBody>
      </p:sp>
      <p:sp>
        <p:nvSpPr>
          <p:cNvPr id="47" name="mean_24"/>
          <p:cNvSpPr>
            <a:spLocks noGrp="1"/>
          </p:cNvSpPr>
          <p:nvPr/>
        </p:nvSpPr>
        <p:spPr>
          <a:xfrm>
            <a:off x="4458600" y="1960000"/>
            <a:ext cx="1900000" cy="230000"/>
          </a:xfrm>
          <a:prstGeom prst="rect">
            <a:avLst/>
          </a:prstGeom>
          <a:solidFill>
            <a:srgbClr val="E8F0FB"/>
          </a:solidFill>
          <a:ln/>
        </p:spPr>
        <p:txBody>
          <a:bodyPr wrap="square" lIns="91440" tIns="30000" rIns="91440" bIns="30000" rtlCol="0" anchor="ctr"/>
          <a:lstStyle/>
          <a:p>
            <a:pPr marL="0" indent="0">
              <a:buNone/>
            </a:pPr>
            <a:r>
              <a:rPr lang="en-US" sz="1050" b="1" dirty="0">
                <a:solidFill>
                  <a:srgbClr val="1E3A5F"/>
                </a:solidFill>
                <a:latin typeface="Calibri"/>
              </a:rPr>
              <a:t>0.8997</a:t>
            </a:r>
          </a:p>
        </p:txBody>
      </p:sp>
      <p:sp>
        <p:nvSpPr>
          <p:cNvPr id="48" name="mean_d23"/>
          <p:cNvSpPr>
            <a:spLocks noGrp="1"/>
          </p:cNvSpPr>
          <p:nvPr/>
        </p:nvSpPr>
        <p:spPr>
          <a:xfrm>
            <a:off x="6368600" y="1960000"/>
            <a:ext cx="1100000" cy="230000"/>
          </a:xfrm>
          <a:prstGeom prst="rect">
            <a:avLst/>
          </a:prstGeom>
          <a:solidFill>
            <a:srgbClr val="E8F0FB"/>
          </a:solidFill>
          <a:ln/>
        </p:spPr>
        <p:txBody>
          <a:bodyPr wrap="square" lIns="91440" tIns="30000" rIns="91440" bIns="30000" rtlCol="0" anchor="ctr"/>
          <a:lstStyle/>
          <a:p>
            <a:pPr marL="0" indent="0">
              <a:buNone/>
            </a:pPr>
            <a:r>
              <a:rPr lang="en-US" sz="1050" b="1" dirty="0">
                <a:solidFill>
                  <a:srgbClr val="1D6B3E"/>
                </a:solidFill>
                <a:latin typeface="Calibri"/>
              </a:rPr>
              <a:t>+0.014</a:t>
            </a:r>
          </a:p>
        </p:txBody>
      </p:sp>
      <p:sp>
        <p:nvSpPr>
          <p:cNvPr id="49" name="mean_d24"/>
          <p:cNvSpPr>
            <a:spLocks noGrp="1"/>
          </p:cNvSpPr>
          <p:nvPr/>
        </p:nvSpPr>
        <p:spPr>
          <a:xfrm>
            <a:off x="7478600" y="1960000"/>
            <a:ext cx="1100000" cy="230000"/>
          </a:xfrm>
          <a:prstGeom prst="rect">
            <a:avLst/>
          </a:prstGeom>
          <a:solidFill>
            <a:srgbClr val="E8F0FB"/>
          </a:solidFill>
          <a:ln/>
        </p:spPr>
        <p:txBody>
          <a:bodyPr wrap="square" lIns="91440" tIns="30000" rIns="91440" bIns="30000" rtlCol="0" anchor="ctr"/>
          <a:lstStyle/>
          <a:p>
            <a:pPr marL="0" indent="0">
              <a:buNone/>
            </a:pPr>
            <a:r>
              <a:rPr lang="en-US" sz="1050" b="1" dirty="0">
                <a:solidFill>
                  <a:srgbClr val="1D6B3E"/>
                </a:solidFill>
                <a:latin typeface="Calibri"/>
              </a:rPr>
              <a:t>+0.019</a:t>
            </a:r>
          </a:p>
        </p:txBody>
      </p:sp>
      <p:sp>
        <p:nvSpPr>
          <p:cNvPr id="50" name="k_hdr"/>
          <p:cNvSpPr>
            <a:spLocks noGrp="1"/>
          </p:cNvSpPr>
          <p:nvPr/>
        </p:nvSpPr>
        <p:spPr>
          <a:xfrm>
            <a:off x="228600" y="2220000"/>
            <a:ext cx="8687400" cy="190000"/>
          </a:xfrm>
          <a:prstGeom prst="rect">
            <a:avLst/>
          </a:prstGeom>
          <a:solidFill>
            <a:srgbClr val="1E3A5F"/>
          </a:solidFill>
          <a:ln/>
        </p:spPr>
        <p:txBody>
          <a:bodyPr wrap="square" lIns="182880" tIns="45720" rIns="182880" bIns="45720" rtlCol="0" anchor="ctr"/>
          <a:lstStyle/>
          <a:p>
            <a:pPr marL="0" indent="0">
              <a:buNone/>
            </a:pPr>
            <a:r>
              <a:rPr lang="en-US" sz="1000" b="1" dirty="0">
                <a:solidFill>
                  <a:srgbClr val="FFFFFF"/>
                </a:solidFill>
                <a:latin typeface="Calibri"/>
              </a:rPr>
              <a:t>K: v2.3 = manual {A:3,B:3,C:3,D:2,E:2}  |  v2.4 = auto-selected (AKI silhouette): mostly K=2, K=3 at site_C/E seed 43, K=4 at site_D seed 45</a:t>
            </a:r>
          </a:p>
        </p:txBody>
      </p:sp>
      <p:sp>
        <p:nvSpPr>
          <p:cNvPr id="51" name="fl_hdr"/>
          <p:cNvSpPr>
            <a:spLocks noGrp="1"/>
          </p:cNvSpPr>
          <p:nvPr/>
        </p:nvSpPr>
        <p:spPr>
          <a:xfrm>
            <a:off x="228600" y="2430000"/>
            <a:ext cx="8687400" cy="200000"/>
          </a:xfrm>
          <a:prstGeom prst="rect">
            <a:avLst/>
          </a:prstGeom>
          <a:solidFill>
            <a:srgbClr val="C0392B"/>
          </a:solidFill>
          <a:ln/>
        </p:spPr>
        <p:txBody>
          <a:bodyPr wrap="square" lIns="182880" tIns="45720" rIns="182880" bIns="45720" rtlCol="0" anchor="ctr"/>
          <a:lstStyle/>
          <a:p>
            <a:pPr marL="0" indent="0">
              <a:buNone/>
            </a:pPr>
            <a:r>
              <a:rPr lang="en-US" sz="1050" b="1" dirty="0">
                <a:solidFill>
                  <a:srgbClr val="FFFFFF"/>
                </a:solidFill>
                <a:latin typeface="Calibri"/>
              </a:rPr>
              <a:t>FL-gain validation: v2.3 confirms 5/5 direction match (site_D +0.053, site_E +0.035). v2.4 site_E near-zero (-0.001); site_D loses (-0.027).</a:t>
            </a:r>
          </a:p>
        </p:txBody>
      </p:sp>
      <p:sp>
        <p:nvSpPr>
          <p:cNvPr id="52" name="summary"/>
          <p:cNvSpPr>
            <a:spLocks noGrp="1"/>
          </p:cNvSpPr>
          <p:nvPr/>
        </p:nvSpPr>
        <p:spPr>
          <a:xfrm>
            <a:off x="228600" y="2650000"/>
            <a:ext cx="8687400" cy="650000"/>
          </a:xfrm>
          <a:prstGeom prst="rect">
            <a:avLst/>
          </a:prstGeom>
          <a:solidFill>
            <a:srgbClr val="F0F4FA"/>
          </a:solidFill>
          <a:ln/>
        </p:spPr>
        <p:txBody>
          <a:bodyPr wrap="square" lIns="182880" tIns="91440" rIns="182880" bIns="91440" rtlCol="0" anchor="t"/>
          <a:lstStyle/>
          <a:p>
            <a:pPr marL="0" indent="0">
              <a:buNone/>
            </a:pPr>
            <a:r>
              <a:rPr lang="en-US" sz="1150" b="1" dirty="0">
                <a:solidFill>
                  <a:srgbClr val="1E3A5F"/>
                </a:solidFill>
                <a:latin typeface="Calibri"/>
              </a:rPr>
              <a:t>Summary</a:t>
            </a:r>
          </a:p>
          <a:p>
            <a:pPr marL="182880" indent="0">
              <a:buNone/>
            </a:pPr>
            <a:r>
              <a:rPr lang="en-US" sz="1050" b="0" dirty="0">
                <a:solidFill>
                  <a:srgbClr val="000000"/>
                </a:solidFill>
                <a:latin typeface="Calibri"/>
              </a:rPr>
              <a:t>v2.4 achieves higher mean AUROC than v2.3 (0.900 vs 0.895) — better on aggregate. v2.3 wins specifically on the FL-gain story: site_D +0.053 and site_E +0.035 vs local, validating the FL-gain index 5/5. v2.4 site_E is essentially neutral (-0.001); site_D loses (-0.027) due to two-phase training dynamics.</a:t>
            </a:r>
          </a:p>
          <a:p>
            <a:pPr marL="0" indent="0">
              <a:buNone/>
            </a:pPr>
            <a:r>
              <a:rPr lang="en-US" sz="800" b="0" dirty="0">
                <a:solidFill>
                  <a:srgbClr val="000000"/>
                </a:solidFill>
                <a:latin typeface="Calibri"/>
              </a:rPr>
              <a:t> </a:t>
            </a:r>
          </a:p>
          <a:p>
            <a:pPr marL="0" indent="0">
              <a:buNone/>
            </a:pPr>
            <a:r>
              <a:rPr lang="en-US" sz="1150" b="1" dirty="0">
                <a:solidFill>
                  <a:srgbClr val="1E3A5F"/>
                </a:solidFill>
                <a:latin typeface="Calibri"/>
              </a:rPr>
              <a:t>Recommended paper framing</a:t>
            </a:r>
          </a:p>
          <a:p>
            <a:pPr marL="182880" indent="0">
              <a:buNone/>
            </a:pPr>
            <a:r>
              <a:rPr lang="en-US" sz="1050" b="0" dirty="0">
                <a:solidFill>
                  <a:srgbClr val="000000"/>
                </a:solidFill>
                <a:latin typeface="Calibri"/>
              </a:rPr>
              <a:t>v2.3 = primary result for FL-gain validation (Table 1). v2.4 = methodological contribution: automated K selection + sparse-site-aware training, competitive aggregate AUROC, limitation on sparse-site FL benefit (Section 5 / Future Work).</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8"/>
        <p:cNvGrpSpPr/>
        <p:nvPr/>
      </p:nvGrpSpPr>
      <p:grpSpPr>
        <a:xfrm>
          <a:off x="0" y="0"/>
          <a:ext cx="0" cy="0"/>
          <a:chOff x="0" y="0"/>
          <a:chExt cx="0" cy="0"/>
        </a:xfrm>
      </p:grpSpPr>
      <p:sp>
        <p:nvSpPr>
          <p:cNvPr id="429" name="Google Shape;429;p16"/>
          <p:cNvSpPr/>
          <p:nvPr/>
        </p:nvSpPr>
        <p:spPr>
          <a:xfrm>
            <a:off x="0" y="0"/>
            <a:ext cx="12188952" cy="822960"/>
          </a:xfrm>
          <a:prstGeom prst="rect">
            <a:avLst/>
          </a:prstGeom>
          <a:solidFill>
            <a:srgbClr val="F9FAFB"/>
          </a:solidFill>
          <a:ln w="9525"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0" name="Google Shape;430;p16"/>
          <p:cNvSpPr/>
          <p:nvPr/>
        </p:nvSpPr>
        <p:spPr>
          <a:xfrm>
            <a:off x="0" y="822960"/>
            <a:ext cx="12188952" cy="50292"/>
          </a:xfrm>
          <a:prstGeom prst="rect">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1" name="Google Shape;431;p16"/>
          <p:cNvSpPr/>
          <p:nvPr/>
        </p:nvSpPr>
        <p:spPr>
          <a:xfrm>
            <a:off x="320040" y="0"/>
            <a:ext cx="1143000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2600"/>
              <a:buFont typeface="Calibri"/>
              <a:buNone/>
            </a:pPr>
            <a:r>
              <a:rPr lang="en-US" sz="2600" b="1">
                <a:solidFill>
                  <a:srgbClr val="1F2937"/>
                </a:solidFill>
                <a:latin typeface="Calibri"/>
                <a:ea typeface="Calibri"/>
                <a:cs typeface="Calibri"/>
                <a:sym typeface="Calibri"/>
              </a:rPr>
              <a:t>C0: Local Adversarial Group Alignment</a:t>
            </a:r>
            <a:endParaRPr sz="2600">
              <a:solidFill>
                <a:schemeClr val="dk1"/>
              </a:solidFill>
              <a:latin typeface="Calibri"/>
              <a:ea typeface="Calibri"/>
              <a:cs typeface="Calibri"/>
              <a:sym typeface="Calibri"/>
            </a:endParaRPr>
          </a:p>
        </p:txBody>
      </p:sp>
      <p:sp>
        <p:nvSpPr>
          <p:cNvPr id="432" name="Google Shape;432;p16"/>
          <p:cNvSpPr/>
          <p:nvPr/>
        </p:nvSpPr>
        <p:spPr>
          <a:xfrm>
            <a:off x="320040" y="886968"/>
            <a:ext cx="11430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100"/>
              <a:buFont typeface="Calibri"/>
              <a:buNone/>
            </a:pPr>
            <a:r>
              <a:rPr lang="en-US" sz="1100" i="1">
                <a:solidFill>
                  <a:srgbClr val="6B7280"/>
                </a:solidFill>
                <a:latin typeface="Calibri"/>
                <a:ea typeface="Calibri"/>
                <a:cs typeface="Calibri"/>
                <a:sym typeface="Calibri"/>
              </a:rPr>
              <a:t>Fully local so no data or gradients leave the site. Runs during Phase 1 warm-up and continues through Phase 2 rounds.</a:t>
            </a:r>
            <a:endParaRPr sz="1100">
              <a:solidFill>
                <a:schemeClr val="dk1"/>
              </a:solidFill>
              <a:latin typeface="Calibri"/>
              <a:ea typeface="Calibri"/>
              <a:cs typeface="Calibri"/>
              <a:sym typeface="Calibri"/>
            </a:endParaRPr>
          </a:p>
        </p:txBody>
      </p:sp>
      <p:sp>
        <p:nvSpPr>
          <p:cNvPr id="433" name="Google Shape;433;p16"/>
          <p:cNvSpPr/>
          <p:nvPr/>
        </p:nvSpPr>
        <p:spPr>
          <a:xfrm>
            <a:off x="502920" y="1298448"/>
            <a:ext cx="2011680" cy="1719072"/>
          </a:xfrm>
          <a:prstGeom prst="rect">
            <a:avLst/>
          </a:prstGeom>
          <a:solidFill>
            <a:srgbClr val="EFF6FF"/>
          </a:solidFill>
          <a:ln w="15225"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4" name="Google Shape;434;p16"/>
          <p:cNvSpPr/>
          <p:nvPr/>
        </p:nvSpPr>
        <p:spPr>
          <a:xfrm>
            <a:off x="502920" y="1298448"/>
            <a:ext cx="2011680" cy="50292"/>
          </a:xfrm>
          <a:prstGeom prst="rect">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5" name="Google Shape;435;p16"/>
          <p:cNvSpPr/>
          <p:nvPr/>
        </p:nvSpPr>
        <p:spPr>
          <a:xfrm>
            <a:off x="621792" y="1389888"/>
            <a:ext cx="347472" cy="347472"/>
          </a:xfrm>
          <a:prstGeom prst="ellipse">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6" name="Google Shape;436;p16"/>
          <p:cNvSpPr/>
          <p:nvPr/>
        </p:nvSpPr>
        <p:spPr>
          <a:xfrm>
            <a:off x="621792" y="1389888"/>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1</a:t>
            </a:r>
            <a:endParaRPr sz="1300">
              <a:solidFill>
                <a:schemeClr val="dk1"/>
              </a:solidFill>
              <a:latin typeface="Calibri"/>
              <a:ea typeface="Calibri"/>
              <a:cs typeface="Calibri"/>
              <a:sym typeface="Calibri"/>
            </a:endParaRPr>
          </a:p>
        </p:txBody>
      </p:sp>
      <p:sp>
        <p:nvSpPr>
          <p:cNvPr id="437" name="Google Shape;437;p16"/>
          <p:cNvSpPr/>
          <p:nvPr/>
        </p:nvSpPr>
        <p:spPr>
          <a:xfrm>
            <a:off x="1033272" y="1389888"/>
            <a:ext cx="1408176"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200"/>
              <a:buFont typeface="Calibri"/>
              <a:buNone/>
            </a:pPr>
            <a:r>
              <a:rPr lang="en-US" sz="1200" b="1">
                <a:solidFill>
                  <a:srgbClr val="1D4ED8"/>
                </a:solidFill>
                <a:latin typeface="Calibri"/>
                <a:ea typeface="Calibri"/>
                <a:cs typeface="Calibri"/>
                <a:sym typeface="Calibri"/>
              </a:rPr>
              <a:t>Encode per group</a:t>
            </a:r>
            <a:endParaRPr sz="1200">
              <a:solidFill>
                <a:schemeClr val="dk1"/>
              </a:solidFill>
              <a:latin typeface="Calibri"/>
              <a:ea typeface="Calibri"/>
              <a:cs typeface="Calibri"/>
              <a:sym typeface="Calibri"/>
            </a:endParaRPr>
          </a:p>
        </p:txBody>
      </p:sp>
      <p:cxnSp>
        <p:nvCxnSpPr>
          <p:cNvPr id="438" name="Google Shape;438;p16"/>
          <p:cNvCxnSpPr/>
          <p:nvPr/>
        </p:nvCxnSpPr>
        <p:spPr>
          <a:xfrm>
            <a:off x="621792" y="1810512"/>
            <a:ext cx="1773936" cy="0"/>
          </a:xfrm>
          <a:prstGeom prst="straightConnector1">
            <a:avLst/>
          </a:prstGeom>
          <a:noFill/>
          <a:ln w="9525" cap="flat" cmpd="sng">
            <a:solidFill>
              <a:srgbClr val="1D4ED8"/>
            </a:solidFill>
            <a:prstDash val="solid"/>
            <a:round/>
            <a:headEnd type="none" w="sm" len="sm"/>
            <a:tailEnd type="none" w="sm" len="sm"/>
          </a:ln>
        </p:spPr>
      </p:cxnSp>
      <p:sp>
        <p:nvSpPr>
          <p:cNvPr id="439" name="Google Shape;439;p16"/>
          <p:cNvSpPr/>
          <p:nvPr/>
        </p:nvSpPr>
        <p:spPr>
          <a:xfrm>
            <a:off x="621792" y="1892808"/>
            <a:ext cx="1773936" cy="10332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One encoder per available group:</a:t>
            </a: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  Renal → z_renal</a:t>
            </a: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  Metabolic → z_metabolic</a:t>
            </a: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  Inflammatory → z_inflam</a:t>
            </a: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  Clinical → z_clinical</a:t>
            </a:r>
            <a:endParaRPr sz="9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950"/>
              <a:buFont typeface="Calibri"/>
              <a:buNone/>
            </a:pP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64-dim output. Sites missing a group skip that branch.</a:t>
            </a:r>
            <a:endParaRPr sz="950">
              <a:solidFill>
                <a:schemeClr val="dk1"/>
              </a:solidFill>
              <a:latin typeface="Calibri"/>
              <a:ea typeface="Calibri"/>
              <a:cs typeface="Calibri"/>
              <a:sym typeface="Calibri"/>
            </a:endParaRPr>
          </a:p>
        </p:txBody>
      </p:sp>
      <p:sp>
        <p:nvSpPr>
          <p:cNvPr id="440" name="Google Shape;440;p16"/>
          <p:cNvSpPr/>
          <p:nvPr/>
        </p:nvSpPr>
        <p:spPr>
          <a:xfrm>
            <a:off x="2542032" y="2020824"/>
            <a:ext cx="201168"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280"/>
              </a:buClr>
              <a:buSzPts val="1800"/>
              <a:buFont typeface="Calibri"/>
              <a:buNone/>
            </a:pPr>
            <a:r>
              <a:rPr lang="en-US" sz="1800" b="1">
                <a:solidFill>
                  <a:srgbClr val="6B7280"/>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441" name="Google Shape;441;p16"/>
          <p:cNvSpPr/>
          <p:nvPr/>
        </p:nvSpPr>
        <p:spPr>
          <a:xfrm>
            <a:off x="2770632" y="1298448"/>
            <a:ext cx="2011680" cy="1719072"/>
          </a:xfrm>
          <a:prstGeom prst="rect">
            <a:avLst/>
          </a:prstGeom>
          <a:solidFill>
            <a:srgbClr val="FEF3C7"/>
          </a:solidFill>
          <a:ln w="15225" cap="flat" cmpd="sng">
            <a:solidFill>
              <a:srgbClr val="D9770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2" name="Google Shape;442;p16"/>
          <p:cNvSpPr/>
          <p:nvPr/>
        </p:nvSpPr>
        <p:spPr>
          <a:xfrm>
            <a:off x="2770632" y="1298448"/>
            <a:ext cx="2011680" cy="50292"/>
          </a:xfrm>
          <a:prstGeom prst="rect">
            <a:avLst/>
          </a:prstGeom>
          <a:solidFill>
            <a:srgbClr val="D97706"/>
          </a:solidFill>
          <a:ln w="12700" cap="flat" cmpd="sng">
            <a:solidFill>
              <a:srgbClr val="D9770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3" name="Google Shape;443;p16"/>
          <p:cNvSpPr/>
          <p:nvPr/>
        </p:nvSpPr>
        <p:spPr>
          <a:xfrm>
            <a:off x="2889504" y="1389888"/>
            <a:ext cx="347472" cy="347472"/>
          </a:xfrm>
          <a:prstGeom prst="ellipse">
            <a:avLst/>
          </a:prstGeom>
          <a:solidFill>
            <a:srgbClr val="D97706"/>
          </a:solidFill>
          <a:ln w="12700" cap="flat" cmpd="sng">
            <a:solidFill>
              <a:srgbClr val="D9770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4" name="Google Shape;444;p16"/>
          <p:cNvSpPr/>
          <p:nvPr/>
        </p:nvSpPr>
        <p:spPr>
          <a:xfrm>
            <a:off x="2889504" y="1389888"/>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2</a:t>
            </a:r>
            <a:endParaRPr sz="1300">
              <a:solidFill>
                <a:schemeClr val="dk1"/>
              </a:solidFill>
              <a:latin typeface="Calibri"/>
              <a:ea typeface="Calibri"/>
              <a:cs typeface="Calibri"/>
              <a:sym typeface="Calibri"/>
            </a:endParaRPr>
          </a:p>
        </p:txBody>
      </p:sp>
      <p:sp>
        <p:nvSpPr>
          <p:cNvPr id="445" name="Google Shape;445;p16"/>
          <p:cNvSpPr/>
          <p:nvPr/>
        </p:nvSpPr>
        <p:spPr>
          <a:xfrm>
            <a:off x="3300984" y="1389888"/>
            <a:ext cx="1408176"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7706"/>
              </a:buClr>
              <a:buSzPts val="1200"/>
              <a:buFont typeface="Calibri"/>
              <a:buNone/>
            </a:pPr>
            <a:r>
              <a:rPr lang="en-US" sz="1200" b="1">
                <a:solidFill>
                  <a:srgbClr val="D97706"/>
                </a:solidFill>
                <a:latin typeface="Calibri"/>
                <a:ea typeface="Calibri"/>
                <a:cs typeface="Calibri"/>
                <a:sym typeface="Calibri"/>
              </a:rPr>
              <a:t>Discriminator forward pass</a:t>
            </a:r>
            <a:endParaRPr sz="1200">
              <a:solidFill>
                <a:schemeClr val="dk1"/>
              </a:solidFill>
              <a:latin typeface="Calibri"/>
              <a:ea typeface="Calibri"/>
              <a:cs typeface="Calibri"/>
              <a:sym typeface="Calibri"/>
            </a:endParaRPr>
          </a:p>
        </p:txBody>
      </p:sp>
      <p:cxnSp>
        <p:nvCxnSpPr>
          <p:cNvPr id="446" name="Google Shape;446;p16"/>
          <p:cNvCxnSpPr/>
          <p:nvPr/>
        </p:nvCxnSpPr>
        <p:spPr>
          <a:xfrm>
            <a:off x="2889504" y="1810512"/>
            <a:ext cx="1773936" cy="0"/>
          </a:xfrm>
          <a:prstGeom prst="straightConnector1">
            <a:avLst/>
          </a:prstGeom>
          <a:noFill/>
          <a:ln w="9525" cap="flat" cmpd="sng">
            <a:solidFill>
              <a:srgbClr val="D97706"/>
            </a:solidFill>
            <a:prstDash val="solid"/>
            <a:round/>
            <a:headEnd type="none" w="sm" len="sm"/>
            <a:tailEnd type="none" w="sm" len="sm"/>
          </a:ln>
        </p:spPr>
      </p:cxnSp>
      <p:sp>
        <p:nvSpPr>
          <p:cNvPr id="447" name="Google Shape;447;p16"/>
          <p:cNvSpPr/>
          <p:nvPr/>
        </p:nvSpPr>
        <p:spPr>
          <a:xfrm>
            <a:off x="2889504" y="1892808"/>
            <a:ext cx="1773936" cy="10332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A small local MLP sees each z and predicts which group produced it.</a:t>
            </a:r>
            <a:endParaRPr sz="9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950"/>
              <a:buFont typeface="Calibri"/>
              <a:buNone/>
            </a:pP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L_disc = cross-entropy(ŷ_group, y_group)</a:t>
            </a:r>
            <a:endParaRPr sz="9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950"/>
              <a:buFont typeface="Calibri"/>
              <a:buNone/>
            </a:pP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Only needs to know which encoder produced z; no raw features required.</a:t>
            </a:r>
            <a:endParaRPr sz="950">
              <a:solidFill>
                <a:schemeClr val="dk1"/>
              </a:solidFill>
              <a:latin typeface="Calibri"/>
              <a:ea typeface="Calibri"/>
              <a:cs typeface="Calibri"/>
              <a:sym typeface="Calibri"/>
            </a:endParaRPr>
          </a:p>
        </p:txBody>
      </p:sp>
      <p:sp>
        <p:nvSpPr>
          <p:cNvPr id="448" name="Google Shape;448;p16"/>
          <p:cNvSpPr/>
          <p:nvPr/>
        </p:nvSpPr>
        <p:spPr>
          <a:xfrm>
            <a:off x="4809744" y="2020824"/>
            <a:ext cx="201168"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280"/>
              </a:buClr>
              <a:buSzPts val="1800"/>
              <a:buFont typeface="Calibri"/>
              <a:buNone/>
            </a:pPr>
            <a:r>
              <a:rPr lang="en-US" sz="1800" b="1">
                <a:solidFill>
                  <a:srgbClr val="6B7280"/>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449" name="Google Shape;449;p16"/>
          <p:cNvSpPr/>
          <p:nvPr/>
        </p:nvSpPr>
        <p:spPr>
          <a:xfrm>
            <a:off x="5038344" y="1298448"/>
            <a:ext cx="2011680" cy="1719072"/>
          </a:xfrm>
          <a:prstGeom prst="rect">
            <a:avLst/>
          </a:prstGeom>
          <a:solidFill>
            <a:srgbClr val="FEE2E2"/>
          </a:solidFill>
          <a:ln w="15225" cap="flat" cmpd="sng">
            <a:solidFill>
              <a:srgbClr val="DC262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0" name="Google Shape;450;p16"/>
          <p:cNvSpPr/>
          <p:nvPr/>
        </p:nvSpPr>
        <p:spPr>
          <a:xfrm>
            <a:off x="5038344" y="1298448"/>
            <a:ext cx="2011680" cy="50292"/>
          </a:xfrm>
          <a:prstGeom prst="rect">
            <a:avLst/>
          </a:prstGeom>
          <a:solidFill>
            <a:srgbClr val="DC2626"/>
          </a:solidFill>
          <a:ln w="12700" cap="flat" cmpd="sng">
            <a:solidFill>
              <a:srgbClr val="DC262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1" name="Google Shape;451;p16"/>
          <p:cNvSpPr/>
          <p:nvPr/>
        </p:nvSpPr>
        <p:spPr>
          <a:xfrm>
            <a:off x="5157216" y="1389888"/>
            <a:ext cx="347472" cy="347472"/>
          </a:xfrm>
          <a:prstGeom prst="ellipse">
            <a:avLst/>
          </a:prstGeom>
          <a:solidFill>
            <a:srgbClr val="DC2626"/>
          </a:solidFill>
          <a:ln w="12700" cap="flat" cmpd="sng">
            <a:solidFill>
              <a:srgbClr val="DC262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2" name="Google Shape;452;p16"/>
          <p:cNvSpPr/>
          <p:nvPr/>
        </p:nvSpPr>
        <p:spPr>
          <a:xfrm>
            <a:off x="5157216" y="1389888"/>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3</a:t>
            </a:r>
            <a:endParaRPr sz="1300">
              <a:solidFill>
                <a:schemeClr val="dk1"/>
              </a:solidFill>
              <a:latin typeface="Calibri"/>
              <a:ea typeface="Calibri"/>
              <a:cs typeface="Calibri"/>
              <a:sym typeface="Calibri"/>
            </a:endParaRPr>
          </a:p>
        </p:txBody>
      </p:sp>
      <p:sp>
        <p:nvSpPr>
          <p:cNvPr id="453" name="Google Shape;453;p16"/>
          <p:cNvSpPr/>
          <p:nvPr/>
        </p:nvSpPr>
        <p:spPr>
          <a:xfrm>
            <a:off x="5568696" y="1389888"/>
            <a:ext cx="1408176"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C2626"/>
              </a:buClr>
              <a:buSzPts val="1200"/>
              <a:buFont typeface="Calibri"/>
              <a:buNone/>
            </a:pPr>
            <a:r>
              <a:rPr lang="en-US" sz="1200" b="1">
                <a:solidFill>
                  <a:srgbClr val="DC2626"/>
                </a:solidFill>
                <a:latin typeface="Calibri"/>
                <a:ea typeface="Calibri"/>
                <a:cs typeface="Calibri"/>
                <a:sym typeface="Calibri"/>
              </a:rPr>
              <a:t>Gradient reversal</a:t>
            </a:r>
            <a:endParaRPr sz="1200">
              <a:solidFill>
                <a:schemeClr val="dk1"/>
              </a:solidFill>
              <a:latin typeface="Calibri"/>
              <a:ea typeface="Calibri"/>
              <a:cs typeface="Calibri"/>
              <a:sym typeface="Calibri"/>
            </a:endParaRPr>
          </a:p>
        </p:txBody>
      </p:sp>
      <p:cxnSp>
        <p:nvCxnSpPr>
          <p:cNvPr id="454" name="Google Shape;454;p16"/>
          <p:cNvCxnSpPr/>
          <p:nvPr/>
        </p:nvCxnSpPr>
        <p:spPr>
          <a:xfrm>
            <a:off x="5157216" y="1810512"/>
            <a:ext cx="1773936" cy="0"/>
          </a:xfrm>
          <a:prstGeom prst="straightConnector1">
            <a:avLst/>
          </a:prstGeom>
          <a:noFill/>
          <a:ln w="9525" cap="flat" cmpd="sng">
            <a:solidFill>
              <a:srgbClr val="DC2626"/>
            </a:solidFill>
            <a:prstDash val="solid"/>
            <a:round/>
            <a:headEnd type="none" w="sm" len="sm"/>
            <a:tailEnd type="none" w="sm" len="sm"/>
          </a:ln>
        </p:spPr>
      </p:cxnSp>
      <p:sp>
        <p:nvSpPr>
          <p:cNvPr id="455" name="Google Shape;455;p16"/>
          <p:cNvSpPr/>
          <p:nvPr/>
        </p:nvSpPr>
        <p:spPr>
          <a:xfrm>
            <a:off x="5157216" y="1892808"/>
            <a:ext cx="1773936" cy="10332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A gradient reversal layer (GRL) sits between encoders and discriminator.</a:t>
            </a:r>
            <a:endParaRPr sz="9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950"/>
              <a:buFont typeface="Calibri"/>
              <a:buNone/>
            </a:pP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Forward pass: no change to z.</a:t>
            </a:r>
            <a:endParaRPr sz="9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950"/>
              <a:buFont typeface="Calibri"/>
              <a:buNone/>
            </a:pP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Backward pass: gradient sign flipped:</a:t>
            </a: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  encoder receives −∂L_disc / ∂z</a:t>
            </a: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  → pushed away from being group-predictable. </a:t>
            </a:r>
            <a:endParaRPr sz="950">
              <a:solidFill>
                <a:schemeClr val="dk1"/>
              </a:solidFill>
              <a:latin typeface="Calibri"/>
              <a:ea typeface="Calibri"/>
              <a:cs typeface="Calibri"/>
              <a:sym typeface="Calibri"/>
            </a:endParaRPr>
          </a:p>
        </p:txBody>
      </p:sp>
      <p:sp>
        <p:nvSpPr>
          <p:cNvPr id="456" name="Google Shape;456;p16"/>
          <p:cNvSpPr/>
          <p:nvPr/>
        </p:nvSpPr>
        <p:spPr>
          <a:xfrm>
            <a:off x="7077456" y="2020824"/>
            <a:ext cx="201168"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280"/>
              </a:buClr>
              <a:buSzPts val="1800"/>
              <a:buFont typeface="Calibri"/>
              <a:buNone/>
            </a:pPr>
            <a:r>
              <a:rPr lang="en-US" sz="1800" b="1">
                <a:solidFill>
                  <a:srgbClr val="6B7280"/>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457" name="Google Shape;457;p16"/>
          <p:cNvSpPr/>
          <p:nvPr/>
        </p:nvSpPr>
        <p:spPr>
          <a:xfrm>
            <a:off x="7306056" y="1298448"/>
            <a:ext cx="2011680" cy="1719072"/>
          </a:xfrm>
          <a:prstGeom prst="rect">
            <a:avLst/>
          </a:prstGeom>
          <a:solidFill>
            <a:srgbClr val="F3E8FF"/>
          </a:solidFill>
          <a:ln w="15225" cap="flat" cmpd="sng">
            <a:solidFill>
              <a:srgbClr val="7C3AE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8" name="Google Shape;458;p16"/>
          <p:cNvSpPr/>
          <p:nvPr/>
        </p:nvSpPr>
        <p:spPr>
          <a:xfrm>
            <a:off x="7306056" y="1298448"/>
            <a:ext cx="2011680" cy="50292"/>
          </a:xfrm>
          <a:prstGeom prst="rect">
            <a:avLst/>
          </a:prstGeom>
          <a:solidFill>
            <a:srgbClr val="7C3AED"/>
          </a:solidFill>
          <a:ln w="12700" cap="flat" cmpd="sng">
            <a:solidFill>
              <a:srgbClr val="7C3AE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9" name="Google Shape;459;p16"/>
          <p:cNvSpPr/>
          <p:nvPr/>
        </p:nvSpPr>
        <p:spPr>
          <a:xfrm>
            <a:off x="7424928" y="1389888"/>
            <a:ext cx="347472" cy="347472"/>
          </a:xfrm>
          <a:prstGeom prst="ellipse">
            <a:avLst/>
          </a:prstGeom>
          <a:solidFill>
            <a:srgbClr val="7C3AED"/>
          </a:solidFill>
          <a:ln w="12700" cap="flat" cmpd="sng">
            <a:solidFill>
              <a:srgbClr val="7C3AE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0" name="Google Shape;460;p16"/>
          <p:cNvSpPr/>
          <p:nvPr/>
        </p:nvSpPr>
        <p:spPr>
          <a:xfrm>
            <a:off x="7424928" y="1389888"/>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4</a:t>
            </a:r>
            <a:endParaRPr sz="1300">
              <a:solidFill>
                <a:schemeClr val="dk1"/>
              </a:solidFill>
              <a:latin typeface="Calibri"/>
              <a:ea typeface="Calibri"/>
              <a:cs typeface="Calibri"/>
              <a:sym typeface="Calibri"/>
            </a:endParaRPr>
          </a:p>
        </p:txBody>
      </p:sp>
      <p:sp>
        <p:nvSpPr>
          <p:cNvPr id="461" name="Google Shape;461;p16"/>
          <p:cNvSpPr/>
          <p:nvPr/>
        </p:nvSpPr>
        <p:spPr>
          <a:xfrm>
            <a:off x="7836408" y="1389888"/>
            <a:ext cx="1408176"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C3AED"/>
              </a:buClr>
              <a:buSzPts val="1200"/>
              <a:buFont typeface="Calibri"/>
              <a:buNone/>
            </a:pPr>
            <a:r>
              <a:rPr lang="en-US" sz="1200" b="1">
                <a:solidFill>
                  <a:srgbClr val="7C3AED"/>
                </a:solidFill>
                <a:latin typeface="Calibri"/>
                <a:ea typeface="Calibri"/>
                <a:cs typeface="Calibri"/>
                <a:sym typeface="Calibri"/>
              </a:rPr>
              <a:t>Minimax game (local)</a:t>
            </a:r>
            <a:endParaRPr sz="1200">
              <a:solidFill>
                <a:schemeClr val="dk1"/>
              </a:solidFill>
              <a:latin typeface="Calibri"/>
              <a:ea typeface="Calibri"/>
              <a:cs typeface="Calibri"/>
              <a:sym typeface="Calibri"/>
            </a:endParaRPr>
          </a:p>
        </p:txBody>
      </p:sp>
      <p:cxnSp>
        <p:nvCxnSpPr>
          <p:cNvPr id="462" name="Google Shape;462;p16"/>
          <p:cNvCxnSpPr/>
          <p:nvPr/>
        </p:nvCxnSpPr>
        <p:spPr>
          <a:xfrm>
            <a:off x="7424928" y="1810512"/>
            <a:ext cx="1773936" cy="0"/>
          </a:xfrm>
          <a:prstGeom prst="straightConnector1">
            <a:avLst/>
          </a:prstGeom>
          <a:noFill/>
          <a:ln w="9525" cap="flat" cmpd="sng">
            <a:solidFill>
              <a:srgbClr val="7C3AED"/>
            </a:solidFill>
            <a:prstDash val="solid"/>
            <a:round/>
            <a:headEnd type="none" w="sm" len="sm"/>
            <a:tailEnd type="none" w="sm" len="sm"/>
          </a:ln>
        </p:spPr>
      </p:cxnSp>
      <p:sp>
        <p:nvSpPr>
          <p:cNvPr id="463" name="Google Shape;463;p16"/>
          <p:cNvSpPr/>
          <p:nvPr/>
        </p:nvSpPr>
        <p:spPr>
          <a:xfrm>
            <a:off x="7424928" y="1892808"/>
            <a:ext cx="1773936" cy="10332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Discriminator: maximise L_disc (get better at guessing group).</a:t>
            </a:r>
            <a:endParaRPr sz="9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950"/>
              <a:buFont typeface="Calibri"/>
              <a:buNone/>
            </a:pPr>
            <a:endParaRPr sz="950">
              <a:solidFill>
                <a:schemeClr val="dk1"/>
              </a:solidFill>
              <a:latin typeface="Calibri"/>
              <a:ea typeface="Calibri"/>
              <a:cs typeface="Calibri"/>
              <a:sym typeface="Calibri"/>
            </a:endParaRPr>
          </a:p>
          <a:p>
            <a:pPr marL="0" marR="0" lvl="0" indent="0" algn="l" rtl="0">
              <a:spcBef>
                <a:spcPts val="0"/>
              </a:spcBef>
              <a:spcAft>
                <a:spcPts val="0"/>
              </a:spcAft>
              <a:buNone/>
            </a:pPr>
            <a:r>
              <a:rPr lang="en-US" sz="950">
                <a:solidFill>
                  <a:srgbClr val="374151"/>
                </a:solidFill>
                <a:latin typeface="Calibri"/>
                <a:ea typeface="Calibri"/>
                <a:cs typeface="Calibri"/>
                <a:sym typeface="Calibri"/>
              </a:rPr>
              <a:t>Encoder: minimise L_classify and maximise L_disc simultaneously. Ensures Group invariance for features</a:t>
            </a: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L_enc = L_classify − λ_adv · L_disc</a:t>
            </a:r>
            <a:endParaRPr sz="9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950"/>
              <a:buFont typeface="Calibri"/>
              <a:buNone/>
            </a:pP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Entire game runs inside one site. Nothing crosses site boundaries.</a:t>
            </a:r>
            <a:endParaRPr sz="950">
              <a:solidFill>
                <a:schemeClr val="dk1"/>
              </a:solidFill>
              <a:latin typeface="Calibri"/>
              <a:ea typeface="Calibri"/>
              <a:cs typeface="Calibri"/>
              <a:sym typeface="Calibri"/>
            </a:endParaRPr>
          </a:p>
        </p:txBody>
      </p:sp>
      <p:sp>
        <p:nvSpPr>
          <p:cNvPr id="464" name="Google Shape;464;p16"/>
          <p:cNvSpPr/>
          <p:nvPr/>
        </p:nvSpPr>
        <p:spPr>
          <a:xfrm>
            <a:off x="9345168" y="2020824"/>
            <a:ext cx="201168"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280"/>
              </a:buClr>
              <a:buSzPts val="1800"/>
              <a:buFont typeface="Calibri"/>
              <a:buNone/>
            </a:pPr>
            <a:r>
              <a:rPr lang="en-US" sz="1800" b="1">
                <a:solidFill>
                  <a:srgbClr val="6B7280"/>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465" name="Google Shape;465;p16"/>
          <p:cNvSpPr/>
          <p:nvPr/>
        </p:nvSpPr>
        <p:spPr>
          <a:xfrm>
            <a:off x="9573768" y="1298448"/>
            <a:ext cx="2011680" cy="1719072"/>
          </a:xfrm>
          <a:prstGeom prst="rect">
            <a:avLst/>
          </a:prstGeom>
          <a:solidFill>
            <a:srgbClr val="ECFDF5"/>
          </a:solidFill>
          <a:ln w="15225" cap="flat" cmpd="sng">
            <a:solidFill>
              <a:srgbClr val="05966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6" name="Google Shape;466;p16"/>
          <p:cNvSpPr/>
          <p:nvPr/>
        </p:nvSpPr>
        <p:spPr>
          <a:xfrm>
            <a:off x="9573768" y="1298448"/>
            <a:ext cx="2011680" cy="50292"/>
          </a:xfrm>
          <a:prstGeom prst="rect">
            <a:avLst/>
          </a:prstGeom>
          <a:solidFill>
            <a:srgbClr val="059669"/>
          </a:solidFill>
          <a:ln w="12700" cap="flat" cmpd="sng">
            <a:solidFill>
              <a:srgbClr val="05966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7" name="Google Shape;467;p16"/>
          <p:cNvSpPr/>
          <p:nvPr/>
        </p:nvSpPr>
        <p:spPr>
          <a:xfrm>
            <a:off x="9692640" y="1389888"/>
            <a:ext cx="347472" cy="347472"/>
          </a:xfrm>
          <a:prstGeom prst="ellipse">
            <a:avLst/>
          </a:prstGeom>
          <a:solidFill>
            <a:srgbClr val="059669"/>
          </a:solidFill>
          <a:ln w="12700" cap="flat" cmpd="sng">
            <a:solidFill>
              <a:srgbClr val="05966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8" name="Google Shape;468;p16"/>
          <p:cNvSpPr/>
          <p:nvPr/>
        </p:nvSpPr>
        <p:spPr>
          <a:xfrm>
            <a:off x="9692640" y="1389888"/>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5</a:t>
            </a:r>
            <a:endParaRPr sz="1300">
              <a:solidFill>
                <a:schemeClr val="dk1"/>
              </a:solidFill>
              <a:latin typeface="Calibri"/>
              <a:ea typeface="Calibri"/>
              <a:cs typeface="Calibri"/>
              <a:sym typeface="Calibri"/>
            </a:endParaRPr>
          </a:p>
        </p:txBody>
      </p:sp>
      <p:sp>
        <p:nvSpPr>
          <p:cNvPr id="469" name="Google Shape;469;p16"/>
          <p:cNvSpPr/>
          <p:nvPr/>
        </p:nvSpPr>
        <p:spPr>
          <a:xfrm>
            <a:off x="10104120" y="1389888"/>
            <a:ext cx="1408176"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59669"/>
              </a:buClr>
              <a:buSzPts val="1200"/>
              <a:buFont typeface="Calibri"/>
              <a:buNone/>
            </a:pPr>
            <a:r>
              <a:rPr lang="en-US" sz="1200" b="1">
                <a:solidFill>
                  <a:srgbClr val="059669"/>
                </a:solidFill>
                <a:latin typeface="Calibri"/>
                <a:ea typeface="Calibri"/>
                <a:cs typeface="Calibri"/>
                <a:sym typeface="Calibri"/>
              </a:rPr>
              <a:t>Group-invariant space</a:t>
            </a:r>
            <a:endParaRPr sz="1200">
              <a:solidFill>
                <a:schemeClr val="dk1"/>
              </a:solidFill>
              <a:latin typeface="Calibri"/>
              <a:ea typeface="Calibri"/>
              <a:cs typeface="Calibri"/>
              <a:sym typeface="Calibri"/>
            </a:endParaRPr>
          </a:p>
        </p:txBody>
      </p:sp>
      <p:cxnSp>
        <p:nvCxnSpPr>
          <p:cNvPr id="470" name="Google Shape;470;p16"/>
          <p:cNvCxnSpPr/>
          <p:nvPr/>
        </p:nvCxnSpPr>
        <p:spPr>
          <a:xfrm>
            <a:off x="9692640" y="1810512"/>
            <a:ext cx="1773936" cy="0"/>
          </a:xfrm>
          <a:prstGeom prst="straightConnector1">
            <a:avLst/>
          </a:prstGeom>
          <a:noFill/>
          <a:ln w="9525" cap="flat" cmpd="sng">
            <a:solidFill>
              <a:srgbClr val="059669"/>
            </a:solidFill>
            <a:prstDash val="solid"/>
            <a:round/>
            <a:headEnd type="none" w="sm" len="sm"/>
            <a:tailEnd type="none" w="sm" len="sm"/>
          </a:ln>
        </p:spPr>
      </p:cxnSp>
      <p:sp>
        <p:nvSpPr>
          <p:cNvPr id="471" name="Google Shape;471;p16"/>
          <p:cNvSpPr/>
          <p:nvPr/>
        </p:nvSpPr>
        <p:spPr>
          <a:xfrm>
            <a:off x="9692640" y="1892808"/>
            <a:ext cx="1773936" cy="10332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At convergence, the discriminator cannot reliably tell which group produced z.</a:t>
            </a:r>
            <a:endParaRPr sz="9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950"/>
              <a:buFont typeface="Calibri"/>
              <a:buNone/>
            </a:pP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z_renal ≈ z_metabolic ≈ z_clinical in distribution.</a:t>
            </a:r>
            <a:endParaRPr sz="9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950"/>
              <a:buFont typeface="Calibri"/>
              <a:buNone/>
            </a:pP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 Prerequisite satisfied for prototype alignment: proto_AKI computed across groups is now a meaningful centroid.</a:t>
            </a:r>
            <a:endParaRPr sz="950">
              <a:solidFill>
                <a:schemeClr val="dk1"/>
              </a:solidFill>
              <a:latin typeface="Calibri"/>
              <a:ea typeface="Calibri"/>
              <a:cs typeface="Calibri"/>
              <a:sym typeface="Calibri"/>
            </a:endParaRPr>
          </a:p>
        </p:txBody>
      </p:sp>
      <p:sp>
        <p:nvSpPr>
          <p:cNvPr id="472" name="Google Shape;472;p16"/>
          <p:cNvSpPr/>
          <p:nvPr/>
        </p:nvSpPr>
        <p:spPr>
          <a:xfrm>
            <a:off x="320040" y="3310128"/>
            <a:ext cx="11430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300"/>
              <a:buFont typeface="Calibri"/>
              <a:buNone/>
            </a:pPr>
            <a:r>
              <a:rPr lang="en-US" sz="1300" b="1">
                <a:solidFill>
                  <a:srgbClr val="1F2937"/>
                </a:solidFill>
                <a:latin typeface="Calibri"/>
                <a:ea typeface="Calibri"/>
                <a:cs typeface="Calibri"/>
                <a:sym typeface="Calibri"/>
              </a:rPr>
              <a:t>What C0 achieves — and its limits</a:t>
            </a:r>
            <a:endParaRPr sz="1300">
              <a:solidFill>
                <a:schemeClr val="dk1"/>
              </a:solidFill>
              <a:latin typeface="Calibri"/>
              <a:ea typeface="Calibri"/>
              <a:cs typeface="Calibri"/>
              <a:sym typeface="Calibri"/>
            </a:endParaRPr>
          </a:p>
        </p:txBody>
      </p:sp>
      <p:cxnSp>
        <p:nvCxnSpPr>
          <p:cNvPr id="473" name="Google Shape;473;p16"/>
          <p:cNvCxnSpPr/>
          <p:nvPr/>
        </p:nvCxnSpPr>
        <p:spPr>
          <a:xfrm>
            <a:off x="320040" y="3602736"/>
            <a:ext cx="11548872" cy="0"/>
          </a:xfrm>
          <a:prstGeom prst="straightConnector1">
            <a:avLst/>
          </a:prstGeom>
          <a:noFill/>
          <a:ln w="10150" cap="flat" cmpd="sng">
            <a:solidFill>
              <a:srgbClr val="D1D5DB"/>
            </a:solidFill>
            <a:prstDash val="solid"/>
            <a:round/>
            <a:headEnd type="none" w="sm" len="sm"/>
            <a:tailEnd type="none" w="sm" len="sm"/>
          </a:ln>
        </p:spPr>
      </p:cxnSp>
      <p:sp>
        <p:nvSpPr>
          <p:cNvPr id="474" name="Google Shape;474;p16"/>
          <p:cNvSpPr/>
          <p:nvPr/>
        </p:nvSpPr>
        <p:spPr>
          <a:xfrm>
            <a:off x="320040" y="3721608"/>
            <a:ext cx="5321808" cy="1399021"/>
          </a:xfrm>
          <a:prstGeom prst="rect">
            <a:avLst/>
          </a:prstGeom>
          <a:solidFill>
            <a:srgbClr val="EFF6FF"/>
          </a:solidFill>
          <a:ln w="15225"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5" name="Google Shape;475;p16"/>
          <p:cNvSpPr/>
          <p:nvPr/>
        </p:nvSpPr>
        <p:spPr>
          <a:xfrm>
            <a:off x="320040" y="3721608"/>
            <a:ext cx="64008" cy="2359152"/>
          </a:xfrm>
          <a:prstGeom prst="rect">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6" name="Google Shape;476;p16"/>
          <p:cNvSpPr/>
          <p:nvPr/>
        </p:nvSpPr>
        <p:spPr>
          <a:xfrm>
            <a:off x="484632" y="3813048"/>
            <a:ext cx="5157216"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200"/>
              <a:buFont typeface="Calibri"/>
              <a:buNone/>
            </a:pPr>
            <a:r>
              <a:rPr lang="en-US" sz="1200" b="1">
                <a:solidFill>
                  <a:srgbClr val="1D4ED8"/>
                </a:solidFill>
                <a:latin typeface="Calibri"/>
                <a:ea typeface="Calibri"/>
                <a:cs typeface="Calibri"/>
                <a:sym typeface="Calibri"/>
              </a:rPr>
              <a:t>What C0 achieves (within-site)</a:t>
            </a:r>
            <a:endParaRPr sz="1200">
              <a:solidFill>
                <a:schemeClr val="dk1"/>
              </a:solidFill>
              <a:latin typeface="Calibri"/>
              <a:ea typeface="Calibri"/>
              <a:cs typeface="Calibri"/>
              <a:sym typeface="Calibri"/>
            </a:endParaRPr>
          </a:p>
        </p:txBody>
      </p:sp>
      <p:sp>
        <p:nvSpPr>
          <p:cNvPr id="477" name="Google Shape;477;p16"/>
          <p:cNvSpPr/>
          <p:nvPr/>
        </p:nvSpPr>
        <p:spPr>
          <a:xfrm>
            <a:off x="484632" y="4142232"/>
            <a:ext cx="5157216" cy="18470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b="1">
                <a:solidFill>
                  <a:srgbClr val="374151"/>
                </a:solidFill>
                <a:latin typeface="Calibri"/>
                <a:ea typeface="Calibri"/>
                <a:cs typeface="Calibri"/>
                <a:sym typeface="Calibri"/>
              </a:rPr>
              <a:t>Site A</a:t>
            </a:r>
            <a:r>
              <a:rPr lang="en-US" sz="1050">
                <a:solidFill>
                  <a:srgbClr val="374151"/>
                </a:solidFill>
                <a:latin typeface="Calibri"/>
                <a:ea typeface="Calibri"/>
                <a:cs typeface="Calibri"/>
                <a:sym typeface="Calibri"/>
              </a:rPr>
              <a:t>'s z_renal and z_metabolic now live in the same latent space.</a:t>
            </a:r>
            <a:br>
              <a:rPr lang="en-US" sz="1050">
                <a:solidFill>
                  <a:srgbClr val="374151"/>
                </a:solidFill>
                <a:latin typeface="Calibri"/>
                <a:ea typeface="Calibri"/>
                <a:cs typeface="Calibri"/>
                <a:sym typeface="Calibri"/>
              </a:rPr>
            </a:br>
            <a:r>
              <a:rPr lang="en-US" sz="1050" b="1">
                <a:solidFill>
                  <a:srgbClr val="374151"/>
                </a:solidFill>
                <a:latin typeface="Calibri"/>
                <a:ea typeface="Calibri"/>
                <a:cs typeface="Calibri"/>
                <a:sym typeface="Calibri"/>
              </a:rPr>
              <a:t>Site D</a:t>
            </a:r>
            <a:r>
              <a:rPr lang="en-US" sz="1050">
                <a:solidFill>
                  <a:srgbClr val="374151"/>
                </a:solidFill>
                <a:latin typeface="Calibri"/>
                <a:ea typeface="Calibri"/>
                <a:cs typeface="Calibri"/>
                <a:sym typeface="Calibri"/>
              </a:rPr>
              <a:t>'s z_clinical and z_metabolic now live in the same latent space.</a:t>
            </a:r>
            <a:br>
              <a:rPr lang="en-US" sz="1050">
                <a:solidFill>
                  <a:srgbClr val="374151"/>
                </a:solidFill>
                <a:latin typeface="Calibri"/>
                <a:ea typeface="Calibri"/>
                <a:cs typeface="Calibri"/>
                <a:sym typeface="Calibri"/>
              </a:rPr>
            </a:br>
            <a:br>
              <a:rPr lang="en-US" sz="1050">
                <a:solidFill>
                  <a:srgbClr val="374151"/>
                </a:solidFill>
                <a:latin typeface="Calibri"/>
                <a:ea typeface="Calibri"/>
                <a:cs typeface="Calibri"/>
                <a:sym typeface="Calibri"/>
              </a:rPr>
            </a:br>
            <a:r>
              <a:rPr lang="en-US" sz="1050">
                <a:solidFill>
                  <a:srgbClr val="374151"/>
                </a:solidFill>
                <a:latin typeface="Calibri"/>
                <a:ea typeface="Calibri"/>
                <a:cs typeface="Calibri"/>
                <a:sym typeface="Calibri"/>
              </a:rPr>
              <a:t>Each site independently produces a group-invariant embedding space, purely from its own data, with no cross-site communication. The discriminator is trained, used, and discarded entirely locally.</a:t>
            </a:r>
            <a:endParaRPr sz="1050">
              <a:solidFill>
                <a:schemeClr val="dk1"/>
              </a:solidFill>
              <a:latin typeface="Calibri"/>
              <a:ea typeface="Calibri"/>
              <a:cs typeface="Calibri"/>
              <a:sym typeface="Calibri"/>
            </a:endParaRPr>
          </a:p>
        </p:txBody>
      </p:sp>
      <p:sp>
        <p:nvSpPr>
          <p:cNvPr id="478" name="Google Shape;478;p16"/>
          <p:cNvSpPr/>
          <p:nvPr/>
        </p:nvSpPr>
        <p:spPr>
          <a:xfrm>
            <a:off x="5742433" y="3652780"/>
            <a:ext cx="3331826" cy="1486156"/>
          </a:xfrm>
          <a:prstGeom prst="rect">
            <a:avLst/>
          </a:prstGeom>
          <a:solidFill>
            <a:srgbClr val="FEF3C7"/>
          </a:solidFill>
          <a:ln w="15225" cap="flat" cmpd="sng">
            <a:solidFill>
              <a:srgbClr val="D9770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9" name="Google Shape;479;p16"/>
          <p:cNvSpPr/>
          <p:nvPr/>
        </p:nvSpPr>
        <p:spPr>
          <a:xfrm>
            <a:off x="5879592" y="3721608"/>
            <a:ext cx="3024184" cy="13030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b="1">
                <a:solidFill>
                  <a:srgbClr val="374151"/>
                </a:solidFill>
                <a:latin typeface="Calibri"/>
                <a:ea typeface="Calibri"/>
                <a:cs typeface="Calibri"/>
                <a:sym typeface="Calibri"/>
              </a:rPr>
              <a:t>Site A</a:t>
            </a:r>
            <a:r>
              <a:rPr lang="en-US" sz="1050">
                <a:solidFill>
                  <a:srgbClr val="374151"/>
                </a:solidFill>
                <a:latin typeface="Calibri"/>
                <a:ea typeface="Calibri"/>
                <a:cs typeface="Calibri"/>
                <a:sym typeface="Calibri"/>
              </a:rPr>
              <a:t>'s invariant space and </a:t>
            </a:r>
            <a:r>
              <a:rPr lang="en-US" sz="1050" b="1">
                <a:solidFill>
                  <a:srgbClr val="374151"/>
                </a:solidFill>
                <a:latin typeface="Calibri"/>
                <a:ea typeface="Calibri"/>
                <a:cs typeface="Calibri"/>
                <a:sym typeface="Calibri"/>
              </a:rPr>
              <a:t>Site D</a:t>
            </a:r>
            <a:r>
              <a:rPr lang="en-US" sz="1050">
                <a:solidFill>
                  <a:srgbClr val="374151"/>
                </a:solidFill>
                <a:latin typeface="Calibri"/>
                <a:ea typeface="Calibri"/>
                <a:cs typeface="Calibri"/>
                <a:sym typeface="Calibri"/>
              </a:rPr>
              <a:t>'s invariant space are shaped by completely different local data distributions. and are not aligned with each other.</a:t>
            </a:r>
            <a:br>
              <a:rPr lang="en-US" sz="1050">
                <a:solidFill>
                  <a:srgbClr val="374151"/>
                </a:solidFill>
                <a:latin typeface="Calibri"/>
                <a:ea typeface="Calibri"/>
                <a:cs typeface="Calibri"/>
                <a:sym typeface="Calibri"/>
              </a:rPr>
            </a:br>
            <a:br>
              <a:rPr lang="en-US" sz="1050">
                <a:solidFill>
                  <a:srgbClr val="374151"/>
                </a:solidFill>
                <a:latin typeface="Calibri"/>
                <a:ea typeface="Calibri"/>
                <a:cs typeface="Calibri"/>
                <a:sym typeface="Calibri"/>
              </a:rPr>
            </a:br>
            <a:r>
              <a:rPr lang="en-US" sz="1050">
                <a:solidFill>
                  <a:srgbClr val="374151"/>
                </a:solidFill>
                <a:latin typeface="Calibri"/>
                <a:ea typeface="Calibri"/>
                <a:cs typeface="Calibri"/>
                <a:sym typeface="Calibri"/>
              </a:rPr>
              <a:t>Cross-site alignment happens in C2: prototypes from Site A and Site D are pulled toward a shared global centroid in the FL round (prototype alignment.</a:t>
            </a:r>
            <a:endParaRPr/>
          </a:p>
          <a:p>
            <a:pPr marL="0" marR="0" lvl="0" indent="0" algn="l" rtl="0">
              <a:spcBef>
                <a:spcPts val="0"/>
              </a:spcBef>
              <a:spcAft>
                <a:spcPts val="0"/>
              </a:spcAft>
              <a:buNone/>
            </a:pPr>
            <a:r>
              <a:rPr lang="en-US" sz="1050" b="1">
                <a:solidFill>
                  <a:srgbClr val="374151"/>
                </a:solidFill>
                <a:latin typeface="Calibri"/>
                <a:ea typeface="Calibri"/>
                <a:cs typeface="Calibri"/>
                <a:sym typeface="Calibri"/>
              </a:rPr>
              <a:t>C0 and C2 are complementary:</a:t>
            </a:r>
            <a:r>
              <a:rPr lang="en-US" sz="1050">
                <a:solidFill>
                  <a:srgbClr val="374151"/>
                </a:solidFill>
                <a:latin typeface="Calibri"/>
                <a:ea typeface="Calibri"/>
                <a:cs typeface="Calibri"/>
                <a:sym typeface="Calibri"/>
              </a:rPr>
              <a:t>  C0 aligns groups within a site  ·  C1/C2 aligns sites with each other. </a:t>
            </a:r>
            <a:br>
              <a:rPr lang="en-US" sz="1050">
                <a:solidFill>
                  <a:srgbClr val="374151"/>
                </a:solidFill>
                <a:latin typeface="Calibri"/>
                <a:ea typeface="Calibri"/>
                <a:cs typeface="Calibri"/>
                <a:sym typeface="Calibri"/>
              </a:rPr>
            </a:br>
            <a:br>
              <a:rPr lang="en-US" sz="1050">
                <a:solidFill>
                  <a:srgbClr val="374151"/>
                </a:solidFill>
                <a:latin typeface="Calibri"/>
                <a:ea typeface="Calibri"/>
                <a:cs typeface="Calibri"/>
                <a:sym typeface="Calibri"/>
              </a:rPr>
            </a:br>
            <a:endParaRPr sz="1050">
              <a:solidFill>
                <a:schemeClr val="dk1"/>
              </a:solidFill>
              <a:latin typeface="Calibri"/>
              <a:ea typeface="Calibri"/>
              <a:cs typeface="Calibri"/>
              <a:sym typeface="Calibri"/>
            </a:endParaRPr>
          </a:p>
        </p:txBody>
      </p:sp>
      <p:sp>
        <p:nvSpPr>
          <p:cNvPr id="480" name="Google Shape;480;p16"/>
          <p:cNvSpPr/>
          <p:nvPr/>
        </p:nvSpPr>
        <p:spPr>
          <a:xfrm>
            <a:off x="0" y="6675120"/>
            <a:ext cx="12188952" cy="182880"/>
          </a:xfrm>
          <a:prstGeom prst="rect">
            <a:avLst/>
          </a:prstGeom>
          <a:solidFill>
            <a:srgbClr val="F9FAFB"/>
          </a:solidFill>
          <a:ln w="9525"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1" name="Google Shape;481;p16"/>
          <p:cNvSpPr/>
          <p:nvPr/>
        </p:nvSpPr>
        <p:spPr>
          <a:xfrm>
            <a:off x="320040" y="6675120"/>
            <a:ext cx="11548872"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280"/>
              </a:buClr>
              <a:buSzPts val="900"/>
              <a:buFont typeface="Calibri"/>
              <a:buNone/>
            </a:pPr>
            <a:r>
              <a:rPr lang="en-US" sz="900" i="1">
                <a:solidFill>
                  <a:srgbClr val="6B7280"/>
                </a:solidFill>
                <a:latin typeface="Calibri"/>
                <a:ea typeface="Calibri"/>
                <a:cs typeface="Calibri"/>
                <a:sym typeface="Calibri"/>
              </a:rPr>
              <a:t>C0 aligns groups within a site  ·  C1/C2 prototype alignment then aligns sites with each other  ·  The two mechanisms are complementary and sequential</a:t>
            </a:r>
            <a:endParaRPr sz="9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6"/>
        <p:cNvGrpSpPr/>
        <p:nvPr/>
      </p:nvGrpSpPr>
      <p:grpSpPr>
        <a:xfrm>
          <a:off x="0" y="0"/>
          <a:ext cx="0" cy="0"/>
          <a:chOff x="0" y="0"/>
          <a:chExt cx="0" cy="0"/>
        </a:xfrm>
      </p:grpSpPr>
      <p:sp>
        <p:nvSpPr>
          <p:cNvPr id="487" name="Google Shape;487;p17"/>
          <p:cNvSpPr/>
          <p:nvPr/>
        </p:nvSpPr>
        <p:spPr>
          <a:xfrm>
            <a:off x="0" y="0"/>
            <a:ext cx="9144000" cy="685800"/>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8" name="Google Shape;488;p17"/>
          <p:cNvSpPr/>
          <p:nvPr/>
        </p:nvSpPr>
        <p:spPr>
          <a:xfrm>
            <a:off x="320040" y="0"/>
            <a:ext cx="850392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2200"/>
              <a:buFont typeface="Calibri"/>
              <a:buNone/>
            </a:pPr>
            <a:r>
              <a:rPr lang="en-US" sz="2200" b="1">
                <a:solidFill>
                  <a:srgbClr val="1F2937"/>
                </a:solidFill>
                <a:latin typeface="Calibri"/>
                <a:ea typeface="Calibri"/>
                <a:cs typeface="Calibri"/>
                <a:sym typeface="Calibri"/>
              </a:rPr>
              <a:t>Training Strategy</a:t>
            </a:r>
            <a:endParaRPr sz="2200">
              <a:solidFill>
                <a:schemeClr val="dk1"/>
              </a:solidFill>
              <a:latin typeface="Calibri"/>
              <a:ea typeface="Calibri"/>
              <a:cs typeface="Calibri"/>
              <a:sym typeface="Calibri"/>
            </a:endParaRPr>
          </a:p>
        </p:txBody>
      </p:sp>
      <p:sp>
        <p:nvSpPr>
          <p:cNvPr id="489" name="Google Shape;489;p17"/>
          <p:cNvSpPr/>
          <p:nvPr/>
        </p:nvSpPr>
        <p:spPr>
          <a:xfrm>
            <a:off x="0" y="685800"/>
            <a:ext cx="9144000" cy="36576"/>
          </a:xfrm>
          <a:prstGeom prst="rect">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0" name="Google Shape;490;p17"/>
          <p:cNvSpPr/>
          <p:nvPr/>
        </p:nvSpPr>
        <p:spPr>
          <a:xfrm>
            <a:off x="365760" y="768096"/>
            <a:ext cx="841248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100"/>
              <a:buFont typeface="Calibri"/>
              <a:buNone/>
            </a:pPr>
            <a:r>
              <a:rPr lang="en-US" sz="1100" i="1">
                <a:solidFill>
                  <a:srgbClr val="6B7280"/>
                </a:solidFill>
                <a:latin typeface="Calibri"/>
                <a:ea typeface="Calibri"/>
                <a:cs typeface="Calibri"/>
                <a:sym typeface="Calibri"/>
              </a:rPr>
              <a:t>Each phase addresses a distinct failure mode of naïve federated training</a:t>
            </a:r>
            <a:endParaRPr sz="1100">
              <a:solidFill>
                <a:schemeClr val="dk1"/>
              </a:solidFill>
              <a:latin typeface="Calibri"/>
              <a:ea typeface="Calibri"/>
              <a:cs typeface="Calibri"/>
              <a:sym typeface="Calibri"/>
            </a:endParaRPr>
          </a:p>
        </p:txBody>
      </p:sp>
      <p:sp>
        <p:nvSpPr>
          <p:cNvPr id="491" name="Google Shape;491;p17"/>
          <p:cNvSpPr/>
          <p:nvPr/>
        </p:nvSpPr>
        <p:spPr>
          <a:xfrm>
            <a:off x="320040" y="1078992"/>
            <a:ext cx="960120" cy="914400"/>
          </a:xfrm>
          <a:prstGeom prst="rect">
            <a:avLst/>
          </a:prstGeom>
          <a:solidFill>
            <a:srgbClr val="F3F4F6"/>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2" name="Google Shape;492;p17"/>
          <p:cNvSpPr/>
          <p:nvPr/>
        </p:nvSpPr>
        <p:spPr>
          <a:xfrm>
            <a:off x="320040" y="1335024"/>
            <a:ext cx="9601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2937"/>
              </a:buClr>
              <a:buSzPts val="1100"/>
              <a:buFont typeface="Calibri"/>
              <a:buNone/>
            </a:pPr>
            <a:r>
              <a:rPr lang="en-US" sz="1100" b="1">
                <a:solidFill>
                  <a:srgbClr val="1F2937"/>
                </a:solidFill>
                <a:latin typeface="Calibri"/>
                <a:ea typeface="Calibri"/>
                <a:cs typeface="Calibri"/>
                <a:sym typeface="Calibri"/>
              </a:rPr>
              <a:t>Phase 1</a:t>
            </a:r>
            <a:endParaRPr sz="1100">
              <a:solidFill>
                <a:schemeClr val="dk1"/>
              </a:solidFill>
              <a:latin typeface="Calibri"/>
              <a:ea typeface="Calibri"/>
              <a:cs typeface="Calibri"/>
              <a:sym typeface="Calibri"/>
            </a:endParaRPr>
          </a:p>
        </p:txBody>
      </p:sp>
      <p:sp>
        <p:nvSpPr>
          <p:cNvPr id="493" name="Google Shape;493;p17"/>
          <p:cNvSpPr/>
          <p:nvPr/>
        </p:nvSpPr>
        <p:spPr>
          <a:xfrm>
            <a:off x="1417320" y="1115568"/>
            <a:ext cx="74066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150"/>
              <a:buFont typeface="Calibri"/>
              <a:buNone/>
            </a:pPr>
            <a:r>
              <a:rPr lang="en-US" sz="1150" b="1">
                <a:solidFill>
                  <a:srgbClr val="1F2937"/>
                </a:solidFill>
                <a:latin typeface="Calibri"/>
                <a:ea typeface="Calibri"/>
                <a:cs typeface="Calibri"/>
                <a:sym typeface="Calibri"/>
              </a:rPr>
              <a:t>Local Warm-up  (5–10 epochs, no federation)</a:t>
            </a:r>
            <a:endParaRPr sz="1150">
              <a:solidFill>
                <a:schemeClr val="dk1"/>
              </a:solidFill>
              <a:latin typeface="Calibri"/>
              <a:ea typeface="Calibri"/>
              <a:cs typeface="Calibri"/>
              <a:sym typeface="Calibri"/>
            </a:endParaRPr>
          </a:p>
        </p:txBody>
      </p:sp>
      <p:sp>
        <p:nvSpPr>
          <p:cNvPr id="494" name="Google Shape;494;p17"/>
          <p:cNvSpPr/>
          <p:nvPr/>
        </p:nvSpPr>
        <p:spPr>
          <a:xfrm>
            <a:off x="1481328" y="1444752"/>
            <a:ext cx="7315200" cy="21945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Each site trains local encoders independently before any federation begins</a:t>
            </a:r>
            <a:endParaRPr sz="1050">
              <a:solidFill>
                <a:schemeClr val="dk1"/>
              </a:solidFill>
              <a:latin typeface="Calibri"/>
              <a:ea typeface="Calibri"/>
              <a:cs typeface="Calibri"/>
              <a:sym typeface="Calibri"/>
            </a:endParaRPr>
          </a:p>
        </p:txBody>
      </p:sp>
      <p:sp>
        <p:nvSpPr>
          <p:cNvPr id="495" name="Google Shape;495;p17"/>
          <p:cNvSpPr/>
          <p:nvPr/>
        </p:nvSpPr>
        <p:spPr>
          <a:xfrm>
            <a:off x="1481328" y="1664208"/>
            <a:ext cx="7315200" cy="21945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Prevents cold-start collapse; ensures prototypes are meaningful before sharing</a:t>
            </a:r>
            <a:endParaRPr sz="1050">
              <a:solidFill>
                <a:schemeClr val="dk1"/>
              </a:solidFill>
              <a:latin typeface="Calibri"/>
              <a:ea typeface="Calibri"/>
              <a:cs typeface="Calibri"/>
              <a:sym typeface="Calibri"/>
            </a:endParaRPr>
          </a:p>
        </p:txBody>
      </p:sp>
      <p:sp>
        <p:nvSpPr>
          <p:cNvPr id="496" name="Google Shape;496;p17"/>
          <p:cNvSpPr/>
          <p:nvPr/>
        </p:nvSpPr>
        <p:spPr>
          <a:xfrm>
            <a:off x="1481328" y="1883664"/>
            <a:ext cx="7315200" cy="21945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Without warm-up, the alignment loss dominates before encoders have learned anything useful</a:t>
            </a:r>
            <a:endParaRPr sz="1050">
              <a:solidFill>
                <a:schemeClr val="dk1"/>
              </a:solidFill>
              <a:latin typeface="Calibri"/>
              <a:ea typeface="Calibri"/>
              <a:cs typeface="Calibri"/>
              <a:sym typeface="Calibri"/>
            </a:endParaRPr>
          </a:p>
        </p:txBody>
      </p:sp>
      <p:sp>
        <p:nvSpPr>
          <p:cNvPr id="497" name="Google Shape;497;p17"/>
          <p:cNvSpPr/>
          <p:nvPr/>
        </p:nvSpPr>
        <p:spPr>
          <a:xfrm>
            <a:off x="320040" y="2057400"/>
            <a:ext cx="960120" cy="914400"/>
          </a:xfrm>
          <a:prstGeom prst="rect">
            <a:avLst/>
          </a:prstGeom>
          <a:solidFill>
            <a:srgbClr val="F3F4F6"/>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8" name="Google Shape;498;p17"/>
          <p:cNvSpPr/>
          <p:nvPr/>
        </p:nvSpPr>
        <p:spPr>
          <a:xfrm>
            <a:off x="320040" y="2313432"/>
            <a:ext cx="9601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2937"/>
              </a:buClr>
              <a:buSzPts val="1100"/>
              <a:buFont typeface="Calibri"/>
              <a:buNone/>
            </a:pPr>
            <a:r>
              <a:rPr lang="en-US" sz="1100" b="1">
                <a:solidFill>
                  <a:srgbClr val="1F2937"/>
                </a:solidFill>
                <a:latin typeface="Calibri"/>
                <a:ea typeface="Calibri"/>
                <a:cs typeface="Calibri"/>
                <a:sym typeface="Calibri"/>
              </a:rPr>
              <a:t>Phase 2</a:t>
            </a:r>
            <a:endParaRPr sz="1100">
              <a:solidFill>
                <a:schemeClr val="dk1"/>
              </a:solidFill>
              <a:latin typeface="Calibri"/>
              <a:ea typeface="Calibri"/>
              <a:cs typeface="Calibri"/>
              <a:sym typeface="Calibri"/>
            </a:endParaRPr>
          </a:p>
        </p:txBody>
      </p:sp>
      <p:sp>
        <p:nvSpPr>
          <p:cNvPr id="499" name="Google Shape;499;p17"/>
          <p:cNvSpPr/>
          <p:nvPr/>
        </p:nvSpPr>
        <p:spPr>
          <a:xfrm>
            <a:off x="1417320" y="2093976"/>
            <a:ext cx="74066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150"/>
              <a:buFont typeface="Calibri"/>
              <a:buNone/>
            </a:pPr>
            <a:r>
              <a:rPr lang="en-US" sz="1150" b="1">
                <a:solidFill>
                  <a:srgbClr val="1F2937"/>
                </a:solidFill>
                <a:latin typeface="Calibri"/>
                <a:ea typeface="Calibri"/>
                <a:cs typeface="Calibri"/>
                <a:sym typeface="Calibri"/>
              </a:rPr>
              <a:t>Federate Body + Prototype Alignment</a:t>
            </a:r>
            <a:endParaRPr sz="1150">
              <a:solidFill>
                <a:schemeClr val="dk1"/>
              </a:solidFill>
              <a:latin typeface="Calibri"/>
              <a:ea typeface="Calibri"/>
              <a:cs typeface="Calibri"/>
              <a:sym typeface="Calibri"/>
            </a:endParaRPr>
          </a:p>
        </p:txBody>
      </p:sp>
      <p:sp>
        <p:nvSpPr>
          <p:cNvPr id="500" name="Google Shape;500;p17"/>
          <p:cNvSpPr/>
          <p:nvPr/>
        </p:nvSpPr>
        <p:spPr>
          <a:xfrm>
            <a:off x="1481328" y="2423160"/>
            <a:ext cx="7315200" cy="21945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Each round: compute prototypes → send to server → receive global prototypes + aggregated body (FedAvg)</a:t>
            </a:r>
            <a:endParaRPr sz="1050">
              <a:solidFill>
                <a:schemeClr val="dk1"/>
              </a:solidFill>
              <a:latin typeface="Calibri"/>
              <a:ea typeface="Calibri"/>
              <a:cs typeface="Calibri"/>
              <a:sym typeface="Calibri"/>
            </a:endParaRPr>
          </a:p>
        </p:txBody>
      </p:sp>
      <p:sp>
        <p:nvSpPr>
          <p:cNvPr id="501" name="Google Shape;501;p17"/>
          <p:cNvSpPr/>
          <p:nvPr/>
        </p:nvSpPr>
        <p:spPr>
          <a:xfrm>
            <a:off x="1481328" y="2642616"/>
            <a:ext cx="7315200" cy="21945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Update loss: L = L_classify + λ·L_proto;  head frozen throughout;  λ ablated ∈ {0.1, 0.5, 1.0}</a:t>
            </a:r>
            <a:endParaRPr sz="1050">
              <a:solidFill>
                <a:schemeClr val="dk1"/>
              </a:solidFill>
              <a:latin typeface="Calibri"/>
              <a:ea typeface="Calibri"/>
              <a:cs typeface="Calibri"/>
              <a:sym typeface="Calibri"/>
            </a:endParaRPr>
          </a:p>
        </p:txBody>
      </p:sp>
      <p:sp>
        <p:nvSpPr>
          <p:cNvPr id="502" name="Google Shape;502;p17"/>
          <p:cNvSpPr/>
          <p:nvPr/>
        </p:nvSpPr>
        <p:spPr>
          <a:xfrm>
            <a:off x="1481328" y="2862072"/>
            <a:ext cx="7315200" cy="21945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Global prototypes weighted by each site's AKI case count</a:t>
            </a:r>
            <a:endParaRPr sz="1050">
              <a:solidFill>
                <a:schemeClr val="dk1"/>
              </a:solidFill>
              <a:latin typeface="Calibri"/>
              <a:ea typeface="Calibri"/>
              <a:cs typeface="Calibri"/>
              <a:sym typeface="Calibri"/>
            </a:endParaRPr>
          </a:p>
        </p:txBody>
      </p:sp>
      <p:sp>
        <p:nvSpPr>
          <p:cNvPr id="503" name="Google Shape;503;p17"/>
          <p:cNvSpPr/>
          <p:nvPr/>
        </p:nvSpPr>
        <p:spPr>
          <a:xfrm>
            <a:off x="320040" y="3035808"/>
            <a:ext cx="960120" cy="914400"/>
          </a:xfrm>
          <a:prstGeom prst="rect">
            <a:avLst/>
          </a:prstGeom>
          <a:solidFill>
            <a:srgbClr val="F3F4F6"/>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4" name="Google Shape;504;p17"/>
          <p:cNvSpPr/>
          <p:nvPr/>
        </p:nvSpPr>
        <p:spPr>
          <a:xfrm>
            <a:off x="320040" y="3291840"/>
            <a:ext cx="9601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2937"/>
              </a:buClr>
              <a:buSzPts val="1100"/>
              <a:buFont typeface="Calibri"/>
              <a:buNone/>
            </a:pPr>
            <a:r>
              <a:rPr lang="en-US" sz="1100" b="1">
                <a:solidFill>
                  <a:srgbClr val="1F2937"/>
                </a:solidFill>
                <a:latin typeface="Calibri"/>
                <a:ea typeface="Calibri"/>
                <a:cs typeface="Calibri"/>
                <a:sym typeface="Calibri"/>
              </a:rPr>
              <a:t>Phase 3</a:t>
            </a:r>
            <a:endParaRPr sz="1100">
              <a:solidFill>
                <a:schemeClr val="dk1"/>
              </a:solidFill>
              <a:latin typeface="Calibri"/>
              <a:ea typeface="Calibri"/>
              <a:cs typeface="Calibri"/>
              <a:sym typeface="Calibri"/>
            </a:endParaRPr>
          </a:p>
        </p:txBody>
      </p:sp>
      <p:sp>
        <p:nvSpPr>
          <p:cNvPr id="505" name="Google Shape;505;p17"/>
          <p:cNvSpPr/>
          <p:nvPr/>
        </p:nvSpPr>
        <p:spPr>
          <a:xfrm>
            <a:off x="1417320" y="3072384"/>
            <a:ext cx="74066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150"/>
              <a:buFont typeface="Calibri"/>
              <a:buNone/>
            </a:pPr>
            <a:r>
              <a:rPr lang="en-US" sz="1150" b="1">
                <a:solidFill>
                  <a:srgbClr val="1F2937"/>
                </a:solidFill>
                <a:latin typeface="Calibri"/>
                <a:ea typeface="Calibri"/>
                <a:cs typeface="Calibri"/>
                <a:sym typeface="Calibri"/>
              </a:rPr>
              <a:t>Local Head Fine-tuning</a:t>
            </a:r>
            <a:endParaRPr sz="1150">
              <a:solidFill>
                <a:schemeClr val="dk1"/>
              </a:solidFill>
              <a:latin typeface="Calibri"/>
              <a:ea typeface="Calibri"/>
              <a:cs typeface="Calibri"/>
              <a:sym typeface="Calibri"/>
            </a:endParaRPr>
          </a:p>
        </p:txBody>
      </p:sp>
      <p:sp>
        <p:nvSpPr>
          <p:cNvPr id="506" name="Google Shape;506;p17"/>
          <p:cNvSpPr/>
          <p:nvPr/>
        </p:nvSpPr>
        <p:spPr>
          <a:xfrm>
            <a:off x="1481328" y="3401568"/>
            <a:ext cx="7315200" cy="21945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Body frozen; each site fine-tunes only its classification head on local labeled data</a:t>
            </a:r>
            <a:endParaRPr sz="1050">
              <a:solidFill>
                <a:schemeClr val="dk1"/>
              </a:solidFill>
              <a:latin typeface="Calibri"/>
              <a:ea typeface="Calibri"/>
              <a:cs typeface="Calibri"/>
              <a:sym typeface="Calibri"/>
            </a:endParaRPr>
          </a:p>
        </p:txBody>
      </p:sp>
      <p:sp>
        <p:nvSpPr>
          <p:cNvPr id="507" name="Google Shape;507;p17"/>
          <p:cNvSpPr/>
          <p:nvPr/>
        </p:nvSpPr>
        <p:spPr>
          <a:xfrm>
            <a:off x="1481328" y="3621024"/>
            <a:ext cx="7315200" cy="21945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Site E (no AKI labels): pseudo-labels by nearest-global-prototype distance</a:t>
            </a:r>
            <a:endParaRPr sz="1050">
              <a:solidFill>
                <a:schemeClr val="dk1"/>
              </a:solidFill>
              <a:latin typeface="Calibri"/>
              <a:ea typeface="Calibri"/>
              <a:cs typeface="Calibri"/>
              <a:sym typeface="Calibri"/>
            </a:endParaRPr>
          </a:p>
        </p:txBody>
      </p:sp>
      <p:sp>
        <p:nvSpPr>
          <p:cNvPr id="508" name="Google Shape;508;p17"/>
          <p:cNvSpPr/>
          <p:nvPr/>
        </p:nvSpPr>
        <p:spPr>
          <a:xfrm>
            <a:off x="320040" y="4014216"/>
            <a:ext cx="960120" cy="914400"/>
          </a:xfrm>
          <a:prstGeom prst="rect">
            <a:avLst/>
          </a:prstGeom>
          <a:solidFill>
            <a:srgbClr val="F3F4F6"/>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9" name="Google Shape;509;p17"/>
          <p:cNvSpPr/>
          <p:nvPr/>
        </p:nvSpPr>
        <p:spPr>
          <a:xfrm>
            <a:off x="320040" y="4270248"/>
            <a:ext cx="9601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2937"/>
              </a:buClr>
              <a:buSzPts val="1100"/>
              <a:buFont typeface="Calibri"/>
              <a:buNone/>
            </a:pPr>
            <a:r>
              <a:rPr lang="en-US" sz="1100" b="1">
                <a:solidFill>
                  <a:srgbClr val="1F2937"/>
                </a:solidFill>
                <a:latin typeface="Calibri"/>
                <a:ea typeface="Calibri"/>
                <a:cs typeface="Calibri"/>
                <a:sym typeface="Calibri"/>
              </a:rPr>
              <a:t>Phase 4</a:t>
            </a:r>
            <a:endParaRPr sz="1100">
              <a:solidFill>
                <a:schemeClr val="dk1"/>
              </a:solidFill>
              <a:latin typeface="Calibri"/>
              <a:ea typeface="Calibri"/>
              <a:cs typeface="Calibri"/>
              <a:sym typeface="Calibri"/>
            </a:endParaRPr>
          </a:p>
        </p:txBody>
      </p:sp>
      <p:sp>
        <p:nvSpPr>
          <p:cNvPr id="510" name="Google Shape;510;p17"/>
          <p:cNvSpPr/>
          <p:nvPr/>
        </p:nvSpPr>
        <p:spPr>
          <a:xfrm>
            <a:off x="1417320" y="4050792"/>
            <a:ext cx="74066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150"/>
              <a:buFont typeface="Calibri"/>
              <a:buNone/>
            </a:pPr>
            <a:r>
              <a:rPr lang="en-US" sz="1150" b="1">
                <a:solidFill>
                  <a:srgbClr val="1F2937"/>
                </a:solidFill>
                <a:latin typeface="Calibri"/>
                <a:ea typeface="Calibri"/>
                <a:cs typeface="Calibri"/>
                <a:sym typeface="Calibri"/>
              </a:rPr>
              <a:t>Evaluation and Ablation</a:t>
            </a:r>
            <a:endParaRPr sz="1150">
              <a:solidFill>
                <a:schemeClr val="dk1"/>
              </a:solidFill>
              <a:latin typeface="Calibri"/>
              <a:ea typeface="Calibri"/>
              <a:cs typeface="Calibri"/>
              <a:sym typeface="Calibri"/>
            </a:endParaRPr>
          </a:p>
        </p:txBody>
      </p:sp>
      <p:sp>
        <p:nvSpPr>
          <p:cNvPr id="511" name="Google Shape;511;p17"/>
          <p:cNvSpPr/>
          <p:nvPr/>
        </p:nvSpPr>
        <p:spPr>
          <a:xfrm>
            <a:off x="1481328" y="4379976"/>
            <a:ext cx="7315200" cy="21945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Metrics: AUC-ROC per site, early AKI detection rate (6 hr window), false negative rate, calibration</a:t>
            </a:r>
            <a:endParaRPr sz="1050">
              <a:solidFill>
                <a:schemeClr val="dk1"/>
              </a:solidFill>
              <a:latin typeface="Calibri"/>
              <a:ea typeface="Calibri"/>
              <a:cs typeface="Calibri"/>
              <a:sym typeface="Calibri"/>
            </a:endParaRPr>
          </a:p>
        </p:txBody>
      </p:sp>
      <p:sp>
        <p:nvSpPr>
          <p:cNvPr id="512" name="Google Shape;512;p17"/>
          <p:cNvSpPr/>
          <p:nvPr/>
        </p:nvSpPr>
        <p:spPr>
          <a:xfrm>
            <a:off x="1481328" y="4599432"/>
            <a:ext cx="7315200" cy="21945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Ablation: remove prototype alignment (λ=0) / body-head split / feature grouping — one at a time</a:t>
            </a:r>
            <a:endParaRPr sz="1050">
              <a:solidFill>
                <a:schemeClr val="dk1"/>
              </a:solidFill>
              <a:latin typeface="Calibri"/>
              <a:ea typeface="Calibri"/>
              <a:cs typeface="Calibri"/>
              <a:sym typeface="Calibri"/>
            </a:endParaRPr>
          </a:p>
        </p:txBody>
      </p:sp>
      <p:sp>
        <p:nvSpPr>
          <p:cNvPr id="513" name="Google Shape;513;p17"/>
          <p:cNvSpPr/>
          <p:nvPr/>
        </p:nvSpPr>
        <p:spPr>
          <a:xfrm>
            <a:off x="1481328" y="4818888"/>
            <a:ext cx="7315200" cy="21945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  Shapley values quantify each site's marginal contribution to global AUC-ROC</a:t>
            </a:r>
            <a:endParaRPr sz="1050">
              <a:solidFill>
                <a:schemeClr val="dk1"/>
              </a:solidFill>
              <a:latin typeface="Calibri"/>
              <a:ea typeface="Calibri"/>
              <a:cs typeface="Calibri"/>
              <a:sym typeface="Calibri"/>
            </a:endParaRPr>
          </a:p>
        </p:txBody>
      </p:sp>
      <p:pic>
        <p:nvPicPr>
          <p:cNvPr id="514" name="Google Shape;514;p17" descr="A white background with black text  AI-generated content may be incorrect."/>
          <p:cNvPicPr preferRelativeResize="0"/>
          <p:nvPr/>
        </p:nvPicPr>
        <p:blipFill rotWithShape="1">
          <a:blip r:embed="rId3">
            <a:alphaModFix/>
          </a:blip>
          <a:srcRect/>
          <a:stretch/>
        </p:blipFill>
        <p:spPr>
          <a:xfrm>
            <a:off x="6081776" y="2832673"/>
            <a:ext cx="2755900" cy="14414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19"/>
        <p:cNvGrpSpPr/>
        <p:nvPr/>
      </p:nvGrpSpPr>
      <p:grpSpPr>
        <a:xfrm>
          <a:off x="0" y="0"/>
          <a:ext cx="0" cy="0"/>
          <a:chOff x="0" y="0"/>
          <a:chExt cx="0" cy="0"/>
        </a:xfrm>
      </p:grpSpPr>
      <p:sp>
        <p:nvSpPr>
          <p:cNvPr id="520" name="Google Shape;520;p18"/>
          <p:cNvSpPr/>
          <p:nvPr/>
        </p:nvSpPr>
        <p:spPr>
          <a:xfrm>
            <a:off x="0" y="0"/>
            <a:ext cx="9144000" cy="685800"/>
          </a:xfrm>
          <a:prstGeom prst="rect">
            <a:avLst/>
          </a:prstGeom>
          <a:solidFill>
            <a:srgbClr val="F9FAF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1" name="Google Shape;521;p18"/>
          <p:cNvSpPr/>
          <p:nvPr/>
        </p:nvSpPr>
        <p:spPr>
          <a:xfrm>
            <a:off x="320040" y="0"/>
            <a:ext cx="850392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2200"/>
              <a:buFont typeface="Calibri"/>
              <a:buNone/>
            </a:pPr>
            <a:r>
              <a:rPr lang="en-US" sz="2200" b="1">
                <a:solidFill>
                  <a:srgbClr val="1F2937"/>
                </a:solidFill>
                <a:latin typeface="Calibri"/>
                <a:ea typeface="Calibri"/>
                <a:cs typeface="Calibri"/>
                <a:sym typeface="Calibri"/>
              </a:rPr>
              <a:t>Our Design Strategy: Five Guiding Principles</a:t>
            </a:r>
            <a:endParaRPr sz="2200">
              <a:solidFill>
                <a:schemeClr val="dk1"/>
              </a:solidFill>
              <a:latin typeface="Calibri"/>
              <a:ea typeface="Calibri"/>
              <a:cs typeface="Calibri"/>
              <a:sym typeface="Calibri"/>
            </a:endParaRPr>
          </a:p>
        </p:txBody>
      </p:sp>
      <p:sp>
        <p:nvSpPr>
          <p:cNvPr id="522" name="Google Shape;522;p18"/>
          <p:cNvSpPr/>
          <p:nvPr/>
        </p:nvSpPr>
        <p:spPr>
          <a:xfrm>
            <a:off x="0" y="685800"/>
            <a:ext cx="9144000" cy="36576"/>
          </a:xfrm>
          <a:prstGeom prst="rect">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3" name="Google Shape;523;p18"/>
          <p:cNvSpPr/>
          <p:nvPr/>
        </p:nvSpPr>
        <p:spPr>
          <a:xfrm>
            <a:off x="320040" y="804672"/>
            <a:ext cx="365760" cy="347472"/>
          </a:xfrm>
          <a:prstGeom prst="rect">
            <a:avLst/>
          </a:prstGeom>
          <a:solidFill>
            <a:srgbClr val="EFF6FF"/>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4" name="Google Shape;524;p18"/>
          <p:cNvSpPr/>
          <p:nvPr/>
        </p:nvSpPr>
        <p:spPr>
          <a:xfrm>
            <a:off x="320040" y="804672"/>
            <a:ext cx="36576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D4ED8"/>
              </a:buClr>
              <a:buSzPts val="1400"/>
              <a:buFont typeface="Calibri"/>
              <a:buNone/>
            </a:pPr>
            <a:r>
              <a:rPr lang="en-US" sz="1400" b="1">
                <a:solidFill>
                  <a:srgbClr val="1D4ED8"/>
                </a:solidFill>
                <a:latin typeface="Calibri"/>
                <a:ea typeface="Calibri"/>
                <a:cs typeface="Calibri"/>
                <a:sym typeface="Calibri"/>
              </a:rPr>
              <a:t>1</a:t>
            </a:r>
            <a:endParaRPr sz="1400">
              <a:solidFill>
                <a:schemeClr val="dk1"/>
              </a:solidFill>
              <a:latin typeface="Calibri"/>
              <a:ea typeface="Calibri"/>
              <a:cs typeface="Calibri"/>
              <a:sym typeface="Calibri"/>
            </a:endParaRPr>
          </a:p>
        </p:txBody>
      </p:sp>
      <p:sp>
        <p:nvSpPr>
          <p:cNvPr id="525" name="Google Shape;525;p18"/>
          <p:cNvSpPr/>
          <p:nvPr/>
        </p:nvSpPr>
        <p:spPr>
          <a:xfrm>
            <a:off x="822960" y="822960"/>
            <a:ext cx="8001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150"/>
              <a:buFont typeface="Calibri"/>
              <a:buNone/>
            </a:pPr>
            <a:r>
              <a:rPr lang="en-US" sz="1150" b="1">
                <a:solidFill>
                  <a:srgbClr val="1F2937"/>
                </a:solidFill>
                <a:latin typeface="Calibri"/>
                <a:ea typeface="Calibri"/>
                <a:cs typeface="Calibri"/>
                <a:sym typeface="Calibri"/>
              </a:rPr>
              <a:t>Clinical grouping over arbitrary partitioning</a:t>
            </a:r>
            <a:endParaRPr sz="1150">
              <a:solidFill>
                <a:schemeClr val="dk1"/>
              </a:solidFill>
              <a:latin typeface="Calibri"/>
              <a:ea typeface="Calibri"/>
              <a:cs typeface="Calibri"/>
              <a:sym typeface="Calibri"/>
            </a:endParaRPr>
          </a:p>
        </p:txBody>
      </p:sp>
      <p:sp>
        <p:nvSpPr>
          <p:cNvPr id="526" name="Google Shape;526;p18"/>
          <p:cNvSpPr/>
          <p:nvPr/>
        </p:nvSpPr>
        <p:spPr>
          <a:xfrm>
            <a:off x="822960" y="1106424"/>
            <a:ext cx="80010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Feature groups must reflect AKI pathophysiology — Renal, Hemodynamic, Inflammatory, Clinical. Arbitrary splits produce uninterpretable results and lose the clinical interaction structure PrADA is designed to exploit.</a:t>
            </a:r>
            <a:endParaRPr sz="1050">
              <a:solidFill>
                <a:schemeClr val="dk1"/>
              </a:solidFill>
              <a:latin typeface="Calibri"/>
              <a:ea typeface="Calibri"/>
              <a:cs typeface="Calibri"/>
              <a:sym typeface="Calibri"/>
            </a:endParaRPr>
          </a:p>
        </p:txBody>
      </p:sp>
      <p:sp>
        <p:nvSpPr>
          <p:cNvPr id="527" name="Google Shape;527;p18"/>
          <p:cNvSpPr/>
          <p:nvPr/>
        </p:nvSpPr>
        <p:spPr>
          <a:xfrm>
            <a:off x="320040" y="1645920"/>
            <a:ext cx="365760" cy="347472"/>
          </a:xfrm>
          <a:prstGeom prst="rect">
            <a:avLst/>
          </a:prstGeom>
          <a:solidFill>
            <a:srgbClr val="EFF6FF"/>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8" name="Google Shape;528;p18"/>
          <p:cNvSpPr/>
          <p:nvPr/>
        </p:nvSpPr>
        <p:spPr>
          <a:xfrm>
            <a:off x="320040" y="1645920"/>
            <a:ext cx="36576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D4ED8"/>
              </a:buClr>
              <a:buSzPts val="1400"/>
              <a:buFont typeface="Calibri"/>
              <a:buNone/>
            </a:pPr>
            <a:r>
              <a:rPr lang="en-US" sz="1400" b="1">
                <a:solidFill>
                  <a:srgbClr val="1D4ED8"/>
                </a:solidFill>
                <a:latin typeface="Calibri"/>
                <a:ea typeface="Calibri"/>
                <a:cs typeface="Calibri"/>
                <a:sym typeface="Calibri"/>
              </a:rPr>
              <a:t>2</a:t>
            </a:r>
            <a:endParaRPr sz="1400">
              <a:solidFill>
                <a:schemeClr val="dk1"/>
              </a:solidFill>
              <a:latin typeface="Calibri"/>
              <a:ea typeface="Calibri"/>
              <a:cs typeface="Calibri"/>
              <a:sym typeface="Calibri"/>
            </a:endParaRPr>
          </a:p>
        </p:txBody>
      </p:sp>
      <p:sp>
        <p:nvSpPr>
          <p:cNvPr id="529" name="Google Shape;529;p18"/>
          <p:cNvSpPr/>
          <p:nvPr/>
        </p:nvSpPr>
        <p:spPr>
          <a:xfrm>
            <a:off x="822960" y="1664208"/>
            <a:ext cx="8001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150"/>
              <a:buFont typeface="Calibri"/>
              <a:buNone/>
            </a:pPr>
            <a:r>
              <a:rPr lang="en-US" sz="1150" b="1">
                <a:solidFill>
                  <a:srgbClr val="1F2937"/>
                </a:solidFill>
                <a:latin typeface="Calibri"/>
                <a:ea typeface="Calibri"/>
                <a:cs typeface="Calibri"/>
                <a:sym typeface="Calibri"/>
              </a:rPr>
              <a:t>Prototypes as the universal communication currency</a:t>
            </a:r>
            <a:endParaRPr sz="1150">
              <a:solidFill>
                <a:schemeClr val="dk1"/>
              </a:solidFill>
              <a:latin typeface="Calibri"/>
              <a:ea typeface="Calibri"/>
              <a:cs typeface="Calibri"/>
              <a:sym typeface="Calibri"/>
            </a:endParaRPr>
          </a:p>
        </p:txBody>
      </p:sp>
      <p:sp>
        <p:nvSpPr>
          <p:cNvPr id="530" name="Google Shape;530;p18"/>
          <p:cNvSpPr/>
          <p:nvPr/>
        </p:nvSpPr>
        <p:spPr>
          <a:xfrm>
            <a:off x="822960" y="1947672"/>
            <a:ext cx="80010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Every site, regardless of feature set or model architecture , can compute and share class prototypes. This is the lowest common denominator enabling federation under extreme heterogeneity, and the most privacy-safe signal.</a:t>
            </a:r>
            <a:endParaRPr sz="1050">
              <a:solidFill>
                <a:schemeClr val="dk1"/>
              </a:solidFill>
              <a:latin typeface="Calibri"/>
              <a:ea typeface="Calibri"/>
              <a:cs typeface="Calibri"/>
              <a:sym typeface="Calibri"/>
            </a:endParaRPr>
          </a:p>
        </p:txBody>
      </p:sp>
      <p:sp>
        <p:nvSpPr>
          <p:cNvPr id="531" name="Google Shape;531;p18"/>
          <p:cNvSpPr/>
          <p:nvPr/>
        </p:nvSpPr>
        <p:spPr>
          <a:xfrm>
            <a:off x="320040" y="2487168"/>
            <a:ext cx="365760" cy="347472"/>
          </a:xfrm>
          <a:prstGeom prst="rect">
            <a:avLst/>
          </a:prstGeom>
          <a:solidFill>
            <a:srgbClr val="EFF6FF"/>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2" name="Google Shape;532;p18"/>
          <p:cNvSpPr/>
          <p:nvPr/>
        </p:nvSpPr>
        <p:spPr>
          <a:xfrm>
            <a:off x="320040" y="2487168"/>
            <a:ext cx="36576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D4ED8"/>
              </a:buClr>
              <a:buSzPts val="1400"/>
              <a:buFont typeface="Calibri"/>
              <a:buNone/>
            </a:pPr>
            <a:r>
              <a:rPr lang="en-US" sz="1400" b="1">
                <a:solidFill>
                  <a:srgbClr val="1D4ED8"/>
                </a:solidFill>
                <a:latin typeface="Calibri"/>
                <a:ea typeface="Calibri"/>
                <a:cs typeface="Calibri"/>
                <a:sym typeface="Calibri"/>
              </a:rPr>
              <a:t>3</a:t>
            </a:r>
            <a:endParaRPr sz="1400">
              <a:solidFill>
                <a:schemeClr val="dk1"/>
              </a:solidFill>
              <a:latin typeface="Calibri"/>
              <a:ea typeface="Calibri"/>
              <a:cs typeface="Calibri"/>
              <a:sym typeface="Calibri"/>
            </a:endParaRPr>
          </a:p>
        </p:txBody>
      </p:sp>
      <p:sp>
        <p:nvSpPr>
          <p:cNvPr id="533" name="Google Shape;533;p18"/>
          <p:cNvSpPr/>
          <p:nvPr/>
        </p:nvSpPr>
        <p:spPr>
          <a:xfrm>
            <a:off x="822960" y="2505456"/>
            <a:ext cx="8001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150"/>
              <a:buFont typeface="Calibri"/>
              <a:buNone/>
            </a:pPr>
            <a:r>
              <a:rPr lang="en-US" sz="1150" b="1">
                <a:solidFill>
                  <a:srgbClr val="1F2937"/>
                </a:solidFill>
                <a:latin typeface="Calibri"/>
                <a:ea typeface="Calibri"/>
                <a:cs typeface="Calibri"/>
                <a:sym typeface="Calibri"/>
              </a:rPr>
              <a:t>Body captures biology, head captures clinical context</a:t>
            </a:r>
            <a:endParaRPr sz="1150">
              <a:solidFill>
                <a:schemeClr val="dk1"/>
              </a:solidFill>
              <a:latin typeface="Calibri"/>
              <a:ea typeface="Calibri"/>
              <a:cs typeface="Calibri"/>
              <a:sym typeface="Calibri"/>
            </a:endParaRPr>
          </a:p>
        </p:txBody>
      </p:sp>
      <p:sp>
        <p:nvSpPr>
          <p:cNvPr id="534" name="Google Shape;534;p18"/>
          <p:cNvSpPr/>
          <p:nvPr/>
        </p:nvSpPr>
        <p:spPr>
          <a:xfrm>
            <a:off x="822960" y="2788920"/>
            <a:ext cx="80010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AKI pathophysiology is universal: rising creatinine = kidney stress everywhere. But actionable thresholds differ: ICU acts at KDIGO Stage 1; ward may wait for Stage 2. The body-head split embeds this structurally.</a:t>
            </a:r>
            <a:endParaRPr sz="1050">
              <a:solidFill>
                <a:schemeClr val="dk1"/>
              </a:solidFill>
              <a:latin typeface="Calibri"/>
              <a:ea typeface="Calibri"/>
              <a:cs typeface="Calibri"/>
              <a:sym typeface="Calibri"/>
            </a:endParaRPr>
          </a:p>
        </p:txBody>
      </p:sp>
      <p:sp>
        <p:nvSpPr>
          <p:cNvPr id="535" name="Google Shape;535;p18"/>
          <p:cNvSpPr/>
          <p:nvPr/>
        </p:nvSpPr>
        <p:spPr>
          <a:xfrm>
            <a:off x="320040" y="3328416"/>
            <a:ext cx="365760" cy="347472"/>
          </a:xfrm>
          <a:prstGeom prst="rect">
            <a:avLst/>
          </a:prstGeom>
          <a:solidFill>
            <a:srgbClr val="EFF6FF"/>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6" name="Google Shape;536;p18"/>
          <p:cNvSpPr/>
          <p:nvPr/>
        </p:nvSpPr>
        <p:spPr>
          <a:xfrm>
            <a:off x="320040" y="3328416"/>
            <a:ext cx="36576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D4ED8"/>
              </a:buClr>
              <a:buSzPts val="1400"/>
              <a:buFont typeface="Calibri"/>
              <a:buNone/>
            </a:pPr>
            <a:r>
              <a:rPr lang="en-US" sz="1400" b="1">
                <a:solidFill>
                  <a:srgbClr val="1D4ED8"/>
                </a:solidFill>
                <a:latin typeface="Calibri"/>
                <a:ea typeface="Calibri"/>
                <a:cs typeface="Calibri"/>
                <a:sym typeface="Calibri"/>
              </a:rPr>
              <a:t>4</a:t>
            </a:r>
            <a:endParaRPr sz="1400">
              <a:solidFill>
                <a:schemeClr val="dk1"/>
              </a:solidFill>
              <a:latin typeface="Calibri"/>
              <a:ea typeface="Calibri"/>
              <a:cs typeface="Calibri"/>
              <a:sym typeface="Calibri"/>
            </a:endParaRPr>
          </a:p>
        </p:txBody>
      </p:sp>
      <p:sp>
        <p:nvSpPr>
          <p:cNvPr id="537" name="Google Shape;537;p18"/>
          <p:cNvSpPr/>
          <p:nvPr/>
        </p:nvSpPr>
        <p:spPr>
          <a:xfrm>
            <a:off x="822960" y="3346704"/>
            <a:ext cx="8001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150"/>
              <a:buFont typeface="Calibri"/>
              <a:buNone/>
            </a:pPr>
            <a:r>
              <a:rPr lang="en-US" sz="1150" b="1">
                <a:solidFill>
                  <a:srgbClr val="1F2937"/>
                </a:solidFill>
                <a:latin typeface="Calibri"/>
                <a:ea typeface="Calibri"/>
                <a:cs typeface="Calibri"/>
                <a:sym typeface="Calibri"/>
              </a:rPr>
              <a:t>Heterogeneity is graduated, not binary</a:t>
            </a:r>
            <a:endParaRPr sz="1150">
              <a:solidFill>
                <a:schemeClr val="dk1"/>
              </a:solidFill>
              <a:latin typeface="Calibri"/>
              <a:ea typeface="Calibri"/>
              <a:cs typeface="Calibri"/>
              <a:sym typeface="Calibri"/>
            </a:endParaRPr>
          </a:p>
        </p:txBody>
      </p:sp>
      <p:sp>
        <p:nvSpPr>
          <p:cNvPr id="538" name="Google Shape;538;p18"/>
          <p:cNvSpPr/>
          <p:nvPr/>
        </p:nvSpPr>
        <p:spPr>
          <a:xfrm>
            <a:off x="822960" y="3630168"/>
            <a:ext cx="80010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We test Dirichlet α ∈ {0.1, 0.3, 0.5, 1.0} and feature sets from 2–14 variables per site. This characterises exactly when standard FL degrades and FTL recovers.</a:t>
            </a:r>
            <a:endParaRPr sz="1050">
              <a:solidFill>
                <a:schemeClr val="dk1"/>
              </a:solidFill>
              <a:latin typeface="Calibri"/>
              <a:ea typeface="Calibri"/>
              <a:cs typeface="Calibri"/>
              <a:sym typeface="Calibri"/>
            </a:endParaRPr>
          </a:p>
        </p:txBody>
      </p:sp>
      <p:sp>
        <p:nvSpPr>
          <p:cNvPr id="539" name="Google Shape;539;p18"/>
          <p:cNvSpPr/>
          <p:nvPr/>
        </p:nvSpPr>
        <p:spPr>
          <a:xfrm>
            <a:off x="320040" y="4169664"/>
            <a:ext cx="365760" cy="347472"/>
          </a:xfrm>
          <a:prstGeom prst="rect">
            <a:avLst/>
          </a:prstGeom>
          <a:solidFill>
            <a:srgbClr val="EFF6FF"/>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0" name="Google Shape;540;p18"/>
          <p:cNvSpPr/>
          <p:nvPr/>
        </p:nvSpPr>
        <p:spPr>
          <a:xfrm>
            <a:off x="320040" y="4169664"/>
            <a:ext cx="36576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D4ED8"/>
              </a:buClr>
              <a:buSzPts val="1400"/>
              <a:buFont typeface="Calibri"/>
              <a:buNone/>
            </a:pPr>
            <a:r>
              <a:rPr lang="en-US" sz="1400" b="1">
                <a:solidFill>
                  <a:srgbClr val="1D4ED8"/>
                </a:solidFill>
                <a:latin typeface="Calibri"/>
                <a:ea typeface="Calibri"/>
                <a:cs typeface="Calibri"/>
                <a:sym typeface="Calibri"/>
              </a:rPr>
              <a:t>5</a:t>
            </a:r>
            <a:endParaRPr sz="1400">
              <a:solidFill>
                <a:schemeClr val="dk1"/>
              </a:solidFill>
              <a:latin typeface="Calibri"/>
              <a:ea typeface="Calibri"/>
              <a:cs typeface="Calibri"/>
              <a:sym typeface="Calibri"/>
            </a:endParaRPr>
          </a:p>
        </p:txBody>
      </p:sp>
      <p:sp>
        <p:nvSpPr>
          <p:cNvPr id="541" name="Google Shape;541;p18"/>
          <p:cNvSpPr/>
          <p:nvPr/>
        </p:nvSpPr>
        <p:spPr>
          <a:xfrm>
            <a:off x="822960" y="4187952"/>
            <a:ext cx="8001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150"/>
              <a:buFont typeface="Calibri"/>
              <a:buNone/>
            </a:pPr>
            <a:r>
              <a:rPr lang="en-US" sz="1150" b="1">
                <a:solidFill>
                  <a:srgbClr val="1F2937"/>
                </a:solidFill>
                <a:latin typeface="Calibri"/>
                <a:ea typeface="Calibri"/>
                <a:cs typeface="Calibri"/>
                <a:sym typeface="Calibri"/>
              </a:rPr>
              <a:t>MIMIC-IV is the controlled anchor</a:t>
            </a:r>
            <a:endParaRPr sz="1150">
              <a:solidFill>
                <a:schemeClr val="dk1"/>
              </a:solidFill>
              <a:latin typeface="Calibri"/>
              <a:ea typeface="Calibri"/>
              <a:cs typeface="Calibri"/>
              <a:sym typeface="Calibri"/>
            </a:endParaRPr>
          </a:p>
        </p:txBody>
      </p:sp>
      <p:sp>
        <p:nvSpPr>
          <p:cNvPr id="542" name="Google Shape;542;p18"/>
          <p:cNvSpPr/>
          <p:nvPr/>
        </p:nvSpPr>
        <p:spPr>
          <a:xfrm>
            <a:off x="822960" y="4471416"/>
            <a:ext cx="80010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74151"/>
              </a:buClr>
              <a:buSzPts val="1050"/>
              <a:buFont typeface="Calibri"/>
              <a:buNone/>
            </a:pPr>
            <a:r>
              <a:rPr lang="en-US" sz="1050">
                <a:solidFill>
                  <a:srgbClr val="374151"/>
                </a:solidFill>
                <a:latin typeface="Calibri"/>
                <a:ea typeface="Calibri"/>
                <a:cs typeface="Calibri"/>
                <a:sym typeface="Calibri"/>
              </a:rPr>
              <a:t>MIMIC-IV is Site C — it defines the feature schema, drives pretraining, and sets the performance upper bound. All simulated sites are clinically justified degradations of this anchor.</a:t>
            </a:r>
            <a:endParaRPr sz="105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Per-Site FL vs Local Analysis">
    <p:bg>
      <p:bgPr>
        <a:solidFill>
          <a:srgbClr val="FFFFFF"/>
        </a:solidFill>
        <a:effectLst/>
      </p:bgPr>
    </p:bg>
    <p:spTree>
      <p:nvGrpSpPr>
        <p:cNvPr id="1" name=""/>
        <p:cNvGrpSpPr/>
        <p:nvPr/>
      </p:nvGrpSpPr>
      <p:grpSpPr>
        <a:xfrm>
          <a:off x="0" y="0"/>
          <a:ext cx="0" cy="0"/>
          <a:chOff x="0" y="0"/>
          <a:chExt cx="0" cy="0"/>
        </a:xfrm>
      </p:grpSpPr>
      <p:sp>
        <p:nvSpPr>
          <p:cNvPr id="2" name="hdr"/>
          <p:cNvSpPr/>
          <p:nvPr/>
        </p:nvSpPr>
        <p:spPr>
          <a:xfrm>
            <a:off x="0" y="0"/>
            <a:ext cx="9144000" cy="420000"/>
          </a:xfrm>
          <a:prstGeom prst="rect">
            <a:avLst/>
          </a:prstGeom>
          <a:solidFill>
            <a:srgbClr val="1E3A5F"/>
          </a:solidFill>
          <a:ln/>
        </p:spPr>
        <p:txBody>
          <a:bodyPr wrap="square" lIns="274638" tIns="60960" rIns="274638" bIns="60960" rtlCol="0" anchor="ctr"/>
          <a:lstStyle/>
          <a:p>
            <a:pPr marL="0" indent="0">
              <a:buNone/>
            </a:pPr>
            <a:r>
              <a:rPr lang="en-US" sz="1700" b="1" dirty="0">
                <a:solidFill>
                  <a:srgbClr val="FFFFFF"/>
                </a:solidFill>
                <a:latin typeface="Calibri"/>
              </a:rPr>
              <a:t>Per-Site Analysis: Are any sites penalized?</a:t>
            </a:r>
          </a:p>
        </p:txBody>
      </p:sp>
      <p:graphicFrame>
        <p:nvGraphicFramePr>
          <p:cNvPr id="20" name="Tbl20"/>
          <p:cNvGraphicFramePr>
            <a:graphicFrameLocks noGrp="1"/>
          </p:cNvGraphicFramePr>
          <p:nvPr/>
        </p:nvGraphicFramePr>
        <p:xfrm>
          <a:off x="228600" y="460000"/>
          <a:ext cx="8240000" cy="4636770"/>
        </p:xfrm>
        <a:graphic>
          <a:graphicData uri="http://schemas.openxmlformats.org/drawingml/2006/table">
            <a:tbl>
              <a:tblPr>
                <a:noFill/>
              </a:tblPr>
              <a:tblGrid>
                <a:gridCol w="2100000">
                  <a:extLst>
                    <a:ext uri="{9D8B030D-6E8A-4147-A177-3AD203B41FA5}">
                      <a16:colId xmlns:a16="http://schemas.microsoft.com/office/drawing/2014/main" val="20000"/>
                    </a:ext>
                  </a:extLst>
                </a:gridCol>
                <a:gridCol w="760000">
                  <a:extLst>
                    <a:ext uri="{9D8B030D-6E8A-4147-A177-3AD203B41FA5}">
                      <a16:colId xmlns:a16="http://schemas.microsoft.com/office/drawing/2014/main" val="20001"/>
                    </a:ext>
                  </a:extLst>
                </a:gridCol>
                <a:gridCol w="760000">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gridCol w="760000">
                  <a:extLst>
                    <a:ext uri="{9D8B030D-6E8A-4147-A177-3AD203B41FA5}">
                      <a16:colId xmlns:a16="http://schemas.microsoft.com/office/drawing/2014/main" val="20004"/>
                    </a:ext>
                  </a:extLst>
                </a:gridCol>
                <a:gridCol w="900000">
                  <a:extLst>
                    <a:ext uri="{9D8B030D-6E8A-4147-A177-3AD203B41FA5}">
                      <a16:colId xmlns:a16="http://schemas.microsoft.com/office/drawing/2014/main" val="20005"/>
                    </a:ext>
                  </a:extLst>
                </a:gridCol>
                <a:gridCol w="2060000">
                  <a:extLst>
                    <a:ext uri="{9D8B030D-6E8A-4147-A177-3AD203B41FA5}">
                      <a16:colId xmlns:a16="http://schemas.microsoft.com/office/drawing/2014/main" val="20006"/>
                    </a:ext>
                  </a:extLst>
                </a:gridCol>
              </a:tblGrid>
              <a:tr h="192000">
                <a:tc>
                  <a:txBody>
                    <a:bodyPr/>
                    <a:lstStyle/>
                    <a:p>
                      <a:pPr marL="0" indent="0">
                        <a:buNone/>
                      </a:pPr>
                      <a:r>
                        <a:rPr lang="en-US" sz="775" b="1" i="0" dirty="0">
                          <a:solidFill>
                            <a:srgbClr val="FFFFFF"/>
                          </a:solidFill>
                          <a:latin typeface="Calibri"/>
                        </a:rPr>
                        <a:t>Site / Condition</a:t>
                      </a:r>
                    </a:p>
                  </a:txBody>
                  <a:tcPr>
                    <a:solidFill>
                      <a:srgbClr val="1E3A5F"/>
                    </a:solidFill>
                  </a:tcPr>
                </a:tc>
                <a:tc>
                  <a:txBody>
                    <a:bodyPr/>
                    <a:lstStyle/>
                    <a:p>
                      <a:pPr marL="0" indent="0">
                        <a:buNone/>
                      </a:pPr>
                      <a:r>
                        <a:rPr lang="en-US" sz="775" b="1" i="0" dirty="0">
                          <a:solidFill>
                            <a:srgbClr val="FFFFFF"/>
                          </a:solidFill>
                          <a:latin typeface="Calibri"/>
                        </a:rPr>
                        <a:t>FL (S+clip)</a:t>
                      </a:r>
                    </a:p>
                  </a:txBody>
                  <a:tcPr>
                    <a:solidFill>
                      <a:srgbClr val="1E3A5F"/>
                    </a:solidFill>
                  </a:tcPr>
                </a:tc>
                <a:tc>
                  <a:txBody>
                    <a:bodyPr/>
                    <a:lstStyle/>
                    <a:p>
                      <a:pPr marL="0" indent="0">
                        <a:buNone/>
                      </a:pPr>
                      <a:r>
                        <a:rPr lang="en-US" sz="775" b="1" i="0" dirty="0">
                          <a:solidFill>
                            <a:srgbClr val="FFFFFF"/>
                          </a:solidFill>
                          <a:latin typeface="Calibri"/>
                        </a:rPr>
                        <a:t>Local</a:t>
                      </a:r>
                    </a:p>
                  </a:txBody>
                  <a:tcPr>
                    <a:solidFill>
                      <a:srgbClr val="1E3A5F"/>
                    </a:solidFill>
                  </a:tcPr>
                </a:tc>
                <a:tc>
                  <a:txBody>
                    <a:bodyPr/>
                    <a:lstStyle/>
                    <a:p>
                      <a:pPr marL="0" indent="0">
                        <a:buNone/>
                      </a:pPr>
                      <a:r>
                        <a:rPr lang="en-US" sz="775" b="1" i="0" dirty="0">
                          <a:solidFill>
                            <a:srgbClr val="FFFFFF"/>
                          </a:solidFill>
                          <a:latin typeface="Calibri"/>
                        </a:rPr>
                        <a:t>Δ FL-Local</a:t>
                      </a:r>
                    </a:p>
                  </a:txBody>
                  <a:tcPr>
                    <a:solidFill>
                      <a:srgbClr val="1E3A5F"/>
                    </a:solidFill>
                  </a:tcPr>
                </a:tc>
                <a:tc>
                  <a:txBody>
                    <a:bodyPr/>
                    <a:lstStyle/>
                    <a:p>
                      <a:pPr marL="0" indent="0">
                        <a:buNone/>
                      </a:pPr>
                      <a:r>
                        <a:rPr lang="en-US" sz="775" b="1" i="0" dirty="0">
                          <a:solidFill>
                            <a:srgbClr val="FFFFFF"/>
                          </a:solidFill>
                          <a:latin typeface="Calibri"/>
                        </a:rPr>
                        <a:t>Central</a:t>
                      </a:r>
                    </a:p>
                  </a:txBody>
                  <a:tcPr>
                    <a:solidFill>
                      <a:srgbClr val="1E3A5F"/>
                    </a:solidFill>
                  </a:tcPr>
                </a:tc>
                <a:tc>
                  <a:txBody>
                    <a:bodyPr/>
                    <a:lstStyle/>
                    <a:p>
                      <a:pPr marL="0" indent="0">
                        <a:buNone/>
                      </a:pPr>
                      <a:r>
                        <a:rPr lang="en-US" sz="775" b="1" i="0" dirty="0">
                          <a:solidFill>
                            <a:srgbClr val="FFFFFF"/>
                          </a:solidFill>
                          <a:latin typeface="Calibri"/>
                        </a:rPr>
                        <a:t>Δ FL-Cen</a:t>
                      </a:r>
                    </a:p>
                  </a:txBody>
                  <a:tcPr>
                    <a:solidFill>
                      <a:srgbClr val="1E3A5F"/>
                    </a:solidFill>
                  </a:tcPr>
                </a:tc>
                <a:tc>
                  <a:txBody>
                    <a:bodyPr/>
                    <a:lstStyle/>
                    <a:p>
                      <a:pPr marL="0" indent="0">
                        <a:buNone/>
                      </a:pPr>
                      <a:r>
                        <a:rPr lang="en-US" sz="775" b="1" i="0" dirty="0">
                          <a:solidFill>
                            <a:srgbClr val="FFFFFF"/>
                          </a:solidFill>
                          <a:latin typeface="Calibri"/>
                        </a:rPr>
                        <a:t>Verdict</a:t>
                      </a:r>
                    </a:p>
                  </a:txBody>
                  <a:tcPr>
                    <a:solidFill>
                      <a:srgbClr val="1E3A5F"/>
                    </a:solidFill>
                  </a:tcPr>
                </a:tc>
                <a:extLst>
                  <a:ext uri="{0D108BD9-81ED-4DB2-BD59-A6C34878D82A}">
                    <a16:rowId xmlns:a16="http://schemas.microsoft.com/office/drawing/2014/main" val="10000"/>
                  </a:ext>
                </a:extLst>
              </a:tr>
              <a:tr h="245000">
                <a:tc>
                  <a:txBody>
                    <a:bodyPr/>
                    <a:lstStyle/>
                    <a:p>
                      <a:pPr marL="0" indent="0">
                        <a:buNone/>
                      </a:pPr>
                      <a:r>
                        <a:rPr lang="en-US" sz="775" b="1" i="0" dirty="0">
                          <a:solidFill>
                            <a:srgbClr val="DC2626"/>
                          </a:solidFill>
                          <a:latin typeface="Calibri"/>
                        </a:rPr>
                        <a:t>site_A  ICU  43% AKI  39 feat</a:t>
                      </a:r>
                    </a:p>
                  </a:txBody>
                  <a:tcPr>
                    <a:solidFill>
                      <a:srgbClr val="FEE2E2"/>
                    </a:solidFill>
                  </a:tcPr>
                </a:tc>
                <a:tc>
                  <a:txBody>
                    <a:bodyPr/>
                    <a:lstStyle/>
                    <a:p>
                      <a:pPr marL="0" indent="0">
                        <a:buNone/>
                      </a:pPr>
                      <a:endParaRPr/>
                    </a:p>
                  </a:txBody>
                  <a:tcPr>
                    <a:solidFill>
                      <a:srgbClr val="FEE2E2"/>
                    </a:solidFill>
                  </a:tcPr>
                </a:tc>
                <a:tc>
                  <a:txBody>
                    <a:bodyPr/>
                    <a:lstStyle/>
                    <a:p>
                      <a:pPr marL="0" indent="0">
                        <a:buNone/>
                      </a:pPr>
                      <a:endParaRPr/>
                    </a:p>
                  </a:txBody>
                  <a:tcPr>
                    <a:solidFill>
                      <a:srgbClr val="FEE2E2"/>
                    </a:solidFill>
                  </a:tcPr>
                </a:tc>
                <a:tc>
                  <a:txBody>
                    <a:bodyPr/>
                    <a:lstStyle/>
                    <a:p>
                      <a:pPr marL="0" indent="0">
                        <a:buNone/>
                      </a:pPr>
                      <a:endParaRPr/>
                    </a:p>
                  </a:txBody>
                  <a:tcPr>
                    <a:solidFill>
                      <a:srgbClr val="FEE2E2"/>
                    </a:solidFill>
                  </a:tcPr>
                </a:tc>
                <a:tc>
                  <a:txBody>
                    <a:bodyPr/>
                    <a:lstStyle/>
                    <a:p>
                      <a:pPr marL="0" indent="0">
                        <a:buNone/>
                      </a:pPr>
                      <a:endParaRPr/>
                    </a:p>
                  </a:txBody>
                  <a:tcPr>
                    <a:solidFill>
                      <a:srgbClr val="FEE2E2"/>
                    </a:solidFill>
                  </a:tcPr>
                </a:tc>
                <a:tc>
                  <a:txBody>
                    <a:bodyPr/>
                    <a:lstStyle/>
                    <a:p>
                      <a:pPr marL="0" indent="0">
                        <a:buNone/>
                      </a:pPr>
                      <a:endParaRPr/>
                    </a:p>
                  </a:txBody>
                  <a:tcPr>
                    <a:solidFill>
                      <a:srgbClr val="FEE2E2"/>
                    </a:solidFill>
                  </a:tcPr>
                </a:tc>
                <a:tc>
                  <a:txBody>
                    <a:bodyPr/>
                    <a:lstStyle/>
                    <a:p>
                      <a:pPr marL="0" indent="0">
                        <a:buNone/>
                      </a:pPr>
                      <a:endParaRPr/>
                    </a:p>
                  </a:txBody>
                  <a:tcPr>
                    <a:solidFill>
                      <a:srgbClr val="FEE2E2"/>
                    </a:solidFill>
                  </a:tcPr>
                </a:tc>
                <a:extLst>
                  <a:ext uri="{0D108BD9-81ED-4DB2-BD59-A6C34878D82A}">
                    <a16:rowId xmlns:a16="http://schemas.microsoft.com/office/drawing/2014/main" val="10001"/>
                  </a:ext>
                </a:extLst>
              </a:tr>
              <a:tr h="192000">
                <a:tc>
                  <a:txBody>
                    <a:bodyPr/>
                    <a:lstStyle/>
                    <a:p>
                      <a:pPr marL="0" indent="0">
                        <a:buNone/>
                      </a:pPr>
                      <a:r>
                        <a:rPr lang="en-US" sz="750" b="0" i="0" dirty="0">
                          <a:solidFill>
                            <a:srgbClr val="111827"/>
                          </a:solidFill>
                          <a:latin typeface="Calibri"/>
                        </a:rPr>
                        <a:t>  IID</a:t>
                      </a:r>
                    </a:p>
                  </a:txBody>
                  <a:tcPr>
                    <a:solidFill>
                      <a:srgbClr val="EFF6FF"/>
                    </a:solidFill>
                  </a:tcPr>
                </a:tc>
                <a:tc>
                  <a:txBody>
                    <a:bodyPr/>
                    <a:lstStyle/>
                    <a:p>
                      <a:pPr marL="0" indent="0">
                        <a:buNone/>
                      </a:pPr>
                      <a:r>
                        <a:rPr lang="en-US" sz="750" b="0" i="0" dirty="0">
                          <a:solidFill>
                            <a:srgbClr val="111827"/>
                          </a:solidFill>
                          <a:latin typeface="Calibri"/>
                        </a:rPr>
                        <a:t>0.881</a:t>
                      </a:r>
                    </a:p>
                  </a:txBody>
                  <a:tcPr>
                    <a:solidFill>
                      <a:srgbClr val="EFF6FF"/>
                    </a:solidFill>
                  </a:tcPr>
                </a:tc>
                <a:tc>
                  <a:txBody>
                    <a:bodyPr/>
                    <a:lstStyle/>
                    <a:p>
                      <a:pPr marL="0" indent="0">
                        <a:buNone/>
                      </a:pPr>
                      <a:r>
                        <a:rPr lang="en-US" sz="750" b="0" i="0" dirty="0">
                          <a:solidFill>
                            <a:srgbClr val="111827"/>
                          </a:solidFill>
                          <a:latin typeface="Calibri"/>
                        </a:rPr>
                        <a:t>0.848</a:t>
                      </a:r>
                    </a:p>
                  </a:txBody>
                  <a:tcPr>
                    <a:solidFill>
                      <a:srgbClr val="EFF6FF"/>
                    </a:solidFill>
                  </a:tcPr>
                </a:tc>
                <a:tc>
                  <a:txBody>
                    <a:bodyPr/>
                    <a:lstStyle/>
                    <a:p>
                      <a:pPr marL="0" indent="0">
                        <a:buNone/>
                      </a:pPr>
                      <a:r>
                        <a:rPr lang="en-US" sz="750" b="0" i="0" dirty="0">
                          <a:solidFill>
                            <a:srgbClr val="16A34A"/>
                          </a:solidFill>
                          <a:latin typeface="Calibri"/>
                        </a:rPr>
                        <a:t>+0.033</a:t>
                      </a:r>
                    </a:p>
                  </a:txBody>
                  <a:tcPr>
                    <a:solidFill>
                      <a:srgbClr val="EFF6FF"/>
                    </a:solidFill>
                  </a:tcPr>
                </a:tc>
                <a:tc>
                  <a:txBody>
                    <a:bodyPr/>
                    <a:lstStyle/>
                    <a:p>
                      <a:pPr marL="0" indent="0">
                        <a:buNone/>
                      </a:pPr>
                      <a:r>
                        <a:rPr lang="en-US" sz="750" b="0" i="0" dirty="0">
                          <a:solidFill>
                            <a:srgbClr val="111827"/>
                          </a:solidFill>
                          <a:latin typeface="Calibri"/>
                        </a:rPr>
                        <a:t>0.884</a:t>
                      </a:r>
                    </a:p>
                  </a:txBody>
                  <a:tcPr>
                    <a:solidFill>
                      <a:srgbClr val="EFF6FF"/>
                    </a:solidFill>
                  </a:tcPr>
                </a:tc>
                <a:tc>
                  <a:txBody>
                    <a:bodyPr/>
                    <a:lstStyle/>
                    <a:p>
                      <a:pPr marL="0" indent="0">
                        <a:buNone/>
                      </a:pPr>
                      <a:r>
                        <a:rPr lang="en-US" sz="750" b="0" i="0" dirty="0">
                          <a:solidFill>
                            <a:srgbClr val="111827"/>
                          </a:solidFill>
                          <a:latin typeface="Calibri"/>
                        </a:rPr>
                        <a:t>−0.003</a:t>
                      </a:r>
                    </a:p>
                  </a:txBody>
                  <a:tcPr>
                    <a:solidFill>
                      <a:srgbClr val="EFF6FF"/>
                    </a:solidFill>
                  </a:tcPr>
                </a:tc>
                <a:tc>
                  <a:txBody>
                    <a:bodyPr/>
                    <a:lstStyle/>
                    <a:p>
                      <a:pPr marL="0" indent="0">
                        <a:buNone/>
                      </a:pPr>
                      <a:r>
                        <a:rPr lang="en-US" sz="750" b="0" i="0" dirty="0">
                          <a:solidFill>
                            <a:srgbClr val="374151"/>
                          </a:solidFill>
                          <a:latin typeface="Calibri"/>
                        </a:rPr>
                        <a:t>FL beats local; ties central</a:t>
                      </a:r>
                    </a:p>
                  </a:txBody>
                  <a:tcPr>
                    <a:solidFill>
                      <a:srgbClr val="EFF6FF"/>
                    </a:solidFill>
                  </a:tcPr>
                </a:tc>
                <a:extLst>
                  <a:ext uri="{0D108BD9-81ED-4DB2-BD59-A6C34878D82A}">
                    <a16:rowId xmlns:a16="http://schemas.microsoft.com/office/drawing/2014/main" val="10002"/>
                  </a:ext>
                </a:extLst>
              </a:tr>
              <a:tr h="192000">
                <a:tc>
                  <a:txBody>
                    <a:bodyPr/>
                    <a:lstStyle/>
                    <a:p>
                      <a:pPr marL="0" indent="0">
                        <a:buNone/>
                      </a:pPr>
                      <a:r>
                        <a:rPr lang="en-US" sz="750" b="0" i="0" dirty="0">
                          <a:solidFill>
                            <a:srgbClr val="111827"/>
                          </a:solidFill>
                          <a:latin typeface="Calibri"/>
                        </a:rPr>
                        <a:t>  Covariate only</a:t>
                      </a:r>
                    </a:p>
                  </a:txBody>
                  <a:tcPr>
                    <a:solidFill>
                      <a:srgbClr val="FEF2F2"/>
                    </a:solidFill>
                  </a:tcPr>
                </a:tc>
                <a:tc>
                  <a:txBody>
                    <a:bodyPr/>
                    <a:lstStyle/>
                    <a:p>
                      <a:pPr marL="0" indent="0">
                        <a:buNone/>
                      </a:pPr>
                      <a:r>
                        <a:rPr lang="en-US" sz="750" b="0" i="0" dirty="0">
                          <a:solidFill>
                            <a:srgbClr val="111827"/>
                          </a:solidFill>
                          <a:latin typeface="Calibri"/>
                        </a:rPr>
                        <a:t>0.957</a:t>
                      </a:r>
                    </a:p>
                  </a:txBody>
                  <a:tcPr>
                    <a:solidFill>
                      <a:srgbClr val="FEF2F2"/>
                    </a:solidFill>
                  </a:tcPr>
                </a:tc>
                <a:tc>
                  <a:txBody>
                    <a:bodyPr/>
                    <a:lstStyle/>
                    <a:p>
                      <a:pPr marL="0" indent="0">
                        <a:buNone/>
                      </a:pPr>
                      <a:r>
                        <a:rPr lang="en-US" sz="750" b="0" i="0" dirty="0">
                          <a:solidFill>
                            <a:srgbClr val="111827"/>
                          </a:solidFill>
                          <a:latin typeface="Calibri"/>
                        </a:rPr>
                        <a:t>0.970</a:t>
                      </a:r>
                    </a:p>
                  </a:txBody>
                  <a:tcPr>
                    <a:solidFill>
                      <a:srgbClr val="FEF2F2"/>
                    </a:solidFill>
                  </a:tcPr>
                </a:tc>
                <a:tc>
                  <a:txBody>
                    <a:bodyPr/>
                    <a:lstStyle/>
                    <a:p>
                      <a:pPr marL="0" indent="0">
                        <a:buNone/>
                      </a:pPr>
                      <a:r>
                        <a:rPr lang="en-US" sz="750" b="1" i="0" dirty="0">
                          <a:solidFill>
                            <a:srgbClr val="DC2626"/>
                          </a:solidFill>
                          <a:latin typeface="Calibri"/>
                        </a:rPr>
                        <a:t>−0.013</a:t>
                      </a:r>
                    </a:p>
                  </a:txBody>
                  <a:tcPr>
                    <a:solidFill>
                      <a:srgbClr val="FEF2F2"/>
                    </a:solidFill>
                  </a:tcPr>
                </a:tc>
                <a:tc>
                  <a:txBody>
                    <a:bodyPr/>
                    <a:lstStyle/>
                    <a:p>
                      <a:pPr marL="0" indent="0">
                        <a:buNone/>
                      </a:pPr>
                      <a:r>
                        <a:rPr lang="en-US" sz="750" b="0" i="0" dirty="0">
                          <a:solidFill>
                            <a:srgbClr val="111827"/>
                          </a:solidFill>
                          <a:latin typeface="Calibri"/>
                        </a:rPr>
                        <a:t>0.962</a:t>
                      </a:r>
                    </a:p>
                  </a:txBody>
                  <a:tcPr>
                    <a:solidFill>
                      <a:srgbClr val="FEF2F2"/>
                    </a:solidFill>
                  </a:tcPr>
                </a:tc>
                <a:tc>
                  <a:txBody>
                    <a:bodyPr/>
                    <a:lstStyle/>
                    <a:p>
                      <a:pPr marL="0" indent="0">
                        <a:buNone/>
                      </a:pPr>
                      <a:r>
                        <a:rPr lang="en-US" sz="750" b="0" i="0" dirty="0">
                          <a:solidFill>
                            <a:srgbClr val="111827"/>
                          </a:solidFill>
                          <a:latin typeface="Calibri"/>
                        </a:rPr>
                        <a:t>−0.005</a:t>
                      </a:r>
                    </a:p>
                  </a:txBody>
                  <a:tcPr>
                    <a:solidFill>
                      <a:srgbClr val="FEF2F2"/>
                    </a:solidFill>
                  </a:tcPr>
                </a:tc>
                <a:tc>
                  <a:txBody>
                    <a:bodyPr/>
                    <a:lstStyle/>
                    <a:p>
                      <a:pPr marL="0" indent="0">
                        <a:buNone/>
                      </a:pPr>
                      <a:r>
                        <a:rPr lang="en-US" sz="750" b="1" i="0" dirty="0">
                          <a:solidFill>
                            <a:srgbClr val="DC2626"/>
                          </a:solidFill>
                          <a:latin typeface="Calibri"/>
                        </a:rPr>
                        <a:t>⚠ LOCAL WINS — penalised by FL</a:t>
                      </a:r>
                    </a:p>
                  </a:txBody>
                  <a:tcPr>
                    <a:solidFill>
                      <a:srgbClr val="FEF2F2"/>
                    </a:solidFill>
                  </a:tcPr>
                </a:tc>
                <a:extLst>
                  <a:ext uri="{0D108BD9-81ED-4DB2-BD59-A6C34878D82A}">
                    <a16:rowId xmlns:a16="http://schemas.microsoft.com/office/drawing/2014/main" val="10003"/>
                  </a:ext>
                </a:extLst>
              </a:tr>
              <a:tr h="192000">
                <a:tc>
                  <a:txBody>
                    <a:bodyPr/>
                    <a:lstStyle/>
                    <a:p>
                      <a:pPr marL="0" indent="0">
                        <a:buNone/>
                      </a:pPr>
                      <a:r>
                        <a:rPr lang="en-US" sz="750" b="0" i="0" dirty="0">
                          <a:solidFill>
                            <a:srgbClr val="111827"/>
                          </a:solidFill>
                          <a:latin typeface="Calibri"/>
                        </a:rPr>
                        <a:t>  Both max</a:t>
                      </a:r>
                    </a:p>
                  </a:txBody>
                  <a:tcPr>
                    <a:solidFill>
                      <a:srgbClr val="EFF6FF"/>
                    </a:solidFill>
                  </a:tcPr>
                </a:tc>
                <a:tc>
                  <a:txBody>
                    <a:bodyPr/>
                    <a:lstStyle/>
                    <a:p>
                      <a:pPr marL="0" indent="0">
                        <a:buNone/>
                      </a:pPr>
                      <a:r>
                        <a:rPr lang="en-US" sz="750" b="0" i="0" dirty="0">
                          <a:solidFill>
                            <a:srgbClr val="111827"/>
                          </a:solidFill>
                          <a:latin typeface="Calibri"/>
                        </a:rPr>
                        <a:t>0.782</a:t>
                      </a:r>
                    </a:p>
                  </a:txBody>
                  <a:tcPr>
                    <a:solidFill>
                      <a:srgbClr val="EFF6FF"/>
                    </a:solidFill>
                  </a:tcPr>
                </a:tc>
                <a:tc>
                  <a:txBody>
                    <a:bodyPr/>
                    <a:lstStyle/>
                    <a:p>
                      <a:pPr marL="0" indent="0">
                        <a:buNone/>
                      </a:pPr>
                      <a:r>
                        <a:rPr lang="en-US" sz="750" b="0" i="0" dirty="0">
                          <a:solidFill>
                            <a:srgbClr val="111827"/>
                          </a:solidFill>
                          <a:latin typeface="Calibri"/>
                        </a:rPr>
                        <a:t>0.748</a:t>
                      </a:r>
                    </a:p>
                  </a:txBody>
                  <a:tcPr>
                    <a:solidFill>
                      <a:srgbClr val="EFF6FF"/>
                    </a:solidFill>
                  </a:tcPr>
                </a:tc>
                <a:tc>
                  <a:txBody>
                    <a:bodyPr/>
                    <a:lstStyle/>
                    <a:p>
                      <a:pPr marL="0" indent="0">
                        <a:buNone/>
                      </a:pPr>
                      <a:r>
                        <a:rPr lang="en-US" sz="750" b="0" i="0" dirty="0">
                          <a:solidFill>
                            <a:srgbClr val="16A34A"/>
                          </a:solidFill>
                          <a:latin typeface="Calibri"/>
                        </a:rPr>
                        <a:t>+0.035</a:t>
                      </a:r>
                    </a:p>
                  </a:txBody>
                  <a:tcPr>
                    <a:solidFill>
                      <a:srgbClr val="EFF6FF"/>
                    </a:solidFill>
                  </a:tcPr>
                </a:tc>
                <a:tc>
                  <a:txBody>
                    <a:bodyPr/>
                    <a:lstStyle/>
                    <a:p>
                      <a:pPr marL="0" indent="0">
                        <a:buNone/>
                      </a:pPr>
                      <a:r>
                        <a:rPr lang="en-US" sz="750" b="0" i="0" dirty="0">
                          <a:solidFill>
                            <a:srgbClr val="111827"/>
                          </a:solidFill>
                          <a:latin typeface="Calibri"/>
                        </a:rPr>
                        <a:t>0.782</a:t>
                      </a:r>
                    </a:p>
                  </a:txBody>
                  <a:tcPr>
                    <a:solidFill>
                      <a:srgbClr val="EFF6FF"/>
                    </a:solidFill>
                  </a:tcPr>
                </a:tc>
                <a:tc>
                  <a:txBody>
                    <a:bodyPr/>
                    <a:lstStyle/>
                    <a:p>
                      <a:pPr marL="0" indent="0">
                        <a:buNone/>
                      </a:pPr>
                      <a:r>
                        <a:rPr lang="en-US" sz="750" b="0" i="0" dirty="0">
                          <a:solidFill>
                            <a:srgbClr val="111827"/>
                          </a:solidFill>
                          <a:latin typeface="Calibri"/>
                        </a:rPr>
                        <a:t>+0.001</a:t>
                      </a:r>
                    </a:p>
                  </a:txBody>
                  <a:tcPr>
                    <a:solidFill>
                      <a:srgbClr val="EFF6FF"/>
                    </a:solidFill>
                  </a:tcPr>
                </a:tc>
                <a:tc>
                  <a:txBody>
                    <a:bodyPr/>
                    <a:lstStyle/>
                    <a:p>
                      <a:pPr marL="0" indent="0">
                        <a:buNone/>
                      </a:pPr>
                      <a:r>
                        <a:rPr lang="en-US" sz="750" b="0" i="0" dirty="0">
                          <a:solidFill>
                            <a:srgbClr val="374151"/>
                          </a:solidFill>
                          <a:latin typeface="Calibri"/>
                        </a:rPr>
                        <a:t>FL beats local; ties central</a:t>
                      </a:r>
                    </a:p>
                  </a:txBody>
                  <a:tcPr>
                    <a:solidFill>
                      <a:srgbClr val="EFF6FF"/>
                    </a:solidFill>
                  </a:tcPr>
                </a:tc>
                <a:extLst>
                  <a:ext uri="{0D108BD9-81ED-4DB2-BD59-A6C34878D82A}">
                    <a16:rowId xmlns:a16="http://schemas.microsoft.com/office/drawing/2014/main" val="10004"/>
                  </a:ext>
                </a:extLst>
              </a:tr>
              <a:tr h="245000">
                <a:tc>
                  <a:txBody>
                    <a:bodyPr/>
                    <a:lstStyle/>
                    <a:p>
                      <a:pPr marL="0" indent="0">
                        <a:buNone/>
                      </a:pPr>
                      <a:r>
                        <a:rPr lang="en-US" sz="775" b="1" i="0" dirty="0">
                          <a:solidFill>
                            <a:srgbClr val="D97706"/>
                          </a:solidFill>
                          <a:latin typeface="Calibri"/>
                        </a:rPr>
                        <a:t>site_B  Ward  17% AKI  39 feat</a:t>
                      </a:r>
                    </a:p>
                  </a:txBody>
                  <a:tcPr>
                    <a:solidFill>
                      <a:srgbClr val="FFFBEB"/>
                    </a:solidFill>
                  </a:tcPr>
                </a:tc>
                <a:tc>
                  <a:txBody>
                    <a:bodyPr/>
                    <a:lstStyle/>
                    <a:p>
                      <a:pPr marL="0" indent="0">
                        <a:buNone/>
                      </a:pPr>
                      <a:endParaRPr/>
                    </a:p>
                  </a:txBody>
                  <a:tcPr>
                    <a:solidFill>
                      <a:srgbClr val="FFFBEB"/>
                    </a:solidFill>
                  </a:tcPr>
                </a:tc>
                <a:tc>
                  <a:txBody>
                    <a:bodyPr/>
                    <a:lstStyle/>
                    <a:p>
                      <a:pPr marL="0" indent="0">
                        <a:buNone/>
                      </a:pPr>
                      <a:endParaRPr/>
                    </a:p>
                  </a:txBody>
                  <a:tcPr>
                    <a:solidFill>
                      <a:srgbClr val="FFFBEB"/>
                    </a:solidFill>
                  </a:tcPr>
                </a:tc>
                <a:tc>
                  <a:txBody>
                    <a:bodyPr/>
                    <a:lstStyle/>
                    <a:p>
                      <a:pPr marL="0" indent="0">
                        <a:buNone/>
                      </a:pPr>
                      <a:endParaRPr/>
                    </a:p>
                  </a:txBody>
                  <a:tcPr>
                    <a:solidFill>
                      <a:srgbClr val="FFFBEB"/>
                    </a:solidFill>
                  </a:tcPr>
                </a:tc>
                <a:tc>
                  <a:txBody>
                    <a:bodyPr/>
                    <a:lstStyle/>
                    <a:p>
                      <a:pPr marL="0" indent="0">
                        <a:buNone/>
                      </a:pPr>
                      <a:endParaRPr/>
                    </a:p>
                  </a:txBody>
                  <a:tcPr>
                    <a:solidFill>
                      <a:srgbClr val="FFFBEB"/>
                    </a:solidFill>
                  </a:tcPr>
                </a:tc>
                <a:tc>
                  <a:txBody>
                    <a:bodyPr/>
                    <a:lstStyle/>
                    <a:p>
                      <a:pPr marL="0" indent="0">
                        <a:buNone/>
                      </a:pPr>
                      <a:endParaRPr/>
                    </a:p>
                  </a:txBody>
                  <a:tcPr>
                    <a:solidFill>
                      <a:srgbClr val="FFFBEB"/>
                    </a:solidFill>
                  </a:tcPr>
                </a:tc>
                <a:tc>
                  <a:txBody>
                    <a:bodyPr/>
                    <a:lstStyle/>
                    <a:p>
                      <a:pPr marL="0" indent="0">
                        <a:buNone/>
                      </a:pPr>
                      <a:endParaRPr/>
                    </a:p>
                  </a:txBody>
                  <a:tcPr>
                    <a:solidFill>
                      <a:srgbClr val="FFFBEB"/>
                    </a:solidFill>
                  </a:tcPr>
                </a:tc>
                <a:extLst>
                  <a:ext uri="{0D108BD9-81ED-4DB2-BD59-A6C34878D82A}">
                    <a16:rowId xmlns:a16="http://schemas.microsoft.com/office/drawing/2014/main" val="10005"/>
                  </a:ext>
                </a:extLst>
              </a:tr>
              <a:tr h="192000">
                <a:tc>
                  <a:txBody>
                    <a:bodyPr/>
                    <a:lstStyle/>
                    <a:p>
                      <a:pPr marL="0" indent="0">
                        <a:buNone/>
                      </a:pPr>
                      <a:r>
                        <a:rPr lang="en-US" sz="750" b="0" i="0" dirty="0">
                          <a:solidFill>
                            <a:srgbClr val="111827"/>
                          </a:solidFill>
                          <a:latin typeface="Calibri"/>
                        </a:rPr>
                        <a:t>  IID</a:t>
                      </a:r>
                    </a:p>
                  </a:txBody>
                  <a:tcPr>
                    <a:solidFill>
                      <a:srgbClr val="FFFFFF"/>
                    </a:solidFill>
                  </a:tcPr>
                </a:tc>
                <a:tc>
                  <a:txBody>
                    <a:bodyPr/>
                    <a:lstStyle/>
                    <a:p>
                      <a:pPr marL="0" indent="0">
                        <a:buNone/>
                      </a:pPr>
                      <a:r>
                        <a:rPr lang="en-US" sz="750" b="0" i="0" dirty="0">
                          <a:solidFill>
                            <a:srgbClr val="111827"/>
                          </a:solidFill>
                          <a:latin typeface="Calibri"/>
                        </a:rPr>
                        <a:t>0.873</a:t>
                      </a:r>
                    </a:p>
                  </a:txBody>
                  <a:tcPr>
                    <a:solidFill>
                      <a:srgbClr val="FFFFFF"/>
                    </a:solidFill>
                  </a:tcPr>
                </a:tc>
                <a:tc>
                  <a:txBody>
                    <a:bodyPr/>
                    <a:lstStyle/>
                    <a:p>
                      <a:pPr marL="0" indent="0">
                        <a:buNone/>
                      </a:pPr>
                      <a:r>
                        <a:rPr lang="en-US" sz="750" b="0" i="0" dirty="0">
                          <a:solidFill>
                            <a:srgbClr val="111827"/>
                          </a:solidFill>
                          <a:latin typeface="Calibri"/>
                        </a:rPr>
                        <a:t>0.848</a:t>
                      </a:r>
                    </a:p>
                  </a:txBody>
                  <a:tcPr>
                    <a:solidFill>
                      <a:srgbClr val="FFFFFF"/>
                    </a:solidFill>
                  </a:tcPr>
                </a:tc>
                <a:tc>
                  <a:txBody>
                    <a:bodyPr/>
                    <a:lstStyle/>
                    <a:p>
                      <a:pPr marL="0" indent="0">
                        <a:buNone/>
                      </a:pPr>
                      <a:r>
                        <a:rPr lang="en-US" sz="750" b="0" i="0" dirty="0">
                          <a:solidFill>
                            <a:srgbClr val="16A34A"/>
                          </a:solidFill>
                          <a:latin typeface="Calibri"/>
                        </a:rPr>
                        <a:t>+0.025</a:t>
                      </a:r>
                    </a:p>
                  </a:txBody>
                  <a:tcPr>
                    <a:solidFill>
                      <a:srgbClr val="FFFFFF"/>
                    </a:solidFill>
                  </a:tcPr>
                </a:tc>
                <a:tc>
                  <a:txBody>
                    <a:bodyPr/>
                    <a:lstStyle/>
                    <a:p>
                      <a:pPr marL="0" indent="0">
                        <a:buNone/>
                      </a:pPr>
                      <a:r>
                        <a:rPr lang="en-US" sz="750" b="0" i="0" dirty="0">
                          <a:solidFill>
                            <a:srgbClr val="111827"/>
                          </a:solidFill>
                          <a:latin typeface="Calibri"/>
                        </a:rPr>
                        <a:t>0.876</a:t>
                      </a:r>
                    </a:p>
                  </a:txBody>
                  <a:tcPr>
                    <a:solidFill>
                      <a:srgbClr val="FFFFFF"/>
                    </a:solidFill>
                  </a:tcPr>
                </a:tc>
                <a:tc>
                  <a:txBody>
                    <a:bodyPr/>
                    <a:lstStyle/>
                    <a:p>
                      <a:pPr marL="0" indent="0">
                        <a:buNone/>
                      </a:pPr>
                      <a:r>
                        <a:rPr lang="en-US" sz="750" b="0" i="0" dirty="0">
                          <a:solidFill>
                            <a:srgbClr val="111827"/>
                          </a:solidFill>
                          <a:latin typeface="Calibri"/>
                        </a:rPr>
                        <a:t>−0.003</a:t>
                      </a:r>
                    </a:p>
                  </a:txBody>
                  <a:tcPr>
                    <a:solidFill>
                      <a:srgbClr val="FFFFFF"/>
                    </a:solidFill>
                  </a:tcPr>
                </a:tc>
                <a:tc>
                  <a:txBody>
                    <a:bodyPr/>
                    <a:lstStyle/>
                    <a:p>
                      <a:pPr marL="0" indent="0">
                        <a:buNone/>
                      </a:pPr>
                      <a:r>
                        <a:rPr lang="en-US" sz="750" b="0" i="0" dirty="0">
                          <a:solidFill>
                            <a:srgbClr val="374151"/>
                          </a:solidFill>
                          <a:latin typeface="Calibri"/>
                        </a:rPr>
                        <a:t>FL beats local in all 8 conditions</a:t>
                      </a:r>
                    </a:p>
                  </a:txBody>
                  <a:tcPr>
                    <a:solidFill>
                      <a:srgbClr val="FFFFFF"/>
                    </a:solidFill>
                  </a:tcPr>
                </a:tc>
                <a:extLst>
                  <a:ext uri="{0D108BD9-81ED-4DB2-BD59-A6C34878D82A}">
                    <a16:rowId xmlns:a16="http://schemas.microsoft.com/office/drawing/2014/main" val="10006"/>
                  </a:ext>
                </a:extLst>
              </a:tr>
              <a:tr h="192000">
                <a:tc>
                  <a:txBody>
                    <a:bodyPr/>
                    <a:lstStyle/>
                    <a:p>
                      <a:pPr marL="0" indent="0">
                        <a:buNone/>
                      </a:pPr>
                      <a:r>
                        <a:rPr lang="en-US" sz="750" b="0" i="0" dirty="0">
                          <a:solidFill>
                            <a:srgbClr val="111827"/>
                          </a:solidFill>
                          <a:latin typeface="Calibri"/>
                        </a:rPr>
                        <a:t>  Both max</a:t>
                      </a:r>
                    </a:p>
                  </a:txBody>
                  <a:tcPr>
                    <a:solidFill>
                      <a:srgbClr val="FFFFFF"/>
                    </a:solidFill>
                  </a:tcPr>
                </a:tc>
                <a:tc>
                  <a:txBody>
                    <a:bodyPr/>
                    <a:lstStyle/>
                    <a:p>
                      <a:pPr marL="0" indent="0">
                        <a:buNone/>
                      </a:pPr>
                      <a:r>
                        <a:rPr lang="en-US" sz="750" b="0" i="0" dirty="0">
                          <a:solidFill>
                            <a:srgbClr val="111827"/>
                          </a:solidFill>
                          <a:latin typeface="Calibri"/>
                        </a:rPr>
                        <a:t>0.895</a:t>
                      </a:r>
                    </a:p>
                  </a:txBody>
                  <a:tcPr>
                    <a:solidFill>
                      <a:srgbClr val="FFFFFF"/>
                    </a:solidFill>
                  </a:tcPr>
                </a:tc>
                <a:tc>
                  <a:txBody>
                    <a:bodyPr/>
                    <a:lstStyle/>
                    <a:p>
                      <a:pPr marL="0" indent="0">
                        <a:buNone/>
                      </a:pPr>
                      <a:r>
                        <a:rPr lang="en-US" sz="750" b="0" i="0" dirty="0">
                          <a:solidFill>
                            <a:srgbClr val="111827"/>
                          </a:solidFill>
                          <a:latin typeface="Calibri"/>
                        </a:rPr>
                        <a:t>0.864</a:t>
                      </a:r>
                    </a:p>
                  </a:txBody>
                  <a:tcPr>
                    <a:solidFill>
                      <a:srgbClr val="FFFFFF"/>
                    </a:solidFill>
                  </a:tcPr>
                </a:tc>
                <a:tc>
                  <a:txBody>
                    <a:bodyPr/>
                    <a:lstStyle/>
                    <a:p>
                      <a:pPr marL="0" indent="0">
                        <a:buNone/>
                      </a:pPr>
                      <a:r>
                        <a:rPr lang="en-US" sz="750" b="0" i="0" dirty="0">
                          <a:solidFill>
                            <a:srgbClr val="16A34A"/>
                          </a:solidFill>
                          <a:latin typeface="Calibri"/>
                        </a:rPr>
                        <a:t>+0.031</a:t>
                      </a:r>
                    </a:p>
                  </a:txBody>
                  <a:tcPr>
                    <a:solidFill>
                      <a:srgbClr val="FFFFFF"/>
                    </a:solidFill>
                  </a:tcPr>
                </a:tc>
                <a:tc>
                  <a:txBody>
                    <a:bodyPr/>
                    <a:lstStyle/>
                    <a:p>
                      <a:pPr marL="0" indent="0">
                        <a:buNone/>
                      </a:pPr>
                      <a:r>
                        <a:rPr lang="en-US" sz="750" b="0" i="0" dirty="0">
                          <a:solidFill>
                            <a:srgbClr val="111827"/>
                          </a:solidFill>
                          <a:latin typeface="Calibri"/>
                        </a:rPr>
                        <a:t>0.894</a:t>
                      </a:r>
                    </a:p>
                  </a:txBody>
                  <a:tcPr>
                    <a:solidFill>
                      <a:srgbClr val="FFFFFF"/>
                    </a:solidFill>
                  </a:tcPr>
                </a:tc>
                <a:tc>
                  <a:txBody>
                    <a:bodyPr/>
                    <a:lstStyle/>
                    <a:p>
                      <a:pPr marL="0" indent="0">
                        <a:buNone/>
                      </a:pPr>
                      <a:r>
                        <a:rPr lang="en-US" sz="750" b="0" i="0" dirty="0">
                          <a:solidFill>
                            <a:srgbClr val="111827"/>
                          </a:solidFill>
                          <a:latin typeface="Calibri"/>
                        </a:rPr>
                        <a:t>+0.001</a:t>
                      </a:r>
                    </a:p>
                  </a:txBody>
                  <a:tcPr>
                    <a:solidFill>
                      <a:srgbClr val="FFFFFF"/>
                    </a:solidFill>
                  </a:tcPr>
                </a:tc>
                <a:tc>
                  <a:txBody>
                    <a:bodyPr/>
                    <a:lstStyle/>
                    <a:p>
                      <a:pPr marL="0" indent="0">
                        <a:buNone/>
                      </a:pPr>
                      <a:r>
                        <a:rPr lang="en-US" sz="750" b="0" i="0" dirty="0">
                          <a:solidFill>
                            <a:srgbClr val="374151"/>
                          </a:solidFill>
                          <a:latin typeface="Calibri"/>
                        </a:rPr>
                        <a:t>FL beats both ✓✓ Never penalised</a:t>
                      </a:r>
                    </a:p>
                  </a:txBody>
                  <a:tcPr>
                    <a:solidFill>
                      <a:srgbClr val="FFFFFF"/>
                    </a:solidFill>
                  </a:tcPr>
                </a:tc>
                <a:extLst>
                  <a:ext uri="{0D108BD9-81ED-4DB2-BD59-A6C34878D82A}">
                    <a16:rowId xmlns:a16="http://schemas.microsoft.com/office/drawing/2014/main" val="10007"/>
                  </a:ext>
                </a:extLst>
              </a:tr>
              <a:tr h="245000">
                <a:tc>
                  <a:txBody>
                    <a:bodyPr/>
                    <a:lstStyle/>
                    <a:p>
                      <a:pPr marL="0" indent="0">
                        <a:buNone/>
                      </a:pPr>
                      <a:r>
                        <a:rPr lang="en-US" sz="775" b="1" i="0" dirty="0">
                          <a:solidFill>
                            <a:srgbClr val="16A34A"/>
                          </a:solidFill>
                          <a:latin typeface="Calibri"/>
                        </a:rPr>
                        <a:t>site_C  Anchor  12.6% AKI  66k patients</a:t>
                      </a:r>
                    </a:p>
                  </a:txBody>
                  <a:tcPr>
                    <a:solidFill>
                      <a:srgbClr val="DCFCE7"/>
                    </a:solidFill>
                  </a:tcPr>
                </a:tc>
                <a:tc>
                  <a:txBody>
                    <a:bodyPr/>
                    <a:lstStyle/>
                    <a:p>
                      <a:pPr marL="0" indent="0">
                        <a:buNone/>
                      </a:pPr>
                      <a:endParaRPr/>
                    </a:p>
                  </a:txBody>
                  <a:tcPr>
                    <a:solidFill>
                      <a:srgbClr val="DCFCE7"/>
                    </a:solidFill>
                  </a:tcPr>
                </a:tc>
                <a:tc>
                  <a:txBody>
                    <a:bodyPr/>
                    <a:lstStyle/>
                    <a:p>
                      <a:pPr marL="0" indent="0">
                        <a:buNone/>
                      </a:pPr>
                      <a:endParaRPr/>
                    </a:p>
                  </a:txBody>
                  <a:tcPr>
                    <a:solidFill>
                      <a:srgbClr val="DCFCE7"/>
                    </a:solidFill>
                  </a:tcPr>
                </a:tc>
                <a:tc>
                  <a:txBody>
                    <a:bodyPr/>
                    <a:lstStyle/>
                    <a:p>
                      <a:pPr marL="0" indent="0">
                        <a:buNone/>
                      </a:pPr>
                      <a:endParaRPr/>
                    </a:p>
                  </a:txBody>
                  <a:tcPr>
                    <a:solidFill>
                      <a:srgbClr val="DCFCE7"/>
                    </a:solidFill>
                  </a:tcPr>
                </a:tc>
                <a:tc>
                  <a:txBody>
                    <a:bodyPr/>
                    <a:lstStyle/>
                    <a:p>
                      <a:pPr marL="0" indent="0">
                        <a:buNone/>
                      </a:pPr>
                      <a:endParaRPr/>
                    </a:p>
                  </a:txBody>
                  <a:tcPr>
                    <a:solidFill>
                      <a:srgbClr val="DCFCE7"/>
                    </a:solidFill>
                  </a:tcPr>
                </a:tc>
                <a:tc>
                  <a:txBody>
                    <a:bodyPr/>
                    <a:lstStyle/>
                    <a:p>
                      <a:pPr marL="0" indent="0">
                        <a:buNone/>
                      </a:pPr>
                      <a:endParaRPr/>
                    </a:p>
                  </a:txBody>
                  <a:tcPr>
                    <a:solidFill>
                      <a:srgbClr val="DCFCE7"/>
                    </a:solidFill>
                  </a:tcPr>
                </a:tc>
                <a:tc>
                  <a:txBody>
                    <a:bodyPr/>
                    <a:lstStyle/>
                    <a:p>
                      <a:pPr marL="0" indent="0">
                        <a:buNone/>
                      </a:pPr>
                      <a:endParaRPr/>
                    </a:p>
                  </a:txBody>
                  <a:tcPr>
                    <a:solidFill>
                      <a:srgbClr val="DCFCE7"/>
                    </a:solidFill>
                  </a:tcPr>
                </a:tc>
                <a:extLst>
                  <a:ext uri="{0D108BD9-81ED-4DB2-BD59-A6C34878D82A}">
                    <a16:rowId xmlns:a16="http://schemas.microsoft.com/office/drawing/2014/main" val="10008"/>
                  </a:ext>
                </a:extLst>
              </a:tr>
              <a:tr h="192000">
                <a:tc>
                  <a:txBody>
                    <a:bodyPr/>
                    <a:lstStyle/>
                    <a:p>
                      <a:pPr marL="0" indent="0">
                        <a:buNone/>
                      </a:pPr>
                      <a:r>
                        <a:rPr lang="en-US" sz="750" b="0" i="0" dirty="0">
                          <a:solidFill>
                            <a:srgbClr val="111827"/>
                          </a:solidFill>
                          <a:latin typeface="Calibri"/>
                        </a:rPr>
                        <a:t>  IID</a:t>
                      </a:r>
                    </a:p>
                  </a:txBody>
                  <a:tcPr>
                    <a:solidFill>
                      <a:srgbClr val="EFF6FF"/>
                    </a:solidFill>
                  </a:tcPr>
                </a:tc>
                <a:tc>
                  <a:txBody>
                    <a:bodyPr/>
                    <a:lstStyle/>
                    <a:p>
                      <a:pPr marL="0" indent="0">
                        <a:buNone/>
                      </a:pPr>
                      <a:r>
                        <a:rPr lang="en-US" sz="750" b="0" i="0" dirty="0">
                          <a:solidFill>
                            <a:srgbClr val="111827"/>
                          </a:solidFill>
                          <a:latin typeface="Calibri"/>
                        </a:rPr>
                        <a:t>0.876</a:t>
                      </a:r>
                    </a:p>
                  </a:txBody>
                  <a:tcPr>
                    <a:solidFill>
                      <a:srgbClr val="EFF6FF"/>
                    </a:solidFill>
                  </a:tcPr>
                </a:tc>
                <a:tc>
                  <a:txBody>
                    <a:bodyPr/>
                    <a:lstStyle/>
                    <a:p>
                      <a:pPr marL="0" indent="0">
                        <a:buNone/>
                      </a:pPr>
                      <a:r>
                        <a:rPr lang="en-US" sz="750" b="0" i="0" dirty="0">
                          <a:solidFill>
                            <a:srgbClr val="111827"/>
                          </a:solidFill>
                          <a:latin typeface="Calibri"/>
                        </a:rPr>
                        <a:t>0.865</a:t>
                      </a:r>
                    </a:p>
                  </a:txBody>
                  <a:tcPr>
                    <a:solidFill>
                      <a:srgbClr val="EFF6FF"/>
                    </a:solidFill>
                  </a:tcPr>
                </a:tc>
                <a:tc>
                  <a:txBody>
                    <a:bodyPr/>
                    <a:lstStyle/>
                    <a:p>
                      <a:pPr marL="0" indent="0">
                        <a:buNone/>
                      </a:pPr>
                      <a:r>
                        <a:rPr lang="en-US" sz="750" b="0" i="0" dirty="0">
                          <a:solidFill>
                            <a:srgbClr val="16A34A"/>
                          </a:solidFill>
                          <a:latin typeface="Calibri"/>
                        </a:rPr>
                        <a:t>+0.011</a:t>
                      </a:r>
                    </a:p>
                  </a:txBody>
                  <a:tcPr>
                    <a:solidFill>
                      <a:srgbClr val="EFF6FF"/>
                    </a:solidFill>
                  </a:tcPr>
                </a:tc>
                <a:tc>
                  <a:txBody>
                    <a:bodyPr/>
                    <a:lstStyle/>
                    <a:p>
                      <a:pPr marL="0" indent="0">
                        <a:buNone/>
                      </a:pPr>
                      <a:r>
                        <a:rPr lang="en-US" sz="750" b="0" i="0" dirty="0">
                          <a:solidFill>
                            <a:srgbClr val="111827"/>
                          </a:solidFill>
                          <a:latin typeface="Calibri"/>
                        </a:rPr>
                        <a:t>0.881</a:t>
                      </a:r>
                    </a:p>
                  </a:txBody>
                  <a:tcPr>
                    <a:solidFill>
                      <a:srgbClr val="EFF6FF"/>
                    </a:solidFill>
                  </a:tcPr>
                </a:tc>
                <a:tc>
                  <a:txBody>
                    <a:bodyPr/>
                    <a:lstStyle/>
                    <a:p>
                      <a:pPr marL="0" indent="0">
                        <a:buNone/>
                      </a:pPr>
                      <a:r>
                        <a:rPr lang="en-US" sz="750" b="0" i="0" dirty="0">
                          <a:solidFill>
                            <a:srgbClr val="111827"/>
                          </a:solidFill>
                          <a:latin typeface="Calibri"/>
                        </a:rPr>
                        <a:t>−0.005</a:t>
                      </a:r>
                    </a:p>
                  </a:txBody>
                  <a:tcPr>
                    <a:solidFill>
                      <a:srgbClr val="EFF6FF"/>
                    </a:solidFill>
                  </a:tcPr>
                </a:tc>
                <a:tc>
                  <a:txBody>
                    <a:bodyPr/>
                    <a:lstStyle/>
                    <a:p>
                      <a:pPr marL="0" indent="0">
                        <a:buNone/>
                      </a:pPr>
                      <a:r>
                        <a:rPr lang="en-US" sz="750" b="0" i="0" dirty="0">
                          <a:solidFill>
                            <a:srgbClr val="374151"/>
                          </a:solidFill>
                          <a:latin typeface="Calibri"/>
                        </a:rPr>
                        <a:t>FL beats local; central 0–0.005 better</a:t>
                      </a:r>
                    </a:p>
                  </a:txBody>
                  <a:tcPr>
                    <a:solidFill>
                      <a:srgbClr val="EFF6FF"/>
                    </a:solidFill>
                  </a:tcPr>
                </a:tc>
                <a:extLst>
                  <a:ext uri="{0D108BD9-81ED-4DB2-BD59-A6C34878D82A}">
                    <a16:rowId xmlns:a16="http://schemas.microsoft.com/office/drawing/2014/main" val="10009"/>
                  </a:ext>
                </a:extLst>
              </a:tr>
              <a:tr h="192000">
                <a:tc>
                  <a:txBody>
                    <a:bodyPr/>
                    <a:lstStyle/>
                    <a:p>
                      <a:pPr marL="0" indent="0">
                        <a:buNone/>
                      </a:pPr>
                      <a:r>
                        <a:rPr lang="en-US" sz="750" b="0" i="0" dirty="0">
                          <a:solidFill>
                            <a:srgbClr val="111827"/>
                          </a:solidFill>
                          <a:latin typeface="Calibri"/>
                        </a:rPr>
                        <a:t>  Both max</a:t>
                      </a:r>
                    </a:p>
                  </a:txBody>
                  <a:tcPr>
                    <a:solidFill>
                      <a:srgbClr val="EFF6FF"/>
                    </a:solidFill>
                  </a:tcPr>
                </a:tc>
                <a:tc>
                  <a:txBody>
                    <a:bodyPr/>
                    <a:lstStyle/>
                    <a:p>
                      <a:pPr marL="0" indent="0">
                        <a:buNone/>
                      </a:pPr>
                      <a:r>
                        <a:rPr lang="en-US" sz="750" b="0" i="0" dirty="0">
                          <a:solidFill>
                            <a:srgbClr val="111827"/>
                          </a:solidFill>
                          <a:latin typeface="Calibri"/>
                        </a:rPr>
                        <a:t>0.880</a:t>
                      </a:r>
                    </a:p>
                  </a:txBody>
                  <a:tcPr>
                    <a:solidFill>
                      <a:srgbClr val="EFF6FF"/>
                    </a:solidFill>
                  </a:tcPr>
                </a:tc>
                <a:tc>
                  <a:txBody>
                    <a:bodyPr/>
                    <a:lstStyle/>
                    <a:p>
                      <a:pPr marL="0" indent="0">
                        <a:buNone/>
                      </a:pPr>
                      <a:r>
                        <a:rPr lang="en-US" sz="750" b="0" i="0" dirty="0">
                          <a:solidFill>
                            <a:srgbClr val="111827"/>
                          </a:solidFill>
                          <a:latin typeface="Calibri"/>
                        </a:rPr>
                        <a:t>0.858</a:t>
                      </a:r>
                    </a:p>
                  </a:txBody>
                  <a:tcPr>
                    <a:solidFill>
                      <a:srgbClr val="EFF6FF"/>
                    </a:solidFill>
                  </a:tcPr>
                </a:tc>
                <a:tc>
                  <a:txBody>
                    <a:bodyPr/>
                    <a:lstStyle/>
                    <a:p>
                      <a:pPr marL="0" indent="0">
                        <a:buNone/>
                      </a:pPr>
                      <a:r>
                        <a:rPr lang="en-US" sz="750" b="0" i="0" dirty="0">
                          <a:solidFill>
                            <a:srgbClr val="16A34A"/>
                          </a:solidFill>
                          <a:latin typeface="Calibri"/>
                        </a:rPr>
                        <a:t>+0.022</a:t>
                      </a:r>
                    </a:p>
                  </a:txBody>
                  <a:tcPr>
                    <a:solidFill>
                      <a:srgbClr val="EFF6FF"/>
                    </a:solidFill>
                  </a:tcPr>
                </a:tc>
                <a:tc>
                  <a:txBody>
                    <a:bodyPr/>
                    <a:lstStyle/>
                    <a:p>
                      <a:pPr marL="0" indent="0">
                        <a:buNone/>
                      </a:pPr>
                      <a:r>
                        <a:rPr lang="en-US" sz="750" b="0" i="0" dirty="0">
                          <a:solidFill>
                            <a:srgbClr val="111827"/>
                          </a:solidFill>
                          <a:latin typeface="Calibri"/>
                        </a:rPr>
                        <a:t>0.882</a:t>
                      </a:r>
                    </a:p>
                  </a:txBody>
                  <a:tcPr>
                    <a:solidFill>
                      <a:srgbClr val="EFF6FF"/>
                    </a:solidFill>
                  </a:tcPr>
                </a:tc>
                <a:tc>
                  <a:txBody>
                    <a:bodyPr/>
                    <a:lstStyle/>
                    <a:p>
                      <a:pPr marL="0" indent="0">
                        <a:buNone/>
                      </a:pPr>
                      <a:r>
                        <a:rPr lang="en-US" sz="750" b="0" i="0" dirty="0">
                          <a:solidFill>
                            <a:srgbClr val="111827"/>
                          </a:solidFill>
                          <a:latin typeface="Calibri"/>
                        </a:rPr>
                        <a:t>−0.001</a:t>
                      </a:r>
                    </a:p>
                  </a:txBody>
                  <a:tcPr>
                    <a:solidFill>
                      <a:srgbClr val="EFF6FF"/>
                    </a:solidFill>
                  </a:tcPr>
                </a:tc>
                <a:tc>
                  <a:txBody>
                    <a:bodyPr/>
                    <a:lstStyle/>
                    <a:p>
                      <a:pPr marL="0" indent="0">
                        <a:buNone/>
                      </a:pPr>
                      <a:r>
                        <a:rPr lang="en-US" sz="750" b="0" i="0" dirty="0">
                          <a:solidFill>
                            <a:srgbClr val="374151"/>
                          </a:solidFill>
                          <a:latin typeface="Calibri"/>
                        </a:rPr>
                        <a:t>FL beats local; ties central</a:t>
                      </a:r>
                    </a:p>
                  </a:txBody>
                  <a:tcPr>
                    <a:solidFill>
                      <a:srgbClr val="EFF6FF"/>
                    </a:solidFill>
                  </a:tcPr>
                </a:tc>
                <a:extLst>
                  <a:ext uri="{0D108BD9-81ED-4DB2-BD59-A6C34878D82A}">
                    <a16:rowId xmlns:a16="http://schemas.microsoft.com/office/drawing/2014/main" val="10010"/>
                  </a:ext>
                </a:extLst>
              </a:tr>
              <a:tr h="192000">
                <a:tc>
                  <a:txBody>
                    <a:bodyPr/>
                    <a:lstStyle/>
                    <a:p>
                      <a:pPr marL="0" indent="0">
                        <a:buNone/>
                      </a:pPr>
                      <a:r>
                        <a:rPr lang="en-US" sz="750" b="0" i="1" dirty="0">
                          <a:solidFill>
                            <a:srgbClr val="16A34A"/>
                          </a:solidFill>
                          <a:latin typeface="Calibri"/>
                        </a:rPr>
                        <a:t>  Never penalised — IS the anchor; global model always learns toward site_C</a:t>
                      </a:r>
                    </a:p>
                  </a:txBody>
                  <a:tcPr>
                    <a:solidFill>
                      <a:srgbClr val="F0FDF4"/>
                    </a:solidFill>
                  </a:tcPr>
                </a:tc>
                <a:tc>
                  <a:txBody>
                    <a:bodyPr/>
                    <a:lstStyle/>
                    <a:p>
                      <a:pPr marL="0" indent="0">
                        <a:buNone/>
                      </a:pPr>
                      <a:endParaRPr/>
                    </a:p>
                  </a:txBody>
                  <a:tcPr>
                    <a:solidFill>
                      <a:srgbClr val="F0FDF4"/>
                    </a:solidFill>
                  </a:tcPr>
                </a:tc>
                <a:tc>
                  <a:txBody>
                    <a:bodyPr/>
                    <a:lstStyle/>
                    <a:p>
                      <a:pPr marL="0" indent="0">
                        <a:buNone/>
                      </a:pPr>
                      <a:endParaRPr/>
                    </a:p>
                  </a:txBody>
                  <a:tcPr>
                    <a:solidFill>
                      <a:srgbClr val="F0FDF4"/>
                    </a:solidFill>
                  </a:tcPr>
                </a:tc>
                <a:tc>
                  <a:txBody>
                    <a:bodyPr/>
                    <a:lstStyle/>
                    <a:p>
                      <a:pPr marL="0" indent="0">
                        <a:buNone/>
                      </a:pPr>
                      <a:endParaRPr/>
                    </a:p>
                  </a:txBody>
                  <a:tcPr>
                    <a:solidFill>
                      <a:srgbClr val="F0FDF4"/>
                    </a:solidFill>
                  </a:tcPr>
                </a:tc>
                <a:tc>
                  <a:txBody>
                    <a:bodyPr/>
                    <a:lstStyle/>
                    <a:p>
                      <a:pPr marL="0" indent="0">
                        <a:buNone/>
                      </a:pPr>
                      <a:endParaRPr/>
                    </a:p>
                  </a:txBody>
                  <a:tcPr>
                    <a:solidFill>
                      <a:srgbClr val="F0FDF4"/>
                    </a:solidFill>
                  </a:tcPr>
                </a:tc>
                <a:tc>
                  <a:txBody>
                    <a:bodyPr/>
                    <a:lstStyle/>
                    <a:p>
                      <a:pPr marL="0" indent="0">
                        <a:buNone/>
                      </a:pPr>
                      <a:endParaRPr/>
                    </a:p>
                  </a:txBody>
                  <a:tcPr>
                    <a:solidFill>
                      <a:srgbClr val="F0FDF4"/>
                    </a:solidFill>
                  </a:tcPr>
                </a:tc>
                <a:tc>
                  <a:txBody>
                    <a:bodyPr/>
                    <a:lstStyle/>
                    <a:p>
                      <a:pPr marL="0" indent="0">
                        <a:buNone/>
                      </a:pPr>
                      <a:endParaRPr/>
                    </a:p>
                  </a:txBody>
                  <a:tcPr>
                    <a:solidFill>
                      <a:srgbClr val="F0FDF4"/>
                    </a:solidFill>
                  </a:tcPr>
                </a:tc>
                <a:extLst>
                  <a:ext uri="{0D108BD9-81ED-4DB2-BD59-A6C34878D82A}">
                    <a16:rowId xmlns:a16="http://schemas.microsoft.com/office/drawing/2014/main" val="10011"/>
                  </a:ext>
                </a:extLst>
              </a:tr>
              <a:tr h="245000">
                <a:tc>
                  <a:txBody>
                    <a:bodyPr/>
                    <a:lstStyle/>
                    <a:p>
                      <a:pPr marL="0" indent="0">
                        <a:buNone/>
                      </a:pPr>
                      <a:r>
                        <a:rPr lang="en-US" sz="775" b="1" i="0" dirty="0">
                          <a:solidFill>
                            <a:srgbClr val="9333EA"/>
                          </a:solidFill>
                          <a:latin typeface="Calibri"/>
                        </a:rPr>
                        <a:t>site_D  Community  10% AKI  25 feat</a:t>
                      </a:r>
                    </a:p>
                  </a:txBody>
                  <a:tcPr>
                    <a:solidFill>
                      <a:srgbClr val="F3E8FF"/>
                    </a:solidFill>
                  </a:tcPr>
                </a:tc>
                <a:tc>
                  <a:txBody>
                    <a:bodyPr/>
                    <a:lstStyle/>
                    <a:p>
                      <a:pPr marL="0" indent="0">
                        <a:buNone/>
                      </a:pPr>
                      <a:endParaRPr/>
                    </a:p>
                  </a:txBody>
                  <a:tcPr>
                    <a:solidFill>
                      <a:srgbClr val="F3E8FF"/>
                    </a:solidFill>
                  </a:tcPr>
                </a:tc>
                <a:tc>
                  <a:txBody>
                    <a:bodyPr/>
                    <a:lstStyle/>
                    <a:p>
                      <a:pPr marL="0" indent="0">
                        <a:buNone/>
                      </a:pPr>
                      <a:endParaRPr/>
                    </a:p>
                  </a:txBody>
                  <a:tcPr>
                    <a:solidFill>
                      <a:srgbClr val="F3E8FF"/>
                    </a:solidFill>
                  </a:tcPr>
                </a:tc>
                <a:tc>
                  <a:txBody>
                    <a:bodyPr/>
                    <a:lstStyle/>
                    <a:p>
                      <a:pPr marL="0" indent="0">
                        <a:buNone/>
                      </a:pPr>
                      <a:endParaRPr/>
                    </a:p>
                  </a:txBody>
                  <a:tcPr>
                    <a:solidFill>
                      <a:srgbClr val="F3E8FF"/>
                    </a:solidFill>
                  </a:tcPr>
                </a:tc>
                <a:tc>
                  <a:txBody>
                    <a:bodyPr/>
                    <a:lstStyle/>
                    <a:p>
                      <a:pPr marL="0" indent="0">
                        <a:buNone/>
                      </a:pPr>
                      <a:endParaRPr/>
                    </a:p>
                  </a:txBody>
                  <a:tcPr>
                    <a:solidFill>
                      <a:srgbClr val="F3E8FF"/>
                    </a:solidFill>
                  </a:tcPr>
                </a:tc>
                <a:tc>
                  <a:txBody>
                    <a:bodyPr/>
                    <a:lstStyle/>
                    <a:p>
                      <a:pPr marL="0" indent="0">
                        <a:buNone/>
                      </a:pPr>
                      <a:endParaRPr/>
                    </a:p>
                  </a:txBody>
                  <a:tcPr>
                    <a:solidFill>
                      <a:srgbClr val="F3E8FF"/>
                    </a:solidFill>
                  </a:tcPr>
                </a:tc>
                <a:tc>
                  <a:txBody>
                    <a:bodyPr/>
                    <a:lstStyle/>
                    <a:p>
                      <a:pPr marL="0" indent="0">
                        <a:buNone/>
                      </a:pPr>
                      <a:endParaRPr/>
                    </a:p>
                  </a:txBody>
                  <a:tcPr>
                    <a:solidFill>
                      <a:srgbClr val="F3E8FF"/>
                    </a:solidFill>
                  </a:tcPr>
                </a:tc>
                <a:extLst>
                  <a:ext uri="{0D108BD9-81ED-4DB2-BD59-A6C34878D82A}">
                    <a16:rowId xmlns:a16="http://schemas.microsoft.com/office/drawing/2014/main" val="10012"/>
                  </a:ext>
                </a:extLst>
              </a:tr>
              <a:tr h="192000">
                <a:tc>
                  <a:txBody>
                    <a:bodyPr/>
                    <a:lstStyle/>
                    <a:p>
                      <a:pPr marL="0" indent="0">
                        <a:buNone/>
                      </a:pPr>
                      <a:r>
                        <a:rPr lang="en-US" sz="750" b="0" i="0" dirty="0">
                          <a:solidFill>
                            <a:srgbClr val="111827"/>
                          </a:solidFill>
                          <a:latin typeface="Calibri"/>
                        </a:rPr>
                        <a:t>  IID</a:t>
                      </a:r>
                    </a:p>
                  </a:txBody>
                  <a:tcPr>
                    <a:solidFill>
                      <a:srgbClr val="FFFFFF"/>
                    </a:solidFill>
                  </a:tcPr>
                </a:tc>
                <a:tc>
                  <a:txBody>
                    <a:bodyPr/>
                    <a:lstStyle/>
                    <a:p>
                      <a:pPr marL="0" indent="0">
                        <a:buNone/>
                      </a:pPr>
                      <a:r>
                        <a:rPr lang="en-US" sz="750" b="0" i="0" dirty="0">
                          <a:solidFill>
                            <a:srgbClr val="111827"/>
                          </a:solidFill>
                          <a:latin typeface="Calibri"/>
                        </a:rPr>
                        <a:t>0.846</a:t>
                      </a:r>
                    </a:p>
                  </a:txBody>
                  <a:tcPr>
                    <a:solidFill>
                      <a:srgbClr val="FFFFFF"/>
                    </a:solidFill>
                  </a:tcPr>
                </a:tc>
                <a:tc>
                  <a:txBody>
                    <a:bodyPr/>
                    <a:lstStyle/>
                    <a:p>
                      <a:pPr marL="0" indent="0">
                        <a:buNone/>
                      </a:pPr>
                      <a:r>
                        <a:rPr lang="en-US" sz="750" b="0" i="0" dirty="0">
                          <a:solidFill>
                            <a:srgbClr val="111827"/>
                          </a:solidFill>
                          <a:latin typeface="Calibri"/>
                        </a:rPr>
                        <a:t>0.843</a:t>
                      </a:r>
                    </a:p>
                  </a:txBody>
                  <a:tcPr>
                    <a:solidFill>
                      <a:srgbClr val="FFFFFF"/>
                    </a:solidFill>
                  </a:tcPr>
                </a:tc>
                <a:tc>
                  <a:txBody>
                    <a:bodyPr/>
                    <a:lstStyle/>
                    <a:p>
                      <a:pPr marL="0" indent="0">
                        <a:buNone/>
                      </a:pPr>
                      <a:r>
                        <a:rPr lang="en-US" sz="750" b="0" i="0" dirty="0">
                          <a:solidFill>
                            <a:srgbClr val="16A34A"/>
                          </a:solidFill>
                          <a:latin typeface="Calibri"/>
                        </a:rPr>
                        <a:t>+0.003</a:t>
                      </a:r>
                    </a:p>
                  </a:txBody>
                  <a:tcPr>
                    <a:solidFill>
                      <a:srgbClr val="FFFFFF"/>
                    </a:solidFill>
                  </a:tcPr>
                </a:tc>
                <a:tc>
                  <a:txBody>
                    <a:bodyPr/>
                    <a:lstStyle/>
                    <a:p>
                      <a:pPr marL="0" indent="0">
                        <a:buNone/>
                      </a:pPr>
                      <a:r>
                        <a:rPr lang="en-US" sz="750" b="0" i="0" dirty="0">
                          <a:solidFill>
                            <a:srgbClr val="111827"/>
                          </a:solidFill>
                          <a:latin typeface="Calibri"/>
                        </a:rPr>
                        <a:t>0.851</a:t>
                      </a:r>
                    </a:p>
                  </a:txBody>
                  <a:tcPr>
                    <a:solidFill>
                      <a:srgbClr val="FFFFFF"/>
                    </a:solidFill>
                  </a:tcPr>
                </a:tc>
                <a:tc>
                  <a:txBody>
                    <a:bodyPr/>
                    <a:lstStyle/>
                    <a:p>
                      <a:pPr marL="0" indent="0">
                        <a:buNone/>
                      </a:pPr>
                      <a:r>
                        <a:rPr lang="en-US" sz="750" b="0" i="0" dirty="0">
                          <a:solidFill>
                            <a:srgbClr val="111827"/>
                          </a:solidFill>
                          <a:latin typeface="Calibri"/>
                        </a:rPr>
                        <a:t>−0.005</a:t>
                      </a:r>
                    </a:p>
                  </a:txBody>
                  <a:tcPr>
                    <a:solidFill>
                      <a:srgbClr val="FFFFFF"/>
                    </a:solidFill>
                  </a:tcPr>
                </a:tc>
                <a:tc>
                  <a:txBody>
                    <a:bodyPr/>
                    <a:lstStyle/>
                    <a:p>
                      <a:pPr marL="0" indent="0">
                        <a:buNone/>
                      </a:pPr>
                      <a:r>
                        <a:rPr lang="en-US" sz="750" b="0" i="0" dirty="0">
                          <a:solidFill>
                            <a:srgbClr val="374151"/>
                          </a:solidFill>
                          <a:latin typeface="Calibri"/>
                        </a:rPr>
                        <a:t>Tie; sentinel imputation adds noise</a:t>
                      </a:r>
                    </a:p>
                  </a:txBody>
                  <a:tcPr>
                    <a:solidFill>
                      <a:srgbClr val="FFFFFF"/>
                    </a:solidFill>
                  </a:tcPr>
                </a:tc>
                <a:extLst>
                  <a:ext uri="{0D108BD9-81ED-4DB2-BD59-A6C34878D82A}">
                    <a16:rowId xmlns:a16="http://schemas.microsoft.com/office/drawing/2014/main" val="10013"/>
                  </a:ext>
                </a:extLst>
              </a:tr>
              <a:tr h="192000">
                <a:tc>
                  <a:txBody>
                    <a:bodyPr/>
                    <a:lstStyle/>
                    <a:p>
                      <a:pPr marL="0" indent="0">
                        <a:buNone/>
                      </a:pPr>
                      <a:r>
                        <a:rPr lang="en-US" sz="750" b="0" i="0" dirty="0">
                          <a:solidFill>
                            <a:srgbClr val="111827"/>
                          </a:solidFill>
                          <a:latin typeface="Calibri"/>
                        </a:rPr>
                        <a:t>  Both max</a:t>
                      </a:r>
                    </a:p>
                  </a:txBody>
                  <a:tcPr>
                    <a:solidFill>
                      <a:srgbClr val="FFFFFF"/>
                    </a:solidFill>
                  </a:tcPr>
                </a:tc>
                <a:tc>
                  <a:txBody>
                    <a:bodyPr/>
                    <a:lstStyle/>
                    <a:p>
                      <a:pPr marL="0" indent="0">
                        <a:buNone/>
                      </a:pPr>
                      <a:r>
                        <a:rPr lang="en-US" sz="750" b="0" i="0" dirty="0">
                          <a:solidFill>
                            <a:srgbClr val="111827"/>
                          </a:solidFill>
                          <a:latin typeface="Calibri"/>
                        </a:rPr>
                        <a:t>0.800</a:t>
                      </a:r>
                    </a:p>
                  </a:txBody>
                  <a:tcPr>
                    <a:solidFill>
                      <a:srgbClr val="FFFFFF"/>
                    </a:solidFill>
                  </a:tcPr>
                </a:tc>
                <a:tc>
                  <a:txBody>
                    <a:bodyPr/>
                    <a:lstStyle/>
                    <a:p>
                      <a:pPr marL="0" indent="0">
                        <a:buNone/>
                      </a:pPr>
                      <a:r>
                        <a:rPr lang="en-US" sz="750" b="0" i="0" dirty="0">
                          <a:solidFill>
                            <a:srgbClr val="111827"/>
                          </a:solidFill>
                          <a:latin typeface="Calibri"/>
                        </a:rPr>
                        <a:t>0.771</a:t>
                      </a:r>
                    </a:p>
                  </a:txBody>
                  <a:tcPr>
                    <a:solidFill>
                      <a:srgbClr val="FFFFFF"/>
                    </a:solidFill>
                  </a:tcPr>
                </a:tc>
                <a:tc>
                  <a:txBody>
                    <a:bodyPr/>
                    <a:lstStyle/>
                    <a:p>
                      <a:pPr marL="0" indent="0">
                        <a:buNone/>
                      </a:pPr>
                      <a:r>
                        <a:rPr lang="en-US" sz="750" b="0" i="0" dirty="0">
                          <a:solidFill>
                            <a:srgbClr val="16A34A"/>
                          </a:solidFill>
                          <a:latin typeface="Calibri"/>
                        </a:rPr>
                        <a:t>+0.029</a:t>
                      </a:r>
                    </a:p>
                  </a:txBody>
                  <a:tcPr>
                    <a:solidFill>
                      <a:srgbClr val="FFFFFF"/>
                    </a:solidFill>
                  </a:tcPr>
                </a:tc>
                <a:tc>
                  <a:txBody>
                    <a:bodyPr/>
                    <a:lstStyle/>
                    <a:p>
                      <a:pPr marL="0" indent="0">
                        <a:buNone/>
                      </a:pPr>
                      <a:r>
                        <a:rPr lang="en-US" sz="750" b="0" i="0" dirty="0">
                          <a:solidFill>
                            <a:srgbClr val="111827"/>
                          </a:solidFill>
                          <a:latin typeface="Calibri"/>
                        </a:rPr>
                        <a:t>0.804</a:t>
                      </a:r>
                    </a:p>
                  </a:txBody>
                  <a:tcPr>
                    <a:solidFill>
                      <a:srgbClr val="FFFFFF"/>
                    </a:solidFill>
                  </a:tcPr>
                </a:tc>
                <a:tc>
                  <a:txBody>
                    <a:bodyPr/>
                    <a:lstStyle/>
                    <a:p>
                      <a:pPr marL="0" indent="0">
                        <a:buNone/>
                      </a:pPr>
                      <a:r>
                        <a:rPr lang="en-US" sz="750" b="0" i="0" dirty="0">
                          <a:solidFill>
                            <a:srgbClr val="111827"/>
                          </a:solidFill>
                          <a:latin typeface="Calibri"/>
                        </a:rPr>
                        <a:t>−0.004</a:t>
                      </a:r>
                    </a:p>
                  </a:txBody>
                  <a:tcPr>
                    <a:solidFill>
                      <a:srgbClr val="FFFFFF"/>
                    </a:solidFill>
                  </a:tcPr>
                </a:tc>
                <a:tc>
                  <a:txBody>
                    <a:bodyPr/>
                    <a:lstStyle/>
                    <a:p>
                      <a:pPr marL="0" indent="0">
                        <a:buNone/>
                      </a:pPr>
                      <a:r>
                        <a:rPr lang="en-US" sz="750" b="0" i="0" dirty="0">
                          <a:solidFill>
                            <a:srgbClr val="374151"/>
                          </a:solidFill>
                          <a:latin typeface="Calibri"/>
                        </a:rPr>
                        <a:t>FL beats local; near central</a:t>
                      </a:r>
                    </a:p>
                  </a:txBody>
                  <a:tcPr>
                    <a:solidFill>
                      <a:srgbClr val="FFFFFF"/>
                    </a:solidFill>
                  </a:tcPr>
                </a:tc>
                <a:extLst>
                  <a:ext uri="{0D108BD9-81ED-4DB2-BD59-A6C34878D82A}">
                    <a16:rowId xmlns:a16="http://schemas.microsoft.com/office/drawing/2014/main" val="10014"/>
                  </a:ext>
                </a:extLst>
              </a:tr>
              <a:tr h="245000">
                <a:tc>
                  <a:txBody>
                    <a:bodyPr/>
                    <a:lstStyle/>
                    <a:p>
                      <a:pPr marL="0" indent="0">
                        <a:buNone/>
                      </a:pPr>
                      <a:r>
                        <a:rPr lang="en-US" sz="775" b="1" i="0" dirty="0">
                          <a:solidFill>
                            <a:srgbClr val="0891B2"/>
                          </a:solidFill>
                          <a:latin typeface="Calibri"/>
                        </a:rPr>
                        <a:t>site_E  Rural  5% AKI  18 feat</a:t>
                      </a:r>
                    </a:p>
                  </a:txBody>
                  <a:tcPr>
                    <a:solidFill>
                      <a:srgbClr val="E0F2FE"/>
                    </a:solidFill>
                  </a:tcPr>
                </a:tc>
                <a:tc>
                  <a:txBody>
                    <a:bodyPr/>
                    <a:lstStyle/>
                    <a:p>
                      <a:pPr marL="0" indent="0">
                        <a:buNone/>
                      </a:pPr>
                      <a:endParaRPr/>
                    </a:p>
                  </a:txBody>
                  <a:tcPr>
                    <a:solidFill>
                      <a:srgbClr val="E0F2FE"/>
                    </a:solidFill>
                  </a:tcPr>
                </a:tc>
                <a:tc>
                  <a:txBody>
                    <a:bodyPr/>
                    <a:lstStyle/>
                    <a:p>
                      <a:pPr marL="0" indent="0">
                        <a:buNone/>
                      </a:pPr>
                      <a:endParaRPr/>
                    </a:p>
                  </a:txBody>
                  <a:tcPr>
                    <a:solidFill>
                      <a:srgbClr val="E0F2FE"/>
                    </a:solidFill>
                  </a:tcPr>
                </a:tc>
                <a:tc>
                  <a:txBody>
                    <a:bodyPr/>
                    <a:lstStyle/>
                    <a:p>
                      <a:pPr marL="0" indent="0">
                        <a:buNone/>
                      </a:pPr>
                      <a:endParaRPr/>
                    </a:p>
                  </a:txBody>
                  <a:tcPr>
                    <a:solidFill>
                      <a:srgbClr val="E0F2FE"/>
                    </a:solidFill>
                  </a:tcPr>
                </a:tc>
                <a:tc>
                  <a:txBody>
                    <a:bodyPr/>
                    <a:lstStyle/>
                    <a:p>
                      <a:pPr marL="0" indent="0">
                        <a:buNone/>
                      </a:pPr>
                      <a:endParaRPr/>
                    </a:p>
                  </a:txBody>
                  <a:tcPr>
                    <a:solidFill>
                      <a:srgbClr val="E0F2FE"/>
                    </a:solidFill>
                  </a:tcPr>
                </a:tc>
                <a:tc>
                  <a:txBody>
                    <a:bodyPr/>
                    <a:lstStyle/>
                    <a:p>
                      <a:pPr marL="0" indent="0">
                        <a:buNone/>
                      </a:pPr>
                      <a:endParaRPr/>
                    </a:p>
                  </a:txBody>
                  <a:tcPr>
                    <a:solidFill>
                      <a:srgbClr val="E0F2FE"/>
                    </a:solidFill>
                  </a:tcPr>
                </a:tc>
                <a:tc>
                  <a:txBody>
                    <a:bodyPr/>
                    <a:lstStyle/>
                    <a:p>
                      <a:pPr marL="0" indent="0">
                        <a:buNone/>
                      </a:pPr>
                      <a:endParaRPr/>
                    </a:p>
                  </a:txBody>
                  <a:tcPr>
                    <a:solidFill>
                      <a:srgbClr val="E0F2FE"/>
                    </a:solidFill>
                  </a:tcPr>
                </a:tc>
                <a:extLst>
                  <a:ext uri="{0D108BD9-81ED-4DB2-BD59-A6C34878D82A}">
                    <a16:rowId xmlns:a16="http://schemas.microsoft.com/office/drawing/2014/main" val="10015"/>
                  </a:ext>
                </a:extLst>
              </a:tr>
              <a:tr h="192000">
                <a:tc>
                  <a:txBody>
                    <a:bodyPr/>
                    <a:lstStyle/>
                    <a:p>
                      <a:pPr marL="0" indent="0">
                        <a:buNone/>
                      </a:pPr>
                      <a:r>
                        <a:rPr lang="en-US" sz="750" b="0" i="0" dirty="0">
                          <a:solidFill>
                            <a:srgbClr val="111827"/>
                          </a:solidFill>
                          <a:latin typeface="Calibri"/>
                        </a:rPr>
                        <a:t>  IID</a:t>
                      </a:r>
                    </a:p>
                  </a:txBody>
                  <a:tcPr>
                    <a:solidFill>
                      <a:srgbClr val="FEF2F2"/>
                    </a:solidFill>
                  </a:tcPr>
                </a:tc>
                <a:tc>
                  <a:txBody>
                    <a:bodyPr/>
                    <a:lstStyle/>
                    <a:p>
                      <a:pPr marL="0" indent="0">
                        <a:buNone/>
                      </a:pPr>
                      <a:r>
                        <a:rPr lang="en-US" sz="750" b="0" i="0" dirty="0">
                          <a:solidFill>
                            <a:srgbClr val="111827"/>
                          </a:solidFill>
                          <a:latin typeface="Calibri"/>
                        </a:rPr>
                        <a:t>0.833</a:t>
                      </a:r>
                    </a:p>
                  </a:txBody>
                  <a:tcPr>
                    <a:solidFill>
                      <a:srgbClr val="FEF2F2"/>
                    </a:solidFill>
                  </a:tcPr>
                </a:tc>
                <a:tc>
                  <a:txBody>
                    <a:bodyPr/>
                    <a:lstStyle/>
                    <a:p>
                      <a:pPr marL="0" indent="0">
                        <a:buNone/>
                      </a:pPr>
                      <a:r>
                        <a:rPr lang="en-US" sz="750" b="0" i="0" dirty="0">
                          <a:solidFill>
                            <a:srgbClr val="111827"/>
                          </a:solidFill>
                          <a:latin typeface="Calibri"/>
                        </a:rPr>
                        <a:t>0.850</a:t>
                      </a:r>
                    </a:p>
                  </a:txBody>
                  <a:tcPr>
                    <a:solidFill>
                      <a:srgbClr val="FEF2F2"/>
                    </a:solidFill>
                  </a:tcPr>
                </a:tc>
                <a:tc>
                  <a:txBody>
                    <a:bodyPr/>
                    <a:lstStyle/>
                    <a:p>
                      <a:pPr marL="0" indent="0">
                        <a:buNone/>
                      </a:pPr>
                      <a:r>
                        <a:rPr lang="en-US" sz="750" b="1" i="0" dirty="0">
                          <a:solidFill>
                            <a:srgbClr val="DC2626"/>
                          </a:solidFill>
                          <a:latin typeface="Calibri"/>
                        </a:rPr>
                        <a:t>−0.017</a:t>
                      </a:r>
                    </a:p>
                  </a:txBody>
                  <a:tcPr>
                    <a:solidFill>
                      <a:srgbClr val="FEF2F2"/>
                    </a:solidFill>
                  </a:tcPr>
                </a:tc>
                <a:tc>
                  <a:txBody>
                    <a:bodyPr/>
                    <a:lstStyle/>
                    <a:p>
                      <a:pPr marL="0" indent="0">
                        <a:buNone/>
                      </a:pPr>
                      <a:r>
                        <a:rPr lang="en-US" sz="750" b="0" i="0" dirty="0">
                          <a:solidFill>
                            <a:srgbClr val="111827"/>
                          </a:solidFill>
                          <a:latin typeface="Calibri"/>
                        </a:rPr>
                        <a:t>0.847</a:t>
                      </a:r>
                    </a:p>
                  </a:txBody>
                  <a:tcPr>
                    <a:solidFill>
                      <a:srgbClr val="FEF2F2"/>
                    </a:solidFill>
                  </a:tcPr>
                </a:tc>
                <a:tc>
                  <a:txBody>
                    <a:bodyPr/>
                    <a:lstStyle/>
                    <a:p>
                      <a:pPr marL="0" indent="0">
                        <a:buNone/>
                      </a:pPr>
                      <a:r>
                        <a:rPr lang="en-US" sz="750" b="0" i="0" dirty="0">
                          <a:solidFill>
                            <a:srgbClr val="111827"/>
                          </a:solidFill>
                          <a:latin typeface="Calibri"/>
                        </a:rPr>
                        <a:t>−0.014</a:t>
                      </a:r>
                    </a:p>
                  </a:txBody>
                  <a:tcPr>
                    <a:solidFill>
                      <a:srgbClr val="FEF2F2"/>
                    </a:solidFill>
                  </a:tcPr>
                </a:tc>
                <a:tc>
                  <a:txBody>
                    <a:bodyPr/>
                    <a:lstStyle/>
                    <a:p>
                      <a:pPr marL="0" indent="0">
                        <a:buNone/>
                      </a:pPr>
                      <a:r>
                        <a:rPr lang="en-US" sz="750" b="1" i="0" dirty="0">
                          <a:solidFill>
                            <a:srgbClr val="DC2626"/>
                          </a:solidFill>
                          <a:latin typeface="Calibri"/>
                        </a:rPr>
                        <a:t>⚠ LOCAL WINS — global tuned to 43% AKI</a:t>
                      </a:r>
                    </a:p>
                  </a:txBody>
                  <a:tcPr>
                    <a:solidFill>
                      <a:srgbClr val="FEF2F2"/>
                    </a:solidFill>
                  </a:tcPr>
                </a:tc>
                <a:extLst>
                  <a:ext uri="{0D108BD9-81ED-4DB2-BD59-A6C34878D82A}">
                    <a16:rowId xmlns:a16="http://schemas.microsoft.com/office/drawing/2014/main" val="10016"/>
                  </a:ext>
                </a:extLst>
              </a:tr>
              <a:tr h="192000">
                <a:tc>
                  <a:txBody>
                    <a:bodyPr/>
                    <a:lstStyle/>
                    <a:p>
                      <a:pPr marL="0" indent="0">
                        <a:buNone/>
                      </a:pPr>
                      <a:r>
                        <a:rPr lang="en-US" sz="750" b="0" i="0" dirty="0">
                          <a:solidFill>
                            <a:srgbClr val="111827"/>
                          </a:solidFill>
                          <a:latin typeface="Calibri"/>
                        </a:rPr>
                        <a:t>  Label only</a:t>
                      </a:r>
                    </a:p>
                  </a:txBody>
                  <a:tcPr>
                    <a:solidFill>
                      <a:srgbClr val="FEF2F2"/>
                    </a:solidFill>
                  </a:tcPr>
                </a:tc>
                <a:tc>
                  <a:txBody>
                    <a:bodyPr/>
                    <a:lstStyle/>
                    <a:p>
                      <a:pPr marL="0" indent="0">
                        <a:buNone/>
                      </a:pPr>
                      <a:r>
                        <a:rPr lang="en-US" sz="750" b="0" i="0" dirty="0">
                          <a:solidFill>
                            <a:srgbClr val="111827"/>
                          </a:solidFill>
                          <a:latin typeface="Calibri"/>
                        </a:rPr>
                        <a:t>0.823</a:t>
                      </a:r>
                    </a:p>
                  </a:txBody>
                  <a:tcPr>
                    <a:solidFill>
                      <a:srgbClr val="FEF2F2"/>
                    </a:solidFill>
                  </a:tcPr>
                </a:tc>
                <a:tc>
                  <a:txBody>
                    <a:bodyPr/>
                    <a:lstStyle/>
                    <a:p>
                      <a:pPr marL="0" indent="0">
                        <a:buNone/>
                      </a:pPr>
                      <a:r>
                        <a:rPr lang="en-US" sz="750" b="0" i="0" dirty="0">
                          <a:solidFill>
                            <a:srgbClr val="111827"/>
                          </a:solidFill>
                          <a:latin typeface="Calibri"/>
                        </a:rPr>
                        <a:t>0.828</a:t>
                      </a:r>
                    </a:p>
                  </a:txBody>
                  <a:tcPr>
                    <a:solidFill>
                      <a:srgbClr val="FEF2F2"/>
                    </a:solidFill>
                  </a:tcPr>
                </a:tc>
                <a:tc>
                  <a:txBody>
                    <a:bodyPr/>
                    <a:lstStyle/>
                    <a:p>
                      <a:pPr marL="0" indent="0">
                        <a:buNone/>
                      </a:pPr>
                      <a:r>
                        <a:rPr lang="en-US" sz="750" b="1" i="0" dirty="0">
                          <a:solidFill>
                            <a:srgbClr val="DC2626"/>
                          </a:solidFill>
                          <a:latin typeface="Calibri"/>
                        </a:rPr>
                        <a:t>−0.005</a:t>
                      </a:r>
                    </a:p>
                  </a:txBody>
                  <a:tcPr>
                    <a:solidFill>
                      <a:srgbClr val="FEF2F2"/>
                    </a:solidFill>
                  </a:tcPr>
                </a:tc>
                <a:tc>
                  <a:txBody>
                    <a:bodyPr/>
                    <a:lstStyle/>
                    <a:p>
                      <a:pPr marL="0" indent="0">
                        <a:buNone/>
                      </a:pPr>
                      <a:r>
                        <a:rPr lang="en-US" sz="750" b="0" i="0" dirty="0">
                          <a:solidFill>
                            <a:srgbClr val="111827"/>
                          </a:solidFill>
                          <a:latin typeface="Calibri"/>
                        </a:rPr>
                        <a:t>0.835</a:t>
                      </a:r>
                    </a:p>
                  </a:txBody>
                  <a:tcPr>
                    <a:solidFill>
                      <a:srgbClr val="FEF2F2"/>
                    </a:solidFill>
                  </a:tcPr>
                </a:tc>
                <a:tc>
                  <a:txBody>
                    <a:bodyPr/>
                    <a:lstStyle/>
                    <a:p>
                      <a:pPr marL="0" indent="0">
                        <a:buNone/>
                      </a:pPr>
                      <a:r>
                        <a:rPr lang="en-US" sz="750" b="0" i="0" dirty="0">
                          <a:solidFill>
                            <a:srgbClr val="111827"/>
                          </a:solidFill>
                          <a:latin typeface="Calibri"/>
                        </a:rPr>
                        <a:t>−0.012</a:t>
                      </a:r>
                    </a:p>
                  </a:txBody>
                  <a:tcPr>
                    <a:solidFill>
                      <a:srgbClr val="FEF2F2"/>
                    </a:solidFill>
                  </a:tcPr>
                </a:tc>
                <a:tc>
                  <a:txBody>
                    <a:bodyPr/>
                    <a:lstStyle/>
                    <a:p>
                      <a:pPr marL="0" indent="0">
                        <a:buNone/>
                      </a:pPr>
                      <a:r>
                        <a:rPr lang="en-US" sz="750" b="1" i="0" dirty="0">
                          <a:solidFill>
                            <a:srgbClr val="DC2626"/>
                          </a:solidFill>
                          <a:latin typeface="Calibri"/>
                        </a:rPr>
                        <a:t>⚠ LOCAL WINS — 1,512 cases better calibrated</a:t>
                      </a:r>
                    </a:p>
                  </a:txBody>
                  <a:tcPr>
                    <a:solidFill>
                      <a:srgbClr val="FEF2F2"/>
                    </a:solidFill>
                  </a:tcPr>
                </a:tc>
                <a:extLst>
                  <a:ext uri="{0D108BD9-81ED-4DB2-BD59-A6C34878D82A}">
                    <a16:rowId xmlns:a16="http://schemas.microsoft.com/office/drawing/2014/main" val="10017"/>
                  </a:ext>
                </a:extLst>
              </a:tr>
              <a:tr h="192000">
                <a:tc>
                  <a:txBody>
                    <a:bodyPr/>
                    <a:lstStyle/>
                    <a:p>
                      <a:pPr marL="0" indent="0">
                        <a:buNone/>
                      </a:pPr>
                      <a:r>
                        <a:rPr lang="en-US" sz="750" b="0" i="0" dirty="0">
                          <a:solidFill>
                            <a:srgbClr val="111827"/>
                          </a:solidFill>
                          <a:latin typeface="Calibri"/>
                        </a:rPr>
                        <a:t>  Both max</a:t>
                      </a:r>
                    </a:p>
                  </a:txBody>
                  <a:tcPr>
                    <a:solidFill>
                      <a:srgbClr val="EFF6FF"/>
                    </a:solidFill>
                  </a:tcPr>
                </a:tc>
                <a:tc>
                  <a:txBody>
                    <a:bodyPr/>
                    <a:lstStyle/>
                    <a:p>
                      <a:pPr marL="0" indent="0">
                        <a:buNone/>
                      </a:pPr>
                      <a:r>
                        <a:rPr lang="en-US" sz="750" b="0" i="0" dirty="0">
                          <a:solidFill>
                            <a:srgbClr val="111827"/>
                          </a:solidFill>
                          <a:latin typeface="Calibri"/>
                        </a:rPr>
                        <a:t>0.777</a:t>
                      </a:r>
                    </a:p>
                  </a:txBody>
                  <a:tcPr>
                    <a:solidFill>
                      <a:srgbClr val="EFF6FF"/>
                    </a:solidFill>
                  </a:tcPr>
                </a:tc>
                <a:tc>
                  <a:txBody>
                    <a:bodyPr/>
                    <a:lstStyle/>
                    <a:p>
                      <a:pPr marL="0" indent="0">
                        <a:buNone/>
                      </a:pPr>
                      <a:r>
                        <a:rPr lang="en-US" sz="750" b="0" i="0" dirty="0">
                          <a:solidFill>
                            <a:srgbClr val="111827"/>
                          </a:solidFill>
                          <a:latin typeface="Calibri"/>
                        </a:rPr>
                        <a:t>0.773</a:t>
                      </a:r>
                    </a:p>
                  </a:txBody>
                  <a:tcPr>
                    <a:solidFill>
                      <a:srgbClr val="EFF6FF"/>
                    </a:solidFill>
                  </a:tcPr>
                </a:tc>
                <a:tc>
                  <a:txBody>
                    <a:bodyPr/>
                    <a:lstStyle/>
                    <a:p>
                      <a:pPr marL="0" indent="0">
                        <a:buNone/>
                      </a:pPr>
                      <a:r>
                        <a:rPr lang="en-US" sz="750" b="0" i="0" dirty="0">
                          <a:solidFill>
                            <a:srgbClr val="16A34A"/>
                          </a:solidFill>
                          <a:latin typeface="Calibri"/>
                        </a:rPr>
                        <a:t>+0.004</a:t>
                      </a:r>
                    </a:p>
                  </a:txBody>
                  <a:tcPr>
                    <a:solidFill>
                      <a:srgbClr val="EFF6FF"/>
                    </a:solidFill>
                  </a:tcPr>
                </a:tc>
                <a:tc>
                  <a:txBody>
                    <a:bodyPr/>
                    <a:lstStyle/>
                    <a:p>
                      <a:pPr marL="0" indent="0">
                        <a:buNone/>
                      </a:pPr>
                      <a:r>
                        <a:rPr lang="en-US" sz="750" b="0" i="0" dirty="0">
                          <a:solidFill>
                            <a:srgbClr val="111827"/>
                          </a:solidFill>
                          <a:latin typeface="Calibri"/>
                        </a:rPr>
                        <a:t>0.796</a:t>
                      </a:r>
                    </a:p>
                  </a:txBody>
                  <a:tcPr>
                    <a:solidFill>
                      <a:srgbClr val="EFF6FF"/>
                    </a:solidFill>
                  </a:tcPr>
                </a:tc>
                <a:tc>
                  <a:txBody>
                    <a:bodyPr/>
                    <a:lstStyle/>
                    <a:p>
                      <a:pPr marL="0" indent="0">
                        <a:buNone/>
                      </a:pPr>
                      <a:r>
                        <a:rPr lang="en-US" sz="750" b="0" i="0" dirty="0">
                          <a:solidFill>
                            <a:srgbClr val="111827"/>
                          </a:solidFill>
                          <a:latin typeface="Calibri"/>
                        </a:rPr>
                        <a:t>−0.019</a:t>
                      </a:r>
                    </a:p>
                  </a:txBody>
                  <a:tcPr>
                    <a:solidFill>
                      <a:srgbClr val="EFF6FF"/>
                    </a:solidFill>
                  </a:tcPr>
                </a:tc>
                <a:tc>
                  <a:txBody>
                    <a:bodyPr/>
                    <a:lstStyle/>
                    <a:p>
                      <a:pPr marL="0" indent="0">
                        <a:buNone/>
                      </a:pPr>
                      <a:r>
                        <a:rPr lang="en-US" sz="750" b="0" i="0" dirty="0">
                          <a:solidFill>
                            <a:srgbClr val="374151"/>
                          </a:solidFill>
                          <a:latin typeface="Calibri"/>
                        </a:rPr>
                        <a:t>Tie FL/local; central always best at site_E</a:t>
                      </a:r>
                    </a:p>
                  </a:txBody>
                  <a:tcPr>
                    <a:solidFill>
                      <a:srgbClr val="EFF6FF"/>
                    </a:solidFill>
                  </a:tcPr>
                </a:tc>
                <a:extLst>
                  <a:ext uri="{0D108BD9-81ED-4DB2-BD59-A6C34878D82A}">
                    <a16:rowId xmlns:a16="http://schemas.microsoft.com/office/drawing/2014/main" val="10018"/>
                  </a:ext>
                </a:extLst>
              </a:tr>
            </a:tbl>
          </a:graphicData>
        </a:graphic>
      </p:graphicFrame>
      <p:sp>
        <p:nvSpPr>
          <p:cNvPr id="30" name="note"/>
          <p:cNvSpPr/>
          <p:nvPr/>
        </p:nvSpPr>
        <p:spPr>
          <a:xfrm>
            <a:off x="228600" y="4600000"/>
            <a:ext cx="8686800" cy="4085000"/>
          </a:xfrm>
          <a:prstGeom prst="rect">
            <a:avLst/>
          </a:prstGeom>
          <a:solidFill>
            <a:srgbClr val="F8FAFC"/>
          </a:solidFill>
          <a:ln w="6350">
            <a:solidFill>
              <a:srgbClr val="CBD5E1"/>
            </a:solidFill>
          </a:ln>
        </p:spPr>
        <p:txBody>
          <a:bodyPr wrap="square" lIns="137160" tIns="30000" rIns="137160" bIns="30000" rtlCol="0" anchor="ctr"/>
          <a:lstStyle/>
          <a:p>
            <a:pPr marL="0" indent="0">
              <a:buNone/>
            </a:pPr>
            <a:r>
              <a:rPr lang="en-US" sz="725" dirty="0">
                <a:solidFill>
                  <a:srgbClr val="64748B"/>
                </a:solidFill>
                <a:latin typeface="Calibri"/>
              </a:rPr>
              <a:t>⚠ = local model outperforms FL at that site/condition. site_A penalised under covariate shift: ICU feature compression (×0.5 spread) averaged away by FL. site_E penalised at IID/Label only: global boundary dominated by site_A (43% AKI) and site_C (66k patients), both unlike rural 5% AKI.</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Personalisation Recommendations">
    <p:bg>
      <p:bgPr>
        <a:solidFill>
          <a:srgbClr val="FFFFFF"/>
        </a:solidFill>
        <a:effectLst/>
      </p:bgPr>
    </p:bg>
    <p:spTree>
      <p:nvGrpSpPr>
        <p:cNvPr id="1" name=""/>
        <p:cNvGrpSpPr/>
        <p:nvPr/>
      </p:nvGrpSpPr>
      <p:grpSpPr>
        <a:xfrm>
          <a:off x="0" y="0"/>
          <a:ext cx="0" cy="0"/>
          <a:chOff x="0" y="0"/>
          <a:chExt cx="0" cy="0"/>
        </a:xfrm>
      </p:grpSpPr>
      <p:sp>
        <p:nvSpPr>
          <p:cNvPr id="2" name="hdr"/>
          <p:cNvSpPr/>
          <p:nvPr/>
        </p:nvSpPr>
        <p:spPr>
          <a:xfrm>
            <a:off x="0" y="0"/>
            <a:ext cx="9144000" cy="420000"/>
          </a:xfrm>
          <a:prstGeom prst="rect">
            <a:avLst/>
          </a:prstGeom>
          <a:solidFill>
            <a:srgbClr val="1E3A5F"/>
          </a:solidFill>
          <a:ln/>
        </p:spPr>
        <p:txBody>
          <a:bodyPr wrap="square" lIns="274638" tIns="60960" rIns="274638" bIns="60960" rtlCol="0" anchor="ctr"/>
          <a:lstStyle/>
          <a:p>
            <a:pPr marL="0" indent="0">
              <a:buNone/>
            </a:pPr>
            <a:r>
              <a:rPr lang="en-US" sz="1700" b="1" dirty="0">
                <a:solidFill>
                  <a:srgbClr val="FFFFFF"/>
                </a:solidFill>
                <a:latin typeface="Calibri"/>
              </a:rPr>
              <a:t>Personalisation Recommendations per Site</a:t>
            </a:r>
          </a:p>
        </p:txBody>
      </p:sp>
      <p:graphicFrame>
        <p:nvGraphicFramePr>
          <p:cNvPr id="20" name="Tbl20"/>
          <p:cNvGraphicFramePr>
            <a:graphicFrameLocks noGrp="1"/>
          </p:cNvGraphicFramePr>
          <p:nvPr/>
        </p:nvGraphicFramePr>
        <p:xfrm>
          <a:off x="228600" y="460000"/>
          <a:ext cx="8686800" cy="3510000"/>
        </p:xfrm>
        <a:graphic>
          <a:graphicData uri="http://schemas.openxmlformats.org/drawingml/2006/table">
            <a:tbl>
              <a:tblPr>
                <a:noFill/>
              </a:tblPr>
              <a:tblGrid>
                <a:gridCol w="1100000">
                  <a:extLst>
                    <a:ext uri="{9D8B030D-6E8A-4147-A177-3AD203B41FA5}">
                      <a16:colId xmlns:a16="http://schemas.microsoft.com/office/drawing/2014/main" val="20000"/>
                    </a:ext>
                  </a:extLst>
                </a:gridCol>
                <a:gridCol w="65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gridCol w="2000000">
                  <a:extLst>
                    <a:ext uri="{9D8B030D-6E8A-4147-A177-3AD203B41FA5}">
                      <a16:colId xmlns:a16="http://schemas.microsoft.com/office/drawing/2014/main" val="20003"/>
                    </a:ext>
                  </a:extLst>
                </a:gridCol>
                <a:gridCol w="850000">
                  <a:extLst>
                    <a:ext uri="{9D8B030D-6E8A-4147-A177-3AD203B41FA5}">
                      <a16:colId xmlns:a16="http://schemas.microsoft.com/office/drawing/2014/main" val="20004"/>
                    </a:ext>
                  </a:extLst>
                </a:gridCol>
                <a:gridCol w="2086800">
                  <a:extLst>
                    <a:ext uri="{9D8B030D-6E8A-4147-A177-3AD203B41FA5}">
                      <a16:colId xmlns:a16="http://schemas.microsoft.com/office/drawing/2014/main" val="20005"/>
                    </a:ext>
                  </a:extLst>
                </a:gridCol>
                <a:gridCol w="600000">
                  <a:extLst>
                    <a:ext uri="{9D8B030D-6E8A-4147-A177-3AD203B41FA5}">
                      <a16:colId xmlns:a16="http://schemas.microsoft.com/office/drawing/2014/main" val="20006"/>
                    </a:ext>
                  </a:extLst>
                </a:gridCol>
              </a:tblGrid>
              <a:tr h="560000">
                <a:tc>
                  <a:txBody>
                    <a:bodyPr/>
                    <a:lstStyle/>
                    <a:p>
                      <a:pPr marL="0" indent="0">
                        <a:buNone/>
                      </a:pPr>
                      <a:r>
                        <a:rPr lang="en-US" sz="825" b="1" i="0" dirty="0">
                          <a:solidFill>
                            <a:srgbClr val="FFFFFF"/>
                          </a:solidFill>
                          <a:latin typeface="Calibri"/>
                        </a:rPr>
                        <a:t>Site</a:t>
                      </a:r>
                    </a:p>
                  </a:txBody>
                  <a:tcPr>
                    <a:solidFill>
                      <a:srgbClr val="1E3A5F"/>
                    </a:solidFill>
                  </a:tcPr>
                </a:tc>
                <a:tc>
                  <a:txBody>
                    <a:bodyPr/>
                    <a:lstStyle/>
                    <a:p>
                      <a:pPr marL="0" indent="0">
                        <a:buNone/>
                      </a:pPr>
                      <a:r>
                        <a:rPr lang="en-US" sz="825" b="1" i="0" dirty="0">
                          <a:solidFill>
                            <a:srgbClr val="FFFFFF"/>
                          </a:solidFill>
                          <a:latin typeface="Calibri"/>
                        </a:rPr>
                        <a:t>AKI%</a:t>
                      </a:r>
                    </a:p>
                  </a:txBody>
                  <a:tcPr>
                    <a:solidFill>
                      <a:srgbClr val="1E3A5F"/>
                    </a:solidFill>
                  </a:tcPr>
                </a:tc>
                <a:tc>
                  <a:txBody>
                    <a:bodyPr/>
                    <a:lstStyle/>
                    <a:p>
                      <a:pPr marL="0" indent="0">
                        <a:buNone/>
                      </a:pPr>
                      <a:r>
                        <a:rPr lang="en-US" sz="825" b="1" i="0" dirty="0">
                          <a:solidFill>
                            <a:srgbClr val="FFFFFF"/>
                          </a:solidFill>
                          <a:latin typeface="Calibri"/>
                        </a:rPr>
                        <a:t>Features</a:t>
                      </a:r>
                    </a:p>
                  </a:txBody>
                  <a:tcPr>
                    <a:solidFill>
                      <a:srgbClr val="1E3A5F"/>
                    </a:solidFill>
                  </a:tcPr>
                </a:tc>
                <a:tc>
                  <a:txBody>
                    <a:bodyPr/>
                    <a:lstStyle/>
                    <a:p>
                      <a:pPr marL="0" indent="0">
                        <a:buNone/>
                      </a:pPr>
                      <a:r>
                        <a:rPr lang="en-US" sz="825" b="1" i="0" dirty="0">
                          <a:solidFill>
                            <a:srgbClr val="FFFFFF"/>
                          </a:solidFill>
                          <a:latin typeface="Calibri"/>
                        </a:rPr>
                        <a:t>FL Verdict</a:t>
                      </a:r>
                    </a:p>
                  </a:txBody>
                  <a:tcPr>
                    <a:solidFill>
                      <a:srgbClr val="1E3A5F"/>
                    </a:solidFill>
                  </a:tcPr>
                </a:tc>
                <a:tc>
                  <a:txBody>
                    <a:bodyPr/>
                    <a:lstStyle/>
                    <a:p>
                      <a:pPr marL="0" indent="0">
                        <a:buNone/>
                      </a:pPr>
                      <a:r>
                        <a:rPr lang="en-US" sz="825" b="1" i="0" dirty="0">
                          <a:solidFill>
                            <a:srgbClr val="FFFFFF"/>
                          </a:solidFill>
                          <a:latin typeface="Calibri"/>
                        </a:rPr>
                        <a:t>Penalised?</a:t>
                      </a:r>
                    </a:p>
                  </a:txBody>
                  <a:tcPr>
                    <a:solidFill>
                      <a:srgbClr val="1E3A5F"/>
                    </a:solidFill>
                  </a:tcPr>
                </a:tc>
                <a:tc>
                  <a:txBody>
                    <a:bodyPr/>
                    <a:lstStyle/>
                    <a:p>
                      <a:pPr marL="0" indent="0">
                        <a:buNone/>
                      </a:pPr>
                      <a:r>
                        <a:rPr lang="en-US" sz="825" b="1" i="0" dirty="0">
                          <a:solidFill>
                            <a:srgbClr val="FFFFFF"/>
                          </a:solidFill>
                          <a:latin typeface="Calibri"/>
                        </a:rPr>
                        <a:t>Personalisation Needed</a:t>
                      </a:r>
                    </a:p>
                  </a:txBody>
                  <a:tcPr>
                    <a:solidFill>
                      <a:srgbClr val="1E3A5F"/>
                    </a:solidFill>
                  </a:tcPr>
                </a:tc>
                <a:tc>
                  <a:txBody>
                    <a:bodyPr/>
                    <a:lstStyle/>
                    <a:p>
                      <a:pPr marL="0" indent="0">
                        <a:buNone/>
                      </a:pPr>
                      <a:r>
                        <a:rPr lang="en-US" sz="825" b="1" i="0" dirty="0">
                          <a:solidFill>
                            <a:srgbClr val="FFFFFF"/>
                          </a:solidFill>
                          <a:latin typeface="Calibri"/>
                        </a:rPr>
                        <a:t>Priority</a:t>
                      </a:r>
                    </a:p>
                  </a:txBody>
                  <a:tcPr>
                    <a:solidFill>
                      <a:srgbClr val="1E3A5F"/>
                    </a:solidFill>
                  </a:tcPr>
                </a:tc>
                <a:extLst>
                  <a:ext uri="{0D108BD9-81ED-4DB2-BD59-A6C34878D82A}">
                    <a16:rowId xmlns:a16="http://schemas.microsoft.com/office/drawing/2014/main" val="10000"/>
                  </a:ext>
                </a:extLst>
              </a:tr>
              <a:tr h="590000">
                <a:tc>
                  <a:txBody>
                    <a:bodyPr/>
                    <a:lstStyle/>
                    <a:p>
                      <a:pPr marL="0" indent="0">
                        <a:buNone/>
                      </a:pPr>
                      <a:r>
                        <a:rPr lang="en-US" sz="800" b="1" i="0" dirty="0">
                          <a:solidFill>
                            <a:srgbClr val="DC2626"/>
                          </a:solidFill>
                          <a:latin typeface="Calibri"/>
                        </a:rPr>
                        <a:t>site_A</a:t>
                      </a:r>
                    </a:p>
                  </a:txBody>
                  <a:tcPr>
                    <a:solidFill>
                      <a:srgbClr val="EFF6FF"/>
                    </a:solidFill>
                  </a:tcPr>
                </a:tc>
                <a:tc>
                  <a:txBody>
                    <a:bodyPr/>
                    <a:lstStyle/>
                    <a:p>
                      <a:pPr marL="0" indent="0">
                        <a:buNone/>
                      </a:pPr>
                      <a:r>
                        <a:rPr lang="en-US" sz="800" b="0" i="0" dirty="0">
                          <a:solidFill>
                            <a:srgbClr val="111827"/>
                          </a:solidFill>
                          <a:latin typeface="Calibri"/>
                        </a:rPr>
                        <a:t>43%</a:t>
                      </a:r>
                    </a:p>
                  </a:txBody>
                  <a:tcPr>
                    <a:solidFill>
                      <a:srgbClr val="EFF6FF"/>
                    </a:solidFill>
                  </a:tcPr>
                </a:tc>
                <a:tc>
                  <a:txBody>
                    <a:bodyPr/>
                    <a:lstStyle/>
                    <a:p>
                      <a:pPr marL="0" indent="0">
                        <a:buNone/>
                      </a:pPr>
                      <a:r>
                        <a:rPr lang="en-US" sz="800" b="0" i="0" dirty="0">
                          <a:solidFill>
                            <a:srgbClr val="111827"/>
                          </a:solidFill>
                          <a:latin typeface="Calibri"/>
                        </a:rPr>
                        <a:t>39 feat
(all groups)</a:t>
                      </a:r>
                    </a:p>
                  </a:txBody>
                  <a:tcPr>
                    <a:solidFill>
                      <a:srgbClr val="EFF6FF"/>
                    </a:solidFill>
                  </a:tcPr>
                </a:tc>
                <a:tc>
                  <a:txBody>
                    <a:bodyPr/>
                    <a:lstStyle/>
                    <a:p>
                      <a:pPr marL="0" indent="0">
                        <a:buNone/>
                      </a:pPr>
                      <a:r>
                        <a:rPr lang="en-US" sz="800" b="0" i="0" dirty="0">
                          <a:solidFill>
                            <a:srgbClr val="111827"/>
                          </a:solidFill>
                          <a:latin typeface="Calibri"/>
                        </a:rPr>
                        <a:t>FL helps (IID/Both max). Penalised under covariate shift only (−1.3 pts).</a:t>
                      </a:r>
                    </a:p>
                  </a:txBody>
                  <a:tcPr>
                    <a:solidFill>
                      <a:srgbClr val="EFF6FF"/>
                    </a:solidFill>
                  </a:tcPr>
                </a:tc>
                <a:tc>
                  <a:txBody>
                    <a:bodyPr/>
                    <a:lstStyle/>
                    <a:p>
                      <a:pPr marL="0" indent="0">
                        <a:buNone/>
                      </a:pPr>
                      <a:r>
                        <a:rPr lang="en-US" sz="800" b="1" i="0" dirty="0">
                          <a:solidFill>
                            <a:srgbClr val="DC2626"/>
                          </a:solidFill>
                          <a:latin typeface="Calibri"/>
                        </a:rPr>
                        <a:t>Yes — cov. shift</a:t>
                      </a:r>
                    </a:p>
                  </a:txBody>
                  <a:tcPr>
                    <a:solidFill>
                      <a:srgbClr val="EFF6FF"/>
                    </a:solidFill>
                  </a:tcPr>
                </a:tc>
                <a:tc>
                  <a:txBody>
                    <a:bodyPr/>
                    <a:lstStyle/>
                    <a:p>
                      <a:pPr marL="0" indent="0">
                        <a:buNone/>
                      </a:pPr>
                      <a:r>
                        <a:rPr lang="en-US" sz="800" b="0" i="0" dirty="0">
                          <a:solidFill>
                            <a:srgbClr val="111827"/>
                          </a:solidFill>
                          <a:latin typeface="Calibri"/>
                        </a:rPr>
                        <a:t>Local head calibrates threshold for 43% prevalence. Global body retained.</a:t>
                      </a:r>
                    </a:p>
                  </a:txBody>
                  <a:tcPr>
                    <a:solidFill>
                      <a:srgbClr val="EFF6FF"/>
                    </a:solidFill>
                  </a:tcPr>
                </a:tc>
                <a:tc>
                  <a:txBody>
                    <a:bodyPr/>
                    <a:lstStyle/>
                    <a:p>
                      <a:pPr marL="0" indent="0">
                        <a:buNone/>
                      </a:pPr>
                      <a:r>
                        <a:rPr lang="en-US" sz="800" b="1" i="0" dirty="0">
                          <a:solidFill>
                            <a:srgbClr val="D97706"/>
                          </a:solidFill>
                          <a:latin typeface="Calibri"/>
                        </a:rPr>
                        <a:t>🟡 MEDIUM</a:t>
                      </a:r>
                    </a:p>
                  </a:txBody>
                  <a:tcPr>
                    <a:solidFill>
                      <a:srgbClr val="EFF6FF"/>
                    </a:solidFill>
                  </a:tcPr>
                </a:tc>
                <a:extLst>
                  <a:ext uri="{0D108BD9-81ED-4DB2-BD59-A6C34878D82A}">
                    <a16:rowId xmlns:a16="http://schemas.microsoft.com/office/drawing/2014/main" val="10001"/>
                  </a:ext>
                </a:extLst>
              </a:tr>
              <a:tr h="590000">
                <a:tc>
                  <a:txBody>
                    <a:bodyPr/>
                    <a:lstStyle/>
                    <a:p>
                      <a:pPr marL="0" indent="0">
                        <a:buNone/>
                      </a:pPr>
                      <a:r>
                        <a:rPr lang="en-US" sz="800" b="1" i="0" dirty="0">
                          <a:solidFill>
                            <a:srgbClr val="D97706"/>
                          </a:solidFill>
                          <a:latin typeface="Calibri"/>
                        </a:rPr>
                        <a:t>site_B</a:t>
                      </a:r>
                    </a:p>
                  </a:txBody>
                  <a:tcPr>
                    <a:solidFill>
                      <a:srgbClr val="FFFFFF"/>
                    </a:solidFill>
                  </a:tcPr>
                </a:tc>
                <a:tc>
                  <a:txBody>
                    <a:bodyPr/>
                    <a:lstStyle/>
                    <a:p>
                      <a:pPr marL="0" indent="0">
                        <a:buNone/>
                      </a:pPr>
                      <a:r>
                        <a:rPr lang="en-US" sz="800" b="0" i="0" dirty="0">
                          <a:solidFill>
                            <a:srgbClr val="111827"/>
                          </a:solidFill>
                          <a:latin typeface="Calibri"/>
                        </a:rPr>
                        <a:t>17%</a:t>
                      </a:r>
                    </a:p>
                  </a:txBody>
                  <a:tcPr>
                    <a:solidFill>
                      <a:srgbClr val="FFFFFF"/>
                    </a:solidFill>
                  </a:tcPr>
                </a:tc>
                <a:tc>
                  <a:txBody>
                    <a:bodyPr/>
                    <a:lstStyle/>
                    <a:p>
                      <a:pPr marL="0" indent="0">
                        <a:buNone/>
                      </a:pPr>
                      <a:r>
                        <a:rPr lang="en-US" sz="800" b="0" i="0" dirty="0">
                          <a:solidFill>
                            <a:srgbClr val="111827"/>
                          </a:solidFill>
                          <a:latin typeface="Calibri"/>
                        </a:rPr>
                        <a:t>39 feat
(all groups)</a:t>
                      </a:r>
                    </a:p>
                  </a:txBody>
                  <a:tcPr>
                    <a:solidFill>
                      <a:srgbClr val="FFFFFF"/>
                    </a:solidFill>
                  </a:tcPr>
                </a:tc>
                <a:tc>
                  <a:txBody>
                    <a:bodyPr/>
                    <a:lstStyle/>
                    <a:p>
                      <a:pPr marL="0" indent="0">
                        <a:buNone/>
                      </a:pPr>
                      <a:r>
                        <a:rPr lang="en-US" sz="800" b="0" i="0" dirty="0">
                          <a:solidFill>
                            <a:srgbClr val="111827"/>
                          </a:solidFill>
                          <a:latin typeface="Calibri"/>
                        </a:rPr>
                        <a:t>FL beats local in all 8 conditions (+1.9–3.1 pts). Matches centralised.</a:t>
                      </a:r>
                    </a:p>
                  </a:txBody>
                  <a:tcPr>
                    <a:solidFill>
                      <a:srgbClr val="FFFFFF"/>
                    </a:solidFill>
                  </a:tcPr>
                </a:tc>
                <a:tc>
                  <a:txBody>
                    <a:bodyPr/>
                    <a:lstStyle/>
                    <a:p>
                      <a:pPr marL="0" indent="0">
                        <a:buNone/>
                      </a:pPr>
                      <a:r>
                        <a:rPr lang="en-US" sz="800" b="1" i="0" dirty="0">
                          <a:solidFill>
                            <a:srgbClr val="16A34A"/>
                          </a:solidFill>
                          <a:latin typeface="Calibri"/>
                        </a:rPr>
                        <a:t>No</a:t>
                      </a:r>
                    </a:p>
                  </a:txBody>
                  <a:tcPr>
                    <a:solidFill>
                      <a:srgbClr val="FFFFFF"/>
                    </a:solidFill>
                  </a:tcPr>
                </a:tc>
                <a:tc>
                  <a:txBody>
                    <a:bodyPr/>
                    <a:lstStyle/>
                    <a:p>
                      <a:pPr marL="0" indent="0">
                        <a:buNone/>
                      </a:pPr>
                      <a:r>
                        <a:rPr lang="en-US" sz="800" b="0" i="0" dirty="0">
                          <a:solidFill>
                            <a:srgbClr val="111827"/>
                          </a:solidFill>
                          <a:latin typeface="Calibri"/>
                        </a:rPr>
                        <a:t>Global model fits well. Sits near distribution centre.</a:t>
                      </a:r>
                    </a:p>
                  </a:txBody>
                  <a:tcPr>
                    <a:solidFill>
                      <a:srgbClr val="FFFFFF"/>
                    </a:solidFill>
                  </a:tcPr>
                </a:tc>
                <a:tc>
                  <a:txBody>
                    <a:bodyPr/>
                    <a:lstStyle/>
                    <a:p>
                      <a:pPr marL="0" indent="0">
                        <a:buNone/>
                      </a:pPr>
                      <a:r>
                        <a:rPr lang="en-US" sz="800" b="1" i="0" dirty="0">
                          <a:solidFill>
                            <a:srgbClr val="16A34A"/>
                          </a:solidFill>
                          <a:latin typeface="Calibri"/>
                        </a:rPr>
                        <a:t>🟢 LOW</a:t>
                      </a:r>
                    </a:p>
                  </a:txBody>
                  <a:tcPr>
                    <a:solidFill>
                      <a:srgbClr val="FFFFFF"/>
                    </a:solidFill>
                  </a:tcPr>
                </a:tc>
                <a:extLst>
                  <a:ext uri="{0D108BD9-81ED-4DB2-BD59-A6C34878D82A}">
                    <a16:rowId xmlns:a16="http://schemas.microsoft.com/office/drawing/2014/main" val="10002"/>
                  </a:ext>
                </a:extLst>
              </a:tr>
              <a:tr h="590000">
                <a:tc>
                  <a:txBody>
                    <a:bodyPr/>
                    <a:lstStyle/>
                    <a:p>
                      <a:pPr marL="0" indent="0">
                        <a:buNone/>
                      </a:pPr>
                      <a:r>
                        <a:rPr lang="en-US" sz="800" b="1" i="0" dirty="0">
                          <a:solidFill>
                            <a:srgbClr val="16A34A"/>
                          </a:solidFill>
                          <a:latin typeface="Calibri"/>
                        </a:rPr>
                        <a:t>site_C</a:t>
                      </a:r>
                    </a:p>
                  </a:txBody>
                  <a:tcPr>
                    <a:solidFill>
                      <a:srgbClr val="EFF6FF"/>
                    </a:solidFill>
                  </a:tcPr>
                </a:tc>
                <a:tc>
                  <a:txBody>
                    <a:bodyPr/>
                    <a:lstStyle/>
                    <a:p>
                      <a:pPr marL="0" indent="0">
                        <a:buNone/>
                      </a:pPr>
                      <a:r>
                        <a:rPr lang="en-US" sz="800" b="0" i="0" dirty="0">
                          <a:solidFill>
                            <a:srgbClr val="111827"/>
                          </a:solidFill>
                          <a:latin typeface="Calibri"/>
                        </a:rPr>
                        <a:t>12.6%</a:t>
                      </a:r>
                    </a:p>
                  </a:txBody>
                  <a:tcPr>
                    <a:solidFill>
                      <a:srgbClr val="EFF6FF"/>
                    </a:solidFill>
                  </a:tcPr>
                </a:tc>
                <a:tc>
                  <a:txBody>
                    <a:bodyPr/>
                    <a:lstStyle/>
                    <a:p>
                      <a:pPr marL="0" indent="0">
                        <a:buNone/>
                      </a:pPr>
                      <a:r>
                        <a:rPr lang="en-US" sz="800" b="0" i="0" dirty="0">
                          <a:solidFill>
                            <a:srgbClr val="111827"/>
                          </a:solidFill>
                          <a:latin typeface="Calibri"/>
                        </a:rPr>
                        <a:t>39 feat
(all groups)
66,520 pts</a:t>
                      </a:r>
                    </a:p>
                  </a:txBody>
                  <a:tcPr>
                    <a:solidFill>
                      <a:srgbClr val="EFF6FF"/>
                    </a:solidFill>
                  </a:tcPr>
                </a:tc>
                <a:tc>
                  <a:txBody>
                    <a:bodyPr/>
                    <a:lstStyle/>
                    <a:p>
                      <a:pPr marL="0" indent="0">
                        <a:buNone/>
                      </a:pPr>
                      <a:r>
                        <a:rPr lang="en-US" sz="800" b="0" i="0" dirty="0">
                          <a:solidFill>
                            <a:srgbClr val="111827"/>
                          </a:solidFill>
                          <a:latin typeface="Calibri"/>
                        </a:rPr>
                        <a:t>Never penalised. FL +0.9–2.2 pts over local. IS the anchor — global model learns toward it.</a:t>
                      </a:r>
                    </a:p>
                  </a:txBody>
                  <a:tcPr>
                    <a:solidFill>
                      <a:srgbClr val="EFF6FF"/>
                    </a:solidFill>
                  </a:tcPr>
                </a:tc>
                <a:tc>
                  <a:txBody>
                    <a:bodyPr/>
                    <a:lstStyle/>
                    <a:p>
                      <a:pPr marL="0" indent="0">
                        <a:buNone/>
                      </a:pPr>
                      <a:r>
                        <a:rPr lang="en-US" sz="800" b="1" i="0" dirty="0">
                          <a:solidFill>
                            <a:srgbClr val="16A34A"/>
                          </a:solidFill>
                          <a:latin typeface="Calibri"/>
                        </a:rPr>
                        <a:t>No</a:t>
                      </a:r>
                    </a:p>
                  </a:txBody>
                  <a:tcPr>
                    <a:solidFill>
                      <a:srgbClr val="EFF6FF"/>
                    </a:solidFill>
                  </a:tcPr>
                </a:tc>
                <a:tc>
                  <a:txBody>
                    <a:bodyPr/>
                    <a:lstStyle/>
                    <a:p>
                      <a:pPr marL="0" indent="0">
                        <a:buNone/>
                      </a:pPr>
                      <a:r>
                        <a:rPr lang="en-US" sz="800" b="0" i="0" dirty="0">
                          <a:solidFill>
                            <a:srgbClr val="111827"/>
                          </a:solidFill>
                          <a:latin typeface="Calibri"/>
                        </a:rPr>
                        <a:t>None needed. Local model already strong (66k patients). Could serve as federation server.</a:t>
                      </a:r>
                    </a:p>
                  </a:txBody>
                  <a:tcPr>
                    <a:solidFill>
                      <a:srgbClr val="EFF6FF"/>
                    </a:solidFill>
                  </a:tcPr>
                </a:tc>
                <a:tc>
                  <a:txBody>
                    <a:bodyPr/>
                    <a:lstStyle/>
                    <a:p>
                      <a:pPr marL="0" indent="0">
                        <a:buNone/>
                      </a:pPr>
                      <a:r>
                        <a:rPr lang="en-US" sz="800" b="1" i="0" dirty="0">
                          <a:solidFill>
                            <a:srgbClr val="374151"/>
                          </a:solidFill>
                          <a:latin typeface="Calibri"/>
                        </a:rPr>
                        <a:t>⚫ NONE</a:t>
                      </a:r>
                    </a:p>
                  </a:txBody>
                  <a:tcPr>
                    <a:solidFill>
                      <a:srgbClr val="EFF6FF"/>
                    </a:solidFill>
                  </a:tcPr>
                </a:tc>
                <a:extLst>
                  <a:ext uri="{0D108BD9-81ED-4DB2-BD59-A6C34878D82A}">
                    <a16:rowId xmlns:a16="http://schemas.microsoft.com/office/drawing/2014/main" val="10003"/>
                  </a:ext>
                </a:extLst>
              </a:tr>
              <a:tr h="590000">
                <a:tc>
                  <a:txBody>
                    <a:bodyPr/>
                    <a:lstStyle/>
                    <a:p>
                      <a:pPr marL="0" indent="0">
                        <a:buNone/>
                      </a:pPr>
                      <a:r>
                        <a:rPr lang="en-US" sz="800" b="1" i="0" dirty="0">
                          <a:solidFill>
                            <a:srgbClr val="9333EA"/>
                          </a:solidFill>
                          <a:latin typeface="Calibri"/>
                        </a:rPr>
                        <a:t>site_D</a:t>
                      </a:r>
                    </a:p>
                  </a:txBody>
                  <a:tcPr>
                    <a:solidFill>
                      <a:srgbClr val="FFFFFF"/>
                    </a:solidFill>
                  </a:tcPr>
                </a:tc>
                <a:tc>
                  <a:txBody>
                    <a:bodyPr/>
                    <a:lstStyle/>
                    <a:p>
                      <a:pPr marL="0" indent="0">
                        <a:buNone/>
                      </a:pPr>
                      <a:r>
                        <a:rPr lang="en-US" sz="800" b="0" i="0" dirty="0">
                          <a:solidFill>
                            <a:srgbClr val="111827"/>
                          </a:solidFill>
                          <a:latin typeface="Calibri"/>
                        </a:rPr>
                        <a:t>10%</a:t>
                      </a:r>
                    </a:p>
                  </a:txBody>
                  <a:tcPr>
                    <a:solidFill>
                      <a:srgbClr val="FFFFFF"/>
                    </a:solidFill>
                  </a:tcPr>
                </a:tc>
                <a:tc>
                  <a:txBody>
                    <a:bodyPr/>
                    <a:lstStyle/>
                    <a:p>
                      <a:pPr marL="0" indent="0">
                        <a:buNone/>
                      </a:pPr>
                      <a:r>
                        <a:rPr lang="en-US" sz="800" b="0" i="0" dirty="0">
                          <a:solidFill>
                            <a:srgbClr val="111827"/>
                          </a:solidFill>
                          <a:latin typeface="Calibri"/>
                        </a:rPr>
                        <a:t>25 feat
(no inflammatory)</a:t>
                      </a:r>
                    </a:p>
                  </a:txBody>
                  <a:tcPr>
                    <a:solidFill>
                      <a:srgbClr val="FFFFFF"/>
                    </a:solidFill>
                  </a:tcPr>
                </a:tc>
                <a:tc>
                  <a:txBody>
                    <a:bodyPr/>
                    <a:lstStyle/>
                    <a:p>
                      <a:pPr marL="0" indent="0">
                        <a:buNone/>
                      </a:pPr>
                      <a:r>
                        <a:rPr lang="en-US" sz="800" b="0" i="0" dirty="0">
                          <a:solidFill>
                            <a:srgbClr val="111827"/>
                          </a:solidFill>
                          <a:latin typeface="Calibri"/>
                        </a:rPr>
                        <a:t>Modest FL benefit under combined shift (+2.9 pts). Sentinel imputation adds noise.</a:t>
                      </a:r>
                    </a:p>
                  </a:txBody>
                  <a:tcPr>
                    <a:solidFill>
                      <a:srgbClr val="FFFFFF"/>
                    </a:solidFill>
                  </a:tcPr>
                </a:tc>
                <a:tc>
                  <a:txBody>
                    <a:bodyPr/>
                    <a:lstStyle/>
                    <a:p>
                      <a:pPr marL="0" indent="0">
                        <a:buNone/>
                      </a:pPr>
                      <a:r>
                        <a:rPr lang="en-US" sz="800" b="1" i="0" dirty="0">
                          <a:solidFill>
                            <a:srgbClr val="16A34A"/>
                          </a:solidFill>
                          <a:latin typeface="Calibri"/>
                        </a:rPr>
                        <a:t>Partial</a:t>
                      </a:r>
                    </a:p>
                  </a:txBody>
                  <a:tcPr>
                    <a:solidFill>
                      <a:srgbClr val="FFFFFF"/>
                    </a:solidFill>
                  </a:tcPr>
                </a:tc>
                <a:tc>
                  <a:txBody>
                    <a:bodyPr/>
                    <a:lstStyle/>
                    <a:p>
                      <a:pPr marL="0" indent="0">
                        <a:buNone/>
                      </a:pPr>
                      <a:r>
                        <a:rPr lang="en-US" sz="800" b="0" i="0" dirty="0">
                          <a:solidFill>
                            <a:srgbClr val="111827"/>
                          </a:solidFill>
                          <a:latin typeface="Calibri"/>
                        </a:rPr>
                        <a:t>Site-specific input projection (25→hidden). Replace sentinel −3.0 imputation.</a:t>
                      </a:r>
                    </a:p>
                  </a:txBody>
                  <a:tcPr>
                    <a:solidFill>
                      <a:srgbClr val="FFFFFF"/>
                    </a:solidFill>
                  </a:tcPr>
                </a:tc>
                <a:tc>
                  <a:txBody>
                    <a:bodyPr/>
                    <a:lstStyle/>
                    <a:p>
                      <a:pPr marL="0" indent="0">
                        <a:buNone/>
                      </a:pPr>
                      <a:r>
                        <a:rPr lang="en-US" sz="800" b="1" i="0" dirty="0">
                          <a:solidFill>
                            <a:srgbClr val="D97706"/>
                          </a:solidFill>
                          <a:latin typeface="Calibri"/>
                        </a:rPr>
                        <a:t>🟡 MEDIUM</a:t>
                      </a:r>
                    </a:p>
                  </a:txBody>
                  <a:tcPr>
                    <a:solidFill>
                      <a:srgbClr val="FFFFFF"/>
                    </a:solidFill>
                  </a:tcPr>
                </a:tc>
                <a:extLst>
                  <a:ext uri="{0D108BD9-81ED-4DB2-BD59-A6C34878D82A}">
                    <a16:rowId xmlns:a16="http://schemas.microsoft.com/office/drawing/2014/main" val="10004"/>
                  </a:ext>
                </a:extLst>
              </a:tr>
              <a:tr h="590000">
                <a:tc>
                  <a:txBody>
                    <a:bodyPr/>
                    <a:lstStyle/>
                    <a:p>
                      <a:pPr marL="0" indent="0">
                        <a:buNone/>
                      </a:pPr>
                      <a:r>
                        <a:rPr lang="en-US" sz="800" b="1" i="0" dirty="0">
                          <a:solidFill>
                            <a:srgbClr val="0891B2"/>
                          </a:solidFill>
                          <a:latin typeface="Calibri"/>
                        </a:rPr>
                        <a:t>site_E</a:t>
                      </a:r>
                    </a:p>
                  </a:txBody>
                  <a:tcPr>
                    <a:solidFill>
                      <a:srgbClr val="EFF6FF"/>
                    </a:solidFill>
                  </a:tcPr>
                </a:tc>
                <a:tc>
                  <a:txBody>
                    <a:bodyPr/>
                    <a:lstStyle/>
                    <a:p>
                      <a:pPr marL="0" indent="0">
                        <a:buNone/>
                      </a:pPr>
                      <a:r>
                        <a:rPr lang="en-US" sz="800" b="0" i="0" dirty="0">
                          <a:solidFill>
                            <a:srgbClr val="111827"/>
                          </a:solidFill>
                          <a:latin typeface="Calibri"/>
                        </a:rPr>
                        <a:t>5%</a:t>
                      </a:r>
                    </a:p>
                  </a:txBody>
                  <a:tcPr>
                    <a:solidFill>
                      <a:srgbClr val="EFF6FF"/>
                    </a:solidFill>
                  </a:tcPr>
                </a:tc>
                <a:tc>
                  <a:txBody>
                    <a:bodyPr/>
                    <a:lstStyle/>
                    <a:p>
                      <a:pPr marL="0" indent="0">
                        <a:buNone/>
                      </a:pPr>
                      <a:r>
                        <a:rPr lang="en-US" sz="800" b="0" i="0" dirty="0">
                          <a:solidFill>
                            <a:srgbClr val="111827"/>
                          </a:solidFill>
                          <a:latin typeface="Calibri"/>
                        </a:rPr>
                        <a:t>18 feat
(renal+clinical
only)
1,512 AKI cases</a:t>
                      </a:r>
                    </a:p>
                  </a:txBody>
                  <a:tcPr>
                    <a:solidFill>
                      <a:srgbClr val="EFF6FF"/>
                    </a:solidFill>
                  </a:tcPr>
                </a:tc>
                <a:tc>
                  <a:txBody>
                    <a:bodyPr/>
                    <a:lstStyle/>
                    <a:p>
                      <a:pPr marL="0" indent="0">
                        <a:buNone/>
                      </a:pPr>
                      <a:r>
                        <a:rPr lang="en-US" sz="800" b="0" i="0" dirty="0">
                          <a:solidFill>
                            <a:srgbClr val="111827"/>
                          </a:solidFill>
                          <a:latin typeface="Calibri"/>
                        </a:rPr>
                        <a:t>Local BEATS FL under IID (−1.7 pts) and Label only (−0.5 pts). 10-pt gap vs site_C at Both max.</a:t>
                      </a:r>
                    </a:p>
                  </a:txBody>
                  <a:tcPr>
                    <a:solidFill>
                      <a:srgbClr val="EFF6FF"/>
                    </a:solidFill>
                  </a:tcPr>
                </a:tc>
                <a:tc>
                  <a:txBody>
                    <a:bodyPr/>
                    <a:lstStyle/>
                    <a:p>
                      <a:pPr marL="0" indent="0">
                        <a:buNone/>
                      </a:pPr>
                      <a:r>
                        <a:rPr lang="en-US" sz="800" b="1" i="0" dirty="0">
                          <a:solidFill>
                            <a:srgbClr val="DC2626"/>
                          </a:solidFill>
                          <a:latin typeface="Calibri"/>
                        </a:rPr>
                        <a:t>Yes — IID
&amp; label shift</a:t>
                      </a:r>
                    </a:p>
                  </a:txBody>
                  <a:tcPr>
                    <a:solidFill>
                      <a:srgbClr val="EFF6FF"/>
                    </a:solidFill>
                  </a:tcPr>
                </a:tc>
                <a:tc>
                  <a:txBody>
                    <a:bodyPr/>
                    <a:lstStyle/>
                    <a:p>
                      <a:pPr marL="0" indent="0">
                        <a:buNone/>
                      </a:pPr>
                      <a:r>
                        <a:rPr lang="en-US" sz="800" b="0" i="0" dirty="0">
                          <a:solidFill>
                            <a:srgbClr val="111827"/>
                          </a:solidFill>
                          <a:latin typeface="Calibri"/>
                        </a:rPr>
                        <a:t>FedBABU body-head split. Local head fine-tuned on 5% AKI distribution. Input projection (18→hidden).</a:t>
                      </a:r>
                    </a:p>
                  </a:txBody>
                  <a:tcPr>
                    <a:solidFill>
                      <a:srgbClr val="EFF6FF"/>
                    </a:solidFill>
                  </a:tcPr>
                </a:tc>
                <a:tc>
                  <a:txBody>
                    <a:bodyPr/>
                    <a:lstStyle/>
                    <a:p>
                      <a:pPr marL="0" indent="0">
                        <a:buNone/>
                      </a:pPr>
                      <a:r>
                        <a:rPr lang="en-US" sz="800" b="1" i="0" dirty="0">
                          <a:solidFill>
                            <a:srgbClr val="DC2626"/>
                          </a:solidFill>
                          <a:latin typeface="Calibri"/>
                        </a:rPr>
                        <a:t>🔴 HIGH</a:t>
                      </a:r>
                    </a:p>
                  </a:txBody>
                  <a:tcPr>
                    <a:solidFill>
                      <a:srgbClr val="EFF6FF"/>
                    </a:solidFill>
                  </a:tcPr>
                </a:tc>
                <a:extLst>
                  <a:ext uri="{0D108BD9-81ED-4DB2-BD59-A6C34878D82A}">
                    <a16:rowId xmlns:a16="http://schemas.microsoft.com/office/drawing/2014/main" val="10005"/>
                  </a:ext>
                </a:extLst>
              </a:tr>
            </a:tbl>
          </a:graphicData>
        </a:graphic>
      </p:graphicFrame>
      <p:sp>
        <p:nvSpPr>
          <p:cNvPr id="30" name="note"/>
          <p:cNvSpPr/>
          <p:nvPr/>
        </p:nvSpPr>
        <p:spPr>
          <a:xfrm>
            <a:off x="228600" y="4010000"/>
            <a:ext cx="8686800" cy="3510000"/>
          </a:xfrm>
          <a:prstGeom prst="rect">
            <a:avLst/>
          </a:prstGeom>
          <a:solidFill>
            <a:srgbClr val="FFF7ED"/>
          </a:solidFill>
          <a:ln w="9525">
            <a:solidFill>
              <a:srgbClr val="C2410C"/>
            </a:solidFill>
          </a:ln>
        </p:spPr>
        <p:txBody>
          <a:bodyPr wrap="square" lIns="137160" tIns="60960" rIns="137160" bIns="60960" rtlCol="0" anchor="t"/>
          <a:lstStyle/>
          <a:p>
            <a:pPr marL="0" indent="0">
              <a:buNone/>
            </a:pPr>
            <a:r>
              <a:rPr lang="en-US" sz="825" b="1" dirty="0">
                <a:solidFill>
                  <a:srgbClr val="7C2D12"/>
                </a:solidFill>
                <a:latin typeface="Calibri"/>
              </a:rPr>
              <a:t>Why personalisation would help penalised sites:</a:t>
            </a:r>
          </a:p>
          <a:p>
            <a:pPr marL="0" indent="0">
              <a:buNone/>
            </a:pPr>
            <a:r>
              <a:rPr lang="en-US" sz="800" b="1" dirty="0">
                <a:solidFill>
                  <a:schemeClr val="tx1"/>
                </a:solidFill>
                <a:latin typeface="Calibri"/>
              </a:rPr>
              <a:t>site_A: </a:t>
            </a:r>
            <a:r>
              <a:rPr lang="en-US" sz="800" dirty="0">
                <a:solidFill>
                  <a:schemeClr val="tx1"/>
                </a:solidFill>
                <a:latin typeface="Calibri"/>
              </a:rPr>
              <a:t>Local head corrects the prevalence calibration (43% vs 12.6%). Global body still provides ICU feature representations. Expected to recover the −1.3 pt deficit under covariate shift.</a:t>
            </a:r>
          </a:p>
          <a:p>
            <a:pPr marL="0" indent="0">
              <a:buNone/>
            </a:pPr>
            <a:r>
              <a:rPr lang="en-US" sz="800" b="1" dirty="0">
                <a:solidFill>
                  <a:schemeClr val="tx1"/>
                </a:solidFill>
                <a:latin typeface="Calibri"/>
              </a:rPr>
              <a:t>site_E: </a:t>
            </a:r>
            <a:r>
              <a:rPr lang="en-US" sz="800" dirty="0">
                <a:solidFill>
                  <a:schemeClr val="tx1"/>
                </a:solidFill>
                <a:latin typeface="Calibri"/>
              </a:rPr>
              <a:t>Global body provides rich representations from 32k+ AKI cases across all sites (vs 1,512 local). Local head calibrates to 5% AKI rural phenotype. Site-specific input projection removes sentinel noise. Expected to close the 10-point gap vs site_C.</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
        <p:cNvGrpSpPr/>
        <p:nvPr/>
      </p:nvGrpSpPr>
      <p:grpSpPr>
        <a:xfrm>
          <a:off x="0" y="0"/>
          <a:ext cx="0" cy="0"/>
          <a:chOff x="0" y="0"/>
          <a:chExt cx="0" cy="0"/>
        </a:xfrm>
      </p:grpSpPr>
      <p:sp>
        <p:nvSpPr>
          <p:cNvPr id="12" name="Google Shape;12;p1"/>
          <p:cNvSpPr/>
          <p:nvPr/>
        </p:nvSpPr>
        <p:spPr>
          <a:xfrm>
            <a:off x="0" y="0"/>
            <a:ext cx="9144000" cy="73152"/>
          </a:xfrm>
          <a:prstGeom prst="rect">
            <a:avLst/>
          </a:prstGeom>
          <a:solidFill>
            <a:srgbClr val="1D4ED8"/>
          </a:solidFill>
          <a:ln w="12700" cap="flat" cmpd="sng">
            <a:solidFill>
              <a:srgbClr val="1D4E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 name="Google Shape;13;p1"/>
          <p:cNvSpPr/>
          <p:nvPr/>
        </p:nvSpPr>
        <p:spPr>
          <a:xfrm>
            <a:off x="548640" y="1005840"/>
            <a:ext cx="8046720" cy="1645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3800"/>
              <a:buFont typeface="Calibri"/>
              <a:buNone/>
            </a:pPr>
            <a:r>
              <a:rPr lang="en-US" sz="3800" b="1">
                <a:solidFill>
                  <a:srgbClr val="1F2937"/>
                </a:solidFill>
                <a:latin typeface="Calibri"/>
                <a:ea typeface="Calibri"/>
                <a:cs typeface="Calibri"/>
                <a:sym typeface="Calibri"/>
              </a:rPr>
              <a:t>Phase 3</a:t>
            </a:r>
            <a:endParaRPr sz="3800">
              <a:solidFill>
                <a:schemeClr val="dk1"/>
              </a:solidFill>
              <a:latin typeface="Calibri"/>
              <a:ea typeface="Calibri"/>
              <a:cs typeface="Calibri"/>
              <a:sym typeface="Calibri"/>
            </a:endParaRPr>
          </a:p>
          <a:p>
            <a:pPr marL="0" marR="0" lvl="0" indent="0" algn="l" rtl="0">
              <a:spcBef>
                <a:spcPts val="0"/>
              </a:spcBef>
              <a:spcAft>
                <a:spcPts val="0"/>
              </a:spcAft>
              <a:buClr>
                <a:srgbClr val="1F2937"/>
              </a:buClr>
              <a:buSzPts val="3800"/>
              <a:buFont typeface="Calibri"/>
              <a:buNone/>
            </a:pPr>
            <a:r>
              <a:rPr lang="en-US" sz="3800" b="1">
                <a:solidFill>
                  <a:srgbClr val="1F2937"/>
                </a:solidFill>
                <a:latin typeface="Calibri"/>
                <a:ea typeface="Calibri"/>
                <a:cs typeface="Calibri"/>
                <a:sym typeface="Calibri"/>
              </a:rPr>
              <a:t>GPC-Aligned Multi-Method Evaluation</a:t>
            </a:r>
            <a:endParaRPr sz="3800">
              <a:solidFill>
                <a:schemeClr val="dk1"/>
              </a:solidFill>
              <a:latin typeface="Calibri"/>
              <a:ea typeface="Calibri"/>
              <a:cs typeface="Calibri"/>
              <a:sym typeface="Calibri"/>
            </a:endParaRPr>
          </a:p>
        </p:txBody>
      </p:sp>
      <p:sp>
        <p:nvSpPr>
          <p:cNvPr id="14" name="Google Shape;14;p1"/>
          <p:cNvSpPr/>
          <p:nvPr/>
        </p:nvSpPr>
        <p:spPr>
          <a:xfrm>
            <a:off x="548640" y="2788920"/>
            <a:ext cx="4572000" cy="36576"/>
          </a:xfrm>
          <a:prstGeom prst="rect">
            <a:avLst/>
          </a:prstGeom>
          <a:solidFill>
            <a:srgbClr val="D1D5DB"/>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 name="Google Shape;15;p1"/>
          <p:cNvSpPr/>
          <p:nvPr/>
        </p:nvSpPr>
        <p:spPr>
          <a:xfrm>
            <a:off x="548640" y="3383280"/>
            <a:ext cx="80467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300"/>
              <a:buFont typeface="Calibri"/>
              <a:buNone/>
            </a:pPr>
            <a:r>
              <a:rPr lang="en-US" sz="1300">
                <a:solidFill>
                  <a:srgbClr val="6B7280"/>
                </a:solidFill>
                <a:latin typeface="Calibri"/>
                <a:ea typeface="Calibri"/>
                <a:cs typeface="Calibri"/>
                <a:sym typeface="Calibri"/>
              </a:rPr>
              <a:t>Bug Fixes, Corrected Rankings, and the Site_D Investigation</a:t>
            </a:r>
            <a:endParaRPr sz="1300">
              <a:solidFill>
                <a:schemeClr val="dk1"/>
              </a:solidFill>
              <a:latin typeface="Calibri"/>
              <a:ea typeface="Calibri"/>
              <a:cs typeface="Calibri"/>
              <a:sym typeface="Calibri"/>
            </a:endParaRPr>
          </a:p>
        </p:txBody>
      </p:sp>
      <p:sp>
        <p:nvSpPr>
          <p:cNvPr id="16" name="Google Shape;16;p1"/>
          <p:cNvSpPr/>
          <p:nvPr/>
        </p:nvSpPr>
        <p:spPr>
          <a:xfrm>
            <a:off x="0" y="4983480"/>
            <a:ext cx="9144000" cy="160020"/>
          </a:xfrm>
          <a:prstGeom prst="rect">
            <a:avLst/>
          </a:prstGeom>
          <a:solidFill>
            <a:srgbClr val="F3F4F6"/>
          </a:solidFill>
          <a:ln w="12700" cap="flat" cmpd="sng">
            <a:solidFill>
              <a:srgbClr val="D1D5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8503920" cy="548640"/>
          </a:xfrm>
          <a:prstGeom prst="rect">
            <a:avLst/>
          </a:prstGeom>
          <a:noFill/>
        </p:spPr>
        <p:txBody>
          <a:bodyPr wrap="square" lIns="0" tIns="0" rIns="0" bIns="0">
            <a:spAutoFit/>
          </a:bodyPr>
          <a:lstStyle/>
          <a:p>
            <a:pPr algn="l">
              <a:spcBef>
                <a:spcPts val="0"/>
              </a:spcBef>
              <a:buNone/>
            </a:pPr>
            <a:r>
              <a:rPr sz="1900" b="1" i="0">
                <a:solidFill>
                  <a:srgbClr val="1F2937"/>
                </a:solidFill>
                <a:latin typeface="Calibri"/>
              </a:rPr>
              <a:t>GPC Alignment: What Changed From Phase 2</a:t>
            </a:r>
          </a:p>
        </p:txBody>
      </p:sp>
      <p:sp>
        <p:nvSpPr>
          <p:cNvPr id="3" name="Rectangle 2"/>
          <p:cNvSpPr/>
          <p:nvPr/>
        </p:nvSpPr>
        <p:spPr>
          <a:xfrm>
            <a:off x="0" y="713232"/>
            <a:ext cx="9144000" cy="3657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86384"/>
            <a:ext cx="8503920" cy="182880"/>
          </a:xfrm>
          <a:prstGeom prst="rect">
            <a:avLst/>
          </a:prstGeom>
          <a:noFill/>
        </p:spPr>
        <p:txBody>
          <a:bodyPr wrap="square" lIns="0" tIns="0" rIns="0" bIns="0">
            <a:spAutoFit/>
          </a:bodyPr>
          <a:lstStyle/>
          <a:p>
            <a:pPr algn="l">
              <a:spcBef>
                <a:spcPts val="0"/>
              </a:spcBef>
              <a:buNone/>
            </a:pPr>
            <a:r>
              <a:rPr sz="950" b="0" i="1">
                <a:solidFill>
                  <a:srgbClr val="6B7280"/>
                </a:solidFill>
                <a:latin typeface="Calibri"/>
              </a:rPr>
              <a:t>Cohort and feature-set changes between Phase 2 (unaligned MIMIC-IV) and Phase 3 (GPC shared98-aligned)</a:t>
            </a:r>
          </a:p>
        </p:txBody>
      </p:sp>
      <p:sp>
        <p:nvSpPr>
          <p:cNvPr id="5" name="Rectangle 4"/>
          <p:cNvSpPr/>
          <p:nvPr/>
        </p:nvSpPr>
        <p:spPr>
          <a:xfrm>
            <a:off x="320040" y="1078992"/>
            <a:ext cx="5029200" cy="2331720"/>
          </a:xfrm>
          <a:prstGeom prst="rect">
            <a:avLst/>
          </a:prstGeom>
          <a:solidFill>
            <a:srgbClr val="F7F7F8"/>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1152144"/>
            <a:ext cx="4846320" cy="2194560"/>
          </a:xfrm>
          <a:prstGeom prst="rect">
            <a:avLst/>
          </a:prstGeom>
          <a:noFill/>
        </p:spPr>
        <p:txBody>
          <a:bodyPr wrap="square" lIns="0" tIns="0" rIns="0" bIns="0">
            <a:spAutoFit/>
          </a:bodyPr>
          <a:lstStyle/>
          <a:p>
            <a:pPr algn="l">
              <a:spcBef>
                <a:spcPts val="100"/>
              </a:spcBef>
              <a:buNone/>
            </a:pPr>
            <a:r>
              <a:rPr sz="819" b="0" i="0">
                <a:solidFill>
                  <a:srgbClr val="1F2937"/>
                </a:solidFill>
                <a:latin typeface="Courier New"/>
              </a:rPr>
              <a:t>PHASE_2_VS_PHASE_3 = {</a:t>
            </a:r>
          </a:p>
          <a:p>
            <a:pPr algn="l">
              <a:spcBef>
                <a:spcPts val="100"/>
              </a:spcBef>
              <a:buNone/>
            </a:pPr>
            <a:r>
              <a:rPr sz="819" b="0" i="0">
                <a:solidFill>
                  <a:srgbClr val="1F2937"/>
                </a:solidFill>
                <a:latin typeface="Courier New"/>
              </a:rPr>
              <a:t>  "features":         109 (unaligned)  -&gt;  159 (GPC-aligned),</a:t>
            </a:r>
          </a:p>
          <a:p>
            <a:pPr algn="l">
              <a:spcBef>
                <a:spcPts val="100"/>
              </a:spcBef>
              <a:buNone/>
            </a:pPr>
            <a:r>
              <a:rPr sz="819" b="0" i="0">
                <a:solidFill>
                  <a:srgbClr val="1F2937"/>
                </a:solidFill>
                <a:latin typeface="Courier New"/>
              </a:rPr>
              <a:t>  "feature_groups":   5 groups  -&gt;  8 groups,</a:t>
            </a:r>
          </a:p>
          <a:p>
            <a:pPr algn="l">
              <a:spcBef>
                <a:spcPts val="100"/>
              </a:spcBef>
              <a:buNone/>
            </a:pPr>
            <a:r>
              <a:rPr sz="819" b="0" i="0">
                <a:solidFill>
                  <a:srgbClr val="1F2937"/>
                </a:solidFill>
                <a:latin typeface="Courier New"/>
              </a:rPr>
              <a:t>  "lookback_window":  ad hoc  -&gt;  24h anchor-based (GPC std),</a:t>
            </a:r>
          </a:p>
          <a:p>
            <a:pPr algn="l">
              <a:spcBef>
                <a:spcPts val="100"/>
              </a:spcBef>
              <a:buNone/>
            </a:pPr>
            <a:r>
              <a:rPr sz="819" b="0" i="0">
                <a:solidFill>
                  <a:srgbClr val="1F2937"/>
                </a:solidFill>
                <a:latin typeface="Courier New"/>
              </a:rPr>
              <a:t>  "aki_prevalence":   9.0%  -&gt;  12.5%,</a:t>
            </a:r>
          </a:p>
          <a:p>
            <a:pPr algn="l">
              <a:spcBef>
                <a:spcPts val="100"/>
              </a:spcBef>
              <a:buNone/>
            </a:pPr>
            <a:r>
              <a:rPr sz="819" b="0" i="0">
                <a:solidFill>
                  <a:srgbClr val="1F2937"/>
                </a:solidFill>
                <a:latin typeface="Courier New"/>
              </a:rPr>
              <a:t>  "scr_exclusion":    SCr&gt;1.3 admission exclusion  -&gt;  REMOVED,</a:t>
            </a:r>
          </a:p>
          <a:p>
            <a:pPr algn="l">
              <a:spcBef>
                <a:spcPts val="100"/>
              </a:spcBef>
              <a:buNone/>
            </a:pPr>
            <a:r>
              <a:rPr sz="819" b="0" i="0">
                <a:solidFill>
                  <a:srgbClr val="1F2937"/>
                </a:solidFill>
                <a:latin typeface="Courier New"/>
              </a:rPr>
              <a:t>  "cohort_size":      163,038 patients (unchanged),</a:t>
            </a:r>
          </a:p>
          <a:p>
            <a:pPr algn="l">
              <a:spcBef>
                <a:spcPts val="100"/>
              </a:spcBef>
              <a:buNone/>
            </a:pPr>
            <a:r>
              <a:rPr sz="819" b="0" i="0">
                <a:solidFill>
                  <a:srgbClr val="1F2937"/>
                </a:solidFill>
                <a:latin typeface="Courier New"/>
              </a:rPr>
              <a:t>}</a:t>
            </a:r>
          </a:p>
          <a:p>
            <a:pPr algn="l">
              <a:spcBef>
                <a:spcPts val="100"/>
              </a:spcBef>
              <a:buNone/>
            </a:pPr>
            <a:r>
              <a:rPr sz="819" b="0" i="0">
                <a:solidFill>
                  <a:srgbClr val="1F2937"/>
                </a:solidFill>
                <a:latin typeface="Courier New"/>
              </a:rPr>
              <a:t/>
            </a:r>
          </a:p>
          <a:p>
            <a:pPr algn="l">
              <a:spcBef>
                <a:spcPts val="100"/>
              </a:spcBef>
              <a:buNone/>
            </a:pPr>
            <a:r>
              <a:rPr sz="819" b="0" i="0">
                <a:solidFill>
                  <a:srgbClr val="1F2937"/>
                </a:solidFill>
                <a:latin typeface="Courier New"/>
              </a:rPr>
              <a:t># Prevalence rose because the SCr exclusion was removed —</a:t>
            </a:r>
          </a:p>
          <a:p>
            <a:pPr algn="l">
              <a:spcBef>
                <a:spcPts val="100"/>
              </a:spcBef>
              <a:buNone/>
            </a:pPr>
            <a:r>
              <a:rPr sz="819" b="0" i="0">
                <a:solidFill>
                  <a:srgbClr val="1F2937"/>
                </a:solidFill>
                <a:latin typeface="Courier New"/>
              </a:rPr>
              <a:t># a GPC-standard alignment change, not a data-quality fix.</a:t>
            </a:r>
          </a:p>
          <a:p>
            <a:pPr algn="l">
              <a:spcBef>
                <a:spcPts val="100"/>
              </a:spcBef>
              <a:buNone/>
            </a:pPr>
            <a:r>
              <a:rPr sz="819" b="0" i="0">
                <a:solidFill>
                  <a:srgbClr val="1F2937"/>
                </a:solidFill>
                <a:latin typeface="Courier New"/>
              </a:rPr>
              <a:t/>
            </a:r>
          </a:p>
          <a:p>
            <a:pPr algn="l">
              <a:spcBef>
                <a:spcPts val="100"/>
              </a:spcBef>
              <a:buNone/>
            </a:pPr>
            <a:r>
              <a:rPr sz="819" b="0" i="0">
                <a:solidFill>
                  <a:srgbClr val="1F2937"/>
                </a:solidFill>
                <a:latin typeface="Courier New"/>
              </a:rPr>
              <a:t/>
            </a:r>
          </a:p>
          <a:p>
            <a:pPr algn="l">
              <a:spcBef>
                <a:spcPts val="100"/>
              </a:spcBef>
              <a:buNone/>
            </a:pPr>
            <a:r>
              <a:rPr sz="760" b="0" i="1">
                <a:solidFill>
                  <a:srgbClr val="6B7280"/>
                </a:solidFill>
                <a:latin typeface="Courier New"/>
              </a:rPr>
              <a:t/>
            </a:r>
          </a:p>
          <a:p>
            <a:pPr algn="l">
              <a:spcBef>
                <a:spcPts val="100"/>
              </a:spcBef>
              <a:buNone/>
            </a:pPr>
            <a:r>
              <a:rPr sz="760" b="0" i="1">
                <a:solidFill>
                  <a:srgbClr val="6B7280"/>
                </a:solidFill>
                <a:latin typeface="Courier New"/>
              </a:rPr>
              <a:t/>
            </a:r>
          </a:p>
        </p:txBody>
      </p:sp>
      <p:sp>
        <p:nvSpPr>
          <p:cNvPr id="7" name="Rectangle 6"/>
          <p:cNvSpPr/>
          <p:nvPr/>
        </p:nvSpPr>
        <p:spPr>
          <a:xfrm>
            <a:off x="5532120" y="1078992"/>
            <a:ext cx="3291840" cy="2331720"/>
          </a:xfrm>
          <a:prstGeom prst="rect">
            <a:avLst/>
          </a:prstGeom>
          <a:solidFill>
            <a:srgbClr val="F7F7F8"/>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23560" y="1152144"/>
            <a:ext cx="3108960" cy="2194560"/>
          </a:xfrm>
          <a:prstGeom prst="rect">
            <a:avLst/>
          </a:prstGeom>
          <a:noFill/>
        </p:spPr>
        <p:txBody>
          <a:bodyPr wrap="square" lIns="0" tIns="0" rIns="0" bIns="0">
            <a:spAutoFit/>
          </a:bodyPr>
          <a:lstStyle/>
          <a:p>
            <a:pPr algn="l">
              <a:spcBef>
                <a:spcPts val="100"/>
              </a:spcBef>
              <a:buNone/>
            </a:pPr>
            <a:r>
              <a:rPr sz="819" b="0" i="0">
                <a:solidFill>
                  <a:srgbClr val="1F2937"/>
                </a:solidFill>
                <a:latin typeface="Courier New"/>
              </a:rPr>
              <a:t>NEW_FEATURE_GROUPS = {  # 8 groups, up from 5 in Phase 2</a:t>
            </a:r>
          </a:p>
          <a:p>
            <a:pPr algn="l">
              <a:spcBef>
                <a:spcPts val="100"/>
              </a:spcBef>
              <a:buNone/>
            </a:pPr>
            <a:r>
              <a:rPr sz="819" b="0" i="0">
                <a:solidFill>
                  <a:srgbClr val="1F2937"/>
                </a:solidFill>
                <a:latin typeface="Courier New"/>
              </a:rPr>
              <a:t>  "renal":            [...],</a:t>
            </a:r>
          </a:p>
          <a:p>
            <a:pPr algn="l">
              <a:spcBef>
                <a:spcPts val="100"/>
              </a:spcBef>
              <a:buNone/>
            </a:pPr>
            <a:r>
              <a:rPr sz="819" b="0" i="0">
                <a:solidFill>
                  <a:srgbClr val="1F2937"/>
                </a:solidFill>
                <a:latin typeface="Courier New"/>
              </a:rPr>
              <a:t>  "metabolic_panel":  [...],</a:t>
            </a:r>
          </a:p>
          <a:p>
            <a:pPr algn="l">
              <a:spcBef>
                <a:spcPts val="100"/>
              </a:spcBef>
              <a:buNone/>
            </a:pPr>
            <a:r>
              <a:rPr sz="819" b="0" i="0">
                <a:solidFill>
                  <a:srgbClr val="1F2937"/>
                </a:solidFill>
                <a:latin typeface="Courier New"/>
              </a:rPr>
              <a:t>  "hepatic":          [...],   # NEW</a:t>
            </a:r>
          </a:p>
          <a:p>
            <a:pPr algn="l">
              <a:spcBef>
                <a:spcPts val="100"/>
              </a:spcBef>
              <a:buNone/>
            </a:pPr>
            <a:r>
              <a:rPr sz="819" b="0" i="0">
                <a:solidFill>
                  <a:srgbClr val="1F2937"/>
                </a:solidFill>
                <a:latin typeface="Courier New"/>
              </a:rPr>
              <a:t>  "hematology":       [...],   # NEW</a:t>
            </a:r>
          </a:p>
          <a:p>
            <a:pPr algn="l">
              <a:spcBef>
                <a:spcPts val="100"/>
              </a:spcBef>
              <a:buNone/>
            </a:pPr>
            <a:r>
              <a:rPr sz="819" b="0" i="0">
                <a:solidFill>
                  <a:srgbClr val="1F2937"/>
                </a:solidFill>
                <a:latin typeface="Courier New"/>
              </a:rPr>
              <a:t>  "inflammatory":     [...],</a:t>
            </a:r>
          </a:p>
          <a:p>
            <a:pPr algn="l">
              <a:spcBef>
                <a:spcPts val="100"/>
              </a:spcBef>
              <a:buNone/>
            </a:pPr>
            <a:r>
              <a:rPr sz="819" b="0" i="0">
                <a:solidFill>
                  <a:srgbClr val="1F2937"/>
                </a:solidFill>
                <a:latin typeface="Courier New"/>
              </a:rPr>
              <a:t>  "vitals_gpc":       [...],   # NEW</a:t>
            </a:r>
          </a:p>
          <a:p>
            <a:pPr algn="l">
              <a:spcBef>
                <a:spcPts val="100"/>
              </a:spcBef>
              <a:buNone/>
            </a:pPr>
            <a:r>
              <a:t>  "vitals_mimic":     [...],   # NEW</a:t>
            </a:r>
            <a:endParaRPr sz="819" b="0" i="0">
              <a:solidFill>
                <a:srgbClr val="1F2937"/>
              </a:solidFill>
              <a:latin typeface="Courier New"/>
            </a:endParaRPr>
          </a:p>
          <a:p>
            <a:pPr algn="l">
              <a:spcBef>
                <a:spcPts val="100"/>
              </a:spcBef>
              <a:buNone/>
            </a:pPr>
            <a:r>
              <a:rPr sz="760" b="0" i="1">
                <a:solidFill>
                  <a:srgbClr val="6B7280"/>
                </a:solidFill>
                <a:latin typeface="Courier New"/>
              </a:rPr>
              <a:t>  "clinical":         [...],</a:t>
            </a:r>
          </a:p>
          <a:p>
            <a:pPr algn="l">
              <a:spcBef>
                <a:spcPts val="100"/>
              </a:spcBef>
              <a:buNone/>
            </a:pPr>
            <a:r>
              <a:rPr sz="760" b="0" i="1">
                <a:solidFill>
                  <a:srgbClr val="6B7280"/>
                </a:solidFill>
                <a:latin typeface="Courier New"/>
              </a:rPr>
              <a:t>}</a:t>
            </a:r>
          </a:p>
          <a:p>
            <a:pPr algn="l">
              <a:spcBef>
                <a:spcPts val="100"/>
              </a:spcBef>
              <a:buNone/>
            </a:pPr>
            <a:r>
              <a:rPr sz="760" b="0" i="1">
                <a:solidFill>
                  <a:srgbClr val="6B7280"/>
                </a:solidFill>
                <a:latin typeface="Courier New"/>
              </a:rPr>
              <a:t/>
            </a:r>
          </a:p>
          <a:p>
            <a:pPr algn="l">
              <a:spcBef>
                <a:spcPts val="100"/>
              </a:spcBef>
              <a:buNone/>
            </a:pPr>
            <a:r>
              <a:rPr sz="760" b="0" i="1">
                <a:solidFill>
                  <a:srgbClr val="6B7280"/>
                </a:solidFill>
                <a:latin typeface="Courier New"/>
              </a:rPr>
              <a:t/>
            </a:r>
          </a:p>
        </p:txBody>
      </p:sp>
      <p:sp>
        <p:nvSpPr>
          <p:cNvPr id="9" name="Rectangle 8"/>
          <p:cNvSpPr/>
          <p:nvPr/>
        </p:nvSpPr>
        <p:spPr>
          <a:xfrm>
            <a:off x="320040" y="3520440"/>
            <a:ext cx="8503920" cy="1508760"/>
          </a:xfrm>
          <a:prstGeom prst="rect">
            <a:avLst/>
          </a:prstGeom>
          <a:solidFill>
            <a:srgbClr val="F7F7F8"/>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80" y="3593592"/>
            <a:ext cx="8321040" cy="1371600"/>
          </a:xfrm>
          <a:prstGeom prst="rect">
            <a:avLst/>
          </a:prstGeom>
          <a:noFill/>
        </p:spPr>
        <p:txBody>
          <a:bodyPr wrap="square" lIns="0" tIns="0" rIns="0" bIns="0">
            <a:spAutoFit/>
          </a:bodyPr>
          <a:lstStyle/>
          <a:p>
            <a:pPr algn="l">
              <a:spcBef>
                <a:spcPts val="200"/>
              </a:spcBef>
              <a:buNone/>
            </a:pPr>
            <a:r>
              <a:rPr sz="800" b="0" i="1">
                <a:solidFill>
                  <a:srgbClr val="6B7280"/>
                </a:solidFill>
                <a:latin typeface="Courier New"/>
              </a:rPr>
              <a:t>159 GPC-aligned features total</a:t>
            </a:r>
          </a:p>
          <a:p>
            <a:pPr algn="l">
              <a:spcBef>
                <a:spcPts val="200"/>
              </a:spcBef>
              <a:buNone/>
            </a:pPr>
            <a:r>
              <a:rPr sz="800" b="0" i="0">
                <a:solidFill>
                  <a:srgbClr val="1F2937"/>
                </a:solidFill>
                <a:latin typeface="Courier New"/>
              </a:rPr>
              <a:t>(vs. 109 in Phase 2's unaligned set)</a:t>
            </a:r>
          </a:p>
          <a:p>
            <a:pPr algn="l">
              <a:spcBef>
                <a:spcPts val="200"/>
              </a:spcBef>
              <a:buNone/>
            </a:pPr>
            <a:r>
              <a:rPr sz="800" b="0" i="0">
                <a:solidFill>
                  <a:srgbClr val="1F2937"/>
                </a:solidFill>
                <a:latin typeface="Courier New"/>
              </a:rPr>
              <a:t/>
            </a:r>
          </a:p>
          <a:p>
            <a:pPr algn="l">
              <a:spcBef>
                <a:spcPts val="200"/>
              </a:spcBef>
              <a:buNone/>
            </a:pPr>
            <a:r>
              <a:rPr sz="800" b="0" i="0">
                <a:solidFill>
                  <a:srgbClr val="1F2937"/>
                </a:solidFill>
                <a:latin typeface="Courier New"/>
              </a:rPr>
              <a:t>24 of 31 MIMIC-IV core lab/vital</a:t>
            </a:r>
          </a:p>
          <a:p>
            <a:pPr algn="l">
              <a:spcBef>
                <a:spcPts val="200"/>
              </a:spcBef>
              <a:buNone/>
            </a:pPr>
            <a:r>
              <a:rPr sz="800" b="0" i="0">
                <a:solidFill>
                  <a:srgbClr val="1F2937"/>
                </a:solidFill>
                <a:latin typeface="Courier New"/>
              </a:rPr>
              <a:t>features map directly onto the</a:t>
            </a:r>
          </a:p>
          <a:p>
            <a:pPr algn="l">
              <a:spcBef>
                <a:spcPts val="200"/>
              </a:spcBef>
              <a:buNone/>
            </a:pPr>
            <a:r>
              <a:rPr sz="800" b="0" i="0">
                <a:solidFill>
                  <a:srgbClr val="1F2937"/>
                </a:solidFill>
                <a:latin typeface="Courier New"/>
              </a:rPr>
              <a:t>GPC shared98 feature set —</a:t>
            </a:r>
          </a:p>
          <a:p>
            <a:pPr algn="l">
              <a:spcBef>
                <a:spcPts val="200"/>
              </a:spcBef>
              <a:buNone/>
            </a:pPr>
            <a:r>
              <a:rPr sz="800" b="0" i="0">
                <a:solidFill>
                  <a:srgbClr val="1F2937"/>
                </a:solidFill>
                <a:latin typeface="Courier New"/>
              </a:rPr>
              <a:t>see next slide for details</a:t>
            </a:r>
          </a:p>
        </p:txBody>
      </p:sp>
    </p:spTree>
    <p:extLst>
      <p:ext uri="{BB962C8B-B14F-4D97-AF65-F5344CB8AC3E}">
        <p14:creationId xmlns:p14="http://schemas.microsoft.com/office/powerpoint/2010/main" val="39828625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cxnSp>
        <p:nvCxnSpPr>
          <p:cNvPr id="252" name="Google Shape;252;p9"/>
          <p:cNvCxnSpPr/>
          <p:nvPr/>
        </p:nvCxnSpPr>
        <p:spPr>
          <a:xfrm>
            <a:off x="0" y="777240"/>
            <a:ext cx="12188952" cy="0"/>
          </a:xfrm>
          <a:prstGeom prst="straightConnector1">
            <a:avLst/>
          </a:prstGeom>
          <a:noFill/>
          <a:ln w="12700" cap="flat" cmpd="sng">
            <a:solidFill>
              <a:srgbClr val="AAAAAA"/>
            </a:solidFill>
            <a:prstDash val="solid"/>
            <a:round/>
            <a:headEnd type="none" w="sm" len="sm"/>
            <a:tailEnd type="none" w="sm" len="sm"/>
          </a:ln>
        </p:spPr>
      </p:cxnSp>
      <p:sp>
        <p:nvSpPr>
          <p:cNvPr id="253" name="Google Shape;253;p9"/>
          <p:cNvSpPr/>
          <p:nvPr/>
        </p:nvSpPr>
        <p:spPr>
          <a:xfrm>
            <a:off x="320040" y="73152"/>
            <a:ext cx="1143000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100"/>
              <a:buFont typeface="Calibri"/>
              <a:buNone/>
            </a:pPr>
            <a:r>
              <a:rPr lang="en-US" sz="2100" b="1">
                <a:solidFill>
                  <a:srgbClr val="000000"/>
                </a:solidFill>
                <a:latin typeface="Calibri"/>
                <a:ea typeface="Calibri"/>
                <a:cs typeface="Calibri"/>
                <a:sym typeface="Calibri"/>
              </a:rPr>
              <a:t>Feature Alignment: MIMIC-IV to GPC Shared Feature Set</a:t>
            </a:r>
            <a:endParaRPr sz="2100">
              <a:solidFill>
                <a:schemeClr val="dk1"/>
              </a:solidFill>
              <a:latin typeface="Calibri"/>
              <a:ea typeface="Calibri"/>
              <a:cs typeface="Calibri"/>
              <a:sym typeface="Calibri"/>
            </a:endParaRPr>
          </a:p>
        </p:txBody>
      </p:sp>
      <p:sp>
        <p:nvSpPr>
          <p:cNvPr id="254" name="Google Shape;254;p9"/>
          <p:cNvSpPr/>
          <p:nvPr/>
        </p:nvSpPr>
        <p:spPr>
          <a:xfrm>
            <a:off x="320040" y="804672"/>
            <a:ext cx="11430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000"/>
              <a:buFont typeface="Calibri"/>
              <a:buNone/>
            </a:pPr>
            <a:r>
              <a:rPr lang="en-US" sz="1000" i="1">
                <a:solidFill>
                  <a:srgbClr val="6B7280"/>
                </a:solidFill>
                <a:latin typeface="Calibri"/>
                <a:ea typeface="Calibri"/>
                <a:cs typeface="Calibri"/>
                <a:sym typeface="Calibri"/>
              </a:rPr>
              <a:t>Core MIMIC-IV clinical variables checked against the GPC shared98 feature specification for cross-network compatibility</a:t>
            </a:r>
            <a:endParaRPr sz="1000">
              <a:solidFill>
                <a:schemeClr val="dk1"/>
              </a:solidFill>
              <a:latin typeface="Calibri"/>
              <a:ea typeface="Calibri"/>
              <a:cs typeface="Calibri"/>
              <a:sym typeface="Calibri"/>
            </a:endParaRPr>
          </a:p>
        </p:txBody>
      </p:sp>
      <p:sp>
        <p:nvSpPr>
          <p:cNvPr id="255" name="Google Shape;255;p9"/>
          <p:cNvSpPr/>
          <p:nvPr/>
        </p:nvSpPr>
        <p:spPr>
          <a:xfrm>
            <a:off x="320040" y="1143000"/>
            <a:ext cx="850392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7"/>
              </a:buClr>
              <a:buSzPts val="1050"/>
              <a:buFont typeface="Calibri"/>
              <a:buNone/>
            </a:pPr>
            <a:r>
              <a:rPr lang="en-US" sz="1050">
                <a:solidFill>
                  <a:srgbClr val="1F2937"/>
                </a:solidFill>
                <a:latin typeface="Calibri"/>
                <a:ea typeface="Calibri"/>
                <a:cs typeface="Calibri"/>
                <a:sym typeface="Calibri"/>
              </a:rPr>
              <a:t>24 of 31 core clinical variables mapped directly or with minor renaming; the aligned cohort's full engineered feature set grew from 109 (Phase 2) to 159 columns (Phase 3) after adding GPC-standard vitals and lab-panel splits.</a:t>
            </a:r>
            <a:endParaRPr sz="1050">
              <a:solidFill>
                <a:schemeClr val="dk1"/>
              </a:solidFill>
              <a:latin typeface="Calibri"/>
              <a:ea typeface="Calibri"/>
              <a:cs typeface="Calibri"/>
              <a:sym typeface="Calibri"/>
            </a:endParaRPr>
          </a:p>
        </p:txBody>
      </p:sp>
      <p:sp>
        <p:nvSpPr>
          <p:cNvPr id="256" name="TextBox 255"/>
          <p:cNvSpPr txBox="1"/>
          <p:nvPr/>
        </p:nvSpPr>
        <p:spPr>
          <a:xfrm>
            <a:off x="320040" y="1572768"/>
            <a:ext cx="1155801" cy="274320"/>
          </a:xfrm>
          <a:prstGeom prst="rect">
            <a:avLst/>
          </a:prstGeom>
          <a:noFill/>
        </p:spPr>
        <p:txBody>
          <a:bodyPr wrap="square" lIns="0" tIns="0" rIns="0" bIns="0" anchor="t">
            <a:spAutoFit/>
          </a:bodyPr>
          <a:lstStyle/>
          <a:p>
            <a:pPr algn="l"/>
            <a:r>
              <a:rPr sz="1400" b="0" i="0">
                <a:solidFill>
                  <a:srgbClr val="1F2937"/>
                </a:solidFill>
                <a:latin typeface="Calibri"/>
              </a:rPr>
              <a:t>Direct Matches</a:t>
            </a:r>
          </a:p>
        </p:txBody>
      </p:sp>
      <p:sp>
        <p:nvSpPr>
          <p:cNvPr id="257" name="TextBox 256"/>
          <p:cNvSpPr txBox="1"/>
          <p:nvPr/>
        </p:nvSpPr>
        <p:spPr>
          <a:xfrm>
            <a:off x="1430121" y="1609344"/>
            <a:ext cx="502920" cy="201168"/>
          </a:xfrm>
          <a:prstGeom prst="rect">
            <a:avLst/>
          </a:prstGeom>
          <a:noFill/>
        </p:spPr>
        <p:txBody>
          <a:bodyPr wrap="square" lIns="0" tIns="0" rIns="0" bIns="0" anchor="ctr">
            <a:spAutoFit/>
          </a:bodyPr>
          <a:lstStyle/>
          <a:p>
            <a:pPr algn="ctr"/>
            <a:r>
              <a:rPr sz="750" b="1" i="0">
                <a:solidFill>
                  <a:srgbClr val="1F2937"/>
                </a:solidFill>
                <a:latin typeface="Calibri"/>
              </a:rPr>
              <a:t>~18 vars</a:t>
            </a:r>
          </a:p>
        </p:txBody>
      </p:sp>
      <p:sp>
        <p:nvSpPr>
          <p:cNvPr id="258" name="Rectangle 257"/>
          <p:cNvSpPr/>
          <p:nvPr/>
        </p:nvSpPr>
        <p:spPr>
          <a:xfrm>
            <a:off x="320040" y="1920240"/>
            <a:ext cx="1613001" cy="2066543"/>
          </a:xfrm>
          <a:prstGeom prst="rect">
            <a:avLst/>
          </a:prstGeom>
          <a:solidFill>
            <a:srgbClr val="FFFFFF"/>
          </a:solidFill>
          <a:ln w="12700">
            <a:solidFill>
              <a:srgbClr val="1F2937"/>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marL="91440" indent="-91440" algn="ctr">
              <a:spcAft>
                <a:spcPts val="100"/>
              </a:spcAft>
              <a:buFont typeface="Calibri"/>
              <a:buChar char="•"/>
            </a:pPr>
            <a:r>
              <a:rPr sz="850">
                <a:solidFill>
                  <a:srgbClr val="1F2937"/>
                </a:solidFill>
                <a:latin typeface="Calibri"/>
              </a:rPr>
              <a:t>creatinine, BUN, sodium,</a:t>
            </a:r>
          </a:p>
          <a:p>
            <a:pPr marL="91440" indent="-91440" algn="l">
              <a:spcAft>
                <a:spcPts val="100"/>
              </a:spcAft>
              <a:buFont typeface="Calibri"/>
              <a:buChar char="•"/>
            </a:pPr>
            <a:r>
              <a:rPr sz="850" b="0">
                <a:solidFill>
                  <a:srgbClr val="1F2937"/>
                </a:solidFill>
                <a:latin typeface="Calibri"/>
              </a:rPr>
              <a:t>potassium, glucose, hemoglobin</a:t>
            </a:r>
          </a:p>
          <a:p>
            <a:pPr marL="91440" indent="-91440" algn="l">
              <a:spcAft>
                <a:spcPts val="100"/>
              </a:spcAft>
              <a:buFont typeface="Calibri"/>
              <a:buChar char="•"/>
            </a:pPr>
            <a:r>
              <a:rPr sz="850" b="0">
                <a:solidFill>
                  <a:srgbClr val="1F2937"/>
                </a:solidFill>
                <a:latin typeface="Calibri"/>
              </a:rPr>
              <a:t>Core renal and metabolic-panel</a:t>
            </a:r>
          </a:p>
          <a:p>
            <a:pPr marL="91440" indent="-91440" algn="l">
              <a:spcAft>
                <a:spcPts val="100"/>
              </a:spcAft>
              <a:buFont typeface="Calibri"/>
              <a:buChar char="•"/>
            </a:pPr>
            <a:r>
              <a:rPr sz="850" b="0">
                <a:solidFill>
                  <a:srgbClr val="1F2937"/>
                </a:solidFill>
                <a:latin typeface="Calibri"/>
              </a:rPr>
              <a:t>labs — GPC shared98 uses the</a:t>
            </a:r>
          </a:p>
          <a:p>
            <a:pPr>
              <a:spcBef>
                <a:spcPts val="600"/>
              </a:spcBef>
              <a:buNone/>
            </a:pPr>
            <a:r>
              <a:rPr sz="780" i="0">
                <a:solidFill>
                  <a:srgbClr val="6B7280"/>
                </a:solidFill>
                <a:latin typeface="Calibri"/>
              </a:rPr>
              <a:t>same clinical definitions MIMIC-IV already reports, no transformation needed.</a:t>
            </a:r>
          </a:p>
        </p:txBody>
      </p:sp>
      <p:sp>
        <p:nvSpPr>
          <p:cNvPr id="259" name="TextBox 258"/>
          <p:cNvSpPr txBox="1"/>
          <p:nvPr/>
        </p:nvSpPr>
        <p:spPr>
          <a:xfrm>
            <a:off x="2042769" y="1572768"/>
            <a:ext cx="1155801" cy="274320"/>
          </a:xfrm>
          <a:prstGeom prst="rect">
            <a:avLst/>
          </a:prstGeom>
          <a:noFill/>
        </p:spPr>
        <p:txBody>
          <a:bodyPr wrap="square" lIns="0" tIns="0" rIns="0" bIns="0" anchor="t">
            <a:spAutoFit/>
          </a:bodyPr>
          <a:lstStyle/>
          <a:p>
            <a:pPr algn="l"/>
            <a:r>
              <a:rPr sz="1400" b="0" i="0">
                <a:solidFill>
                  <a:srgbClr val="1F2937"/>
                </a:solidFill>
                <a:latin typeface="Calibri"/>
              </a:rPr>
              <a:t>Renamed / Rescaled</a:t>
            </a:r>
          </a:p>
        </p:txBody>
      </p:sp>
      <p:sp>
        <p:nvSpPr>
          <p:cNvPr id="260" name="TextBox 259"/>
          <p:cNvSpPr txBox="1"/>
          <p:nvPr/>
        </p:nvSpPr>
        <p:spPr>
          <a:xfrm>
            <a:off x="3152851" y="1609344"/>
            <a:ext cx="502920" cy="201168"/>
          </a:xfrm>
          <a:prstGeom prst="rect">
            <a:avLst/>
          </a:prstGeom>
          <a:noFill/>
        </p:spPr>
        <p:txBody>
          <a:bodyPr wrap="square" lIns="0" tIns="0" rIns="0" bIns="0" anchor="ctr">
            <a:spAutoFit/>
          </a:bodyPr>
          <a:lstStyle/>
          <a:p>
            <a:pPr algn="ctr"/>
            <a:r>
              <a:rPr sz="750" b="1" i="0">
                <a:solidFill>
                  <a:srgbClr val="1F2937"/>
                </a:solidFill>
                <a:latin typeface="Calibri"/>
              </a:rPr>
              <a:t>~6 vars</a:t>
            </a:r>
          </a:p>
        </p:txBody>
      </p:sp>
      <p:sp>
        <p:nvSpPr>
          <p:cNvPr id="261" name="Rectangle 260"/>
          <p:cNvSpPr/>
          <p:nvPr/>
        </p:nvSpPr>
        <p:spPr>
          <a:xfrm>
            <a:off x="2042769" y="1920240"/>
            <a:ext cx="1613001" cy="2066543"/>
          </a:xfrm>
          <a:prstGeom prst="rect">
            <a:avLst/>
          </a:prstGeom>
          <a:solidFill>
            <a:srgbClr val="FFFFFF"/>
          </a:solidFill>
          <a:ln w="12700">
            <a:solidFill>
              <a:srgbClr val="1F2937"/>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marL="91440" indent="-91440" algn="ctr">
              <a:spcAft>
                <a:spcPts val="100"/>
              </a:spcAft>
              <a:buFont typeface="Calibri"/>
              <a:buChar char="•"/>
            </a:pPr>
            <a:r>
              <a:rPr sz="850">
                <a:solidFill>
                  <a:srgbClr val="1F2937"/>
                </a:solidFill>
                <a:latin typeface="Calibri"/>
              </a:rPr>
              <a:t>vitals (SBP/DBP, heart rate,</a:t>
            </a:r>
          </a:p>
          <a:p>
            <a:pPr marL="91440" indent="-91440" algn="l">
              <a:spcAft>
                <a:spcPts val="100"/>
              </a:spcAft>
              <a:buFont typeface="Calibri"/>
              <a:buChar char="•"/>
            </a:pPr>
            <a:r>
              <a:rPr sz="850" b="0">
                <a:solidFill>
                  <a:srgbClr val="1F2937"/>
                </a:solidFill>
                <a:latin typeface="Calibri"/>
              </a:rPr>
              <a:t>SpO2, respiratory rate)</a:t>
            </a:r>
          </a:p>
          <a:p>
            <a:pPr marL="91440" indent="-91440" algn="l">
              <a:spcAft>
                <a:spcPts val="100"/>
              </a:spcAft>
              <a:buFont typeface="Calibri"/>
              <a:buChar char="•"/>
            </a:pPr>
            <a:r>
              <a:rPr sz="850" b="0">
                <a:solidFill>
                  <a:srgbClr val="1F2937"/>
                </a:solidFill>
                <a:latin typeface="Calibri"/>
              </a:rPr>
              <a:t>Same underlying measurement,</a:t>
            </a:r>
          </a:p>
          <a:p>
            <a:pPr>
              <a:spcBef>
                <a:spcPts val="600"/>
              </a:spcBef>
              <a:buNone/>
            </a:pPr>
            <a:r>
              <a:rPr sz="780" i="0">
                <a:solidFill>
                  <a:srgbClr val="6B7280"/>
                </a:solidFill>
                <a:latin typeface="Calibri"/>
              </a:rPr>
              <a:t>different GPC naming/units convention — split into vitals_gpc vs vitals_mimic groups.</a:t>
            </a:r>
          </a:p>
        </p:txBody>
      </p:sp>
      <p:sp>
        <p:nvSpPr>
          <p:cNvPr id="262" name="TextBox 261"/>
          <p:cNvSpPr txBox="1"/>
          <p:nvPr/>
        </p:nvSpPr>
        <p:spPr>
          <a:xfrm>
            <a:off x="3765499" y="1572768"/>
            <a:ext cx="1155801" cy="274320"/>
          </a:xfrm>
          <a:prstGeom prst="rect">
            <a:avLst/>
          </a:prstGeom>
          <a:noFill/>
        </p:spPr>
        <p:txBody>
          <a:bodyPr wrap="square" lIns="0" tIns="0" rIns="0" bIns="0" anchor="t">
            <a:spAutoFit/>
          </a:bodyPr>
          <a:lstStyle/>
          <a:p>
            <a:pPr algn="l"/>
            <a:r>
              <a:rPr sz="1400" b="0" i="0">
                <a:solidFill>
                  <a:srgbClr val="1F2937"/>
                </a:solidFill>
                <a:latin typeface="Calibri"/>
              </a:rPr>
              <a:t>MIMIC-Only</a:t>
            </a:r>
          </a:p>
        </p:txBody>
      </p:sp>
      <p:sp>
        <p:nvSpPr>
          <p:cNvPr id="263" name="TextBox 262"/>
          <p:cNvSpPr txBox="1"/>
          <p:nvPr/>
        </p:nvSpPr>
        <p:spPr>
          <a:xfrm>
            <a:off x="4875580" y="1609344"/>
            <a:ext cx="502920" cy="201168"/>
          </a:xfrm>
          <a:prstGeom prst="rect">
            <a:avLst/>
          </a:prstGeom>
          <a:noFill/>
        </p:spPr>
        <p:txBody>
          <a:bodyPr wrap="square" lIns="0" tIns="0" rIns="0" bIns="0" anchor="ctr">
            <a:spAutoFit/>
          </a:bodyPr>
          <a:lstStyle/>
          <a:p>
            <a:pPr algn="ctr"/>
            <a:r>
              <a:rPr sz="750" b="1" i="0">
                <a:solidFill>
                  <a:srgbClr val="1F2937"/>
                </a:solidFill>
                <a:latin typeface="Calibri"/>
              </a:rPr>
              <a:t>~7 vars</a:t>
            </a:r>
          </a:p>
        </p:txBody>
      </p:sp>
      <p:sp>
        <p:nvSpPr>
          <p:cNvPr id="264" name="Rectangle 263"/>
          <p:cNvSpPr/>
          <p:nvPr/>
        </p:nvSpPr>
        <p:spPr>
          <a:xfrm>
            <a:off x="3765499" y="1920240"/>
            <a:ext cx="1613001" cy="2066543"/>
          </a:xfrm>
          <a:prstGeom prst="rect">
            <a:avLst/>
          </a:prstGeom>
          <a:solidFill>
            <a:srgbClr val="FFFFFF"/>
          </a:solidFill>
          <a:ln w="12700">
            <a:solidFill>
              <a:srgbClr val="1F2937"/>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marL="91440" indent="-91440" algn="ctr">
              <a:spcAft>
                <a:spcPts val="100"/>
              </a:spcAft>
              <a:buFont typeface="Calibri"/>
              <a:buChar char="•"/>
            </a:pPr>
            <a:r>
              <a:rPr sz="850">
                <a:solidFill>
                  <a:srgbClr val="1F2937"/>
                </a:solidFill>
                <a:latin typeface="Calibri"/>
              </a:rPr>
              <a:t>no direct GPC shared98</a:t>
            </a:r>
          </a:p>
          <a:p>
            <a:pPr marL="91440" indent="-91440" algn="l">
              <a:spcAft>
                <a:spcPts val="100"/>
              </a:spcAft>
              <a:buFont typeface="Calibri"/>
              <a:buChar char="•"/>
            </a:pPr>
            <a:r>
              <a:rPr sz="850" b="0">
                <a:solidFill>
                  <a:srgbClr val="1F2937"/>
                </a:solidFill>
                <a:latin typeface="Calibri"/>
              </a:rPr>
              <a:t>equivalent identified</a:t>
            </a:r>
          </a:p>
          <a:p>
            <a:pPr marL="91440" indent="-91440" algn="l">
              <a:spcAft>
                <a:spcPts val="100"/>
              </a:spcAft>
              <a:buFont typeface="Calibri"/>
              <a:buChar char="•"/>
            </a:pPr>
            <a:r>
              <a:rPr sz="850" b="0">
                <a:solidFill>
                  <a:srgbClr val="1F2937"/>
                </a:solidFill>
                <a:latin typeface="Calibri"/>
              </a:rPr>
              <a:t>Retained in the aligned set as</a:t>
            </a:r>
          </a:p>
          <a:p>
            <a:pPr marL="91440" indent="-91440" algn="l">
              <a:spcAft>
                <a:spcPts val="100"/>
              </a:spcAft>
              <a:buFont typeface="Calibri"/>
              <a:buChar char="•"/>
            </a:pPr>
            <a:r>
              <a:rPr sz="850" b="0">
                <a:solidFill>
                  <a:srgbClr val="1F2937"/>
                </a:solidFill>
                <a:latin typeface="Calibri"/>
              </a:rPr>
              <a:t>MIMIC-specific context features</a:t>
            </a:r>
          </a:p>
          <a:p>
            <a:pPr marL="91440" indent="-91440" algn="l">
              <a:spcAft>
                <a:spcPts val="100"/>
              </a:spcAft>
              <a:buFont typeface="Calibri"/>
              <a:buChar char="•"/>
            </a:pPr>
            <a:r>
              <a:rPr sz="850" b="0">
                <a:solidFill>
                  <a:srgbClr val="1F2937"/>
                </a:solidFill>
                <a:latin typeface="Calibri"/>
              </a:rPr>
              <a:t>— not dropped, just not part of</a:t>
            </a:r>
          </a:p>
          <a:p>
            <a:pPr marL="91440" indent="-91440" algn="l">
              <a:spcAft>
                <a:spcPts val="100"/>
              </a:spcAft>
              <a:buFont typeface="Calibri"/>
              <a:buChar char="•"/>
            </a:pPr>
            <a:r>
              <a:rPr sz="850" b="0">
                <a:solidFill>
                  <a:srgbClr val="1F2937"/>
                </a:solidFill>
                <a:latin typeface="Calibri"/>
              </a:rPr>
              <a:t>the cross-network-comparable core.</a:t>
            </a:r>
          </a:p>
          <a:p>
            <a:pPr marL="91440" indent="-91440" algn="l">
              <a:spcAft>
                <a:spcPts val="100"/>
              </a:spcAft>
              <a:buFont typeface="Calibri"/>
              <a:buChar char="•"/>
            </a:pPr>
            <a:r>
              <a:rPr sz="850" b="0">
                <a:solidFill>
                  <a:srgbClr val="1F2937"/>
                </a:solidFill>
                <a:latin typeface="Calibri"/>
              </a:rPr>
              <a:t/>
            </a:r>
          </a:p>
          <a:p>
            <a:pPr>
              <a:spcBef>
                <a:spcPts val="600"/>
              </a:spcBef>
              <a:buNone/>
            </a:pPr>
            <a:r>
              <a:rPr sz="780" i="0">
                <a:solidFill>
                  <a:srgbClr val="6B7280"/>
                </a:solidFill>
                <a:latin typeface="Calibri"/>
              </a:rPr>
              <a:t/>
            </a:r>
          </a:p>
        </p:txBody>
      </p:sp>
      <p:sp>
        <p:nvSpPr>
          <p:cNvPr id="265" name="TextBox 264"/>
          <p:cNvSpPr txBox="1"/>
          <p:nvPr/>
        </p:nvSpPr>
        <p:spPr>
          <a:xfrm>
            <a:off x="5488228" y="1572768"/>
            <a:ext cx="1155801" cy="274320"/>
          </a:xfrm>
          <a:prstGeom prst="rect">
            <a:avLst/>
          </a:prstGeom>
          <a:noFill/>
        </p:spPr>
        <p:txBody>
          <a:bodyPr wrap="square" lIns="0" tIns="0" rIns="0" bIns="0" anchor="t">
            <a:spAutoFit/>
          </a:bodyPr>
          <a:lstStyle/>
          <a:p>
            <a:pPr algn="l"/>
            <a:r>
              <a:rPr sz="1400" b="0" i="0">
                <a:solidFill>
                  <a:srgbClr val="1F2937"/>
                </a:solidFill>
                <a:latin typeface="Calibri"/>
              </a:rPr>
              <a:t>New in Phase 3</a:t>
            </a:r>
          </a:p>
        </p:txBody>
      </p:sp>
      <p:sp>
        <p:nvSpPr>
          <p:cNvPr id="266" name="TextBox 265"/>
          <p:cNvSpPr txBox="1"/>
          <p:nvPr/>
        </p:nvSpPr>
        <p:spPr>
          <a:xfrm>
            <a:off x="6598310" y="1609344"/>
            <a:ext cx="502920" cy="201168"/>
          </a:xfrm>
          <a:prstGeom prst="rect">
            <a:avLst/>
          </a:prstGeom>
          <a:noFill/>
        </p:spPr>
        <p:txBody>
          <a:bodyPr wrap="square" lIns="0" tIns="0" rIns="0" bIns="0" anchor="ctr">
            <a:spAutoFit/>
          </a:bodyPr>
          <a:lstStyle/>
          <a:p>
            <a:pPr algn="ctr"/>
            <a:r>
              <a:rPr sz="750" b="1" i="0">
                <a:solidFill>
                  <a:srgbClr val="1F2937"/>
                </a:solidFill>
                <a:latin typeface="Calibri"/>
              </a:rPr>
              <a:t>+50 cols</a:t>
            </a:r>
          </a:p>
        </p:txBody>
      </p:sp>
      <p:sp>
        <p:nvSpPr>
          <p:cNvPr id="267" name="Rectangle 266"/>
          <p:cNvSpPr/>
          <p:nvPr/>
        </p:nvSpPr>
        <p:spPr>
          <a:xfrm>
            <a:off x="5488228" y="1920240"/>
            <a:ext cx="1613001" cy="2066543"/>
          </a:xfrm>
          <a:prstGeom prst="rect">
            <a:avLst/>
          </a:prstGeom>
          <a:solidFill>
            <a:srgbClr val="FFFFFF"/>
          </a:solidFill>
          <a:ln w="12700">
            <a:solidFill>
              <a:srgbClr val="1F2937"/>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marL="91440" indent="-91440" algn="ctr">
              <a:spcAft>
                <a:spcPts val="100"/>
              </a:spcAft>
              <a:buFont typeface="Calibri"/>
              <a:buChar char="•"/>
            </a:pPr>
            <a:r>
              <a:rPr sz="850">
                <a:solidFill>
                  <a:srgbClr val="1F2937"/>
                </a:solidFill>
                <a:latin typeface="Calibri"/>
              </a:rPr>
              <a:t>GPC-standard vitals split,</a:t>
            </a:r>
          </a:p>
          <a:p>
            <a:pPr marL="91440" indent="-91440" algn="l">
              <a:spcAft>
                <a:spcPts val="100"/>
              </a:spcAft>
              <a:buFont typeface="Calibri"/>
              <a:buChar char="•"/>
            </a:pPr>
            <a:r>
              <a:rPr sz="850" b="0">
                <a:solidFill>
                  <a:srgbClr val="1F2937"/>
                </a:solidFill>
                <a:latin typeface="Calibri"/>
              </a:rPr>
              <a:t>hepatic panel, hematology</a:t>
            </a:r>
          </a:p>
          <a:p>
            <a:pPr marL="91440" indent="-91440" algn="l">
              <a:spcAft>
                <a:spcPts val="100"/>
              </a:spcAft>
              <a:buFont typeface="Calibri"/>
              <a:buChar char="•"/>
            </a:pPr>
            <a:r>
              <a:rPr sz="850" b="0">
                <a:solidFill>
                  <a:srgbClr val="1F2937"/>
                </a:solidFill>
                <a:latin typeface="Calibri"/>
              </a:rPr>
              <a:t>panel (new feature groups)</a:t>
            </a:r>
          </a:p>
          <a:p>
            <a:pPr marL="91440" indent="-91440" algn="l">
              <a:spcAft>
                <a:spcPts val="100"/>
              </a:spcAft>
              <a:buFont typeface="Calibri"/>
              <a:buChar char="•"/>
            </a:pPr>
            <a:r>
              <a:rPr sz="850" b="0">
                <a:solidFill>
                  <a:srgbClr val="1F2937"/>
                </a:solidFill>
                <a:latin typeface="Calibri"/>
              </a:rPr>
              <a:t>Added to reach the 159-feature</a:t>
            </a:r>
          </a:p>
          <a:p>
            <a:pPr marL="91440" indent="-91440" algn="l">
              <a:spcAft>
                <a:spcPts val="100"/>
              </a:spcAft>
              <a:buFont typeface="Calibri"/>
              <a:buChar char="•"/>
            </a:pPr>
            <a:r>
              <a:rPr sz="850" b="0">
                <a:solidFill>
                  <a:srgbClr val="1F2937"/>
                </a:solidFill>
                <a:latin typeface="Calibri"/>
              </a:rPr>
              <a:t>aligned set — see previous slide</a:t>
            </a:r>
          </a:p>
          <a:p>
            <a:pPr marL="91440" indent="-91440" algn="l">
              <a:spcAft>
                <a:spcPts val="100"/>
              </a:spcAft>
              <a:buFont typeface="Calibri"/>
              <a:buChar char="•"/>
            </a:pPr>
            <a:r>
              <a:rPr sz="850" b="0">
                <a:solidFill>
                  <a:srgbClr val="1F2937"/>
                </a:solidFill>
                <a:latin typeface="Calibri"/>
              </a:rPr>
              <a:t>for the full 8-group breakdown.</a:t>
            </a:r>
          </a:p>
          <a:p>
            <a:pPr>
              <a:spcBef>
                <a:spcPts val="600"/>
              </a:spcBef>
              <a:buNone/>
            </a:pPr>
            <a:r>
              <a:rPr sz="780" i="0">
                <a:solidFill>
                  <a:srgbClr val="6B7280"/>
                </a:solidFill>
                <a:latin typeface="Calibri"/>
              </a:rPr>
              <a:t/>
            </a:r>
          </a:p>
        </p:txBody>
      </p:sp>
      <p:sp>
        <p:nvSpPr>
          <p:cNvPr id="268" name="TextBox 267"/>
          <p:cNvSpPr txBox="1"/>
          <p:nvPr/>
        </p:nvSpPr>
        <p:spPr>
          <a:xfrm>
            <a:off x="7210958" y="1572768"/>
            <a:ext cx="1155801" cy="274320"/>
          </a:xfrm>
          <a:prstGeom prst="rect">
            <a:avLst/>
          </a:prstGeom>
          <a:noFill/>
        </p:spPr>
        <p:txBody>
          <a:bodyPr wrap="square" lIns="0" tIns="0" rIns="0" bIns="0" anchor="t">
            <a:spAutoFit/>
          </a:bodyPr>
          <a:lstStyle/>
          <a:p>
            <a:pPr algn="l"/>
            <a:r>
              <a:rPr sz="1400" b="0" i="0">
                <a:solidFill>
                  <a:srgbClr val="1F2937"/>
                </a:solidFill>
                <a:latin typeface="Calibri"/>
              </a:rPr>
              <a:t>Net Effect</a:t>
            </a:r>
          </a:p>
        </p:txBody>
      </p:sp>
      <p:sp>
        <p:nvSpPr>
          <p:cNvPr id="269" name="TextBox 268"/>
          <p:cNvSpPr txBox="1"/>
          <p:nvPr/>
        </p:nvSpPr>
        <p:spPr>
          <a:xfrm>
            <a:off x="8321039" y="1609344"/>
            <a:ext cx="502920" cy="201168"/>
          </a:xfrm>
          <a:prstGeom prst="rect">
            <a:avLst/>
          </a:prstGeom>
          <a:noFill/>
        </p:spPr>
        <p:txBody>
          <a:bodyPr wrap="square" lIns="0" tIns="0" rIns="0" bIns="0" anchor="ctr">
            <a:spAutoFit/>
          </a:bodyPr>
          <a:lstStyle/>
          <a:p>
            <a:pPr algn="ctr"/>
            <a:r>
              <a:rPr sz="750" b="1" i="0">
                <a:solidFill>
                  <a:srgbClr val="1F2937"/>
                </a:solidFill>
                <a:latin typeface="Calibri"/>
              </a:rPr>
              <a:t>163,038 pts</a:t>
            </a:r>
          </a:p>
        </p:txBody>
      </p:sp>
      <p:sp>
        <p:nvSpPr>
          <p:cNvPr id="270" name="Rectangle 269"/>
          <p:cNvSpPr/>
          <p:nvPr/>
        </p:nvSpPr>
        <p:spPr>
          <a:xfrm>
            <a:off x="7210958" y="1920240"/>
            <a:ext cx="1613001" cy="2066543"/>
          </a:xfrm>
          <a:prstGeom prst="rect">
            <a:avLst/>
          </a:prstGeom>
          <a:solidFill>
            <a:srgbClr val="FFFFFF"/>
          </a:solidFill>
          <a:ln w="12700">
            <a:solidFill>
              <a:srgbClr val="1F2937"/>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marL="91440" indent="-91440" algn="ctr">
              <a:spcAft>
                <a:spcPts val="100"/>
              </a:spcAft>
              <a:buFont typeface="Calibri"/>
              <a:buChar char="•"/>
            </a:pPr>
            <a:r>
              <a:rPr sz="850">
                <a:solidFill>
                  <a:srgbClr val="1F2937"/>
                </a:solidFill>
                <a:latin typeface="Calibri"/>
              </a:rPr>
              <a:t>Same cohort size as Phase 2 — alignment changed feature definitions and coverage, not the patient population.</a:t>
            </a:r>
          </a:p>
          <a:p>
            <a:pPr marL="91440" indent="-91440" algn="l">
              <a:spcAft>
                <a:spcPts val="100"/>
              </a:spcAft>
              <a:buFont typeface="Calibri"/>
              <a:buChar char="•"/>
            </a:pPr>
            <a:r>
              <a:rPr sz="850" b="0">
                <a:solidFill>
                  <a:srgbClr val="1F2937"/>
                </a:solidFill>
                <a:latin typeface="Calibri"/>
              </a:rPr>
              <a:t>AKI prevalence still rose 9.0% -&gt; 12.5% (exclusion criteria change, Section 1 of this deck's Phase 3 setup).</a:t>
            </a:r>
          </a:p>
          <a:p>
            <a:pPr marL="91440" indent="-91440" algn="l">
              <a:spcAft>
                <a:spcPts val="100"/>
              </a:spcAft>
              <a:buFont typeface="Calibri"/>
              <a:buChar char="•"/>
            </a:pPr>
            <a:r>
              <a:rPr sz="850" b="0">
                <a:solidFill>
                  <a:srgbClr val="1F2937"/>
                </a:solidFill>
                <a:latin typeface="Calibri"/>
              </a:rPr>
              <a:t/>
            </a:r>
          </a:p>
          <a:p>
            <a:pPr>
              <a:spcBef>
                <a:spcPts val="600"/>
              </a:spcBef>
              <a:buNone/>
            </a:pPr>
            <a:r>
              <a:rPr sz="780" i="0">
                <a:solidFill>
                  <a:srgbClr val="6B7280"/>
                </a:solidFill>
                <a:latin typeface="Calibri"/>
              </a:rPr>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FedAdaptProto Results">
    <p:bg>
      <p:bgPr>
        <a:solidFill>
          <a:srgbClr val="FFFFFF"/>
        </a:solidFill>
        <a:effectLst/>
      </p:bgPr>
    </p:bg>
    <p:spTree>
      <p:nvGrpSpPr>
        <p:cNvPr id="1" name=""/>
        <p:cNvGrpSpPr/>
        <p:nvPr/>
      </p:nvGrpSpPr>
      <p:grpSpPr>
        <a:xfrm>
          <a:off x="0" y="0"/>
          <a:ext cx="0" cy="0"/>
          <a:chOff x="0" y="0"/>
          <a:chExt cx="0" cy="0"/>
        </a:xfrm>
      </p:grpSpPr>
      <p:sp>
        <p:nvSpPr>
          <p:cNvPr id="2" name="hdr"/>
          <p:cNvSpPr/>
          <p:nvPr/>
        </p:nvSpPr>
        <p:spPr>
          <a:xfrm>
            <a:off x="0" y="0"/>
            <a:ext cx="9144000" cy="420000"/>
          </a:xfrm>
          <a:prstGeom prst="rect">
            <a:avLst/>
          </a:prstGeom>
          <a:solidFill>
            <a:srgbClr val="1E3A5F"/>
          </a:solidFill>
        </p:spPr>
        <p:txBody>
          <a:bodyPr wrap="square" lIns="274638" tIns="91440" rIns="274638" bIns="91440" rtlCol="0" anchor="ctr"/>
          <a:lstStyle/>
          <a:p>
            <a:pPr marL="0" indent="0">
              <a:buNone/>
            </a:pPr>
            <a:r>
              <a:rPr lang="en-US" sz="1800" b="1" dirty="0">
                <a:solidFill>
                  <a:srgbClr val="FFFFFF"/>
                </a:solidFill>
                <a:latin typeface="Calibri"/>
              </a:rPr>
              <a:t>Two Critical Bugs Found &amp; Fixed This Session</a:t>
            </a:r>
          </a:p>
        </p:txBody>
      </p:sp>
      <p:sp>
        <p:nvSpPr>
          <p:cNvPr id="3" name="tbl_hdr"/>
          <p:cNvSpPr/>
          <p:nvPr/>
        </p:nvSpPr>
        <p:spPr>
          <a:xfrm>
            <a:off x="228600" y="480000"/>
            <a:ext cx="8687400" cy="270000"/>
          </a:xfrm>
          <a:prstGeom prst="rect">
            <a:avLst/>
          </a:prstGeom>
          <a:solidFill>
            <a:srgbClr val="2E6DA4"/>
          </a:solidFill>
        </p:spPr>
        <p:txBody>
          <a:bodyPr wrap="square" lIns="182880" tIns="45720" rIns="182880" bIns="45720" rtlCol="0" anchor="ctr"/>
          <a:lstStyle/>
          <a:p>
            <a:pPr marL="0" indent="0">
              <a:buNone/>
            </a:pPr>
            <a:r>
              <a:rPr lang="en-US" sz="1300" b="1" dirty="0">
                <a:solidFill>
                  <a:srgbClr val="FFFFFF"/>
                </a:solidFill>
                <a:latin typeface="Calibri"/>
              </a:rPr>
              <a:t>Bug                      Symptom                        Root Cause                          Fix</a:t>
            </a:r>
          </a:p>
        </p:txBody>
      </p:sp>
      <p:sp>
        <p:nvSpPr>
          <p:cNvPr id="4" name="row_a"/>
          <p:cNvSpPr/>
          <p:nvPr/>
        </p:nvSpPr>
        <p:spPr>
          <a:xfrm>
            <a:off x="228600" y="760000"/>
            <a:ext cx="8687400" cy="250000"/>
          </a:xfrm>
          <a:prstGeom prst="rect">
            <a:avLst/>
          </a:prstGeom>
          <a:solidFill>
            <a:srgbClr val="F0F4FA"/>
          </a:solidFill>
        </p:spPr>
        <p:txBody>
          <a:bodyPr wrap="square" lIns="182880" tIns="45720" rIns="182880" bIns="45720" rtlCol="0" anchor="ctr"/>
          <a:lstStyle/>
          <a:p>
            <a:pPr marL="0" indent="0">
              <a:buNone/>
            </a:pPr>
            <a:r>
              <a:rPr lang="en-US" sz="1200" b="1" dirty="0">
                <a:latin typeface="Calibri"/>
              </a:rPr>
              <a:t>GRL sign error           adv_loss unbounded              Double-negated GRL reversal        task_loss - lambda*adv</a:t>
            </a:r>
            <a:r>
              <a:rPr lang="en-US" sz="1200" dirty="0">
                <a:latin typeface="Calibri"/>
              </a:rPr>
              <a:t/>
            </a:r>
          </a:p>
        </p:txBody>
      </p:sp>
      <p:sp>
        <p:nvSpPr>
          <p:cNvPr id="5" name="row_b"/>
          <p:cNvSpPr/>
          <p:nvPr/>
        </p:nvSpPr>
        <p:spPr>
          <a:xfrm>
            <a:off x="228600" y="1020000"/>
            <a:ext cx="8687400" cy="250000"/>
          </a:xfrm>
          <a:prstGeom prst="rect">
            <a:avLst/>
          </a:prstGeom>
          <a:solidFill>
            <a:srgbClr val="E8F5E9"/>
          </a:solidFill>
        </p:spPr>
        <p:txBody>
          <a:bodyPr wrap="square" lIns="182880" tIns="45720" rIns="182880" bIns="45720" rtlCol="0" anchor="ctr"/>
          <a:lstStyle/>
          <a:p>
            <a:pPr marL="0" indent="0">
              <a:buNone/>
            </a:pPr>
            <a:r>
              <a:rPr lang="en-US" sz="1200" b="1" dirty="0">
                <a:latin typeface="Calibri"/>
              </a:rPr>
              <a:t>(fedadapt_model.py)      (500 -&gt; 3,000-7,000/50 rds)     in fedadapt_loss()                 -&gt; task_loss + lambda*adv</a:t>
            </a:r>
            <a:r>
              <a:rPr lang="en-US" sz="1200" dirty="0">
                <a:latin typeface="Calibri"/>
              </a:rPr>
              <a:t/>
            </a:r>
          </a:p>
        </p:txBody>
      </p:sp>
      <p:sp>
        <p:nvSpPr>
          <p:cNvPr id="6" name="row_c"/>
          <p:cNvSpPr/>
          <p:nvPr/>
        </p:nvSpPr>
        <p:spPr>
          <a:xfrm>
            <a:off x="228600" y="1280000"/>
            <a:ext cx="8687400" cy="250000"/>
          </a:xfrm>
          <a:prstGeom prst="rect">
            <a:avLst/>
          </a:prstGeom>
          <a:solidFill>
            <a:srgbClr val="F0F4FA"/>
          </a:solidFill>
        </p:spPr>
        <p:txBody>
          <a:bodyPr wrap="square" lIns="182880" tIns="45720" rIns="182880" bIns="45720" rtlCol="0" anchor="ctr"/>
          <a:lstStyle/>
          <a:p>
            <a:pPr marL="0" indent="0">
              <a:buNone/>
            </a:pPr>
            <a:r>
              <a:rPr lang="en-US" sz="1200" b="1" dirty="0">
                <a:latin typeface="Calibri"/>
              </a:rPr>
              <a:t>K-mode suffix mismatch   per-site K silently == K=3       Shell script appended a suffix      Pass bare site names to</a:t>
            </a:r>
            <a:r>
              <a:rPr lang="en-US" sz="1200" dirty="0">
                <a:latin typeface="Calibri"/>
              </a:rPr>
              <a:t/>
            </a:r>
          </a:p>
        </p:txBody>
      </p:sp>
      <p:sp>
        <p:nvSpPr>
          <p:cNvPr id="7" name="row_d"/>
          <p:cNvSpPr/>
          <p:nvPr/>
        </p:nvSpPr>
        <p:spPr>
          <a:xfrm>
            <a:off x="228600" y="1540000"/>
            <a:ext cx="8687400" cy="250000"/>
          </a:xfrm>
          <a:prstGeom prst="rect">
            <a:avLst/>
          </a:prstGeom>
          <a:solidFill>
            <a:srgbClr val="E3F2FD"/>
          </a:solidFill>
        </p:spPr>
        <p:txBody>
          <a:bodyPr wrap="square" lIns="182880" tIns="45720" rIns="182880" bIns="45720" rtlCol="0" anchor="ctr"/>
          <a:lstStyle/>
          <a:p>
            <a:pPr marL="0" indent="0">
              <a:buNone/>
            </a:pPr>
            <a:r>
              <a:rPr lang="en-US" sz="1200" b="1" dirty="0">
                <a:solidFill>
                  <a:srgbClr val="0D5C8F"/>
                </a:solidFill>
                <a:latin typeface="Calibri"/>
              </a:rPr>
              <a:t>(run_phase3_aligned.sh)  for fedadaptproto every time       v2.3's bare site-id keys never had  --n_clusters_per_site</a:t>
            </a:r>
          </a:p>
        </p:txBody>
      </p:sp>
      <p:sp>
        <p:nvSpPr>
          <p:cNvPr id="8" name="row_e"/>
          <p:cNvSpPr/>
          <p:nvPr/>
        </p:nvSpPr>
        <p:spPr>
          <a:xfrm>
            <a:off x="228600" y="1800000"/>
            <a:ext cx="8687400" cy="250000"/>
          </a:xfrm>
          <a:prstGeom prst="rect">
            <a:avLst/>
          </a:prstGeom>
          <a:solidFill>
            <a:srgbClr val="E3F2FD"/>
          </a:solidFill>
        </p:spPr>
        <p:txBody>
          <a:bodyPr wrap="square" lIns="182880" tIns="45720" rIns="182880" bIns="45720" rtlCol="0" anchor="ctr"/>
          <a:lstStyle/>
          <a:p>
            <a:pPr marL="0" indent="0">
              <a:buNone/>
            </a:pPr>
            <a:r>
              <a:rPr lang="en-US" sz="1200" b="1" dirty="0">
                <a:solidFill>
                  <a:srgbClr val="0D5C8F"/>
                </a:solidFill>
                <a:latin typeface="Calibri"/>
              </a:rPr>
              <a:t>                         since the feature existed          Confirmed: byte-identical results   Confirmed: uniform2 now</a:t>
            </a:r>
          </a:p>
        </p:txBody>
      </p:sp>
      <p:sp>
        <p:nvSpPr>
          <p:cNvPr id="9" name="finding_hdr"/>
          <p:cNvSpPr/>
          <p:nvPr/>
        </p:nvSpPr>
        <p:spPr>
          <a:xfrm>
            <a:off x="228600" y="2120000"/>
            <a:ext cx="8687400" cy="230000"/>
          </a:xfrm>
          <a:prstGeom prst="rect">
            <a:avLst/>
          </a:prstGeom>
          <a:solidFill>
            <a:srgbClr val="1E3A5F"/>
          </a:solidFill>
        </p:spPr>
        <p:txBody>
          <a:bodyPr wrap="square" lIns="182880" tIns="45720" rIns="182880" bIns="45720" rtlCol="0" anchor="ctr"/>
          <a:lstStyle/>
          <a:p>
            <a:pPr marL="0" indent="0">
              <a:buNone/>
            </a:pPr>
            <a:r>
              <a:rPr lang="en-US" sz="1300" b="1" dirty="0">
                <a:solidFill>
                  <a:srgbClr val="FFFFFF"/>
                </a:solidFill>
                <a:latin typeface="Calibri"/>
              </a:rPr>
              <a:t>What This Changed</a:t>
            </a:r>
          </a:p>
        </p:txBody>
      </p:sp>
      <p:sp>
        <p:nvSpPr>
          <p:cNvPr id="10" name="findings_l"/>
          <p:cNvSpPr/>
          <p:nvPr/>
        </p:nvSpPr>
        <p:spPr>
          <a:xfrm>
            <a:off x="228600" y="2370000"/>
            <a:ext cx="4250000" cy="1660000"/>
          </a:xfrm>
          <a:prstGeom prst="rect">
            <a:avLst/>
          </a:prstGeom>
          <a:solidFill>
            <a:srgbClr val="F0F4FA"/>
          </a:solidFill>
        </p:spPr>
        <p:txBody>
          <a:bodyPr wrap="square" lIns="182880" tIns="91440" rIns="182880" bIns="91440" rtlCol="0" anchor="t"/>
          <a:lstStyle/>
          <a:p>
            <a:pPr marL="0" indent="0">
              <a:buNone/>
            </a:pPr>
            <a:r>
              <a:rPr lang="en-US" sz="1200" b="1" dirty="0">
                <a:latin typeface="Calibri"/>
              </a:rPr>
              <a:t>GRL fix: mechanistically necessary</a:t>
            </a:r>
          </a:p>
          <a:p>
            <a:pPr marL="182880" indent="0">
              <a:buNone/>
            </a:pPr>
            <a:r>
              <a:rPr lang="en-US" sz="1100" dirty="0">
                <a:latin typeface="Calibri"/>
              </a:rPr>
              <a:t>Bounded, stable adversarial loss regardless of AUROC impact — a genuine correctness fix, not a tuning choice.</a:t>
            </a:r>
          </a:p>
          <a:p>
            <a:pPr marL="0" indent="0">
              <a:buNone/>
            </a:pPr>
            <a:endParaRPr lang="en-US" sz="1100" dirty="0">
              <a:latin typeface="Calibri"/>
            </a:endParaRPr>
          </a:p>
          <a:p>
            <a:pPr marL="0" indent="0">
              <a:buNone/>
            </a:pPr>
            <a:r>
              <a:rPr lang="en-US" sz="1200" b="1" dirty="0">
                <a:latin typeface="Calibri"/>
              </a:rPr>
              <a:t>AUROC impact differed by method</a:t>
            </a:r>
          </a:p>
          <a:p>
            <a:pPr marL="182880" indent="0">
              <a:buNone/>
            </a:pPr>
            <a:r>
              <a:rPr lang="en-US" sz="1100" dirty="0">
                <a:latin typeface="Calibri"/>
              </a:rPr>
              <a:t>fedadaptproto: no detectable effect (multi-seed confirmed). fedadapt: real cost to site_D (-0.033 -&gt; -0.058), full-grid confirmed.</a:t>
            </a:r>
          </a:p>
          <a:p>
            <a:pPr marL="0" indent="0">
              <a:buNone/>
            </a:pPr>
            <a:endParaRPr lang="en-US" sz="1100" dirty="0">
              <a:latin typeface="Calibri"/>
            </a:endParaRPr>
          </a:p>
          <a:p>
            <a:pPr marL="0" indent="0">
              <a:buNone/>
            </a:pPr>
            <a:r>
              <a:rPr lang="en-US" sz="1200" b="1" dirty="0">
                <a:latin typeface="Calibri"/>
              </a:rPr>
              <a:t>Changed the final ranking</a:t>
            </a:r>
          </a:p>
          <a:p>
            <a:pPr marL="182880" indent="0">
              <a:buNone/>
            </a:pPr>
            <a:r>
              <a:rPr lang="en-US" sz="1100" dirty="0">
                <a:latin typeface="Calibri"/>
              </a:rPr>
              <a:t>fedadapt dropped from tied-#1 to #5 once corrected — see Final Ranking slide.</a:t>
            </a:r>
          </a:p>
        </p:txBody>
      </p:sp>
      <p:sp>
        <p:nvSpPr>
          <p:cNvPr id="11" name="findings_r"/>
          <p:cNvSpPr/>
          <p:nvPr/>
        </p:nvSpPr>
        <p:spPr>
          <a:xfrm>
            <a:off x="4666000" y="2370000"/>
            <a:ext cx="4250000" cy="1660000"/>
          </a:xfrm>
          <a:prstGeom prst="rect">
            <a:avLst/>
          </a:prstGeom>
          <a:solidFill>
            <a:srgbClr val="F0F4FA"/>
          </a:solidFill>
        </p:spPr>
        <p:txBody>
          <a:bodyPr wrap="square" lIns="182880" tIns="91440" rIns="182880" bIns="91440" rtlCol="0" anchor="t"/>
          <a:lstStyle/>
          <a:p>
            <a:pPr marL="0" indent="0">
              <a:buNone/>
            </a:pPr>
            <a:r>
              <a:rPr lang="en-US" sz="1200" b="1" dirty="0">
                <a:latin typeface="Calibri"/>
              </a:rPr>
              <a:t>K-mode fix: genuinely inconclusive</a:t>
            </a:r>
          </a:p>
          <a:p>
            <a:pPr marL="182880" indent="0">
              <a:buNone/>
            </a:pPr>
            <a:r>
              <a:rPr lang="en-US" sz="1100" dirty="0">
                <a:latin typeface="Calibri"/>
              </a:rPr>
              <a:t>Once isolated from the GRL-fix confound, uniform K=2 and genuine per-site K proved statistically indistinguishable at full-grid scale.</a:t>
            </a:r>
          </a:p>
          <a:p>
            <a:pPr marL="0" indent="0">
              <a:buNone/>
            </a:pPr>
            <a:endParaRPr lang="en-US" sz="1100" dirty="0">
              <a:latin typeface="Calibri"/>
            </a:endParaRPr>
          </a:p>
          <a:p>
            <a:pPr marL="0" indent="0">
              <a:buNone/>
            </a:pPr>
            <a:r>
              <a:rPr lang="en-US" sz="1200" b="1" dirty="0">
                <a:latin typeface="Calibri"/>
              </a:rPr>
              <a:t>Reproducibility finding, not just a bug</a:t>
            </a:r>
          </a:p>
          <a:p>
            <a:pPr marL="182880" indent="0">
              <a:buNone/>
            </a:pPr>
            <a:r>
              <a:rPr lang="en-US" sz="1100" dirty="0">
                <a:latin typeface="Calibri"/>
              </a:rPr>
              <a:t>Re-running identical seed+code still swung site_C/D by 0.017-0.03 — traced to fedadaptproto's KMeans clustering step specifically.</a:t>
            </a:r>
          </a:p>
          <a:p>
            <a:pPr marL="0" indent="0">
              <a:buNone/>
            </a:pPr>
            <a:endParaRPr lang="en-US" sz="1100" dirty="0">
              <a:latin typeface="Calibri"/>
            </a:endParaRPr>
          </a:p>
          <a:p>
            <a:pPr marL="0" indent="0">
              <a:buNone/>
            </a:pPr>
            <a:r>
              <a:rPr lang="en-US" sz="1200" b="1" dirty="0">
                <a:latin typeface="Calibri"/>
              </a:rPr>
              <a:t>Neither bug was caught by single-seed testing</a:t>
            </a:r>
          </a:p>
          <a:p>
            <a:pPr marL="182880" indent="0">
              <a:buNone/>
            </a:pPr>
            <a:r>
              <a:rPr lang="en-US" sz="1100" dirty="0">
                <a:latin typeface="Calibri"/>
              </a:rPr>
              <a:t>Both required multi-seed or full-grid comparison to surface — a methodology lesson as much as a code fix.</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Full Results Table">
    <p:bg>
      <p:bgPr>
        <a:solidFill>
          <a:srgbClr val="FFFFFF"/>
        </a:solidFill>
        <a:effectLst/>
      </p:bgPr>
    </p:bg>
    <p:spTree>
      <p:nvGrpSpPr>
        <p:cNvPr id="1" name=""/>
        <p:cNvGrpSpPr/>
        <p:nvPr/>
      </p:nvGrpSpPr>
      <p:grpSpPr>
        <a:xfrm>
          <a:off x="0" y="0"/>
          <a:ext cx="0" cy="0"/>
          <a:chOff x="0" y="0"/>
          <a:chExt cx="0" cy="0"/>
        </a:xfrm>
      </p:grpSpPr>
      <p:sp>
        <p:nvSpPr>
          <p:cNvPr id="2" name="hdr"/>
          <p:cNvSpPr>
            <a:spLocks noGrp="1"/>
          </p:cNvSpPr>
          <p:nvPr/>
        </p:nvSpPr>
        <p:spPr>
          <a:xfrm>
            <a:off x="0" y="0"/>
            <a:ext cx="9144000" cy="390000"/>
          </a:xfrm>
          <a:prstGeom prst="rect">
            <a:avLst/>
          </a:prstGeom>
          <a:solidFill>
            <a:srgbClr val="1E3A5F"/>
          </a:solidFill>
          <a:ln/>
        </p:spPr>
        <p:txBody>
          <a:bodyPr wrap="square" lIns="182880" tIns="45720" rIns="182880" bIns="45720" rtlCol="0" anchor="ctr"/>
          <a:lstStyle/>
          <a:p>
            <a:pPr marL="0" indent="0">
              <a:buNone/>
            </a:pPr>
            <a:r>
              <a:rPr lang="en-US" sz="1600" b="1" dirty="0">
                <a:solidFill>
                  <a:srgbClr val="FFFFFF"/>
                </a:solidFill>
                <a:latin typeface="Calibri"/>
              </a:rPr>
              <a:t>Final Corrected Method Ranking — Full 20-Condition Grid, Multi-Seed Confirmed</a:t>
            </a:r>
          </a:p>
        </p:txBody>
      </p:sp>
      <p:sp>
        <p:nvSpPr>
          <p:cNvPr id="3" name="sub"/>
          <p:cNvSpPr>
            <a:spLocks noGrp="1"/>
          </p:cNvSpPr>
          <p:nvPr/>
        </p:nvSpPr>
        <p:spPr>
          <a:xfrm>
            <a:off x="228600" y="415000"/>
            <a:ext cx="8687400" cy="180000"/>
          </a:xfrm>
          <a:prstGeom prst="rect">
            <a:avLst/>
          </a:prstGeom>
          <a:solidFill>
            <a:srgbClr val="2E6DA4"/>
          </a:solidFill>
          <a:ln/>
        </p:spPr>
        <p:txBody>
          <a:bodyPr wrap="square" lIns="182880" tIns="45720" rIns="182880" bIns="45720" rtlCol="0" anchor="ctr"/>
          <a:lstStyle/>
          <a:p>
            <a:pPr marL="0" indent="0">
              <a:buNone/>
            </a:pPr>
            <a:r>
              <a:rPr lang="en-US" sz="1000" b="1" dirty="0">
                <a:solidFill>
                  <a:srgbClr val="FFFFFF"/>
                </a:solidFill>
                <a:latin typeface="Calibri"/>
              </a:rPr>
              <a:t>Mean AUROC by heterogeneity level (alpha), all 6 methods, genuine multi-seed averaging (2-3 seeds each) across the entire grid</a:t>
            </a:r>
          </a:p>
        </p:txBody>
      </p:sp>
      <p:sp>
        <p:nvSpPr>
          <p:cNvPr id="4" name="ch0"/>
          <p:cNvSpPr>
            <a:spLocks noGrp="1"/>
          </p:cNvSpPr>
          <p:nvPr/>
        </p:nvSpPr>
        <p:spPr>
          <a:xfrm>
            <a:off x="228600" y="415000"/>
            <a:ext cx="760000" cy="200000"/>
          </a:xfrm>
          <a:prstGeom prst="rect">
            <a:avLst/>
          </a:prstGeom>
          <a:solidFill>
            <a:srgbClr val="1E3A5F"/>
          </a:solidFill>
          <a:ln/>
        </p:spPr>
        <p:txBody>
          <a:bodyPr wrap="square" lIns="60960" tIns="30000" rIns="60960" bIns="30000" rtlCol="0" anchor="ctr"/>
          <a:lstStyle/>
          <a:p>
            <a:pPr marL="0" indent="0">
              <a:buNone/>
            </a:pPr>
            <a:r>
              <a:rPr lang="en-US" sz="950" b="1" dirty="0">
                <a:solidFill>
                  <a:srgbClr val="FFFFFF"/>
                </a:solidFill>
                <a:latin typeface="Calibri"/>
              </a:rPr>
              <a:t>Alpha</a:t>
            </a:r>
          </a:p>
        </p:txBody>
      </p:sp>
      <p:sp>
        <p:nvSpPr>
          <p:cNvPr id="5" name="ch1"/>
          <p:cNvSpPr>
            <a:spLocks noGrp="1"/>
          </p:cNvSpPr>
          <p:nvPr/>
        </p:nvSpPr>
        <p:spPr>
          <a:xfrm>
            <a:off x="1000000" y="415000"/>
            <a:ext cx="890000" cy="200000"/>
          </a:xfrm>
          <a:prstGeom prst="rect">
            <a:avLst/>
          </a:prstGeom>
          <a:solidFill>
            <a:srgbClr val="1E3A5F"/>
          </a:solidFill>
          <a:ln/>
        </p:spPr>
        <p:txBody>
          <a:bodyPr wrap="square" lIns="60960" tIns="30000" rIns="60960" bIns="30000" rtlCol="0" anchor="ctr"/>
          <a:lstStyle/>
          <a:p>
            <a:pPr marL="0" indent="0">
              <a:buNone/>
            </a:pPr>
            <a:r>
              <a:rPr lang="en-US" sz="950" b="1" dirty="0">
                <a:solidFill>
                  <a:srgbClr val="FFFFFF"/>
                </a:solidFill>
                <a:latin typeface="Calibri"/>
              </a:rPr>
              <a:t>Sites</a:t>
            </a:r>
          </a:p>
        </p:txBody>
      </p:sp>
      <p:sp>
        <p:nvSpPr>
          <p:cNvPr id="6" name="ch2"/>
          <p:cNvSpPr>
            <a:spLocks noGrp="1"/>
          </p:cNvSpPr>
          <p:nvPr/>
        </p:nvSpPr>
        <p:spPr>
          <a:xfrm>
            <a:off x="1900000" y="415000"/>
            <a:ext cx="1620000" cy="200000"/>
          </a:xfrm>
          <a:prstGeom prst="rect">
            <a:avLst/>
          </a:prstGeom>
          <a:solidFill>
            <a:srgbClr val="1E3A5F"/>
          </a:solidFill>
          <a:ln/>
        </p:spPr>
        <p:txBody>
          <a:bodyPr wrap="square" lIns="60960" tIns="30000" rIns="60960" bIns="30000" rtlCol="0" anchor="ctr"/>
          <a:lstStyle/>
          <a:p>
            <a:pPr marL="0" indent="0">
              <a:buNone/>
            </a:pPr>
            <a:r>
              <a:rPr lang="en-US" sz="950" b="1" dirty="0">
                <a:solidFill>
                  <a:srgbClr val="FFFFFF"/>
                </a:solidFill>
                <a:latin typeface="Calibri"/>
              </a:rPr>
              <a:t>Heterogeneity</a:t>
            </a:r>
          </a:p>
        </p:txBody>
      </p:sp>
      <p:sp>
        <p:nvSpPr>
          <p:cNvPr id="7" name="ch3"/>
          <p:cNvSpPr>
            <a:spLocks noGrp="1"/>
          </p:cNvSpPr>
          <p:nvPr/>
        </p:nvSpPr>
        <p:spPr>
          <a:xfrm>
            <a:off x="3530000" y="415000"/>
            <a:ext cx="680000" cy="200000"/>
          </a:xfrm>
          <a:prstGeom prst="rect">
            <a:avLst/>
          </a:prstGeom>
          <a:solidFill>
            <a:srgbClr val="1E3A5F"/>
          </a:solidFill>
          <a:ln/>
        </p:spPr>
        <p:txBody>
          <a:bodyPr wrap="square" lIns="60960" tIns="30000" rIns="60960" bIns="30000" rtlCol="0" anchor="ctr"/>
          <a:lstStyle/>
          <a:p>
            <a:pPr marL="0" indent="0">
              <a:buNone/>
            </a:pPr>
            <a:r>
              <a:rPr lang="en-US" sz="950" b="1" dirty="0">
                <a:solidFill>
                  <a:srgbClr val="FFFFFF"/>
                </a:solidFill>
                <a:latin typeface="Calibri"/>
              </a:rPr>
              <a:t>FedAvg</a:t>
            </a:r>
          </a:p>
        </p:txBody>
      </p:sp>
      <p:sp>
        <p:nvSpPr>
          <p:cNvPr id="8" name="ch4"/>
          <p:cNvSpPr>
            <a:spLocks noGrp="1"/>
          </p:cNvSpPr>
          <p:nvPr/>
        </p:nvSpPr>
        <p:spPr>
          <a:xfrm>
            <a:off x="4220000" y="415000"/>
            <a:ext cx="680000" cy="200000"/>
          </a:xfrm>
          <a:prstGeom prst="rect">
            <a:avLst/>
          </a:prstGeom>
          <a:solidFill>
            <a:srgbClr val="1E3A5F"/>
          </a:solidFill>
          <a:ln/>
        </p:spPr>
        <p:txBody>
          <a:bodyPr wrap="square" lIns="60960" tIns="30000" rIns="60960" bIns="30000" rtlCol="0" anchor="ctr"/>
          <a:lstStyle/>
          <a:p>
            <a:pPr marL="0" indent="0">
              <a:buNone/>
            </a:pPr>
            <a:r>
              <a:rPr lang="en-US" sz="950" b="1" dirty="0">
                <a:solidFill>
                  <a:srgbClr val="FFFFFF"/>
                </a:solidFill>
                <a:latin typeface="Calibri"/>
              </a:rPr>
              <a:t>FedProx</a:t>
            </a:r>
          </a:p>
        </p:txBody>
      </p:sp>
      <p:sp>
        <p:nvSpPr>
          <p:cNvPr id="9" name="ch5"/>
          <p:cNvSpPr>
            <a:spLocks noGrp="1"/>
          </p:cNvSpPr>
          <p:nvPr/>
        </p:nvSpPr>
        <p:spPr>
          <a:xfrm>
            <a:off x="4910000" y="415000"/>
            <a:ext cx="680000" cy="200000"/>
          </a:xfrm>
          <a:prstGeom prst="rect">
            <a:avLst/>
          </a:prstGeom>
          <a:solidFill>
            <a:srgbClr val="1E3A5F"/>
          </a:solidFill>
          <a:ln/>
        </p:spPr>
        <p:txBody>
          <a:bodyPr wrap="square" lIns="60960" tIns="30000" rIns="60960" bIns="30000" rtlCol="0" anchor="ctr"/>
          <a:lstStyle/>
          <a:p>
            <a:pPr marL="0" indent="0">
              <a:buNone/>
            </a:pPr>
            <a:r>
              <a:rPr lang="en-US" sz="950" b="1" dirty="0">
                <a:solidFill>
                  <a:srgbClr val="FFFFFF"/>
                </a:solidFill>
                <a:latin typeface="Calibri"/>
              </a:rPr>
              <a:t>SCAFFOLD</a:t>
            </a:r>
          </a:p>
        </p:txBody>
      </p:sp>
      <p:sp>
        <p:nvSpPr>
          <p:cNvPr id="10" name="ch6"/>
          <p:cNvSpPr>
            <a:spLocks noGrp="1"/>
          </p:cNvSpPr>
          <p:nvPr/>
        </p:nvSpPr>
        <p:spPr>
          <a:xfrm>
            <a:off x="5600000" y="415000"/>
            <a:ext cx="790000" cy="200000"/>
          </a:xfrm>
          <a:prstGeom prst="rect">
            <a:avLst/>
          </a:prstGeom>
          <a:solidFill>
            <a:srgbClr val="1E3A5F"/>
          </a:solidFill>
          <a:ln/>
        </p:spPr>
        <p:txBody>
          <a:bodyPr wrap="square" lIns="60960" tIns="30000" rIns="60960" bIns="30000" rtlCol="0" anchor="ctr"/>
          <a:lstStyle/>
          <a:p>
            <a:pPr marL="0" indent="0">
              <a:buNone/>
            </a:pPr>
            <a:r>
              <a:rPr lang="en-US" sz="950" b="1" dirty="0">
                <a:solidFill>
                  <a:srgbClr val="FFFFFF"/>
                </a:solidFill>
                <a:latin typeface="Calibri"/>
              </a:rPr>
              <a:t>FedAdapt</a:t>
            </a:r>
          </a:p>
        </p:txBody>
      </p:sp>
      <p:sp>
        <p:nvSpPr>
          <p:cNvPr id="11" name="ch7"/>
          <p:cNvSpPr>
            <a:spLocks noGrp="1"/>
          </p:cNvSpPr>
          <p:nvPr/>
        </p:nvSpPr>
        <p:spPr>
          <a:xfrm>
            <a:off x="6400000" y="415000"/>
            <a:ext cx="890000" cy="200000"/>
          </a:xfrm>
          <a:prstGeom prst="rect">
            <a:avLst/>
          </a:prstGeom>
          <a:solidFill>
            <a:srgbClr val="BA5000"/>
          </a:solidFill>
          <a:ln/>
        </p:spPr>
        <p:txBody>
          <a:bodyPr wrap="square" lIns="60960" tIns="30000" rIns="60960" bIns="30000" rtlCol="0" anchor="ctr"/>
          <a:lstStyle/>
          <a:p>
            <a:pPr marL="0" indent="0">
              <a:buNone/>
            </a:pPr>
            <a:r>
              <a:rPr lang="en-US" sz="950" b="1" dirty="0">
                <a:solidFill>
                  <a:srgbClr val="FFFFFF"/>
                </a:solidFill>
                <a:latin typeface="Calibri"/>
              </a:rPr>
              <a:t>FedAdaptProto</a:t>
            </a:r>
          </a:p>
        </p:txBody>
      </p:sp>
      <p:sp>
        <p:nvSpPr>
          <p:cNvPr id="12" name="ch8"/>
          <p:cNvSpPr>
            <a:spLocks noGrp="1"/>
          </p:cNvSpPr>
          <p:nvPr/>
        </p:nvSpPr>
        <p:spPr>
          <a:xfrm>
            <a:off x="7300000" y="415000"/>
            <a:ext cx="790000" cy="200000"/>
          </a:xfrm>
          <a:prstGeom prst="rect">
            <a:avLst/>
          </a:prstGeom>
          <a:solidFill>
            <a:srgbClr val="555555"/>
          </a:solidFill>
          <a:ln/>
        </p:spPr>
        <p:txBody>
          <a:bodyPr wrap="square" lIns="60960" tIns="30000" rIns="60960" bIns="30000" rtlCol="0" anchor="ctr"/>
          <a:lstStyle/>
          <a:p>
            <a:pPr marL="0" indent="0">
              <a:buNone/>
            </a:pPr>
            <a:r>
              <a:rPr lang="en-US" sz="950" b="1" dirty="0">
                <a:solidFill>
                  <a:srgbClr val="FFFFFF"/>
                </a:solidFill>
                <a:latin typeface="Calibri"/>
              </a:rPr>
              <a:t>v25 (proto)</a:t>
            </a:r>
          </a:p>
        </p:txBody>
      </p:sp>
      <p:sp>
        <p:nvSpPr>
          <p:cNvPr id="13" name="ch9"/>
          <p:cNvSpPr>
            <a:spLocks noGrp="1"/>
          </p:cNvSpPr>
          <p:nvPr/>
        </p:nvSpPr>
        <p:spPr>
          <a:xfrm>
            <a:off x="8100000" y="415000"/>
            <a:ext cx="810000" cy="200000"/>
          </a:xfrm>
          <a:prstGeom prst="rect">
            <a:avLst/>
          </a:prstGeom>
          <a:solidFill>
            <a:srgbClr val="1D6B3E"/>
          </a:solidFill>
          <a:ln/>
        </p:spPr>
        <p:txBody>
          <a:bodyPr wrap="square" lIns="60960" tIns="30000" rIns="60960" bIns="30000" rtlCol="0" anchor="ctr"/>
          <a:lstStyle/>
          <a:p>
            <a:pPr marL="0" indent="0">
              <a:buNone/>
            </a:pPr>
            <a:r>
              <a:rPr lang="en-US" sz="950" b="1" dirty="0">
                <a:solidFill>
                  <a:srgbClr val="FFFFFF"/>
                </a:solidFill>
                <a:latin typeface="Calibri"/>
              </a:rPr>
              <a:t>Best Method</a:t>
            </a:r>
          </a:p>
        </p:txBody>
      </p:sp>
      <p:sp>
        <p:nvSpPr>
          <p:cNvPr id="14" name="cond"/>
          <p:cNvSpPr>
            <a:spLocks noGrp="1"/>
          </p:cNvSpPr>
          <p:nvPr/>
        </p:nvSpPr>
        <p:spPr>
          <a:xfrm>
            <a:off x="228600" y="720000"/>
            <a:ext cx="760000" cy="295000"/>
          </a:xfrm>
          <a:prstGeom prst="rect">
            <a:avLst/>
          </a:prstGeom>
          <a:solidFill>
            <a:srgbClr val="FFFFFF"/>
          </a:solidFill>
          <a:ln/>
        </p:spPr>
        <p:txBody>
          <a:bodyPr wrap="square" lIns="60960" tIns="30000" rIns="60960" bIns="30000" rtlCol="0" anchor="ctr"/>
          <a:lstStyle/>
          <a:p>
            <a:pPr marL="0" indent="0">
              <a:buNone/>
            </a:pPr>
            <a:r>
              <a:rPr lang="en-US" sz="950" b="1" dirty="0">
                <a:solidFill>
                  <a:srgbClr val="1E3A5F"/>
                </a:solidFill>
                <a:latin typeface="Calibri"/>
              </a:rPr>
              <a:t>a=0.1</a:t>
            </a:r>
          </a:p>
        </p:txBody>
      </p:sp>
      <p:sp>
        <p:nvSpPr>
          <p:cNvPr id="15" name="par"/>
          <p:cNvSpPr>
            <a:spLocks noGrp="1"/>
          </p:cNvSpPr>
          <p:nvPr/>
        </p:nvSpPr>
        <p:spPr>
          <a:xfrm>
            <a:off x="1000000" y="720000"/>
            <a:ext cx="890000" cy="295000"/>
          </a:xfrm>
          <a:prstGeom prst="rect">
            <a:avLst/>
          </a:prstGeom>
          <a:solidFill>
            <a:srgbClr val="FFFFFF"/>
          </a:solidFill>
          <a:ln/>
        </p:spPr>
        <p:txBody>
          <a:bodyPr wrap="square" lIns="60960" tIns="30000" rIns="60960" bIns="30000" rtlCol="0" anchor="ctr"/>
          <a:lstStyle/>
          <a:p>
            <a:pPr marL="0" indent="0">
              <a:buNone/>
            </a:pPr>
            <a:r>
              <a:rPr lang="en-US" sz="880" b="0" dirty="0">
                <a:solidFill>
                  <a:srgbClr val="555555"/>
                </a:solidFill>
                <a:latin typeface="Calibri"/>
              </a:rPr>
              <a:t>5 sites</a:t>
            </a:r>
          </a:p>
        </p:txBody>
      </p:sp>
      <p:sp>
        <p:nvSpPr>
          <p:cNvPr id="16" name="desc"/>
          <p:cNvSpPr>
            <a:spLocks noGrp="1"/>
          </p:cNvSpPr>
          <p:nvPr/>
        </p:nvSpPr>
        <p:spPr>
          <a:xfrm>
            <a:off x="1900000" y="720000"/>
            <a:ext cx="1620000" cy="295000"/>
          </a:xfrm>
          <a:prstGeom prst="rect">
            <a:avLst/>
          </a:prstGeom>
          <a:solidFill>
            <a:srgbClr val="FFFFFF"/>
          </a:solidFill>
          <a:ln/>
        </p:spPr>
        <p:txBody>
          <a:bodyPr wrap="square" lIns="60960" tIns="30000" rIns="60960" bIns="30000" rtlCol="0" anchor="ctr"/>
          <a:lstStyle/>
          <a:p>
            <a:pPr marL="0" indent="0">
              <a:buNone/>
            </a:pPr>
            <a:r>
              <a:rPr lang="en-US" sz="850" b="0" dirty="0">
                <a:solidFill>
                  <a:srgbClr val="000000"/>
                </a:solidFill>
                <a:latin typeface="Calibri"/>
              </a:rPr>
              <a:t>Most heterogeneous</a:t>
            </a:r>
          </a:p>
        </p:txBody>
      </p:sp>
      <p:sp>
        <p:nvSpPr>
          <p:cNvPr id="17" name="r0m0"/>
          <p:cNvSpPr>
            <a:spLocks noGrp="1"/>
          </p:cNvSpPr>
          <p:nvPr/>
        </p:nvSpPr>
        <p:spPr>
          <a:xfrm>
            <a:off x="3530000" y="720000"/>
            <a:ext cx="68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0.9053</a:t>
            </a:r>
          </a:p>
        </p:txBody>
      </p:sp>
      <p:sp>
        <p:nvSpPr>
          <p:cNvPr id="18" name="r0m1"/>
          <p:cNvSpPr>
            <a:spLocks noGrp="1"/>
          </p:cNvSpPr>
          <p:nvPr/>
        </p:nvSpPr>
        <p:spPr>
          <a:xfrm>
            <a:off x="4220000" y="720000"/>
            <a:ext cx="68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0.9048</a:t>
            </a:r>
          </a:p>
        </p:txBody>
      </p:sp>
      <p:sp>
        <p:nvSpPr>
          <p:cNvPr id="19" name="r0m2"/>
          <p:cNvSpPr>
            <a:spLocks noGrp="1"/>
          </p:cNvSpPr>
          <p:nvPr/>
        </p:nvSpPr>
        <p:spPr>
          <a:xfrm>
            <a:off x="4910000" y="720000"/>
            <a:ext cx="68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0.9045</a:t>
            </a:r>
          </a:p>
        </p:txBody>
      </p:sp>
      <p:sp>
        <p:nvSpPr>
          <p:cNvPr id="20" name="r0m3"/>
          <p:cNvSpPr>
            <a:spLocks noGrp="1"/>
          </p:cNvSpPr>
          <p:nvPr/>
        </p:nvSpPr>
        <p:spPr>
          <a:xfrm>
            <a:off x="5600000" y="720000"/>
            <a:ext cx="79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0.9034</a:t>
            </a:r>
          </a:p>
        </p:txBody>
      </p:sp>
      <p:sp>
        <p:nvSpPr>
          <p:cNvPr id="21" name="r0m4"/>
          <p:cNvSpPr>
            <a:spLocks noGrp="1"/>
          </p:cNvSpPr>
          <p:nvPr/>
        </p:nvSpPr>
        <p:spPr>
          <a:xfrm>
            <a:off x="6400000" y="720000"/>
            <a:ext cx="89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0.9020</a:t>
            </a:r>
          </a:p>
        </p:txBody>
      </p:sp>
      <p:sp>
        <p:nvSpPr>
          <p:cNvPr id="22" name="r0loc"/>
          <p:cNvSpPr>
            <a:spLocks noGrp="1"/>
          </p:cNvSpPr>
          <p:nvPr/>
        </p:nvSpPr>
        <p:spPr>
          <a:xfrm>
            <a:off x="7300000" y="720000"/>
            <a:ext cx="790000" cy="295000"/>
          </a:xfrm>
          <a:prstGeom prst="rect">
            <a:avLst/>
          </a:prstGeom>
          <a:solidFill>
            <a:srgbClr val="F0F4FA"/>
          </a:solidFill>
          <a:ln/>
        </p:spPr>
        <p:txBody>
          <a:bodyPr wrap="square" lIns="60960" tIns="30000" rIns="60960" bIns="30000" rtlCol="0" anchor="ctr"/>
          <a:lstStyle/>
          <a:p>
            <a:pPr marL="0" indent="0">
              <a:buNone/>
            </a:pPr>
            <a:r>
              <a:rPr lang="en-US" sz="980" b="0" dirty="0">
                <a:solidFill>
                  <a:srgbClr val="555555"/>
                </a:solidFill>
                <a:latin typeface="Calibri"/>
              </a:rPr>
              <a:t>0.9075</a:t>
            </a:r>
          </a:p>
        </p:txBody>
      </p:sp>
      <p:sp>
        <p:nvSpPr>
          <p:cNvPr id="23" name="r0d"/>
          <p:cNvSpPr>
            <a:spLocks noGrp="1"/>
          </p:cNvSpPr>
          <p:nvPr/>
        </p:nvSpPr>
        <p:spPr>
          <a:xfrm>
            <a:off x="8100000" y="720000"/>
            <a:ext cx="81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v25</a:t>
            </a:r>
          </a:p>
        </p:txBody>
      </p:sp>
      <p:sp>
        <p:nvSpPr>
          <p:cNvPr id="24" name="cond"/>
          <p:cNvSpPr>
            <a:spLocks noGrp="1"/>
          </p:cNvSpPr>
          <p:nvPr/>
        </p:nvSpPr>
        <p:spPr>
          <a:xfrm>
            <a:off x="228600" y="1015000"/>
            <a:ext cx="760000" cy="295000"/>
          </a:xfrm>
          <a:prstGeom prst="rect">
            <a:avLst/>
          </a:prstGeom>
          <a:solidFill>
            <a:srgbClr val="F5F5F5"/>
          </a:solidFill>
          <a:ln/>
        </p:spPr>
        <p:txBody>
          <a:bodyPr wrap="square" lIns="60960" tIns="30000" rIns="60960" bIns="30000" rtlCol="0" anchor="ctr"/>
          <a:lstStyle/>
          <a:p>
            <a:pPr marL="0" indent="0">
              <a:buNone/>
            </a:pPr>
            <a:r>
              <a:rPr lang="en-US" sz="950" b="1" dirty="0">
                <a:solidFill>
                  <a:srgbClr val="1E3A5F"/>
                </a:solidFill>
                <a:latin typeface="Calibri"/>
              </a:rPr>
              <a:t>a=0.3</a:t>
            </a:r>
          </a:p>
        </p:txBody>
      </p:sp>
      <p:sp>
        <p:nvSpPr>
          <p:cNvPr id="25" name="par"/>
          <p:cNvSpPr>
            <a:spLocks noGrp="1"/>
          </p:cNvSpPr>
          <p:nvPr/>
        </p:nvSpPr>
        <p:spPr>
          <a:xfrm>
            <a:off x="1000000" y="1015000"/>
            <a:ext cx="890000" cy="295000"/>
          </a:xfrm>
          <a:prstGeom prst="rect">
            <a:avLst/>
          </a:prstGeom>
          <a:solidFill>
            <a:srgbClr val="F5F5F5"/>
          </a:solidFill>
          <a:ln/>
        </p:spPr>
        <p:txBody>
          <a:bodyPr wrap="square" lIns="60960" tIns="30000" rIns="60960" bIns="30000" rtlCol="0" anchor="ctr"/>
          <a:lstStyle/>
          <a:p>
            <a:pPr marL="0" indent="0">
              <a:buNone/>
            </a:pPr>
            <a:r>
              <a:rPr lang="en-US" sz="880" b="0" dirty="0">
                <a:solidFill>
                  <a:srgbClr val="555555"/>
                </a:solidFill>
                <a:latin typeface="Calibri"/>
              </a:rPr>
              <a:t>5 sites</a:t>
            </a:r>
          </a:p>
        </p:txBody>
      </p:sp>
      <p:sp>
        <p:nvSpPr>
          <p:cNvPr id="26" name="desc"/>
          <p:cNvSpPr>
            <a:spLocks noGrp="1"/>
          </p:cNvSpPr>
          <p:nvPr/>
        </p:nvSpPr>
        <p:spPr>
          <a:xfrm>
            <a:off x="1900000" y="1015000"/>
            <a:ext cx="1620000" cy="295000"/>
          </a:xfrm>
          <a:prstGeom prst="rect">
            <a:avLst/>
          </a:prstGeom>
          <a:solidFill>
            <a:srgbClr val="F5F5F5"/>
          </a:solidFill>
          <a:ln/>
        </p:spPr>
        <p:txBody>
          <a:bodyPr wrap="square" lIns="60960" tIns="30000" rIns="60960" bIns="30000" rtlCol="0" anchor="ctr"/>
          <a:lstStyle/>
          <a:p>
            <a:pPr marL="0" indent="0">
              <a:buNone/>
            </a:pPr>
            <a:r>
              <a:rPr lang="en-US" sz="850" b="0" dirty="0">
                <a:solidFill>
                  <a:srgbClr val="000000"/>
                </a:solidFill>
                <a:latin typeface="Calibri"/>
              </a:rPr>
              <a:t>High heterogeneity</a:t>
            </a:r>
          </a:p>
        </p:txBody>
      </p:sp>
      <p:sp>
        <p:nvSpPr>
          <p:cNvPr id="27" name="r1m0"/>
          <p:cNvSpPr>
            <a:spLocks noGrp="1"/>
          </p:cNvSpPr>
          <p:nvPr/>
        </p:nvSpPr>
        <p:spPr>
          <a:xfrm>
            <a:off x="3530000" y="1015000"/>
            <a:ext cx="68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0.9093</a:t>
            </a:r>
          </a:p>
        </p:txBody>
      </p:sp>
      <p:sp>
        <p:nvSpPr>
          <p:cNvPr id="28" name="r1m1"/>
          <p:cNvSpPr>
            <a:spLocks noGrp="1"/>
          </p:cNvSpPr>
          <p:nvPr/>
        </p:nvSpPr>
        <p:spPr>
          <a:xfrm>
            <a:off x="4220000" y="1015000"/>
            <a:ext cx="68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0.9088</a:t>
            </a:r>
          </a:p>
        </p:txBody>
      </p:sp>
      <p:sp>
        <p:nvSpPr>
          <p:cNvPr id="29" name="r1m2"/>
          <p:cNvSpPr>
            <a:spLocks noGrp="1"/>
          </p:cNvSpPr>
          <p:nvPr/>
        </p:nvSpPr>
        <p:spPr>
          <a:xfrm>
            <a:off x="4910000" y="1015000"/>
            <a:ext cx="68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0.9082</a:t>
            </a:r>
          </a:p>
        </p:txBody>
      </p:sp>
      <p:sp>
        <p:nvSpPr>
          <p:cNvPr id="30" name="r1m3"/>
          <p:cNvSpPr>
            <a:spLocks noGrp="1"/>
          </p:cNvSpPr>
          <p:nvPr/>
        </p:nvSpPr>
        <p:spPr>
          <a:xfrm>
            <a:off x="5600000" y="1015000"/>
            <a:ext cx="79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0.9060</a:t>
            </a:r>
          </a:p>
        </p:txBody>
      </p:sp>
      <p:sp>
        <p:nvSpPr>
          <p:cNvPr id="31" name="r1m4"/>
          <p:cNvSpPr>
            <a:spLocks noGrp="1"/>
          </p:cNvSpPr>
          <p:nvPr/>
        </p:nvSpPr>
        <p:spPr>
          <a:xfrm>
            <a:off x="6400000" y="1015000"/>
            <a:ext cx="89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0.9057</a:t>
            </a:r>
          </a:p>
        </p:txBody>
      </p:sp>
      <p:sp>
        <p:nvSpPr>
          <p:cNvPr id="32" name="r1loc"/>
          <p:cNvSpPr>
            <a:spLocks noGrp="1"/>
          </p:cNvSpPr>
          <p:nvPr/>
        </p:nvSpPr>
        <p:spPr>
          <a:xfrm>
            <a:off x="7300000" y="1015000"/>
            <a:ext cx="790000" cy="295000"/>
          </a:xfrm>
          <a:prstGeom prst="rect">
            <a:avLst/>
          </a:prstGeom>
          <a:solidFill>
            <a:srgbClr val="F0F4FA"/>
          </a:solidFill>
          <a:ln/>
        </p:spPr>
        <p:txBody>
          <a:bodyPr wrap="square" lIns="60960" tIns="30000" rIns="60960" bIns="30000" rtlCol="0" anchor="ctr"/>
          <a:lstStyle/>
          <a:p>
            <a:pPr marL="0" indent="0">
              <a:buNone/>
            </a:pPr>
            <a:r>
              <a:rPr lang="en-US" sz="980" b="0" dirty="0">
                <a:solidFill>
                  <a:srgbClr val="555555"/>
                </a:solidFill>
                <a:latin typeface="Calibri"/>
              </a:rPr>
              <a:t>0.9102</a:t>
            </a:r>
          </a:p>
        </p:txBody>
      </p:sp>
      <p:sp>
        <p:nvSpPr>
          <p:cNvPr id="33" name="r1d"/>
          <p:cNvSpPr>
            <a:spLocks noGrp="1"/>
          </p:cNvSpPr>
          <p:nvPr/>
        </p:nvSpPr>
        <p:spPr>
          <a:xfrm>
            <a:off x="8100000" y="1015000"/>
            <a:ext cx="81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v25</a:t>
            </a:r>
          </a:p>
        </p:txBody>
      </p:sp>
      <p:sp>
        <p:nvSpPr>
          <p:cNvPr id="34" name="cond"/>
          <p:cNvSpPr>
            <a:spLocks noGrp="1"/>
          </p:cNvSpPr>
          <p:nvPr/>
        </p:nvSpPr>
        <p:spPr>
          <a:xfrm>
            <a:off x="228600" y="1310000"/>
            <a:ext cx="760000" cy="295000"/>
          </a:xfrm>
          <a:prstGeom prst="rect">
            <a:avLst/>
          </a:prstGeom>
          <a:solidFill>
            <a:srgbClr val="FFFFFF"/>
          </a:solidFill>
          <a:ln/>
        </p:spPr>
        <p:txBody>
          <a:bodyPr wrap="square" lIns="60960" tIns="30000" rIns="60960" bIns="30000" rtlCol="0" anchor="ctr"/>
          <a:lstStyle/>
          <a:p>
            <a:pPr marL="0" indent="0">
              <a:buNone/>
            </a:pPr>
            <a:r>
              <a:rPr lang="en-US" sz="950" b="1" dirty="0">
                <a:solidFill>
                  <a:srgbClr val="1E3A5F"/>
                </a:solidFill>
                <a:latin typeface="Calibri"/>
              </a:rPr>
              <a:t>a=0.5</a:t>
            </a:r>
          </a:p>
        </p:txBody>
      </p:sp>
      <p:sp>
        <p:nvSpPr>
          <p:cNvPr id="35" name="par"/>
          <p:cNvSpPr>
            <a:spLocks noGrp="1"/>
          </p:cNvSpPr>
          <p:nvPr/>
        </p:nvSpPr>
        <p:spPr>
          <a:xfrm>
            <a:off x="1000000" y="1310000"/>
            <a:ext cx="890000" cy="295000"/>
          </a:xfrm>
          <a:prstGeom prst="rect">
            <a:avLst/>
          </a:prstGeom>
          <a:solidFill>
            <a:srgbClr val="FFFFFF"/>
          </a:solidFill>
          <a:ln/>
        </p:spPr>
        <p:txBody>
          <a:bodyPr wrap="square" lIns="60960" tIns="30000" rIns="60960" bIns="30000" rtlCol="0" anchor="ctr"/>
          <a:lstStyle/>
          <a:p>
            <a:pPr marL="0" indent="0">
              <a:buNone/>
            </a:pPr>
            <a:r>
              <a:rPr lang="en-US" sz="880" b="0" dirty="0">
                <a:solidFill>
                  <a:srgbClr val="555555"/>
                </a:solidFill>
                <a:latin typeface="Calibri"/>
              </a:rPr>
              <a:t>5 sites</a:t>
            </a:r>
          </a:p>
        </p:txBody>
      </p:sp>
      <p:sp>
        <p:nvSpPr>
          <p:cNvPr id="36" name="desc"/>
          <p:cNvSpPr>
            <a:spLocks noGrp="1"/>
          </p:cNvSpPr>
          <p:nvPr/>
        </p:nvSpPr>
        <p:spPr>
          <a:xfrm>
            <a:off x="1900000" y="1310000"/>
            <a:ext cx="1620000" cy="295000"/>
          </a:xfrm>
          <a:prstGeom prst="rect">
            <a:avLst/>
          </a:prstGeom>
          <a:solidFill>
            <a:srgbClr val="FFFFFF"/>
          </a:solidFill>
          <a:ln/>
        </p:spPr>
        <p:txBody>
          <a:bodyPr wrap="square" lIns="60960" tIns="30000" rIns="60960" bIns="30000" rtlCol="0" anchor="ctr"/>
          <a:lstStyle/>
          <a:p>
            <a:pPr marL="0" indent="0">
              <a:buNone/>
            </a:pPr>
            <a:r>
              <a:rPr lang="en-US" sz="850" b="0" dirty="0">
                <a:solidFill>
                  <a:srgbClr val="000000"/>
                </a:solidFill>
                <a:latin typeface="Calibri"/>
              </a:rPr>
              <a:t>Moderate heterogeneity</a:t>
            </a:r>
          </a:p>
        </p:txBody>
      </p:sp>
      <p:sp>
        <p:nvSpPr>
          <p:cNvPr id="37" name="r2m0"/>
          <p:cNvSpPr>
            <a:spLocks noGrp="1"/>
          </p:cNvSpPr>
          <p:nvPr/>
        </p:nvSpPr>
        <p:spPr>
          <a:xfrm>
            <a:off x="3530000" y="1310000"/>
            <a:ext cx="68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0.9062</a:t>
            </a:r>
          </a:p>
        </p:txBody>
      </p:sp>
      <p:sp>
        <p:nvSpPr>
          <p:cNvPr id="38" name="r2m1"/>
          <p:cNvSpPr>
            <a:spLocks noGrp="1"/>
          </p:cNvSpPr>
          <p:nvPr/>
        </p:nvSpPr>
        <p:spPr>
          <a:xfrm>
            <a:off x="4220000" y="1310000"/>
            <a:ext cx="68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0.9062</a:t>
            </a:r>
          </a:p>
        </p:txBody>
      </p:sp>
      <p:sp>
        <p:nvSpPr>
          <p:cNvPr id="39" name="r2m2"/>
          <p:cNvSpPr>
            <a:spLocks noGrp="1"/>
          </p:cNvSpPr>
          <p:nvPr/>
        </p:nvSpPr>
        <p:spPr>
          <a:xfrm>
            <a:off x="4910000" y="1310000"/>
            <a:ext cx="68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0.9070</a:t>
            </a:r>
          </a:p>
        </p:txBody>
      </p:sp>
      <p:sp>
        <p:nvSpPr>
          <p:cNvPr id="40" name="r2m3"/>
          <p:cNvSpPr>
            <a:spLocks noGrp="1"/>
          </p:cNvSpPr>
          <p:nvPr/>
        </p:nvSpPr>
        <p:spPr>
          <a:xfrm>
            <a:off x="5600000" y="1310000"/>
            <a:ext cx="79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0.9021</a:t>
            </a:r>
          </a:p>
        </p:txBody>
      </p:sp>
      <p:sp>
        <p:nvSpPr>
          <p:cNvPr id="41" name="r2m4"/>
          <p:cNvSpPr>
            <a:spLocks noGrp="1"/>
          </p:cNvSpPr>
          <p:nvPr/>
        </p:nvSpPr>
        <p:spPr>
          <a:xfrm>
            <a:off x="6400000" y="1310000"/>
            <a:ext cx="89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0.9040</a:t>
            </a:r>
          </a:p>
        </p:txBody>
      </p:sp>
      <p:sp>
        <p:nvSpPr>
          <p:cNvPr id="42" name="r2loc"/>
          <p:cNvSpPr>
            <a:spLocks noGrp="1"/>
          </p:cNvSpPr>
          <p:nvPr/>
        </p:nvSpPr>
        <p:spPr>
          <a:xfrm>
            <a:off x="7300000" y="1310000"/>
            <a:ext cx="790000" cy="295000"/>
          </a:xfrm>
          <a:prstGeom prst="rect">
            <a:avLst/>
          </a:prstGeom>
          <a:solidFill>
            <a:srgbClr val="F0F4FA"/>
          </a:solidFill>
          <a:ln/>
        </p:spPr>
        <p:txBody>
          <a:bodyPr wrap="square" lIns="60960" tIns="30000" rIns="60960" bIns="30000" rtlCol="0" anchor="ctr"/>
          <a:lstStyle/>
          <a:p>
            <a:pPr marL="0" indent="0">
              <a:buNone/>
            </a:pPr>
            <a:r>
              <a:rPr lang="en-US" sz="980" b="0" dirty="0">
                <a:solidFill>
                  <a:srgbClr val="555555"/>
                </a:solidFill>
                <a:latin typeface="Calibri"/>
              </a:rPr>
              <a:t>0.9105</a:t>
            </a:r>
          </a:p>
        </p:txBody>
      </p:sp>
      <p:sp>
        <p:nvSpPr>
          <p:cNvPr id="43" name="r2d"/>
          <p:cNvSpPr>
            <a:spLocks noGrp="1"/>
          </p:cNvSpPr>
          <p:nvPr/>
        </p:nvSpPr>
        <p:spPr>
          <a:xfrm>
            <a:off x="8100000" y="1310000"/>
            <a:ext cx="81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v25</a:t>
            </a:r>
          </a:p>
        </p:txBody>
      </p:sp>
      <p:sp>
        <p:nvSpPr>
          <p:cNvPr id="44" name="cond"/>
          <p:cNvSpPr>
            <a:spLocks noGrp="1"/>
          </p:cNvSpPr>
          <p:nvPr/>
        </p:nvSpPr>
        <p:spPr>
          <a:xfrm>
            <a:off x="228600" y="1605000"/>
            <a:ext cx="760000" cy="295000"/>
          </a:xfrm>
          <a:prstGeom prst="rect">
            <a:avLst/>
          </a:prstGeom>
          <a:solidFill>
            <a:srgbClr val="F5F5F5"/>
          </a:solidFill>
          <a:ln/>
        </p:spPr>
        <p:txBody>
          <a:bodyPr wrap="square" lIns="60960" tIns="30000" rIns="60960" bIns="30000" rtlCol="0" anchor="ctr"/>
          <a:lstStyle/>
          <a:p>
            <a:pPr marL="0" indent="0">
              <a:buNone/>
            </a:pPr>
            <a:r>
              <a:rPr lang="en-US" sz="950" b="1" dirty="0">
                <a:solidFill>
                  <a:srgbClr val="1E3A5F"/>
                </a:solidFill>
                <a:latin typeface="Calibri"/>
              </a:rPr>
              <a:t>a=1.0</a:t>
            </a:r>
          </a:p>
        </p:txBody>
      </p:sp>
      <p:sp>
        <p:nvSpPr>
          <p:cNvPr id="45" name="par"/>
          <p:cNvSpPr>
            <a:spLocks noGrp="1"/>
          </p:cNvSpPr>
          <p:nvPr/>
        </p:nvSpPr>
        <p:spPr>
          <a:xfrm>
            <a:off x="1000000" y="1605000"/>
            <a:ext cx="890000" cy="295000"/>
          </a:xfrm>
          <a:prstGeom prst="rect">
            <a:avLst/>
          </a:prstGeom>
          <a:solidFill>
            <a:srgbClr val="F5F5F5"/>
          </a:solidFill>
          <a:ln/>
        </p:spPr>
        <p:txBody>
          <a:bodyPr wrap="square" lIns="60960" tIns="30000" rIns="60960" bIns="30000" rtlCol="0" anchor="ctr"/>
          <a:lstStyle/>
          <a:p>
            <a:pPr marL="0" indent="0">
              <a:buNone/>
            </a:pPr>
            <a:r>
              <a:rPr lang="en-US" sz="880" b="0" dirty="0">
                <a:solidFill>
                  <a:srgbClr val="555555"/>
                </a:solidFill>
                <a:latin typeface="Calibri"/>
              </a:rPr>
              <a:t>5 sites</a:t>
            </a:r>
          </a:p>
        </p:txBody>
      </p:sp>
      <p:sp>
        <p:nvSpPr>
          <p:cNvPr id="46" name="desc"/>
          <p:cNvSpPr>
            <a:spLocks noGrp="1"/>
          </p:cNvSpPr>
          <p:nvPr/>
        </p:nvSpPr>
        <p:spPr>
          <a:xfrm>
            <a:off x="1900000" y="1605000"/>
            <a:ext cx="1620000" cy="295000"/>
          </a:xfrm>
          <a:prstGeom prst="rect">
            <a:avLst/>
          </a:prstGeom>
          <a:solidFill>
            <a:srgbClr val="F5F5F5"/>
          </a:solidFill>
          <a:ln/>
        </p:spPr>
        <p:txBody>
          <a:bodyPr wrap="square" lIns="60960" tIns="30000" rIns="60960" bIns="30000" rtlCol="0" anchor="ctr"/>
          <a:lstStyle/>
          <a:p>
            <a:pPr marL="0" indent="0">
              <a:buNone/>
            </a:pPr>
            <a:r>
              <a:rPr lang="en-US" sz="850" b="0" dirty="0">
                <a:solidFill>
                  <a:srgbClr val="000000"/>
                </a:solidFill>
                <a:latin typeface="Calibri"/>
              </a:rPr>
              <a:t>Mild heterogeneity</a:t>
            </a:r>
          </a:p>
        </p:txBody>
      </p:sp>
      <p:sp>
        <p:nvSpPr>
          <p:cNvPr id="47" name="r3m0"/>
          <p:cNvSpPr>
            <a:spLocks noGrp="1"/>
          </p:cNvSpPr>
          <p:nvPr/>
        </p:nvSpPr>
        <p:spPr>
          <a:xfrm>
            <a:off x="3530000" y="1605000"/>
            <a:ext cx="68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0.9077</a:t>
            </a:r>
          </a:p>
        </p:txBody>
      </p:sp>
      <p:sp>
        <p:nvSpPr>
          <p:cNvPr id="48" name="r3m1"/>
          <p:cNvSpPr>
            <a:spLocks noGrp="1"/>
          </p:cNvSpPr>
          <p:nvPr/>
        </p:nvSpPr>
        <p:spPr>
          <a:xfrm>
            <a:off x="4220000" y="1605000"/>
            <a:ext cx="68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0.9083</a:t>
            </a:r>
          </a:p>
        </p:txBody>
      </p:sp>
      <p:sp>
        <p:nvSpPr>
          <p:cNvPr id="49" name="r3m2"/>
          <p:cNvSpPr>
            <a:spLocks noGrp="1"/>
          </p:cNvSpPr>
          <p:nvPr/>
        </p:nvSpPr>
        <p:spPr>
          <a:xfrm>
            <a:off x="4910000" y="1605000"/>
            <a:ext cx="68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0.9054</a:t>
            </a:r>
          </a:p>
        </p:txBody>
      </p:sp>
      <p:sp>
        <p:nvSpPr>
          <p:cNvPr id="50" name="r3m3"/>
          <p:cNvSpPr>
            <a:spLocks noGrp="1"/>
          </p:cNvSpPr>
          <p:nvPr/>
        </p:nvSpPr>
        <p:spPr>
          <a:xfrm>
            <a:off x="5600000" y="1605000"/>
            <a:ext cx="79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0.9061</a:t>
            </a:r>
          </a:p>
        </p:txBody>
      </p:sp>
      <p:sp>
        <p:nvSpPr>
          <p:cNvPr id="51" name="r3m4"/>
          <p:cNvSpPr>
            <a:spLocks noGrp="1"/>
          </p:cNvSpPr>
          <p:nvPr/>
        </p:nvSpPr>
        <p:spPr>
          <a:xfrm>
            <a:off x="6400000" y="1605000"/>
            <a:ext cx="89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0.9041</a:t>
            </a:r>
          </a:p>
        </p:txBody>
      </p:sp>
      <p:sp>
        <p:nvSpPr>
          <p:cNvPr id="52" name="r3loc"/>
          <p:cNvSpPr>
            <a:spLocks noGrp="1"/>
          </p:cNvSpPr>
          <p:nvPr/>
        </p:nvSpPr>
        <p:spPr>
          <a:xfrm>
            <a:off x="7300000" y="1605000"/>
            <a:ext cx="790000" cy="295000"/>
          </a:xfrm>
          <a:prstGeom prst="rect">
            <a:avLst/>
          </a:prstGeom>
          <a:solidFill>
            <a:srgbClr val="F0F4FA"/>
          </a:solidFill>
          <a:ln/>
        </p:spPr>
        <p:txBody>
          <a:bodyPr wrap="square" lIns="60960" tIns="30000" rIns="60960" bIns="30000" rtlCol="0" anchor="ctr"/>
          <a:lstStyle/>
          <a:p>
            <a:pPr marL="0" indent="0">
              <a:buNone/>
            </a:pPr>
            <a:r>
              <a:rPr lang="en-US" sz="980" b="0" dirty="0">
                <a:solidFill>
                  <a:srgbClr val="555555"/>
                </a:solidFill>
                <a:latin typeface="Calibri"/>
              </a:rPr>
              <a:t>0.9117</a:t>
            </a:r>
          </a:p>
        </p:txBody>
      </p:sp>
      <p:sp>
        <p:nvSpPr>
          <p:cNvPr id="53" name="r3d"/>
          <p:cNvSpPr>
            <a:spLocks noGrp="1"/>
          </p:cNvSpPr>
          <p:nvPr/>
        </p:nvSpPr>
        <p:spPr>
          <a:xfrm>
            <a:off x="8100000" y="1605000"/>
            <a:ext cx="81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v25</a:t>
            </a:r>
          </a:p>
        </p:txBody>
      </p:sp>
      <p:sp>
        <p:nvSpPr>
          <p:cNvPr id="54" name="cond"/>
          <p:cNvSpPr>
            <a:spLocks noGrp="1"/>
          </p:cNvSpPr>
          <p:nvPr/>
        </p:nvSpPr>
        <p:spPr>
          <a:xfrm>
            <a:off x="228600" y="1900000"/>
            <a:ext cx="760000" cy="295000"/>
          </a:xfrm>
          <a:prstGeom prst="rect">
            <a:avLst/>
          </a:prstGeom>
          <a:solidFill>
            <a:srgbClr val="FFFFFF"/>
          </a:solidFill>
          <a:ln/>
        </p:spPr>
        <p:txBody>
          <a:bodyPr wrap="square" lIns="60960" tIns="30000" rIns="60960" bIns="30000" rtlCol="0" anchor="ctr"/>
          <a:lstStyle/>
          <a:p>
            <a:pPr marL="0" indent="0">
              <a:buNone/>
            </a:pPr>
            <a:r>
              <a:rPr lang="en-US" sz="950" b="1" dirty="0">
                <a:solidFill>
                  <a:srgbClr val="1E3A5F"/>
                </a:solidFill>
                <a:latin typeface="Calibri"/>
              </a:rPr>
              <a:t>a=10.0</a:t>
            </a:r>
          </a:p>
        </p:txBody>
      </p:sp>
      <p:sp>
        <p:nvSpPr>
          <p:cNvPr id="55" name="par"/>
          <p:cNvSpPr>
            <a:spLocks noGrp="1"/>
          </p:cNvSpPr>
          <p:nvPr/>
        </p:nvSpPr>
        <p:spPr>
          <a:xfrm>
            <a:off x="1000000" y="1900000"/>
            <a:ext cx="890000" cy="295000"/>
          </a:xfrm>
          <a:prstGeom prst="rect">
            <a:avLst/>
          </a:prstGeom>
          <a:solidFill>
            <a:srgbClr val="FFFFFF"/>
          </a:solidFill>
          <a:ln/>
        </p:spPr>
        <p:txBody>
          <a:bodyPr wrap="square" lIns="60960" tIns="30000" rIns="60960" bIns="30000" rtlCol="0" anchor="ctr"/>
          <a:lstStyle/>
          <a:p>
            <a:pPr marL="0" indent="0">
              <a:buNone/>
            </a:pPr>
            <a:r>
              <a:rPr lang="en-US" sz="880" b="0" dirty="0">
                <a:solidFill>
                  <a:srgbClr val="555555"/>
                </a:solidFill>
                <a:latin typeface="Calibri"/>
              </a:rPr>
              <a:t>5 sites</a:t>
            </a:r>
          </a:p>
        </p:txBody>
      </p:sp>
      <p:sp>
        <p:nvSpPr>
          <p:cNvPr id="56" name="desc"/>
          <p:cNvSpPr>
            <a:spLocks noGrp="1"/>
          </p:cNvSpPr>
          <p:nvPr/>
        </p:nvSpPr>
        <p:spPr>
          <a:xfrm>
            <a:off x="1900000" y="1900000"/>
            <a:ext cx="1620000" cy="295000"/>
          </a:xfrm>
          <a:prstGeom prst="rect">
            <a:avLst/>
          </a:prstGeom>
          <a:solidFill>
            <a:srgbClr val="FFFFFF"/>
          </a:solidFill>
          <a:ln/>
        </p:spPr>
        <p:txBody>
          <a:bodyPr wrap="square" lIns="60960" tIns="30000" rIns="60960" bIns="30000" rtlCol="0" anchor="ctr"/>
          <a:lstStyle/>
          <a:p>
            <a:pPr marL="0" indent="0">
              <a:buNone/>
            </a:pPr>
            <a:r>
              <a:rPr lang="en-US" sz="850" b="0" dirty="0">
                <a:solidFill>
                  <a:srgbClr val="000000"/>
                </a:solidFill>
                <a:latin typeface="Calibri"/>
              </a:rPr>
              <a:t>Near-IID</a:t>
            </a:r>
          </a:p>
        </p:txBody>
      </p:sp>
      <p:sp>
        <p:nvSpPr>
          <p:cNvPr id="57" name="r4m0"/>
          <p:cNvSpPr>
            <a:spLocks noGrp="1"/>
          </p:cNvSpPr>
          <p:nvPr/>
        </p:nvSpPr>
        <p:spPr>
          <a:xfrm>
            <a:off x="3530000" y="1900000"/>
            <a:ext cx="68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0.9033</a:t>
            </a:r>
          </a:p>
        </p:txBody>
      </p:sp>
      <p:sp>
        <p:nvSpPr>
          <p:cNvPr id="58" name="r4m1"/>
          <p:cNvSpPr>
            <a:spLocks noGrp="1"/>
          </p:cNvSpPr>
          <p:nvPr/>
        </p:nvSpPr>
        <p:spPr>
          <a:xfrm>
            <a:off x="4220000" y="1900000"/>
            <a:ext cx="68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0.9034</a:t>
            </a:r>
          </a:p>
        </p:txBody>
      </p:sp>
      <p:sp>
        <p:nvSpPr>
          <p:cNvPr id="59" name="r4m2"/>
          <p:cNvSpPr>
            <a:spLocks noGrp="1"/>
          </p:cNvSpPr>
          <p:nvPr/>
        </p:nvSpPr>
        <p:spPr>
          <a:xfrm>
            <a:off x="4910000" y="1900000"/>
            <a:ext cx="68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0.9033</a:t>
            </a:r>
          </a:p>
        </p:txBody>
      </p:sp>
      <p:sp>
        <p:nvSpPr>
          <p:cNvPr id="60" name="r4m3"/>
          <p:cNvSpPr>
            <a:spLocks noGrp="1"/>
          </p:cNvSpPr>
          <p:nvPr/>
        </p:nvSpPr>
        <p:spPr>
          <a:xfrm>
            <a:off x="5600000" y="1900000"/>
            <a:ext cx="79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0.9014</a:t>
            </a:r>
          </a:p>
        </p:txBody>
      </p:sp>
      <p:sp>
        <p:nvSpPr>
          <p:cNvPr id="61" name="r4m4"/>
          <p:cNvSpPr>
            <a:spLocks noGrp="1"/>
          </p:cNvSpPr>
          <p:nvPr/>
        </p:nvSpPr>
        <p:spPr>
          <a:xfrm>
            <a:off x="6400000" y="1900000"/>
            <a:ext cx="89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0.9012</a:t>
            </a:r>
          </a:p>
        </p:txBody>
      </p:sp>
      <p:sp>
        <p:nvSpPr>
          <p:cNvPr id="62" name="r4loc"/>
          <p:cNvSpPr>
            <a:spLocks noGrp="1"/>
          </p:cNvSpPr>
          <p:nvPr/>
        </p:nvSpPr>
        <p:spPr>
          <a:xfrm>
            <a:off x="7300000" y="1900000"/>
            <a:ext cx="790000" cy="295000"/>
          </a:xfrm>
          <a:prstGeom prst="rect">
            <a:avLst/>
          </a:prstGeom>
          <a:solidFill>
            <a:srgbClr val="F0F4FA"/>
          </a:solidFill>
          <a:ln/>
        </p:spPr>
        <p:txBody>
          <a:bodyPr wrap="square" lIns="60960" tIns="30000" rIns="60960" bIns="30000" rtlCol="0" anchor="ctr"/>
          <a:lstStyle/>
          <a:p>
            <a:pPr marL="0" indent="0">
              <a:buNone/>
            </a:pPr>
            <a:r>
              <a:rPr lang="en-US" sz="980" b="0" dirty="0">
                <a:solidFill>
                  <a:srgbClr val="555555"/>
                </a:solidFill>
                <a:latin typeface="Calibri"/>
              </a:rPr>
              <a:t>0.9033</a:t>
            </a:r>
          </a:p>
        </p:txBody>
      </p:sp>
      <p:sp>
        <p:nvSpPr>
          <p:cNvPr id="63" name="r4d"/>
          <p:cNvSpPr>
            <a:spLocks noGrp="1"/>
          </p:cNvSpPr>
          <p:nvPr/>
        </p:nvSpPr>
        <p:spPr>
          <a:xfrm>
            <a:off x="8100000" y="1900000"/>
            <a:ext cx="81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tie: fedavg/prox/scaffold</a:t>
            </a:r>
          </a:p>
        </p:txBody>
      </p:sp>
      <p:sp>
        <p:nvSpPr>
          <p:cNvPr id="64" name="cond"/>
          <p:cNvSpPr>
            <a:spLocks noGrp="1"/>
          </p:cNvSpPr>
          <p:nvPr/>
        </p:nvSpPr>
        <p:spPr>
          <a:xfrm>
            <a:off x="228600" y="2195000"/>
            <a:ext cx="760000" cy="295000"/>
          </a:xfrm>
          <a:prstGeom prst="rect">
            <a:avLst/>
          </a:prstGeom>
          <a:solidFill>
            <a:srgbClr val="F5F5F5"/>
          </a:solidFill>
          <a:ln/>
        </p:spPr>
        <p:txBody>
          <a:bodyPr wrap="square" lIns="60960" tIns="30000" rIns="60960" bIns="30000" rtlCol="0" anchor="ctr"/>
          <a:lstStyle/>
          <a:p>
            <a:pPr marL="0" indent="0">
              <a:buNone/>
            </a:pPr>
            <a:r>
              <a:rPr lang="en-US" sz="950" b="1" dirty="0">
                <a:solidFill>
                  <a:srgbClr val="1E3A5F"/>
                </a:solidFill>
                <a:latin typeface="Calibri"/>
              </a:rPr>
              <a:t>OVERALL</a:t>
            </a:r>
          </a:p>
        </p:txBody>
      </p:sp>
      <p:sp>
        <p:nvSpPr>
          <p:cNvPr id="65" name="par"/>
          <p:cNvSpPr>
            <a:spLocks noGrp="1"/>
          </p:cNvSpPr>
          <p:nvPr/>
        </p:nvSpPr>
        <p:spPr>
          <a:xfrm>
            <a:off x="1000000" y="2195000"/>
            <a:ext cx="890000" cy="295000"/>
          </a:xfrm>
          <a:prstGeom prst="rect">
            <a:avLst/>
          </a:prstGeom>
          <a:solidFill>
            <a:srgbClr val="F5F5F5"/>
          </a:solidFill>
          <a:ln/>
        </p:spPr>
        <p:txBody>
          <a:bodyPr wrap="square" lIns="60960" tIns="30000" rIns="60960" bIns="30000" rtlCol="0" anchor="ctr"/>
          <a:lstStyle/>
          <a:p>
            <a:pPr marL="0" indent="0">
              <a:buNone/>
            </a:pPr>
            <a:r>
              <a:rPr lang="en-US" sz="880" b="0" dirty="0">
                <a:solidFill>
                  <a:srgbClr val="555555"/>
                </a:solidFill>
                <a:latin typeface="Calibri"/>
              </a:rPr>
              <a:t>20 cond.</a:t>
            </a:r>
          </a:p>
        </p:txBody>
      </p:sp>
      <p:sp>
        <p:nvSpPr>
          <p:cNvPr id="66" name="desc"/>
          <p:cNvSpPr>
            <a:spLocks noGrp="1"/>
          </p:cNvSpPr>
          <p:nvPr/>
        </p:nvSpPr>
        <p:spPr>
          <a:xfrm>
            <a:off x="1900000" y="2195000"/>
            <a:ext cx="1620000" cy="295000"/>
          </a:xfrm>
          <a:prstGeom prst="rect">
            <a:avLst/>
          </a:prstGeom>
          <a:solidFill>
            <a:srgbClr val="F5F5F5"/>
          </a:solidFill>
          <a:ln/>
        </p:spPr>
        <p:txBody>
          <a:bodyPr wrap="square" lIns="60960" tIns="30000" rIns="60960" bIns="30000" rtlCol="0" anchor="ctr"/>
          <a:lstStyle/>
          <a:p>
            <a:pPr marL="0" indent="0">
              <a:buNone/>
            </a:pPr>
            <a:r>
              <a:rPr lang="en-US" sz="850" b="0" dirty="0">
                <a:solidFill>
                  <a:srgbClr val="000000"/>
                </a:solidFill>
                <a:latin typeface="Calibri"/>
              </a:rPr>
              <a:t>Pooled mean, full grid, multi-seed</a:t>
            </a:r>
          </a:p>
        </p:txBody>
      </p:sp>
      <p:sp>
        <p:nvSpPr>
          <p:cNvPr id="67" name="r5m0"/>
          <p:cNvSpPr>
            <a:spLocks noGrp="1"/>
          </p:cNvSpPr>
          <p:nvPr/>
        </p:nvSpPr>
        <p:spPr>
          <a:xfrm>
            <a:off x="3530000" y="2195000"/>
            <a:ext cx="68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0.9064</a:t>
            </a:r>
          </a:p>
        </p:txBody>
      </p:sp>
      <p:sp>
        <p:nvSpPr>
          <p:cNvPr id="68" name="r5m1"/>
          <p:cNvSpPr>
            <a:spLocks noGrp="1"/>
          </p:cNvSpPr>
          <p:nvPr/>
        </p:nvSpPr>
        <p:spPr>
          <a:xfrm>
            <a:off x="4220000" y="2195000"/>
            <a:ext cx="68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0.9063</a:t>
            </a:r>
          </a:p>
        </p:txBody>
      </p:sp>
      <p:sp>
        <p:nvSpPr>
          <p:cNvPr id="69" name="r5m2"/>
          <p:cNvSpPr>
            <a:spLocks noGrp="1"/>
          </p:cNvSpPr>
          <p:nvPr/>
        </p:nvSpPr>
        <p:spPr>
          <a:xfrm>
            <a:off x="4910000" y="2195000"/>
            <a:ext cx="68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0.9057</a:t>
            </a:r>
          </a:p>
        </p:txBody>
      </p:sp>
      <p:sp>
        <p:nvSpPr>
          <p:cNvPr id="70" name="r5m3"/>
          <p:cNvSpPr>
            <a:spLocks noGrp="1"/>
          </p:cNvSpPr>
          <p:nvPr/>
        </p:nvSpPr>
        <p:spPr>
          <a:xfrm>
            <a:off x="5600000" y="2195000"/>
            <a:ext cx="79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0.9038</a:t>
            </a:r>
          </a:p>
        </p:txBody>
      </p:sp>
      <p:sp>
        <p:nvSpPr>
          <p:cNvPr id="71" name="r5m4"/>
          <p:cNvSpPr>
            <a:spLocks noGrp="1"/>
          </p:cNvSpPr>
          <p:nvPr/>
        </p:nvSpPr>
        <p:spPr>
          <a:xfrm>
            <a:off x="6400000" y="2195000"/>
            <a:ext cx="89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0.9034</a:t>
            </a:r>
          </a:p>
        </p:txBody>
      </p:sp>
      <p:sp>
        <p:nvSpPr>
          <p:cNvPr id="72" name="r5loc"/>
          <p:cNvSpPr>
            <a:spLocks noGrp="1"/>
          </p:cNvSpPr>
          <p:nvPr/>
        </p:nvSpPr>
        <p:spPr>
          <a:xfrm>
            <a:off x="7300000" y="2195000"/>
            <a:ext cx="790000" cy="295000"/>
          </a:xfrm>
          <a:prstGeom prst="rect">
            <a:avLst/>
          </a:prstGeom>
          <a:solidFill>
            <a:srgbClr val="F0F4FA"/>
          </a:solidFill>
          <a:ln/>
        </p:spPr>
        <p:txBody>
          <a:bodyPr wrap="square" lIns="60960" tIns="30000" rIns="60960" bIns="30000" rtlCol="0" anchor="ctr"/>
          <a:lstStyle/>
          <a:p>
            <a:pPr marL="0" indent="0">
              <a:buNone/>
            </a:pPr>
            <a:r>
              <a:rPr lang="en-US" sz="980" b="0" dirty="0">
                <a:solidFill>
                  <a:srgbClr val="555555"/>
                </a:solidFill>
                <a:latin typeface="Calibri"/>
              </a:rPr>
              <a:t>0.9086</a:t>
            </a:r>
          </a:p>
        </p:txBody>
      </p:sp>
      <p:sp>
        <p:nvSpPr>
          <p:cNvPr id="73" name="r5d"/>
          <p:cNvSpPr>
            <a:spLocks noGrp="1"/>
          </p:cNvSpPr>
          <p:nvPr/>
        </p:nvSpPr>
        <p:spPr>
          <a:xfrm>
            <a:off x="8100000" y="2195000"/>
            <a:ext cx="81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v25</a:t>
            </a:r>
          </a:p>
        </p:txBody>
      </p:sp>
      <p:sp>
        <p:nvSpPr>
          <p:cNvPr id="74" name="cond"/>
          <p:cNvSpPr>
            <a:spLocks noGrp="1"/>
          </p:cNvSpPr>
          <p:nvPr/>
        </p:nvSpPr>
        <p:spPr>
          <a:xfrm>
            <a:off x="228600" y="2490000"/>
            <a:ext cx="760000" cy="295000"/>
          </a:xfrm>
          <a:prstGeom prst="rect">
            <a:avLst/>
          </a:prstGeom>
          <a:solidFill>
            <a:srgbClr val="FFFFFF"/>
          </a:solidFill>
          <a:ln/>
        </p:spPr>
        <p:txBody>
          <a:bodyPr wrap="square" lIns="60960" tIns="30000" rIns="60960" bIns="30000" rtlCol="0" anchor="ctr"/>
          <a:lstStyle/>
          <a:p>
            <a:pPr marL="0" indent="0">
              <a:buNone/>
            </a:pPr>
            <a:r>
              <a:rPr lang="en-US" sz="950" b="1" dirty="0">
                <a:solidFill>
                  <a:srgbClr val="1E3A5F"/>
                </a:solidFill>
                <a:latin typeface="Calibri"/>
              </a:rPr>
              <a:t/>
            </a:r>
          </a:p>
        </p:txBody>
      </p:sp>
      <p:sp>
        <p:nvSpPr>
          <p:cNvPr id="75" name="par"/>
          <p:cNvSpPr>
            <a:spLocks noGrp="1"/>
          </p:cNvSpPr>
          <p:nvPr/>
        </p:nvSpPr>
        <p:spPr>
          <a:xfrm>
            <a:off x="1000000" y="2490000"/>
            <a:ext cx="890000" cy="295000"/>
          </a:xfrm>
          <a:prstGeom prst="rect">
            <a:avLst/>
          </a:prstGeom>
          <a:solidFill>
            <a:srgbClr val="FFFFFF"/>
          </a:solidFill>
          <a:ln/>
        </p:spPr>
        <p:txBody>
          <a:bodyPr wrap="square" lIns="60960" tIns="30000" rIns="60960" bIns="30000" rtlCol="0" anchor="ctr"/>
          <a:lstStyle/>
          <a:p>
            <a:pPr marL="0" indent="0">
              <a:buNone/>
            </a:pPr>
            <a:r>
              <a:rPr lang="en-US" sz="880" b="0" dirty="0">
                <a:solidFill>
                  <a:srgbClr val="555555"/>
                </a:solidFill>
                <a:latin typeface="Calibri"/>
              </a:rPr>
              <a:t/>
            </a:r>
          </a:p>
        </p:txBody>
      </p:sp>
      <p:sp>
        <p:nvSpPr>
          <p:cNvPr id="76" name="desc"/>
          <p:cNvSpPr>
            <a:spLocks noGrp="1"/>
          </p:cNvSpPr>
          <p:nvPr/>
        </p:nvSpPr>
        <p:spPr>
          <a:xfrm>
            <a:off x="1900000" y="2490000"/>
            <a:ext cx="1620000" cy="295000"/>
          </a:xfrm>
          <a:prstGeom prst="rect">
            <a:avLst/>
          </a:prstGeom>
          <a:solidFill>
            <a:srgbClr val="FFFFFF"/>
          </a:solidFill>
          <a:ln/>
        </p:spPr>
        <p:txBody>
          <a:bodyPr wrap="square" lIns="60960" tIns="30000" rIns="60960" bIns="30000" rtlCol="0" anchor="ctr"/>
          <a:lstStyle/>
          <a:p>
            <a:pPr marL="0" indent="0">
              <a:buNone/>
            </a:pPr>
            <a:r>
              <a:rPr lang="en-US" sz="850" b="0" dirty="0">
                <a:solidFill>
                  <a:srgbClr val="000000"/>
                </a:solidFill>
                <a:latin typeface="Calibri"/>
              </a:rPr>
              <a:t/>
            </a:r>
          </a:p>
        </p:txBody>
      </p:sp>
      <p:sp>
        <p:nvSpPr>
          <p:cNvPr id="77" name="r6m0"/>
          <p:cNvSpPr>
            <a:spLocks noGrp="1"/>
          </p:cNvSpPr>
          <p:nvPr/>
        </p:nvSpPr>
        <p:spPr>
          <a:xfrm>
            <a:off x="3530000" y="2490000"/>
            <a:ext cx="68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
            </a:r>
          </a:p>
        </p:txBody>
      </p:sp>
      <p:sp>
        <p:nvSpPr>
          <p:cNvPr id="78" name="r6m1"/>
          <p:cNvSpPr>
            <a:spLocks noGrp="1"/>
          </p:cNvSpPr>
          <p:nvPr/>
        </p:nvSpPr>
        <p:spPr>
          <a:xfrm>
            <a:off x="4220000" y="2490000"/>
            <a:ext cx="68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
            </a:r>
          </a:p>
        </p:txBody>
      </p:sp>
      <p:sp>
        <p:nvSpPr>
          <p:cNvPr id="79" name="r6m2"/>
          <p:cNvSpPr>
            <a:spLocks noGrp="1"/>
          </p:cNvSpPr>
          <p:nvPr/>
        </p:nvSpPr>
        <p:spPr>
          <a:xfrm>
            <a:off x="4910000" y="2490000"/>
            <a:ext cx="68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
            </a:r>
          </a:p>
        </p:txBody>
      </p:sp>
      <p:sp>
        <p:nvSpPr>
          <p:cNvPr id="80" name="r6m3"/>
          <p:cNvSpPr>
            <a:spLocks noGrp="1"/>
          </p:cNvSpPr>
          <p:nvPr/>
        </p:nvSpPr>
        <p:spPr>
          <a:xfrm>
            <a:off x="5600000" y="2490000"/>
            <a:ext cx="79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
            </a:r>
          </a:p>
        </p:txBody>
      </p:sp>
      <p:sp>
        <p:nvSpPr>
          <p:cNvPr id="81" name="r6m4"/>
          <p:cNvSpPr>
            <a:spLocks noGrp="1"/>
          </p:cNvSpPr>
          <p:nvPr/>
        </p:nvSpPr>
        <p:spPr>
          <a:xfrm>
            <a:off x="6400000" y="2490000"/>
            <a:ext cx="890000" cy="295000"/>
          </a:xfrm>
          <a:prstGeom prst="rect">
            <a:avLst/>
          </a:prstGeom>
          <a:solidFill>
            <a:srgbClr val="FFFFFF"/>
          </a:solidFill>
          <a:ln/>
        </p:spPr>
        <p:txBody>
          <a:bodyPr wrap="square" lIns="60960" tIns="30000" rIns="60960" bIns="30000" rtlCol="0" anchor="ctr"/>
          <a:lstStyle/>
          <a:p>
            <a:pPr marL="0" indent="0">
              <a:buNone/>
            </a:pPr>
            <a:r>
              <a:rPr lang="en-US" sz="980" b="0" dirty="0">
                <a:solidFill>
                  <a:srgbClr val="000000"/>
                </a:solidFill>
                <a:latin typeface="Calibri"/>
              </a:rPr>
              <a:t/>
            </a:r>
          </a:p>
        </p:txBody>
      </p:sp>
      <p:sp>
        <p:nvSpPr>
          <p:cNvPr id="82" name="r6loc"/>
          <p:cNvSpPr>
            <a:spLocks noGrp="1"/>
          </p:cNvSpPr>
          <p:nvPr/>
        </p:nvSpPr>
        <p:spPr>
          <a:xfrm>
            <a:off x="7300000" y="2490000"/>
            <a:ext cx="790000" cy="295000"/>
          </a:xfrm>
          <a:prstGeom prst="rect">
            <a:avLst/>
          </a:prstGeom>
          <a:solidFill>
            <a:srgbClr val="F0F4FA"/>
          </a:solidFill>
          <a:ln/>
        </p:spPr>
        <p:txBody>
          <a:bodyPr wrap="square" lIns="60960" tIns="30000" rIns="60960" bIns="30000" rtlCol="0" anchor="ctr"/>
          <a:lstStyle/>
          <a:p>
            <a:pPr marL="0" indent="0">
              <a:buNone/>
            </a:pPr>
            <a:r>
              <a:rPr lang="en-US" sz="980" b="0" dirty="0">
                <a:solidFill>
                  <a:srgbClr val="555555"/>
                </a:solidFill>
                <a:latin typeface="Calibri"/>
              </a:rPr>
              <a:t/>
            </a:r>
          </a:p>
        </p:txBody>
      </p:sp>
      <p:sp>
        <p:nvSpPr>
          <p:cNvPr id="83" name="r6d"/>
          <p:cNvSpPr>
            <a:spLocks noGrp="1"/>
          </p:cNvSpPr>
          <p:nvPr/>
        </p:nvSpPr>
        <p:spPr>
          <a:xfrm>
            <a:off x="8100000" y="2490000"/>
            <a:ext cx="81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
            </a:r>
          </a:p>
        </p:txBody>
      </p:sp>
      <p:sp>
        <p:nvSpPr>
          <p:cNvPr id="84" name="cond"/>
          <p:cNvSpPr>
            <a:spLocks noGrp="1"/>
          </p:cNvSpPr>
          <p:nvPr/>
        </p:nvSpPr>
        <p:spPr>
          <a:xfrm>
            <a:off x="228600" y="2785000"/>
            <a:ext cx="760000" cy="295000"/>
          </a:xfrm>
          <a:prstGeom prst="rect">
            <a:avLst/>
          </a:prstGeom>
          <a:solidFill>
            <a:srgbClr val="F5F5F5"/>
          </a:solidFill>
          <a:ln/>
        </p:spPr>
        <p:txBody>
          <a:bodyPr wrap="square" lIns="60960" tIns="30000" rIns="60960" bIns="30000" rtlCol="0" anchor="ctr"/>
          <a:lstStyle/>
          <a:p>
            <a:pPr marL="0" indent="0">
              <a:buNone/>
            </a:pPr>
            <a:r>
              <a:rPr lang="en-US" sz="950" b="1" dirty="0">
                <a:solidFill>
                  <a:srgbClr val="1E3A5F"/>
                </a:solidFill>
                <a:latin typeface="Calibri"/>
              </a:rPr>
              <a:t/>
            </a:r>
          </a:p>
        </p:txBody>
      </p:sp>
      <p:sp>
        <p:nvSpPr>
          <p:cNvPr id="85" name="par"/>
          <p:cNvSpPr>
            <a:spLocks noGrp="1"/>
          </p:cNvSpPr>
          <p:nvPr/>
        </p:nvSpPr>
        <p:spPr>
          <a:xfrm>
            <a:off x="1000000" y="2785000"/>
            <a:ext cx="890000" cy="295000"/>
          </a:xfrm>
          <a:prstGeom prst="rect">
            <a:avLst/>
          </a:prstGeom>
          <a:solidFill>
            <a:srgbClr val="F5F5F5"/>
          </a:solidFill>
          <a:ln/>
        </p:spPr>
        <p:txBody>
          <a:bodyPr wrap="square" lIns="60960" tIns="30000" rIns="60960" bIns="30000" rtlCol="0" anchor="ctr"/>
          <a:lstStyle/>
          <a:p>
            <a:pPr marL="0" indent="0">
              <a:buNone/>
            </a:pPr>
            <a:r>
              <a:rPr lang="en-US" sz="880" b="0" dirty="0">
                <a:solidFill>
                  <a:srgbClr val="555555"/>
                </a:solidFill>
                <a:latin typeface="Calibri"/>
              </a:rPr>
              <a:t/>
            </a:r>
          </a:p>
        </p:txBody>
      </p:sp>
      <p:sp>
        <p:nvSpPr>
          <p:cNvPr id="86" name="desc"/>
          <p:cNvSpPr>
            <a:spLocks noGrp="1"/>
          </p:cNvSpPr>
          <p:nvPr/>
        </p:nvSpPr>
        <p:spPr>
          <a:xfrm>
            <a:off x="1900000" y="2785000"/>
            <a:ext cx="1620000" cy="295000"/>
          </a:xfrm>
          <a:prstGeom prst="rect">
            <a:avLst/>
          </a:prstGeom>
          <a:solidFill>
            <a:srgbClr val="F5F5F5"/>
          </a:solidFill>
          <a:ln/>
        </p:spPr>
        <p:txBody>
          <a:bodyPr wrap="square" lIns="60960" tIns="30000" rIns="60960" bIns="30000" rtlCol="0" anchor="ctr"/>
          <a:lstStyle/>
          <a:p>
            <a:pPr marL="0" indent="0">
              <a:buNone/>
            </a:pPr>
            <a:r>
              <a:rPr lang="en-US" sz="850" b="0" dirty="0">
                <a:solidFill>
                  <a:srgbClr val="000000"/>
                </a:solidFill>
                <a:latin typeface="Calibri"/>
              </a:rPr>
              <a:t/>
            </a:r>
          </a:p>
        </p:txBody>
      </p:sp>
      <p:sp>
        <p:nvSpPr>
          <p:cNvPr id="87" name="r7m0"/>
          <p:cNvSpPr>
            <a:spLocks noGrp="1"/>
          </p:cNvSpPr>
          <p:nvPr/>
        </p:nvSpPr>
        <p:spPr>
          <a:xfrm>
            <a:off x="3530000" y="2785000"/>
            <a:ext cx="68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
            </a:r>
          </a:p>
        </p:txBody>
      </p:sp>
      <p:sp>
        <p:nvSpPr>
          <p:cNvPr id="88" name="r7m1"/>
          <p:cNvSpPr>
            <a:spLocks noGrp="1"/>
          </p:cNvSpPr>
          <p:nvPr/>
        </p:nvSpPr>
        <p:spPr>
          <a:xfrm>
            <a:off x="4220000" y="2785000"/>
            <a:ext cx="68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
            </a:r>
          </a:p>
        </p:txBody>
      </p:sp>
      <p:sp>
        <p:nvSpPr>
          <p:cNvPr id="89" name="r7m2"/>
          <p:cNvSpPr>
            <a:spLocks noGrp="1"/>
          </p:cNvSpPr>
          <p:nvPr/>
        </p:nvSpPr>
        <p:spPr>
          <a:xfrm>
            <a:off x="4910000" y="2785000"/>
            <a:ext cx="68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
            </a:r>
          </a:p>
        </p:txBody>
      </p:sp>
      <p:sp>
        <p:nvSpPr>
          <p:cNvPr id="90" name="r7m3"/>
          <p:cNvSpPr>
            <a:spLocks noGrp="1"/>
          </p:cNvSpPr>
          <p:nvPr/>
        </p:nvSpPr>
        <p:spPr>
          <a:xfrm>
            <a:off x="5600000" y="2785000"/>
            <a:ext cx="790000" cy="295000"/>
          </a:xfrm>
          <a:prstGeom prst="rect">
            <a:avLst/>
          </a:prstGeom>
          <a:solidFill>
            <a:srgbClr val="F5F5F5"/>
          </a:solidFill>
          <a:ln/>
        </p:spPr>
        <p:txBody>
          <a:bodyPr wrap="square" lIns="60960" tIns="30000" rIns="60960" bIns="30000" rtlCol="0" anchor="ctr"/>
          <a:lstStyle/>
          <a:p>
            <a:pPr marL="0" indent="0">
              <a:buNone/>
            </a:pPr>
            <a:r>
              <a:rPr lang="en-US" sz="980" b="0" dirty="0">
                <a:solidFill>
                  <a:srgbClr val="000000"/>
                </a:solidFill>
                <a:latin typeface="Calibri"/>
              </a:rPr>
              <a:t/>
            </a:r>
          </a:p>
        </p:txBody>
      </p:sp>
      <p:sp>
        <p:nvSpPr>
          <p:cNvPr id="91" name="r7m4"/>
          <p:cNvSpPr>
            <a:spLocks noGrp="1"/>
          </p:cNvSpPr>
          <p:nvPr/>
        </p:nvSpPr>
        <p:spPr>
          <a:xfrm>
            <a:off x="6400000" y="2785000"/>
            <a:ext cx="89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
            </a:r>
          </a:p>
        </p:txBody>
      </p:sp>
      <p:sp>
        <p:nvSpPr>
          <p:cNvPr id="92" name="r7loc"/>
          <p:cNvSpPr>
            <a:spLocks noGrp="1"/>
          </p:cNvSpPr>
          <p:nvPr/>
        </p:nvSpPr>
        <p:spPr>
          <a:xfrm>
            <a:off x="7300000" y="2785000"/>
            <a:ext cx="790000" cy="295000"/>
          </a:xfrm>
          <a:prstGeom prst="rect">
            <a:avLst/>
          </a:prstGeom>
          <a:solidFill>
            <a:srgbClr val="F0F4FA"/>
          </a:solidFill>
          <a:ln/>
        </p:spPr>
        <p:txBody>
          <a:bodyPr wrap="square" lIns="60960" tIns="30000" rIns="60960" bIns="30000" rtlCol="0" anchor="ctr"/>
          <a:lstStyle/>
          <a:p>
            <a:pPr marL="0" indent="0">
              <a:buNone/>
            </a:pPr>
            <a:r>
              <a:rPr lang="en-US" sz="980" b="0" dirty="0">
                <a:solidFill>
                  <a:srgbClr val="555555"/>
                </a:solidFill>
                <a:latin typeface="Calibri"/>
              </a:rPr>
              <a:t/>
            </a:r>
          </a:p>
        </p:txBody>
      </p:sp>
      <p:sp>
        <p:nvSpPr>
          <p:cNvPr id="93" name="r7d"/>
          <p:cNvSpPr>
            <a:spLocks noGrp="1"/>
          </p:cNvSpPr>
          <p:nvPr/>
        </p:nvSpPr>
        <p:spPr>
          <a:xfrm>
            <a:off x="8100000" y="2785000"/>
            <a:ext cx="810000" cy="295000"/>
          </a:xfrm>
          <a:prstGeom prst="rect">
            <a:avLst/>
          </a:prstGeom>
          <a:solidFill>
            <a:srgbClr val="D5F5E3"/>
          </a:solidFill>
          <a:ln/>
        </p:spPr>
        <p:txBody>
          <a:bodyPr wrap="square" lIns="60960" tIns="30000" rIns="60960" bIns="30000" rtlCol="0" anchor="ctr"/>
          <a:lstStyle/>
          <a:p>
            <a:pPr marL="0" indent="0">
              <a:buNone/>
            </a:pPr>
            <a:r>
              <a:rPr lang="en-US" sz="980" b="1" dirty="0">
                <a:solidFill>
                  <a:srgbClr val="1D6B3E"/>
                </a:solidFill>
                <a:latin typeface="Calibri"/>
              </a:rPr>
              <a:t/>
            </a:r>
          </a:p>
        </p:txBody>
      </p:sp>
      <p:sp>
        <p:nvSpPr>
          <p:cNvPr id="94" name="notes"/>
          <p:cNvSpPr>
            <a:spLocks noGrp="1"/>
          </p:cNvSpPr>
          <p:nvPr/>
        </p:nvSpPr>
        <p:spPr>
          <a:xfrm>
            <a:off x="228600" y="3160000"/>
            <a:ext cx="8687400" cy="440000"/>
          </a:xfrm>
          <a:prstGeom prst="rect">
            <a:avLst/>
          </a:prstGeom>
          <a:solidFill>
            <a:srgbClr val="E8F0FB"/>
          </a:solidFill>
          <a:ln/>
        </p:spPr>
        <p:txBody>
          <a:bodyPr wrap="square" lIns="182880" tIns="91440" rIns="182880" bIns="91440" rtlCol="0" anchor="t"/>
          <a:lstStyle/>
          <a:p>
            <a:pPr marL="0" indent="0">
              <a:buNone/>
            </a:pPr>
            <a:r>
              <a:rPr lang="en-US" sz="1050" b="1" dirty="0">
                <a:solidFill>
                  <a:srgbClr val="1E3A5F"/>
                </a:solidFill>
                <a:latin typeface="Calibri"/>
              </a:rPr>
              <a:t>Key findings:</a:t>
            </a:r>
          </a:p>
          <a:p>
            <a:pPr marL="0" indent="0">
              <a:buNone/>
            </a:pPr>
            <a:r>
              <a:rPr lang="en-US" sz="980" b="0" dirty="0">
                <a:solidFill>
                  <a:srgbClr val="000000"/>
                </a:solidFill>
                <a:latin typeface="Calibri"/>
              </a:rPr>
              <a:t>FedAdaptProto_v25 wins 5 of 6 rows outright, ties at near-IID -- clear best method, genuine multi-seed confirmed (2-3 seeds/method, full 20-condition grid).</a:t>
            </a:r>
          </a:p>
          <a:p>
            <a:pPr marL="0" indent="0">
              <a:buNone/>
            </a:pPr>
            <a:r>
              <a:rPr lang="en-US" sz="800" b="0" dirty="0">
                <a:solidFill>
                  <a:srgbClr val="000000"/>
                </a:solidFill>
                <a:latin typeface="Calibri"/>
              </a:rPr>
              <a:t/>
            </a:r>
          </a:p>
          <a:p>
            <a:pPr marL="0" indent="0">
              <a:buNone/>
            </a:pPr>
            <a:r>
              <a:rPr lang="en-US" sz="1050" b="1" dirty="0">
                <a:solidFill>
                  <a:srgbClr val="1E3A5F"/>
                </a:solidFill>
                <a:latin typeface="Calibri"/>
              </a:rPr>
              <a:t/>
            </a:r>
          </a:p>
          <a:p>
            <a:pPr marL="0" indent="0">
              <a:buNone/>
            </a:pPr>
            <a:r>
              <a:rPr lang="en-US" sz="980" b="0" dirty="0">
                <a:solidFill>
                  <a:srgbClr val="000000"/>
                </a:solidFill>
                <a:latin typeface="Calibri"/>
              </a:rPr>
              <a:t/>
            </a:r>
          </a:p>
        </p:txBody>
      </p:sp>
      <p:sp>
        <p:nvSpPr>
          <p:cNvPr id="200" name="v24_note"/>
          <p:cNvSpPr>
            <a:spLocks noGrp="1"/>
          </p:cNvSpPr>
          <p:nvPr/>
        </p:nvSpPr>
        <p:spPr>
          <a:xfrm>
            <a:off x="228600" y="4650000"/>
            <a:ext cx="8687400" cy="420000"/>
          </a:xfrm>
          <a:prstGeom prst="rect">
            <a:avLst/>
          </a:prstGeom>
          <a:solidFill>
            <a:srgbClr val="FFF8F0"/>
          </a:solidFill>
          <a:ln/>
        </p:spPr>
        <p:txBody>
          <a:bodyPr wrap="square" lIns="182880" tIns="91440" rIns="182880" bIns="91440" rtlCol="0" anchor="t"/>
          <a:lstStyle/>
          <a:p>
            <a:pPr marL="0" indent="0">
              <a:buNone/>
            </a:pPr>
            <a:r>
              <a:rPr lang="en-US" sz="1100" b="1" dirty="0">
                <a:solidFill>
                  <a:srgbClr val="BA5000"/>
                </a:solidFill>
                <a:latin typeface="Calibri"/>
              </a:rPr>
              <a:t>Final ranking (mean delta_auroc, multi-seed): v25 -0.0054 &gt; FedAvg -0.0076 &gt; FedProx -0.0077 &gt; SCAFFOLD -0.0083 &gt; FedAdapt -0.0102 &gt; FedAdaptProto -0.0106</a:t>
            </a:r>
          </a:p>
          <a:p>
            <a:pPr marL="0" indent="0">
              <a:buNone/>
            </a:pPr>
            <a:r>
              <a:rPr lang="en-US" sz="1000" b="0" dirty="0">
                <a:solidFill>
                  <a:srgbClr val="000000"/>
                </a:solidFill>
                <a:latin typeface="Calibri"/>
              </a:rPr>
              <a:t>v25 wins by a real margin (0.0022 over next-best), not marginal. See FINAL_multiseed_ranking.csv for full detail.</a:t>
            </a:r>
          </a:p>
          <a:p>
            <a:pPr marL="0" indent="0">
              <a:buNone/>
            </a:pPr>
            <a:r>
              <a:rPr lang="en-US" sz="1000" b="0" dirty="0">
                <a:solidFill>
                  <a:srgbClr val="000000"/>
                </a:solidFill>
                <a:latin typeface="Calibri"/>
              </a:rPr>
              <a:t/>
            </a:r>
          </a:p>
          <a:p>
            <a:pPr marL="0" indent="0">
              <a:buNone/>
            </a:pPr>
            <a:r>
              <a:rPr lang="en-US" sz="950" b="0" dirty="0">
                <a:solidFill>
                  <a:srgbClr val="000000"/>
                </a:solidFill>
                <a:latin typeface="Calibri"/>
              </a:rPr>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Fairness and Personalisation">
    <p:bg>
      <p:bgPr>
        <a:solidFill>
          <a:srgbClr val="FFFFFF"/>
        </a:solidFill>
        <a:effectLst/>
      </p:bgPr>
    </p:bg>
    <p:spTree>
      <p:nvGrpSpPr>
        <p:cNvPr id="1" name=""/>
        <p:cNvGrpSpPr/>
        <p:nvPr/>
      </p:nvGrpSpPr>
      <p:grpSpPr>
        <a:xfrm>
          <a:off x="0" y="0"/>
          <a:ext cx="0" cy="0"/>
          <a:chOff x="0" y="0"/>
          <a:chExt cx="0" cy="0"/>
        </a:xfrm>
      </p:grpSpPr>
      <p:sp>
        <p:nvSpPr>
          <p:cNvPr id="2" name="hdr"/>
          <p:cNvSpPr/>
          <p:nvPr/>
        </p:nvSpPr>
        <p:spPr>
          <a:xfrm>
            <a:off x="0" y="0"/>
            <a:ext cx="9144000" cy="420000"/>
          </a:xfrm>
          <a:prstGeom prst="rect">
            <a:avLst/>
          </a:prstGeom>
          <a:solidFill>
            <a:srgbClr val="1E3A5F"/>
          </a:solidFill>
          <a:ln/>
        </p:spPr>
        <p:txBody>
          <a:bodyPr wrap="square" lIns="274638" tIns="91440" rIns="274638" bIns="91440" rtlCol="0" anchor="ctr"/>
          <a:lstStyle/>
          <a:p>
            <a:pPr marL="0" indent="0">
              <a:buNone/>
            </a:pPr>
            <a:r>
              <a:rPr lang="en-US" sz="1800" b="1" dirty="0">
                <a:solidFill>
                  <a:srgbClr val="FFFFFF"/>
                </a:solidFill>
                <a:latin typeface="Calibri"/>
              </a:rPr>
              <a:t>Site_D: The Persistent, Unsolved Problem</a:t>
            </a:r>
          </a:p>
        </p:txBody>
      </p:sp>
      <p:sp>
        <p:nvSpPr>
          <p:cNvPr id="3" name="sitetbl_hdr"/>
          <p:cNvSpPr/>
          <p:nvPr/>
        </p:nvSpPr>
        <p:spPr>
          <a:xfrm>
            <a:off x="228600" y="480000"/>
            <a:ext cx="4200000" cy="230000"/>
          </a:xfrm>
          <a:prstGeom prst="rect">
            <a:avLst/>
          </a:prstGeom>
          <a:solidFill>
            <a:srgbClr val="374151"/>
          </a:solidFill>
          <a:ln/>
        </p:spPr>
        <p:txBody>
          <a:bodyPr wrap="square" lIns="91440" tIns="45720" rIns="91440" bIns="45720" rtlCol="0" anchor="ctr"/>
          <a:lstStyle/>
          <a:p>
            <a:pPr marL="0" indent="0">
              <a:buNone/>
            </a:pPr>
            <a:r>
              <a:rPr lang="en-US" sz="875" b="1" dirty="0">
                <a:solidFill>
                  <a:srgbClr val="FFFFFF"/>
                </a:solidFill>
                <a:latin typeface="Calibri"/>
              </a:rPr>
              <a:t>Five hypotheses tested — all ruled out</a:t>
            </a:r>
          </a:p>
        </p:txBody>
      </p:sp>
      <p:sp>
        <p:nvSpPr>
          <p:cNvPr id="4" name="sitetbl"/>
          <p:cNvSpPr/>
          <p:nvPr/>
        </p:nvSpPr>
        <p:spPr>
          <a:xfrm>
            <a:off x="228600" y="710000"/>
            <a:ext cx="4200000" cy="1400000"/>
          </a:xfrm>
          <a:prstGeom prst="rect">
            <a:avLst/>
          </a:prstGeom>
          <a:solidFill>
            <a:srgbClr val="F8FAFC"/>
          </a:solidFill>
          <a:ln w="6350">
            <a:solidFill>
              <a:srgbClr val="E2E8F0"/>
            </a:solidFill>
          </a:ln>
        </p:spPr>
        <p:txBody>
          <a:bodyPr wrap="square" lIns="91440" tIns="60960" rIns="91440" bIns="60960" rtlCol="0" anchor="t"/>
          <a:lstStyle/>
          <a:p>
            <a:pPr marL="0" indent="0">
              <a:buNone/>
            </a:pPr>
            <a:r>
              <a:rPr lang="en-US" sz="800" b="1" dirty="0">
                <a:solidFill>
                  <a:srgbClr val="374151"/>
                </a:solidFill>
                <a:latin typeface="Calibri"/>
              </a:rPr>
              <a:t>Hypothesis                        Test                              Result</a:t>
            </a:r>
          </a:p>
          <a:p>
            <a:pPr marL="0" indent="0">
              <a:buNone/>
            </a:pPr>
            <a:r>
              <a:rPr lang="en-US" sz="800" dirty="0">
                <a:solidFill>
                  <a:schemeClr val="tx1"/>
                </a:solidFill>
                <a:latin typeface="Calibri"/>
              </a:rPr>
              <a:t>Feature-set overlap               Jaccard(site_B, site_D) = 0.848  Nearly identical to site_B, which does fine — doesn't explain it</a:t>
            </a:r>
          </a:p>
          <a:p>
            <a:pPr marL="0" indent="0">
              <a:buNone/>
            </a:pPr>
            <a:r>
              <a:rPr lang="en-US" sz="800" dirty="0">
                <a:solidFill>
                  <a:schemeClr val="tx1"/>
                </a:solidFill>
                <a:latin typeface="Calibri"/>
              </a:rPr>
              <a:t>Covariate distributional shift    KS test vs. site_A/site_C          site_B/D LESS different than a working pair — doesn't differentiate</a:t>
            </a:r>
          </a:p>
          <a:p>
            <a:pPr marL="0" indent="0">
              <a:buNone/>
            </a:pPr>
            <a:r>
              <a:rPr lang="en-US" sz="800" dirty="0">
                <a:solidFill>
                  <a:schemeClr val="tx1"/>
                </a:solidFill>
                <a:latin typeface="Calibri"/>
              </a:rPr>
              <a:t>Naive cross-site transfer         Direct weight transfer, all pairs  Universal 0.22-0.38 drop everywhere — not site_D-specific</a:t>
            </a:r>
          </a:p>
          <a:p>
            <a:pPr marL="0" indent="0">
              <a:buNone/>
            </a:pPr>
            <a:r>
              <a:rPr lang="en-US" sz="800" dirty="0">
                <a:solidFill>
                  <a:schemeClr val="tx1"/>
                </a:solidFill>
                <a:latin typeface="Calibri"/>
              </a:rPr>
              <a:t>K-selection quality               Silhouette diagnostic, all sites   K=2 preference is dataset-wide, not site_D-specific</a:t>
            </a:r>
          </a:p>
          <a:p>
            <a:pPr marL="0" indent="0">
              <a:buNone/>
            </a:pPr>
            <a:r>
              <a:rPr lang="en-US" sz="800" b="1" dirty="0">
                <a:solidFill>
                  <a:srgbClr val="7C3AED"/>
                </a:solidFill>
                <a:latin typeface="Calibri"/>
              </a:rPr>
              <a:t>Adversarial signal strength       lambda_adv 0.1-0.3, multi-seed     Spread 0.0006 vs. seed noise 0.004-0.009 — no real effect</a:t>
            </a:r>
          </a:p>
          <a:p>
            <a:pPr marL="0" indent="0">
              <a:buNone/>
            </a:pPr>
            <a:r>
              <a:rPr lang="en-US" sz="700" i="1" dirty="0">
                <a:solidFill>
                  <a:srgbClr val="64748B"/>
                </a:solidFill>
                <a:latin typeface="Calibri"/>
              </a:rPr>
              <a:t/>
            </a:r>
          </a:p>
        </p:txBody>
      </p:sp>
      <p:sp>
        <p:nvSpPr>
          <p:cNvPr id="5" name="sitetbl2_hdr"/>
          <p:cNvSpPr/>
          <p:nvPr/>
        </p:nvSpPr>
        <p:spPr>
          <a:xfrm>
            <a:off x="4715400" y="480000"/>
            <a:ext cx="4200000" cy="230000"/>
          </a:xfrm>
          <a:prstGeom prst="rect">
            <a:avLst/>
          </a:prstGeom>
          <a:solidFill>
            <a:srgbClr val="065A82"/>
          </a:solidFill>
          <a:ln/>
        </p:spPr>
        <p:txBody>
          <a:bodyPr wrap="square" lIns="91440" tIns="45720" rIns="91440" bIns="45720" rtlCol="0" anchor="ctr"/>
          <a:lstStyle/>
          <a:p>
            <a:pPr marL="0" indent="0">
              <a:buNone/>
            </a:pPr>
            <a:r>
              <a:rPr lang="en-US" sz="875" b="1" dirty="0">
                <a:solidFill>
                  <a:srgbClr val="FFFFFF"/>
                </a:solidFill>
                <a:latin typeface="Calibri"/>
              </a:rPr>
              <a:t>The one confirmed, real pattern: early peak, then decay</a:t>
            </a:r>
          </a:p>
        </p:txBody>
      </p:sp>
      <p:sp>
        <p:nvSpPr>
          <p:cNvPr id="6" name="sitetbl2"/>
          <p:cNvSpPr/>
          <p:nvPr/>
        </p:nvSpPr>
        <p:spPr>
          <a:xfrm>
            <a:off x="4715400" y="710000"/>
            <a:ext cx="4200000" cy="1400000"/>
          </a:xfrm>
          <a:prstGeom prst="rect">
            <a:avLst/>
          </a:prstGeom>
          <a:solidFill>
            <a:srgbClr val="F0F9FF"/>
          </a:solidFill>
          <a:ln w="6350">
            <a:solidFill>
              <a:srgbClr val="BAE6FD"/>
            </a:solidFill>
          </a:ln>
        </p:spPr>
        <p:txBody>
          <a:bodyPr wrap="square" lIns="91440" tIns="60960" rIns="91440" bIns="60960" rtlCol="0" anchor="t"/>
          <a:lstStyle/>
          <a:p>
            <a:pPr marL="0" indent="0">
              <a:buNone/>
            </a:pPr>
            <a:r>
              <a:rPr lang="en-US" sz="800" b="1" dirty="0">
                <a:solidFill>
                  <a:srgbClr val="374151"/>
                </a:solidFill>
                <a:latin typeface="Calibri"/>
              </a:rPr>
              <a:t>Site           Round of peak AUROC        Behavior after peak</a:t>
            </a:r>
          </a:p>
          <a:p>
            <a:pPr marL="0" indent="0">
              <a:buNone/>
            </a:pPr>
            <a:r>
              <a:rPr lang="en-US" sz="800" dirty="0">
                <a:solidFill>
                  <a:schemeClr val="tx1"/>
                </a:solidFill>
                <a:latin typeface="Calibri"/>
              </a:rPr>
              <a:t>site_D         Round 1-3 (of 50)          Decays for the remaining 47 rounds</a:t>
            </a:r>
          </a:p>
          <a:p>
            <a:pPr marL="0" indent="0">
              <a:buNone/>
            </a:pPr>
            <a:r>
              <a:rPr lang="en-US" sz="800" dirty="0">
                <a:solidFill>
                  <a:srgbClr val="16A34A"/>
                </a:solidFill>
                <a:latin typeface="Calibri"/>
              </a:rPr>
              <a:t>site_A / B / C Round 5-15                 Roughly stable after peak</a:t>
            </a:r>
          </a:p>
          <a:p>
            <a:pPr marL="0" indent="0">
              <a:buNone/>
            </a:pPr>
            <a:r>
              <a:rPr lang="en-US" sz="800" dirty="0">
                <a:solidFill>
                  <a:srgbClr val="16A34A"/>
                </a:solidFill>
                <a:latin typeface="Calibri"/>
              </a:rPr>
              <a:t>site_E         Round 15-44                Keeps improving through most of training</a:t>
            </a:r>
          </a:p>
          <a:p>
            <a:pPr marL="0" indent="0">
              <a:buNone/>
            </a:pPr>
            <a:r>
              <a:rPr lang="en-US" sz="800" dirty="0">
                <a:solidFill>
                  <a:schemeClr val="tx1"/>
                </a:solidFill>
                <a:latin typeface="Calibri"/>
              </a:rPr>
              <a:t/>
            </a:r>
          </a:p>
          <a:p>
            <a:pPr marL="0" indent="0">
              <a:buNone/>
            </a:pPr>
            <a:r>
              <a:rPr lang="en-US" sz="800" b="1" dirty="0">
                <a:solidFill>
                  <a:srgbClr val="991B1B"/>
                </a:solidFill>
                <a:latin typeface="Calibri"/>
              </a:rPr>
              <a:t>Checkpointing (restoring each site to its own best round) roughly halved site_D's average deficit — a real, working mitigation that doesn't explain the underlying cause.</a:t>
            </a:r>
          </a:p>
          <a:p>
            <a:pPr marL="0" indent="0">
              <a:buNone/>
            </a:pPr>
            <a:r>
              <a:rPr lang="en-US" sz="700" i="1" dirty="0" err="1">
                <a:solidFill>
                  <a:srgbClr val="64748B"/>
                </a:solidFill>
                <a:latin typeface="Calibri"/>
              </a:rPr>
              <a:t/>
            </a:r>
            <a:r>
              <a:rPr lang="en-US" sz="700" i="1" dirty="0">
                <a:solidFill>
                  <a:srgbClr val="64748B"/>
                </a:solidFill>
                <a:latin typeface="Calibri"/>
              </a:rPr>
              <a:t/>
            </a:r>
          </a:p>
        </p:txBody>
      </p:sp>
      <p:sp>
        <p:nvSpPr>
          <p:cNvPr id="7" name="siteE_hdr"/>
          <p:cNvSpPr/>
          <p:nvPr/>
        </p:nvSpPr>
        <p:spPr>
          <a:xfrm>
            <a:off x="228600" y="2190000"/>
            <a:ext cx="8686800" cy="230000"/>
          </a:xfrm>
          <a:prstGeom prst="rect">
            <a:avLst/>
          </a:prstGeom>
          <a:solidFill>
            <a:srgbClr val="581C87"/>
          </a:solidFill>
          <a:ln/>
        </p:spPr>
        <p:txBody>
          <a:bodyPr wrap="square" lIns="91440" tIns="45720" rIns="91440" bIns="45720" rtlCol="0" anchor="ctr"/>
          <a:lstStyle/>
          <a:p>
            <a:pPr marL="0" indent="0">
              <a:buNone/>
            </a:pPr>
            <a:r>
              <a:rPr lang="en-US" sz="875" b="1" dirty="0">
                <a:solidFill>
                  <a:srgbClr val="FFFFFF"/>
                </a:solidFill>
                <a:latin typeface="Calibri"/>
              </a:rPr>
              <a:t>Local baseline context</a:t>
            </a:r>
          </a:p>
        </p:txBody>
      </p:sp>
      <p:sp>
        <p:nvSpPr>
          <p:cNvPr id="8" name="siteE_row"/>
          <p:cNvSpPr/>
          <p:nvPr/>
        </p:nvSpPr>
        <p:spPr>
          <a:xfrm>
            <a:off x="228600" y="2420000"/>
            <a:ext cx="8686800" cy="550000"/>
          </a:xfrm>
          <a:prstGeom prst="rect">
            <a:avLst/>
          </a:prstGeom>
          <a:solidFill>
            <a:srgbClr val="FDF4FF"/>
          </a:solidFill>
          <a:ln w="6350">
            <a:solidFill>
              <a:srgbClr val="D8B4FE"/>
            </a:solidFill>
          </a:ln>
        </p:spPr>
        <p:txBody>
          <a:bodyPr wrap="square" lIns="91440" tIns="60960" rIns="91440" bIns="60960" rtlCol="0" anchor="ctr"/>
          <a:lstStyle/>
          <a:p>
            <a:pPr marL="0" indent="0">
              <a:buNone/>
            </a:pPr>
            <a:r>
              <a:rPr lang="en-US" sz="875" b="1" dirty="0">
                <a:solidFill>
                  <a:srgbClr val="374151"/>
                </a:solidFill>
                <a:latin typeface="Calibri"/>
              </a:rPr>
              <a:t>Phase 2 (unaligned): site_D local AUROC ~0.780     Phase 3 (GPC-aligned): site_D local AUROC ~0.898</a:t>
            </a:r>
          </a:p>
          <a:p>
            <a:pPr marL="0" indent="0">
              <a:buNone/>
            </a:pPr>
            <a:r>
              <a:rPr lang="en-US" sz="800" i="1" dirty="0">
                <a:solidFill>
                  <a:srgbClr val="64748B"/>
                </a:solidFill>
                <a:latin typeface="Calibri"/>
              </a:rPr>
              <a:t>GPC alignment made site_D's local-only baseline dramatically stronger (+0.118) — less headroom for FL to add value, independent of any federation-side problem.</a:t>
            </a:r>
          </a:p>
        </p:txBody>
      </p:sp>
      <p:sp>
        <p:nvSpPr>
          <p:cNvPr id="9" name="pers_box"/>
          <p:cNvSpPr/>
          <p:nvPr/>
        </p:nvSpPr>
        <p:spPr>
          <a:xfrm>
            <a:off x="228600" y="3060000"/>
            <a:ext cx="8686800" cy="1900000"/>
          </a:xfrm>
          <a:prstGeom prst="rect">
            <a:avLst/>
          </a:prstGeom>
          <a:solidFill>
            <a:srgbClr val="FFF7ED"/>
          </a:solidFill>
          <a:ln w="9525">
            <a:solidFill>
              <a:srgbClr val="C2410C"/>
            </a:solidFill>
          </a:ln>
        </p:spPr>
        <p:txBody>
          <a:bodyPr wrap="square" lIns="137160" tIns="91440" rIns="137160" bIns="91440" rtlCol="0" anchor="t"/>
          <a:lstStyle/>
          <a:p>
            <a:pPr marL="0" indent="0">
              <a:buNone/>
            </a:pPr>
            <a:r>
              <a:rPr lang="en-US" sz="1000" b="1" dirty="0">
                <a:solidFill>
                  <a:srgbClr val="7C2D12"/>
                </a:solidFill>
                <a:latin typeface="Calibri"/>
              </a:rPr>
              <a:t>Where this stands, and what's next</a:t>
            </a:r>
          </a:p>
          <a:p>
            <a:pPr marL="0" indent="0">
              <a:buNone/>
            </a:pPr>
            <a:endParaRPr lang="en-US" sz="875" dirty="0"/>
          </a:p>
          <a:p>
            <a:pPr marL="0" indent="0">
              <a:buNone/>
            </a:pPr>
            <a:r>
              <a:rPr lang="en-US" sz="875" b="1" dirty="0">
                <a:solidFill>
                  <a:schemeClr val="tx1"/>
                </a:solidFill>
                <a:latin typeface="Calibri"/>
              </a:rPr>
              <a:t>1. Never beats local baseline in 120/120 method-condition combinations tested before this session's fixes</a:t>
            </a:r>
            <a:r>
              <a:rPr lang="en-US" sz="875" dirty="0">
                <a:solidFill>
                  <a:srgbClr val="64748B"/>
                </a:solidFill>
                <a:latin typeface="Calibri"/>
              </a:rPr>
              <a:t/>
            </a:r>
          </a:p>
          <a:p>
            <a:pPr marL="0" indent="0">
              <a:buNone/>
            </a:pPr>
            <a:r>
              <a:rPr lang="en-US" sz="875" b="1" dirty="0">
                <a:solidFill>
                  <a:schemeClr val="tx1"/>
                </a:solidFill>
                <a:latin typeface="Calibri"/>
              </a:rPr>
              <a:t>2. Checkpointing, the GRL fix, and correct K-mode each independently help — but none explain WHY site_D behaves this way</a:t>
            </a:r>
            <a:r>
              <a:rPr lang="en-US" sz="875" dirty="0">
                <a:solidFill>
                  <a:srgbClr val="64748B"/>
                </a:solidFill>
                <a:latin typeface="Calibri"/>
              </a:rPr>
              <a:t/>
            </a:r>
          </a:p>
          <a:p>
            <a:pPr marL="0" indent="0">
              <a:buNone/>
            </a:pPr>
            <a:r>
              <a:rPr lang="en-US" sz="875" b="1" dirty="0">
                <a:solidFill>
                  <a:schemeClr val="tx1"/>
                </a:solidFill>
                <a:latin typeface="Calibri"/>
              </a:rPr>
              <a:t>3. Gradient-conflict diagnostic built (cosine similarity between each site's local update and the aggregate direction, per round) — implementation debugged and fixed this session, first clean run still pending</a:t>
            </a:r>
            <a:r>
              <a:rPr lang="en-US" sz="875" dirty="0">
                <a:solidFill>
                  <a:srgbClr val="64748B"/>
                </a:solidFill>
                <a:latin typeface="Calibri"/>
              </a:rPr>
              <a:t/>
            </a:r>
          </a:p>
          <a:p>
            <a:pPr marL="0" indent="0">
              <a:buNone/>
            </a:pPr>
            <a:r>
              <a:rPr lang="en-US" sz="875" b="1" dirty="0">
                <a:solidFill>
                  <a:schemeClr val="tx1"/>
                </a:solidFill>
                <a:latin typeface="Calibri"/>
              </a:rPr>
              <a:t>4. Possible clue: fedadaptproto's KMeans clustering step shows real, unexplained run-to-run non-determinism specific to site_C/D — worth its own follow-up</a:t>
            </a:r>
            <a:r>
              <a:rPr lang="en-US" sz="875" dirty="0">
                <a:solidFill>
                  <a:srgbClr val="64748B"/>
                </a:solidFill>
                <a:latin typeface="Calibri"/>
              </a:rPr>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Fairness and Personalisation">
    <p:bg>
      <p:bgPr>
        <a:solidFill>
          <a:srgbClr val="FFFFFF"/>
        </a:solidFill>
        <a:effectLst/>
      </p:bgPr>
    </p:bg>
    <p:spTree>
      <p:nvGrpSpPr>
        <p:cNvPr id="1" name=""/>
        <p:cNvGrpSpPr/>
        <p:nvPr/>
      </p:nvGrpSpPr>
      <p:grpSpPr>
        <a:xfrm>
          <a:off x="0" y="0"/>
          <a:ext cx="0" cy="0"/>
          <a:chOff x="0" y="0"/>
          <a:chExt cx="0" cy="0"/>
        </a:xfrm>
      </p:grpSpPr>
      <p:sp>
        <p:nvSpPr>
          <p:cNvPr id="2" name="hdr"/>
          <p:cNvSpPr/>
          <p:nvPr/>
        </p:nvSpPr>
        <p:spPr>
          <a:xfrm>
            <a:off x="0" y="0"/>
            <a:ext cx="9144000" cy="420000"/>
          </a:xfrm>
          <a:prstGeom prst="rect">
            <a:avLst/>
          </a:prstGeom>
          <a:solidFill>
            <a:srgbClr val="1E3A5F"/>
          </a:solidFill>
          <a:ln/>
        </p:spPr>
        <p:txBody>
          <a:bodyPr wrap="square" lIns="274638" tIns="91440" rIns="274638" bIns="91440" rtlCol="0" anchor="ctr"/>
          <a:lstStyle/>
          <a:p>
            <a:pPr marL="0" indent="0">
              <a:buNone/>
            </a:pPr>
            <a:r>
              <a:rPr lang="en-US" sz="1800" b="1" dirty="0">
                <a:solidFill>
                  <a:srgbClr val="FFFFFF"/>
                </a:solidFill>
                <a:latin typeface="Calibri"/>
              </a:rPr>
              <a:t>The Per-Site Split: Who Wins, Who Loses, and Why</a:t>
            </a:r>
          </a:p>
        </p:txBody>
      </p:sp>
      <p:sp>
        <p:nvSpPr>
          <p:cNvPr id="3" name="sitetbl_hdr"/>
          <p:cNvSpPr/>
          <p:nvPr/>
        </p:nvSpPr>
        <p:spPr>
          <a:xfrm>
            <a:off x="228600" y="480000"/>
            <a:ext cx="4200000" cy="230000"/>
          </a:xfrm>
          <a:prstGeom prst="rect">
            <a:avLst/>
          </a:prstGeom>
          <a:solidFill>
            <a:srgbClr val="374151"/>
          </a:solidFill>
          <a:ln/>
        </p:spPr>
        <p:txBody>
          <a:bodyPr wrap="square" lIns="91440" tIns="45720" rIns="91440" bIns="45720" rtlCol="0" anchor="ctr"/>
          <a:lstStyle/>
          <a:p>
            <a:pPr marL="0" indent="0">
              <a:buNone/>
            </a:pPr>
            <a:r>
              <a:rPr lang="en-US" sz="875" b="1" dirty="0">
                <a:solidFill>
                  <a:srgbClr val="FFFFFF"/>
                </a:solidFill>
                <a:latin typeface="Calibri"/>
              </a:rPr>
              <a:t>FL helps the two prevalence extremes, not the middle three sites</a:t>
            </a:r>
          </a:p>
        </p:txBody>
      </p:sp>
      <p:sp>
        <p:nvSpPr>
          <p:cNvPr id="4" name="sitetbl"/>
          <p:cNvSpPr/>
          <p:nvPr/>
        </p:nvSpPr>
        <p:spPr>
          <a:xfrm>
            <a:off x="228600" y="710000"/>
            <a:ext cx="4200000" cy="1400000"/>
          </a:xfrm>
          <a:prstGeom prst="rect">
            <a:avLst/>
          </a:prstGeom>
          <a:solidFill>
            <a:srgbClr val="F8FAFC"/>
          </a:solidFill>
          <a:ln w="6350">
            <a:solidFill>
              <a:srgbClr val="E2E8F0"/>
            </a:solidFill>
          </a:ln>
        </p:spPr>
        <p:txBody>
          <a:bodyPr wrap="square" lIns="91440" tIns="60960" rIns="91440" bIns="60960" rtlCol="0" anchor="t"/>
          <a:lstStyle/>
          <a:p>
            <a:pPr marL="0" indent="0">
              <a:buNone/>
            </a:pPr>
            <a:r>
              <a:rPr lang="en-US" sz="800" b="1" dirty="0">
                <a:solidFill>
                  <a:srgbClr val="374151"/>
                </a:solidFill>
                <a:latin typeface="Calibri"/>
              </a:rPr>
              <a:t>Site         Mean delta_auroc   Archetype              Prevalence</a:t>
            </a:r>
          </a:p>
          <a:p>
            <a:pPr marL="0" indent="0">
              <a:buNone/>
            </a:pPr>
            <a:r>
              <a:rPr lang="en-US" sz="800" dirty="0">
                <a:solidFill>
                  <a:schemeClr val="tx1"/>
                </a:solidFill>
                <a:latin typeface="Calibri"/>
              </a:rPr>
              <a:t>site_A            +0.022        ICU                    Highest (23-36%)</a:t>
            </a:r>
          </a:p>
          <a:p>
            <a:pPr marL="0" indent="0">
              <a:buNone/>
            </a:pPr>
            <a:r>
              <a:rPr lang="en-US" sz="800" dirty="0">
                <a:solidFill>
                  <a:schemeClr val="tx1"/>
                </a:solidFill>
                <a:latin typeface="Calibri"/>
              </a:rPr>
              <a:t>site_E            +0.023        Rural/resource-limited Lowest (6-12%)</a:t>
            </a:r>
          </a:p>
          <a:p>
            <a:pPr marL="0" indent="0">
              <a:buNone/>
            </a:pPr>
            <a:r>
              <a:rPr lang="en-US" sz="800" dirty="0">
                <a:solidFill>
                  <a:schemeClr val="tx1"/>
                </a:solidFill>
                <a:latin typeface="Calibri"/>
              </a:rPr>
              <a:t>site_B            -0.012        General Ward           Moderate</a:t>
            </a:r>
          </a:p>
          <a:p>
            <a:pPr marL="0" indent="0">
              <a:buNone/>
            </a:pPr>
            <a:r>
              <a:rPr lang="en-US" sz="800" dirty="0">
                <a:solidFill>
                  <a:schemeClr val="tx1"/>
                </a:solidFill>
                <a:latin typeface="Calibri"/>
              </a:rPr>
              <a:t>site_C            -0.026        Academic Anchor (159f) Moderate (9-12.5%)</a:t>
            </a:r>
          </a:p>
          <a:p>
            <a:pPr marL="0" indent="0">
              <a:buNone/>
            </a:pPr>
            <a:r>
              <a:rPr lang="en-US" sz="800" b="1" dirty="0">
                <a:solidFill>
                  <a:srgbClr val="7C3AED"/>
                </a:solidFill>
                <a:latin typeface="Calibri"/>
              </a:rPr>
              <a:t>site_D            -0.055        Community Clinic       Moderate, but weakest local AUROC</a:t>
            </a:r>
          </a:p>
          <a:p>
            <a:pPr marL="0" indent="0">
              <a:buNone/>
            </a:pPr>
            <a:r>
              <a:rPr lang="en-US" sz="700" i="1" dirty="0">
                <a:solidFill>
                  <a:srgbClr val="64748B"/>
                </a:solidFill>
                <a:latin typeface="Calibri"/>
              </a:rPr>
              <a:t/>
            </a:r>
          </a:p>
        </p:txBody>
      </p:sp>
      <p:sp>
        <p:nvSpPr>
          <p:cNvPr id="5" name="sitetbl2_hdr"/>
          <p:cNvSpPr/>
          <p:nvPr/>
        </p:nvSpPr>
        <p:spPr>
          <a:xfrm>
            <a:off x="4715400" y="480000"/>
            <a:ext cx="4200000" cy="230000"/>
          </a:xfrm>
          <a:prstGeom prst="rect">
            <a:avLst/>
          </a:prstGeom>
          <a:solidFill>
            <a:srgbClr val="065A82"/>
          </a:solidFill>
          <a:ln/>
        </p:spPr>
        <p:txBody>
          <a:bodyPr wrap="square" lIns="91440" tIns="45720" rIns="91440" bIns="45720" rtlCol="0" anchor="ctr"/>
          <a:lstStyle/>
          <a:p>
            <a:pPr marL="0" indent="0">
              <a:buNone/>
            </a:pPr>
            <a:r>
              <a:rPr lang="en-US" sz="875" b="1" dirty="0">
                <a:solidFill>
                  <a:srgbClr val="FFFFFF"/>
                </a:solidFill>
                <a:latin typeface="Calibri"/>
              </a:rPr>
              <a:t>Candidate explanations — hypotheses, not confirmed</a:t>
            </a:r>
          </a:p>
        </p:txBody>
      </p:sp>
      <p:sp>
        <p:nvSpPr>
          <p:cNvPr id="6" name="sitetbl2"/>
          <p:cNvSpPr/>
          <p:nvPr/>
        </p:nvSpPr>
        <p:spPr>
          <a:xfrm>
            <a:off x="4715400" y="710000"/>
            <a:ext cx="4200000" cy="1400000"/>
          </a:xfrm>
          <a:prstGeom prst="rect">
            <a:avLst/>
          </a:prstGeom>
          <a:solidFill>
            <a:srgbClr val="F0F9FF"/>
          </a:solidFill>
          <a:ln w="6350">
            <a:solidFill>
              <a:srgbClr val="BAE6FD"/>
            </a:solidFill>
          </a:ln>
        </p:spPr>
        <p:txBody>
          <a:bodyPr wrap="square" lIns="91440" tIns="60960" rIns="91440" bIns="60960" rtlCol="0" anchor="t"/>
          <a:lstStyle/>
          <a:p>
            <a:pPr marL="0" indent="0">
              <a:buNone/>
            </a:pPr>
            <a:r>
              <a:rPr lang="en-US" sz="800" b="1" dirty="0">
                <a:solidFill>
                  <a:srgbClr val="374151"/>
                </a:solidFill>
                <a:latin typeface="Calibri"/>
              </a:rPr>
              <a:t>1. Low-prevalence sites (E) borrow signal — standard FL story: few positive cases locally, pooling stabilizes the boundary.</a:t>
            </a:r>
          </a:p>
          <a:p>
            <a:pPr marL="0" indent="0">
              <a:buNone/>
            </a:pPr>
            <a:r>
              <a:rPr lang="en-US" sz="800" dirty="0">
                <a:solidFill>
                  <a:schemeClr val="tx1"/>
                </a:solidFill>
                <a:latin typeface="Calibri"/>
              </a:rPr>
              <a:t>2. High-prevalence sites (A) may exploit sharper alignment — already-clean signal benefits most from adversarial/prototype pressure.</a:t>
            </a:r>
          </a:p>
          <a:p>
            <a:pPr marL="0" indent="0">
              <a:buNone/>
            </a:pPr>
            <a:r>
              <a:rPr lang="en-US" sz="800" dirty="0">
                <a:solidFill>
                  <a:srgbClr val="16A34A"/>
                </a:solidFill>
                <a:latin typeface="Calibri"/>
              </a:rPr>
              <a:t>3. Middle sites take a tug-of-war cost — close enough to the federated compromise to be pulled, not far enough to need it.</a:t>
            </a:r>
          </a:p>
          <a:p>
            <a:pPr marL="0" indent="0">
              <a:buNone/>
            </a:pPr>
            <a:r>
              <a:rPr lang="en-US" sz="800" dirty="0">
                <a:solidFill>
                  <a:srgbClr val="16A34A"/>
                </a:solidFill>
                <a:latin typeface="Calibri"/>
              </a:rPr>
              <a:t>4. Site_D may be a signal-quality story — lowest local-only AUROC of all 5 sites; federation may substitute weak-but-relevant local signal with an actively-wrong aggregate direction.</a:t>
            </a:r>
          </a:p>
          <a:p>
            <a:pPr marL="0" indent="0">
              <a:buNone/>
            </a:pPr>
            <a:r>
              <a:rPr lang="en-US" sz="800" dirty="0">
                <a:solidFill>
                  <a:schemeClr val="tx1"/>
                </a:solidFill>
                <a:latin typeface="Calibri"/>
              </a:rPr>
              <a:t/>
            </a:r>
          </a:p>
          <a:p>
            <a:pPr marL="0" indent="0">
              <a:buNone/>
            </a:pPr>
            <a:r>
              <a:rPr lang="en-US" sz="800" b="1" dirty="0">
                <a:solidFill>
                  <a:srgbClr val="991B1B"/>
                </a:solidFill>
                <a:latin typeface="Calibri"/>
              </a:rPr>
              <a:t/>
            </a:r>
          </a:p>
          <a:p>
            <a:pPr marL="0" indent="0">
              <a:buNone/>
            </a:pPr>
            <a:r>
              <a:rPr lang="en-US" sz="700" i="1" dirty="0" err="1">
                <a:solidFill>
                  <a:srgbClr val="64748B"/>
                </a:solidFill>
                <a:latin typeface="Calibri"/>
              </a:rPr>
              <a:t/>
            </a:r>
            <a:r>
              <a:rPr lang="en-US" sz="700" i="1" dirty="0">
                <a:solidFill>
                  <a:srgbClr val="64748B"/>
                </a:solidFill>
                <a:latin typeface="Calibri"/>
              </a:rPr>
              <a:t/>
            </a:r>
          </a:p>
        </p:txBody>
      </p:sp>
      <p:sp>
        <p:nvSpPr>
          <p:cNvPr id="7" name="siteE_hdr"/>
          <p:cNvSpPr/>
          <p:nvPr/>
        </p:nvSpPr>
        <p:spPr>
          <a:xfrm>
            <a:off x="228600" y="2190000"/>
            <a:ext cx="8686800" cy="230000"/>
          </a:xfrm>
          <a:prstGeom prst="rect">
            <a:avLst/>
          </a:prstGeom>
          <a:solidFill>
            <a:srgbClr val="581C87"/>
          </a:solidFill>
          <a:ln/>
        </p:spPr>
        <p:txBody>
          <a:bodyPr wrap="square" lIns="91440" tIns="45720" rIns="91440" bIns="45720" rtlCol="0" anchor="ctr"/>
          <a:lstStyle/>
          <a:p>
            <a:pPr marL="0" indent="0">
              <a:buNone/>
            </a:pPr>
            <a:r>
              <a:rPr lang="en-US" sz="875" b="1" dirty="0">
                <a:solidFill>
                  <a:srgbClr val="FFFFFF"/>
                </a:solidFill>
                <a:latin typeface="Calibri"/>
              </a:rPr>
              <a:t>One hypothesis now tested — r=+0.53, but doesn't explain site_D</a:t>
            </a:r>
          </a:p>
        </p:txBody>
      </p:sp>
      <p:sp>
        <p:nvSpPr>
          <p:cNvPr id="8" name="siteE_row"/>
          <p:cNvSpPr/>
          <p:nvPr/>
        </p:nvSpPr>
        <p:spPr>
          <a:xfrm>
            <a:off x="228600" y="2420000"/>
            <a:ext cx="8686800" cy="550000"/>
          </a:xfrm>
          <a:prstGeom prst="rect">
            <a:avLst/>
          </a:prstGeom>
          <a:solidFill>
            <a:srgbClr val="FDF4FF"/>
          </a:solidFill>
          <a:ln w="6350">
            <a:solidFill>
              <a:srgbClr val="D8B4FE"/>
            </a:solidFill>
          </a:ln>
        </p:spPr>
        <p:txBody>
          <a:bodyPr wrap="square" lIns="91440" tIns="60960" rIns="91440" bIns="60960" rtlCol="0" anchor="ctr"/>
          <a:lstStyle/>
          <a:p>
            <a:pPr marL="0" indent="0">
              <a:buNone/>
            </a:pPr>
            <a:r>
              <a:rPr lang="en-US" sz="875" b="1" dirty="0">
                <a:solidFill>
                  <a:srgbClr val="374151"/>
                </a:solidFill>
                <a:latin typeface="Calibri"/>
              </a:rPr>
              <a:t>Prevalence distance from the federated mean (no training required — pure label statistics): correlates moderately with delta_auroc (r=+0.53), explaining most of site_A and site_E's benefit.</a:t>
            </a:r>
          </a:p>
          <a:p>
            <a:pPr marL="0" indent="0">
              <a:buNone/>
            </a:pPr>
            <a:r>
              <a:rPr lang="en-US" sz="800" i="1" dirty="0">
                <a:solidFill>
                  <a:srgbClr val="64748B"/>
                </a:solidFill>
                <a:latin typeface="Calibri"/>
              </a:rPr>
              <a:t>It does NOT explain site_D: moderate prevalence distance predicts an unremarkable outcome, not the worst of all 5 sites — added support for hypothesis #4 (signal-quality), not #1-3.</a:t>
            </a:r>
          </a:p>
        </p:txBody>
      </p:sp>
      <p:sp>
        <p:nvSpPr>
          <p:cNvPr id="9" name="pers_box"/>
          <p:cNvSpPr/>
          <p:nvPr/>
        </p:nvSpPr>
        <p:spPr>
          <a:xfrm>
            <a:off x="228600" y="3060000"/>
            <a:ext cx="8686800" cy="1900000"/>
          </a:xfrm>
          <a:prstGeom prst="rect">
            <a:avLst/>
          </a:prstGeom>
          <a:solidFill>
            <a:srgbClr val="FFF7ED"/>
          </a:solidFill>
          <a:ln w="9525">
            <a:solidFill>
              <a:srgbClr val="C2410C"/>
            </a:solidFill>
          </a:ln>
        </p:spPr>
        <p:txBody>
          <a:bodyPr wrap="square" lIns="137160" tIns="91440" rIns="137160" bIns="91440" rtlCol="0" anchor="t"/>
          <a:lstStyle/>
          <a:p>
            <a:pPr marL="0" indent="0">
              <a:buNone/>
            </a:pPr>
            <a:r>
              <a:rPr lang="en-US" sz="1000" b="1" dirty="0">
                <a:solidFill>
                  <a:srgbClr val="7C2D12"/>
                </a:solidFill>
                <a:latin typeface="Calibri"/>
              </a:rPr>
              <a:t>Things to explore next</a:t>
            </a:r>
          </a:p>
          <a:p>
            <a:pPr marL="0" indent="0">
              <a:buNone/>
            </a:pPr>
            <a:endParaRPr lang="en-US" sz="875" dirty="0"/>
          </a:p>
          <a:p>
            <a:pPr marL="0" indent="0">
              <a:buNone/>
            </a:pPr>
            <a:r>
              <a:rPr lang="en-US" sz="875" b="1" dirty="0">
                <a:solidFill>
                  <a:schemeClr val="tx1"/>
                </a:solidFill>
                <a:latin typeface="Calibri"/>
              </a:rPr>
              <a:t>1. DONE: Prevalence distance from the federated mean — r=+0.53 overall, but site_D is a confirmed outlier (see above) — needs a separate explanation</a:t>
            </a:r>
            <a:r>
              <a:rPr lang="en-US" sz="875" dirty="0">
                <a:solidFill>
                  <a:srgbClr val="64748B"/>
                </a:solidFill>
                <a:latin typeface="Calibri"/>
              </a:rPr>
              <a:t/>
            </a:r>
          </a:p>
          <a:p>
            <a:pPr marL="0" indent="0">
              <a:buNone/>
            </a:pPr>
            <a:r>
              <a:rPr lang="en-US" sz="875" b="1" dirty="0">
                <a:solidFill>
                  <a:schemeClr val="tx1"/>
                </a:solidFill>
                <a:latin typeface="Calibri"/>
              </a:rPr>
              <a:t>2. Local decision-boundary distance — a genuine PRE-TRAINING metric: fit a cheap local classifier per site before federating, measure distance from the naively-pooled boundary</a:t>
            </a:r>
            <a:r>
              <a:rPr lang="en-US" sz="875" dirty="0">
                <a:solidFill>
                  <a:srgbClr val="64748B"/>
                </a:solidFill>
                <a:latin typeface="Calibri"/>
              </a:rPr>
              <a:t/>
            </a:r>
          </a:p>
          <a:p>
            <a:pPr marL="0" indent="0">
              <a:buNone/>
            </a:pPr>
            <a:r>
              <a:rPr lang="en-US" sz="875" b="1" dirty="0">
                <a:solidFill>
                  <a:schemeClr val="tx1"/>
                </a:solidFill>
                <a:latin typeface="Calibri"/>
              </a:rPr>
              <a:t>3. Local signal-to-noise ratio — bootstrap-fit the local classifier and measure coefficient variance; motivated directly by site_D's uniquely low local-only AUROC</a:t>
            </a:r>
            <a:r>
              <a:rPr lang="en-US" sz="875" dirty="0">
                <a:solidFill>
                  <a:srgbClr val="64748B"/>
                </a:solidFill>
                <a:latin typeface="Calibri"/>
              </a:rPr>
              <a:t/>
            </a:r>
          </a:p>
          <a:p>
            <a:pPr marL="0" indent="0">
              <a:buNone/>
            </a:pPr>
            <a:r>
              <a:rPr lang="en-US" sz="875" b="1" dirty="0">
                <a:solidFill>
                  <a:schemeClr val="tx1"/>
                </a:solidFill>
                <a:latin typeface="Calibri"/>
              </a:rPr>
              <a:t>4. Complete the gradient-conflict diagnostic — the in-training complement to the pre-training metrics above</a:t>
            </a:r>
            <a:r>
              <a:rPr lang="en-US" sz="875" dirty="0">
                <a:solidFill>
                  <a:srgbClr val="64748B"/>
                </a:solidFill>
                <a:latin typeface="Calibri"/>
              </a:rPr>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Fairness and Personalisation">
    <p:bg>
      <p:bgPr>
        <a:solidFill>
          <a:srgbClr val="FFFFFF"/>
        </a:solidFill>
        <a:effectLst/>
      </p:bgPr>
    </p:bg>
    <p:spTree>
      <p:nvGrpSpPr>
        <p:cNvPr id="1" name=""/>
        <p:cNvGrpSpPr/>
        <p:nvPr/>
      </p:nvGrpSpPr>
      <p:grpSpPr>
        <a:xfrm>
          <a:off x="0" y="0"/>
          <a:ext cx="0" cy="0"/>
          <a:chOff x="0" y="0"/>
          <a:chExt cx="0" cy="0"/>
        </a:xfrm>
      </p:grpSpPr>
      <p:sp>
        <p:nvSpPr>
          <p:cNvPr id="2" name="hdr"/>
          <p:cNvSpPr/>
          <p:nvPr/>
        </p:nvSpPr>
        <p:spPr>
          <a:xfrm>
            <a:off x="0" y="0"/>
            <a:ext cx="9144000" cy="420000"/>
          </a:xfrm>
          <a:prstGeom prst="rect">
            <a:avLst/>
          </a:prstGeom>
          <a:solidFill>
            <a:srgbClr val="1E3A5F"/>
          </a:solidFill>
          <a:ln/>
        </p:spPr>
        <p:txBody>
          <a:bodyPr wrap="square" lIns="274638" tIns="91440" rIns="274638" bIns="91440" rtlCol="0" anchor="ctr"/>
          <a:lstStyle/>
          <a:p>
            <a:pPr marL="0" indent="0">
              <a:buNone/>
            </a:pPr>
            <a:r>
              <a:rPr lang="en-US" sz="1800" b="1" dirty="0">
                <a:solidFill>
                  <a:srgbClr val="FFFFFF"/>
                </a:solidFill>
                <a:latin typeface="Calibri"/>
              </a:rPr>
              <a:t>Dr. Li's Experiment: A Real Fix Found for Site_D</a:t>
            </a:r>
          </a:p>
        </p:txBody>
      </p:sp>
      <p:sp>
        <p:nvSpPr>
          <p:cNvPr id="3" name="sitetbl_hdr"/>
          <p:cNvSpPr/>
          <p:nvPr/>
        </p:nvSpPr>
        <p:spPr>
          <a:xfrm>
            <a:off x="228600" y="480000"/>
            <a:ext cx="4200000" cy="230000"/>
          </a:xfrm>
          <a:prstGeom prst="rect">
            <a:avLst/>
          </a:prstGeom>
          <a:solidFill>
            <a:srgbClr val="374151"/>
          </a:solidFill>
          <a:ln/>
        </p:spPr>
        <p:txBody>
          <a:bodyPr wrap="square" lIns="91440" tIns="45720" rIns="91440" bIns="45720" rtlCol="0" anchor="ctr"/>
          <a:lstStyle/>
          <a:p>
            <a:pPr marL="0" indent="0">
              <a:buNone/>
            </a:pPr>
            <a:r>
              <a:rPr lang="en-US" sz="875" b="1" dirty="0">
                <a:solidFill>
                  <a:srgbClr val="FFFFFF"/>
                </a:solidFill>
                <a:latin typeface="Calibri"/>
              </a:rPr>
              <a:t>Design: progressive feature enrichment, validated on REAL site_D</a:t>
            </a:r>
          </a:p>
        </p:txBody>
      </p:sp>
      <p:sp>
        <p:nvSpPr>
          <p:cNvPr id="4" name="sitetbl"/>
          <p:cNvSpPr/>
          <p:nvPr/>
        </p:nvSpPr>
        <p:spPr>
          <a:xfrm>
            <a:off x="228600" y="710000"/>
            <a:ext cx="4200000" cy="1400000"/>
          </a:xfrm>
          <a:prstGeom prst="rect">
            <a:avLst/>
          </a:prstGeom>
          <a:solidFill>
            <a:srgbClr val="F8FAFC"/>
          </a:solidFill>
          <a:ln w="6350">
            <a:solidFill>
              <a:srgbClr val="E2E8F0"/>
            </a:solidFill>
          </a:ln>
        </p:spPr>
        <p:txBody>
          <a:bodyPr wrap="square" lIns="91440" tIns="60960" rIns="91440" bIns="60960" rtlCol="0" anchor="t"/>
          <a:lstStyle/>
          <a:p>
            <a:pPr marL="0" indent="0">
              <a:buNone/>
            </a:pPr>
            <a:r>
              <a:rPr lang="en-US" sz="800" b="1" dirty="0">
                <a:solidFill>
                  <a:srgbClr val="374151"/>
                </a:solidFill>
                <a:latin typeface="Calibri"/>
              </a:rPr>
              <a:t>Step                    What it does</a:t>
            </a:r>
          </a:p>
          <a:p>
            <a:pPr marL="0" indent="0">
              <a:buNone/>
            </a:pPr>
            <a:r>
              <a:rPr lang="en-US" sz="800" dirty="0">
                <a:solidFill>
                  <a:schemeClr val="tx1"/>
                </a:solidFill>
                <a:latin typeface="Calibri"/>
              </a:rPr>
              <a:t>1. Un-mask site_D        Modified simulation script to expose all 159 features for site_D's real patients (same 33,000 patients, same covariate shift, verified identical on all 68 shared columns)</a:t>
            </a:r>
          </a:p>
          <a:p>
            <a:pPr marL="0" indent="0">
              <a:buNone/>
            </a:pPr>
            <a:r>
              <a:rPr lang="en-US" sz="800" dirty="0">
                <a:solidFill>
                  <a:schemeClr val="tx1"/>
                </a:solidFill>
                <a:latin typeface="Calibri"/>
              </a:rPr>
              <a:t>2. Rank candidates       RF feature importance computed from a held-out reference site, no leakage</a:t>
            </a:r>
          </a:p>
          <a:p>
            <a:pPr marL="0" indent="0">
              <a:buNone/>
            </a:pPr>
            <a:r>
              <a:rPr lang="en-US" sz="800" dirty="0">
                <a:solidFill>
                  <a:schemeClr val="tx1"/>
                </a:solidFill>
                <a:latin typeface="Calibri"/>
              </a:rPr>
              <a:t>3. Enrich progressively  Add ranked features in steps: 67 (baseline) -&gt; 97 -&gt; 127 -&gt; 159 (full)</a:t>
            </a:r>
          </a:p>
          <a:p>
            <a:pPr marL="0" indent="0">
              <a:buNone/>
            </a:pPr>
            <a:r>
              <a:rPr lang="en-US" sz="800" dirty="0">
                <a:solidFill>
                  <a:schemeClr val="tx1"/>
                </a:solidFill>
                <a:latin typeface="Calibri"/>
              </a:rPr>
              <a:t>4. Train federated       Real fedavg training at each checkpoint, alpha=0.3/gamma=0.75, seed=42</a:t>
            </a:r>
          </a:p>
          <a:p>
            <a:pPr marL="0" indent="0">
              <a:buNone/>
            </a:pPr>
            <a:r>
              <a:rPr lang="en-US" sz="800" b="1" dirty="0">
                <a:solidFill>
                  <a:srgbClr val="7C3AED"/>
                </a:solidFill>
                <a:latin typeface="Calibri"/>
              </a:rPr>
              <a:t/>
            </a:r>
          </a:p>
          <a:p>
            <a:pPr marL="0" indent="0">
              <a:buNone/>
            </a:pPr>
            <a:r>
              <a:rPr lang="en-US" sz="700" i="1" dirty="0">
                <a:solidFill>
                  <a:srgbClr val="64748B"/>
                </a:solidFill>
                <a:latin typeface="Calibri"/>
              </a:rPr>
              <a:t/>
            </a:r>
          </a:p>
        </p:txBody>
      </p:sp>
      <p:sp>
        <p:nvSpPr>
          <p:cNvPr id="5" name="sitetbl2_hdr"/>
          <p:cNvSpPr/>
          <p:nvPr/>
        </p:nvSpPr>
        <p:spPr>
          <a:xfrm>
            <a:off x="4715400" y="480000"/>
            <a:ext cx="4200000" cy="230000"/>
          </a:xfrm>
          <a:prstGeom prst="rect">
            <a:avLst/>
          </a:prstGeom>
          <a:solidFill>
            <a:srgbClr val="065A82"/>
          </a:solidFill>
          <a:ln/>
        </p:spPr>
        <p:txBody>
          <a:bodyPr wrap="square" lIns="91440" tIns="45720" rIns="91440" bIns="45720" rtlCol="0" anchor="ctr"/>
          <a:lstStyle/>
          <a:p>
            <a:pPr marL="0" indent="0">
              <a:buNone/>
            </a:pPr>
            <a:r>
              <a:rPr lang="en-US" sz="875" b="1" dirty="0">
                <a:solidFill>
                  <a:srgbClr val="FFFFFF"/>
                </a:solidFill>
                <a:latin typeface="Calibri"/>
              </a:rPr>
              <a:t>Result: a wide benefit plateau, not a narrow spike</a:t>
            </a:r>
          </a:p>
        </p:txBody>
      </p:sp>
      <p:sp>
        <p:nvSpPr>
          <p:cNvPr id="6" name="sitetbl2"/>
          <p:cNvSpPr/>
          <p:nvPr/>
        </p:nvSpPr>
        <p:spPr>
          <a:xfrm>
            <a:off x="4715400" y="710000"/>
            <a:ext cx="4200000" cy="1400000"/>
          </a:xfrm>
          <a:prstGeom prst="rect">
            <a:avLst/>
          </a:prstGeom>
          <a:solidFill>
            <a:srgbClr val="F0F9FF"/>
          </a:solidFill>
          <a:ln w="6350">
            <a:solidFill>
              <a:srgbClr val="BAE6FD"/>
            </a:solidFill>
          </a:ln>
        </p:spPr>
        <p:txBody>
          <a:bodyPr wrap="square" lIns="91440" tIns="60960" rIns="91440" bIns="60960" rtlCol="0" anchor="t"/>
          <a:lstStyle/>
          <a:p>
            <a:pPr marL="0" indent="0">
              <a:buNone/>
            </a:pPr>
            <a:r>
              <a:rPr lang="en-US" sz="800" b="1" dirty="0">
                <a:solidFill>
                  <a:srgbClr val="374151"/>
                </a:solidFill>
                <a:latin typeface="Calibri"/>
              </a:rPr>
              <a:t>Features    Local AUROC    Federated AUROC    Delta_auroc</a:t>
            </a:r>
          </a:p>
          <a:p>
            <a:pPr marL="0" indent="0">
              <a:buNone/>
            </a:pPr>
            <a:r>
              <a:rPr lang="en-US" sz="800" dirty="0">
                <a:solidFill>
                  <a:schemeClr val="tx1"/>
                </a:solidFill>
                <a:latin typeface="Calibri"/>
              </a:rPr>
              <a:t>67 (orig)   0.8405         0.7887              -0.0518</a:t>
            </a:r>
          </a:p>
          <a:p>
            <a:pPr marL="0" indent="0">
              <a:buNone/>
            </a:pPr>
            <a:r>
              <a:rPr lang="en-US" sz="800" dirty="0">
                <a:solidFill>
                  <a:srgbClr val="16A34A"/>
                </a:solidFill>
                <a:latin typeface="Calibri"/>
              </a:rPr>
              <a:t>82          0.9141         0.9212              +0.0071</a:t>
            </a:r>
          </a:p>
          <a:p>
            <a:pPr marL="0" indent="0">
              <a:buNone/>
            </a:pPr>
            <a:r>
              <a:rPr lang="en-US" sz="800" dirty="0">
                <a:solidFill>
                  <a:srgbClr val="16A34A"/>
                </a:solidFill>
                <a:latin typeface="Calibri"/>
              </a:rPr>
              <a:t>97          0.9079 (peak)  0.9171              +0.0092</a:t>
            </a:r>
          </a:p>
          <a:p>
            <a:pPr marL="0" indent="0">
              <a:buNone/>
            </a:pPr>
            <a:r>
              <a:rPr lang="en-US" sz="800" dirty="0">
                <a:solidFill>
                  <a:schemeClr val="tx1"/>
                </a:solidFill>
                <a:latin typeface="Calibri"/>
              </a:rPr>
              <a:t>112         0.9110         0.9137              +0.0027</a:t>
            </a:r>
          </a:p>
          <a:p>
            <a:pPr marL="0" indent="0">
              <a:buNone/>
            </a:pPr>
            <a:r>
              <a:rPr lang="en-US" sz="800" b="1" dirty="0">
                <a:solidFill>
                  <a:srgbClr val="991B1B"/>
                </a:solidFill>
                <a:latin typeface="Calibri"/>
              </a:rPr>
              <a:t>127         0.8984         0.9036              +0.0052</a:t>
            </a:r>
          </a:p>
          <a:p>
            <a:pPr marL="0" indent="0">
              <a:buNone/>
            </a:pPr>
            <a:r>
              <a:rPr lang="en-US" sz="700" i="1" dirty="0" err="1">
                <a:solidFill>
                  <a:srgbClr val="64748B"/>
                </a:solidFill>
                <a:latin typeface="Calibri"/>
              </a:rPr>
              <a:t>159 (full)  0.8925         0.8910              -0.0015</a:t>
            </a:r>
            <a:r>
              <a:rPr lang="en-US" sz="700" i="1" dirty="0">
                <a:solidFill>
                  <a:srgbClr val="64748B"/>
                </a:solidFill>
                <a:latin typeface="Calibri"/>
              </a:rPr>
              <a:t/>
            </a:r>
          </a:p>
        </p:txBody>
      </p:sp>
      <p:sp>
        <p:nvSpPr>
          <p:cNvPr id="7" name="siteE_hdr"/>
          <p:cNvSpPr/>
          <p:nvPr/>
        </p:nvSpPr>
        <p:spPr>
          <a:xfrm>
            <a:off x="228600" y="2190000"/>
            <a:ext cx="8686800" cy="230000"/>
          </a:xfrm>
          <a:prstGeom prst="rect">
            <a:avLst/>
          </a:prstGeom>
          <a:solidFill>
            <a:srgbClr val="581C87"/>
          </a:solidFill>
          <a:ln/>
        </p:spPr>
        <p:txBody>
          <a:bodyPr wrap="square" lIns="91440" tIns="45720" rIns="91440" bIns="45720" rtlCol="0" anchor="ctr"/>
          <a:lstStyle/>
          <a:p>
            <a:pPr marL="0" indent="0">
              <a:buNone/>
            </a:pPr>
            <a:r>
              <a:rPr lang="en-US" sz="875" b="1" dirty="0">
                <a:solidFill>
                  <a:srgbClr val="FFFFFF"/>
                </a:solidFill>
                <a:latin typeface="Calibri"/>
              </a:rPr>
              <a:t>What this means</a:t>
            </a:r>
          </a:p>
        </p:txBody>
      </p:sp>
      <p:sp>
        <p:nvSpPr>
          <p:cNvPr id="8" name="siteE_row"/>
          <p:cNvSpPr/>
          <p:nvPr/>
        </p:nvSpPr>
        <p:spPr>
          <a:xfrm>
            <a:off x="228600" y="2420000"/>
            <a:ext cx="8686800" cy="550000"/>
          </a:xfrm>
          <a:prstGeom prst="rect">
            <a:avLst/>
          </a:prstGeom>
          <a:solidFill>
            <a:srgbClr val="FDF4FF"/>
          </a:solidFill>
          <a:ln w="6350">
            <a:solidFill>
              <a:srgbClr val="D8B4FE"/>
            </a:solidFill>
          </a:ln>
        </p:spPr>
        <p:txBody>
          <a:bodyPr wrap="square" lIns="91440" tIns="60960" rIns="91440" bIns="60960" rtlCol="0" anchor="ctr"/>
          <a:lstStyle/>
          <a:p>
            <a:pPr marL="0" indent="0">
              <a:buNone/>
            </a:pPr>
            <a:r>
              <a:rPr lang="en-US" sz="875" b="1" dirty="0">
                <a:solidFill>
                  <a:srgbClr val="374151"/>
                </a:solidFill>
                <a:latin typeface="Calibri"/>
              </a:rPr>
              <a:t>The flip to positive happens between 67-82 features, not all the way out at 97. Benefit holds across a broad plateau (82-127), then erodes by full unmasking (159). See next slide: this exact shape does NOT replicate at a second, more extreme condition.</a:t>
            </a:r>
          </a:p>
          <a:p>
            <a:pPr marL="0" indent="0">
              <a:buNone/>
            </a:pPr>
            <a:r>
              <a:rPr lang="en-US" sz="800" i="1" dirty="0">
                <a:solidFill>
                  <a:srgbClr val="64748B"/>
                </a:solidFill>
                <a:latin typeface="Calibri"/>
              </a:rPr>
              <a:t/>
            </a:r>
          </a:p>
        </p:txBody>
      </p:sp>
      <p:sp>
        <p:nvSpPr>
          <p:cNvPr id="9" name="pers_box"/>
          <p:cNvSpPr/>
          <p:nvPr/>
        </p:nvSpPr>
        <p:spPr>
          <a:xfrm>
            <a:off x="228600" y="3060000"/>
            <a:ext cx="8686800" cy="1900000"/>
          </a:xfrm>
          <a:prstGeom prst="rect">
            <a:avLst/>
          </a:prstGeom>
          <a:solidFill>
            <a:srgbClr val="FFF7ED"/>
          </a:solidFill>
          <a:ln w="9525">
            <a:solidFill>
              <a:srgbClr val="C2410C"/>
            </a:solidFill>
          </a:ln>
        </p:spPr>
        <p:txBody>
          <a:bodyPr wrap="square" lIns="137160" tIns="91440" rIns="137160" bIns="91440" rtlCol="0" anchor="t"/>
          <a:lstStyle/>
          <a:p>
            <a:pPr marL="0" indent="0">
              <a:buNone/>
            </a:pPr>
            <a:r>
              <a:rPr lang="en-US" sz="1000" b="1" dirty="0">
                <a:solidFill>
                  <a:srgbClr val="7C2D12"/>
                </a:solidFill>
                <a:latin typeface="Calibri"/>
              </a:rPr>
              <a:t>Metric revision: predicting the sweet spot cheaply</a:t>
            </a:r>
          </a:p>
          <a:p>
            <a:pPr marL="0" indent="0">
              <a:buNone/>
            </a:pPr>
            <a:endParaRPr lang="en-US" sz="875" dirty="0"/>
          </a:p>
          <a:p>
            <a:pPr marL="0" indent="0">
              <a:buNone/>
            </a:pPr>
            <a:r>
              <a:rPr lang="en-US" sz="875" b="1" dirty="0">
                <a:solidFill>
                  <a:schemeClr val="tx1"/>
                </a:solidFill>
                <a:latin typeface="Calibri"/>
              </a:rPr>
              <a:t>Local AUROC proxy (regularized logistic regression) FAILS to predict this — it plateaus and never declines, unlike the real neural model, which genuinely overfits with too many features relative to its capacity.</a:t>
            </a:r>
            <a:r>
              <a:rPr lang="en-US" sz="875" dirty="0">
                <a:solidFill>
                  <a:srgbClr val="64748B"/>
                </a:solidFill>
                <a:latin typeface="Calibri"/>
              </a:rPr>
              <a:t/>
            </a:r>
          </a:p>
          <a:p>
            <a:pPr marL="0" indent="0">
              <a:buNone/>
            </a:pPr>
            <a:r>
              <a:rPr lang="en-US" sz="875" b="1" dirty="0">
                <a:solidFill>
                  <a:schemeClr val="tx1"/>
                </a:solidFill>
                <a:latin typeface="Calibri"/>
              </a:rPr>
              <a:t>Boundary-similarity RATE OF CHANGE succeeds: the steepest single-step drop in boundary cosine similarity occurred exactly at the 97-&gt;127 transition — precisely where real Delta_auroc peaked.</a:t>
            </a:r>
            <a:r>
              <a:rPr lang="en-US" sz="875" dirty="0">
                <a:solidFill>
                  <a:srgbClr val="64748B"/>
                </a:solidFill>
                <a:latin typeface="Calibri"/>
              </a:rPr>
              <a:t/>
            </a:r>
          </a:p>
          <a:p>
            <a:pPr marL="0" indent="0">
              <a:buNone/>
            </a:pPr>
            <a:r>
              <a:rPr lang="en-US" sz="875" b="1" dirty="0">
                <a:solidFill>
                  <a:schemeClr val="tx1"/>
                </a:solidFill>
                <a:latin typeface="Calibri"/>
              </a:rPr>
              <a:t>Revised rule: the sweet spot is the last checkpoint before the steepest drop in boundary similarity. Tested retroactively — correctly flags 97 as optimal, without needing the expensive 127/159 runs.</a:t>
            </a:r>
            <a:r>
              <a:rPr lang="en-US" sz="875" dirty="0">
                <a:solidFill>
                  <a:srgbClr val="64748B"/>
                </a:solidFill>
                <a:latin typeface="Calibri"/>
              </a:rPr>
              <a:t/>
            </a:r>
          </a:p>
          <a:p>
            <a:pPr marL="0" indent="0">
              <a:buNone/>
            </a:pPr>
            <a:r>
              <a:rPr lang="en-US" sz="875" b="1" dirty="0">
                <a:solidFill>
                  <a:schemeClr val="tx1"/>
                </a:solidFill>
                <a:latin typeface="Calibri"/>
              </a:rPr>
              <a:t/>
            </a:r>
            <a:r>
              <a:rPr lang="en-US" sz="875" dirty="0">
                <a:solidFill>
                  <a:srgbClr val="64748B"/>
                </a:solidFill>
                <a:latin typeface="Calibri"/>
              </a:rPr>
              <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r"/>
          <p:cNvSpPr/>
          <p:nvPr/>
        </p:nvSpPr>
        <p:spPr>
          <a:xfrm>
            <a:off x="0" y="0"/>
            <a:ext cx="9144000" cy="420000"/>
          </a:xfrm>
          <a:prstGeom prst="rect">
            <a:avLst/>
          </a:prstGeom>
          <a:solidFill>
            <a:srgbClr val="1E3A5F"/>
          </a:solidFill>
          <a:ln/>
        </p:spPr>
        <p:txBody>
          <a:bodyPr wrap="square" lIns="274638" tIns="91440" rIns="274638" bIns="91440" rtlCol="0" anchor="ctr"/>
          <a:lstStyle/>
          <a:p>
            <a:pPr marL="0" indent="0">
              <a:buNone/>
            </a:pPr>
            <a:r>
              <a:rPr lang="en-US" sz="1800" b="1" dirty="0">
                <a:solidFill>
                  <a:srgbClr val="FFFFFF"/>
                </a:solidFill>
                <a:latin typeface="Calibri"/>
              </a:rPr>
              <a:t>Second Condition Tested: An Important Scope Correction</a:t>
            </a:r>
          </a:p>
        </p:txBody>
      </p:sp>
      <p:sp>
        <p:nvSpPr>
          <p:cNvPr id="3" name="sitetbl_hdr"/>
          <p:cNvSpPr/>
          <p:nvPr/>
        </p:nvSpPr>
        <p:spPr>
          <a:xfrm>
            <a:off x="228600" y="480000"/>
            <a:ext cx="4200000" cy="230000"/>
          </a:xfrm>
          <a:prstGeom prst="rect">
            <a:avLst/>
          </a:prstGeom>
          <a:solidFill>
            <a:srgbClr val="374151"/>
          </a:solidFill>
          <a:ln/>
        </p:spPr>
        <p:txBody>
          <a:bodyPr wrap="square" lIns="91440" tIns="45720" rIns="91440" bIns="45720" rtlCol="0" anchor="ctr"/>
          <a:lstStyle/>
          <a:p>
            <a:pPr marL="0" indent="0">
              <a:buNone/>
            </a:pPr>
            <a:r>
              <a:rPr lang="en-US" sz="875" b="1" dirty="0">
                <a:solidFill>
                  <a:srgbClr val="FFFFFF"/>
                </a:solidFill>
                <a:latin typeface="Calibri"/>
              </a:rPr>
              <a:t>Same experiment, near-max heterogeneity (alpha=0.1, gamma=1.0)</a:t>
            </a:r>
          </a:p>
        </p:txBody>
      </p:sp>
      <p:sp>
        <p:nvSpPr>
          <p:cNvPr id="4" name="sitetbl"/>
          <p:cNvSpPr/>
          <p:nvPr/>
        </p:nvSpPr>
        <p:spPr>
          <a:xfrm>
            <a:off x="228600" y="710000"/>
            <a:ext cx="4200000" cy="1400000"/>
          </a:xfrm>
          <a:prstGeom prst="rect">
            <a:avLst/>
          </a:prstGeom>
          <a:solidFill>
            <a:srgbClr val="F8FAFC"/>
          </a:solidFill>
          <a:ln w="6350">
            <a:solidFill>
              <a:srgbClr val="E2E8F0"/>
            </a:solidFill>
          </a:ln>
        </p:spPr>
        <p:txBody>
          <a:bodyPr wrap="square" lIns="91440" tIns="60960" rIns="91440" bIns="60960" rtlCol="0" anchor="t"/>
          <a:lstStyle/>
          <a:p>
            <a:pPr marL="0" indent="0">
              <a:buNone/>
            </a:pPr>
            <a:r>
              <a:rPr lang="en-US" sz="800" b="1" dirty="0">
                <a:solidFill>
                  <a:srgbClr val="374151"/>
                </a:solidFill>
                <a:latin typeface="Calibri"/>
              </a:rPr>
              <a:t>Step                    What changed</a:t>
            </a:r>
          </a:p>
          <a:p>
            <a:pPr marL="0" indent="0">
              <a:buNone/>
            </a:pPr>
            <a:r>
              <a:rPr lang="en-US" sz="800" dirty="0">
                <a:solidFill>
                  <a:schemeClr val="tx1"/>
                </a:solidFill>
                <a:latin typeface="Calibri"/>
              </a:rPr>
              <a:t>Same methodology         Fresh, verified-consistent simulation regeneration (a NEW reproducibility gap was found and worked around: this simulation script needs all 5 sites from one run, not mixed with cached data)</a:t>
            </a:r>
          </a:p>
          <a:p>
            <a:pPr marL="0" indent="0">
              <a:buNone/>
            </a:pPr>
            <a:r>
              <a:rPr lang="en-US" sz="800" dirty="0">
                <a:solidFill>
                  <a:schemeClr val="tx1"/>
                </a:solidFill>
                <a:latin typeface="Calibri"/>
              </a:rPr>
              <a:t>Same 6 checkpoints       67 (baseline) -&gt; 82 -&gt; 97 -&gt; 112 -&gt; 127 -&gt; 159</a:t>
            </a:r>
          </a:p>
          <a:p>
            <a:pPr marL="0" indent="0">
              <a:buNone/>
            </a:pPr>
            <a:r>
              <a:rPr lang="en-US" sz="800" dirty="0">
                <a:solidFill>
                  <a:schemeClr val="tx1"/>
                </a:solidFill>
                <a:latin typeface="Calibri"/>
              </a:rPr>
              <a:t>Different starting point Site_D is ALREADY a mild benefiter at 67 features here -- opposite of the first condition</a:t>
            </a:r>
          </a:p>
          <a:p>
            <a:pPr marL="0" indent="0">
              <a:buNone/>
            </a:pPr>
            <a:r>
              <a:rPr lang="en-US" sz="800" dirty="0">
                <a:solidFill>
                  <a:schemeClr val="tx1"/>
                </a:solidFill>
                <a:latin typeface="Calibri"/>
              </a:rPr>
              <a:t/>
            </a:r>
          </a:p>
          <a:p>
            <a:pPr marL="0" indent="0">
              <a:buNone/>
            </a:pPr>
            <a:r>
              <a:rPr lang="en-US" sz="800" b="1" dirty="0">
                <a:solidFill>
                  <a:srgbClr val="7C3AED"/>
                </a:solidFill>
                <a:latin typeface="Calibri"/>
              </a:rPr>
              <a:t/>
            </a:r>
          </a:p>
          <a:p>
            <a:pPr marL="0" indent="0">
              <a:buNone/>
            </a:pPr>
            <a:r>
              <a:rPr lang="en-US" sz="700" i="1" dirty="0">
                <a:solidFill>
                  <a:srgbClr val="64748B"/>
                </a:solidFill>
                <a:latin typeface="Calibri"/>
              </a:rPr>
              <a:t/>
            </a:r>
          </a:p>
        </p:txBody>
      </p:sp>
      <p:sp>
        <p:nvSpPr>
          <p:cNvPr id="5" name="sitetbl2_hdr"/>
          <p:cNvSpPr/>
          <p:nvPr/>
        </p:nvSpPr>
        <p:spPr>
          <a:xfrm>
            <a:off x="4715400" y="480000"/>
            <a:ext cx="4200000" cy="230000"/>
          </a:xfrm>
          <a:prstGeom prst="rect">
            <a:avLst/>
          </a:prstGeom>
          <a:solidFill>
            <a:srgbClr val="065A82"/>
          </a:solidFill>
          <a:ln/>
        </p:spPr>
        <p:txBody>
          <a:bodyPr wrap="square" lIns="91440" tIns="45720" rIns="91440" bIns="45720" rtlCol="0" anchor="ctr"/>
          <a:lstStyle/>
          <a:p>
            <a:pPr marL="0" indent="0">
              <a:buNone/>
            </a:pPr>
            <a:r>
              <a:rPr lang="en-US" sz="875" b="1" dirty="0">
                <a:solidFill>
                  <a:srgbClr val="FFFFFF"/>
                </a:solidFill>
                <a:latin typeface="Calibri"/>
              </a:rPr>
              <a:t>Result: the general pattern holds, the specific shape does not</a:t>
            </a:r>
          </a:p>
        </p:txBody>
      </p:sp>
      <p:sp>
        <p:nvSpPr>
          <p:cNvPr id="6" name="sitetbl2"/>
          <p:cNvSpPr/>
          <p:nvPr/>
        </p:nvSpPr>
        <p:spPr>
          <a:xfrm>
            <a:off x="4715400" y="710000"/>
            <a:ext cx="4200000" cy="1400000"/>
          </a:xfrm>
          <a:prstGeom prst="rect">
            <a:avLst/>
          </a:prstGeom>
          <a:solidFill>
            <a:srgbClr val="F0F9FF"/>
          </a:solidFill>
          <a:ln w="6350">
            <a:solidFill>
              <a:srgbClr val="BAE6FD"/>
            </a:solidFill>
          </a:ln>
        </p:spPr>
        <p:txBody>
          <a:bodyPr wrap="square" lIns="91440" tIns="60960" rIns="91440" bIns="60960" rtlCol="0" anchor="t"/>
          <a:lstStyle/>
          <a:p>
            <a:pPr marL="0" indent="0">
              <a:buNone/>
            </a:pPr>
            <a:r>
              <a:rPr lang="en-US" sz="800" b="1" dirty="0">
                <a:solidFill>
                  <a:srgbClr val="374151"/>
                </a:solidFill>
                <a:latin typeface="Calibri"/>
              </a:rPr>
              <a:t>Features    a=0.3/g=0.75 Delta    a=0.1/g=1.0 Delta</a:t>
            </a:r>
          </a:p>
          <a:p>
            <a:pPr marL="0" indent="0">
              <a:buNone/>
            </a:pPr>
            <a:r>
              <a:rPr lang="en-US" sz="800" dirty="0">
                <a:solidFill>
                  <a:schemeClr val="tx1"/>
                </a:solidFill>
                <a:latin typeface="Calibri"/>
              </a:rPr>
              <a:t>67 (orig)   -0.0518                +0.0116</a:t>
            </a:r>
          </a:p>
          <a:p>
            <a:pPr marL="0" indent="0">
              <a:buNone/>
            </a:pPr>
            <a:r>
              <a:rPr lang="en-US" sz="800" dirty="0">
                <a:solidFill>
                  <a:srgbClr val="16A34A"/>
                </a:solidFill>
                <a:latin typeface="Calibri"/>
              </a:rPr>
              <a:t>82          +0.0071                +0.0225</a:t>
            </a:r>
          </a:p>
          <a:p>
            <a:pPr marL="0" indent="0">
              <a:buNone/>
            </a:pPr>
            <a:r>
              <a:rPr lang="en-US" sz="800" dirty="0">
                <a:solidFill>
                  <a:srgbClr val="16A34A"/>
                </a:solidFill>
                <a:latin typeface="Calibri"/>
              </a:rPr>
              <a:t>97          +0.0092 (peak)         -0.0026 (only dip)</a:t>
            </a:r>
          </a:p>
          <a:p>
            <a:pPr marL="0" indent="0">
              <a:buNone/>
            </a:pPr>
            <a:r>
              <a:rPr lang="en-US" sz="800" dirty="0">
                <a:solidFill>
                  <a:schemeClr val="tx1"/>
                </a:solidFill>
                <a:latin typeface="Calibri"/>
              </a:rPr>
              <a:t>112         +0.0027                +0.0115</a:t>
            </a:r>
          </a:p>
          <a:p>
            <a:pPr marL="0" indent="0">
              <a:buNone/>
            </a:pPr>
            <a:r>
              <a:rPr lang="en-US" sz="800" b="1" dirty="0">
                <a:solidFill>
                  <a:srgbClr val="991B1B"/>
                </a:solidFill>
                <a:latin typeface="Calibri"/>
              </a:rPr>
              <a:t>127         +0.0052                +0.0157</a:t>
            </a:r>
          </a:p>
          <a:p>
            <a:pPr marL="0" indent="0">
              <a:buNone/>
            </a:pPr>
            <a:r>
              <a:rPr lang="en-US" sz="700" i="1" dirty="0" err="1">
                <a:solidFill>
                  <a:srgbClr val="64748B"/>
                </a:solidFill>
                <a:latin typeface="Calibri"/>
              </a:rPr>
              <a:t>159 (full)  -0.0015                +0.0094</a:t>
            </a:r>
            <a:r>
              <a:rPr lang="en-US" sz="700" i="1" dirty="0">
                <a:solidFill>
                  <a:srgbClr val="64748B"/>
                </a:solidFill>
                <a:latin typeface="Calibri"/>
              </a:rPr>
              <a:t/>
            </a:r>
          </a:p>
        </p:txBody>
      </p:sp>
      <p:sp>
        <p:nvSpPr>
          <p:cNvPr id="7" name="siteE_hdr"/>
          <p:cNvSpPr/>
          <p:nvPr/>
        </p:nvSpPr>
        <p:spPr>
          <a:xfrm>
            <a:off x="228600" y="2190000"/>
            <a:ext cx="8686800" cy="230000"/>
          </a:xfrm>
          <a:prstGeom prst="rect">
            <a:avLst/>
          </a:prstGeom>
          <a:solidFill>
            <a:srgbClr val="581C87"/>
          </a:solidFill>
          <a:ln/>
        </p:spPr>
        <p:txBody>
          <a:bodyPr wrap="square" lIns="91440" tIns="45720" rIns="91440" bIns="45720" rtlCol="0" anchor="ctr"/>
          <a:lstStyle/>
          <a:p>
            <a:pPr marL="0" indent="0">
              <a:buNone/>
            </a:pPr>
            <a:r>
              <a:rPr lang="en-US" sz="875" b="1" dirty="0">
                <a:solidFill>
                  <a:srgbClr val="FFFFFF"/>
                </a:solidFill>
                <a:latin typeface="Calibri"/>
              </a:rPr>
              <a:t>What this means</a:t>
            </a:r>
          </a:p>
        </p:txBody>
      </p:sp>
      <p:sp>
        <p:nvSpPr>
          <p:cNvPr id="8" name="siteE_row"/>
          <p:cNvSpPr/>
          <p:nvPr/>
        </p:nvSpPr>
        <p:spPr>
          <a:xfrm>
            <a:off x="228600" y="2420000"/>
            <a:ext cx="8686800" cy="550000"/>
          </a:xfrm>
          <a:prstGeom prst="rect">
            <a:avLst/>
          </a:prstGeom>
          <a:solidFill>
            <a:srgbClr val="FDF4FF"/>
          </a:solidFill>
          <a:ln w="6350">
            <a:solidFill>
              <a:srgbClr val="D8B4FE"/>
            </a:solidFill>
          </a:ln>
        </p:spPr>
        <p:txBody>
          <a:bodyPr wrap="square" lIns="91440" tIns="60960" rIns="91440" bIns="60960" rtlCol="0" anchor="ctr"/>
          <a:lstStyle/>
          <a:p>
            <a:pPr marL="0" indent="0">
              <a:buNone/>
            </a:pPr>
            <a:r>
              <a:rPr lang="en-US" sz="875" b="1" dirty="0">
                <a:solidFill>
                  <a:srgbClr val="374151"/>
                </a:solidFill>
                <a:latin typeface="Calibri"/>
              </a:rPr>
              <a:t>"Feature enrichment fixes site_D" is NOT universal -- it's specific to conditions where site_D starts as a loser. At near-max heterogeneity, site_D wasn't broken the same way to begin with, so there was less to fix. The first condition's result remains real and useful, but should not be generalized without this caveat. Only 2 of 20 conditions tested with the full trajectory so far.</a:t>
            </a:r>
          </a:p>
          <a:p>
            <a:pPr marL="0" indent="0">
              <a:buNone/>
            </a:pPr>
            <a:r>
              <a:rPr lang="en-US" sz="800" i="1" dirty="0">
                <a:solidFill>
                  <a:srgbClr val="64748B"/>
                </a:solidFill>
                <a:latin typeface="Calibri"/>
              </a:rPr>
              <a:t/>
            </a:r>
          </a:p>
        </p:txBody>
      </p:sp>
      <p:sp>
        <p:nvSpPr>
          <p:cNvPr id="9" name="pers_box"/>
          <p:cNvSpPr/>
          <p:nvPr/>
        </p:nvSpPr>
        <p:spPr>
          <a:xfrm>
            <a:off x="228600" y="3060000"/>
            <a:ext cx="8686800" cy="1900000"/>
          </a:xfrm>
          <a:prstGeom prst="rect">
            <a:avLst/>
          </a:prstGeom>
          <a:solidFill>
            <a:srgbClr val="FFF7ED"/>
          </a:solidFill>
          <a:ln w="9525">
            <a:solidFill>
              <a:srgbClr val="C2410C"/>
            </a:solidFill>
          </a:ln>
        </p:spPr>
        <p:txBody>
          <a:bodyPr wrap="square" lIns="137160" tIns="91440" rIns="137160" bIns="91440" rtlCol="0" anchor="t"/>
          <a:lstStyle/>
          <a:p>
            <a:pPr marL="0" indent="0">
              <a:buNone/>
            </a:pPr>
            <a:r>
              <a:rPr lang="en-US" sz="1000" b="1" dirty="0">
                <a:solidFill>
                  <a:srgbClr val="7C2D12"/>
                </a:solidFill>
                <a:latin typeface="Calibri"/>
              </a:rPr>
              <a:t>Notably different at this condition</a:t>
            </a:r>
          </a:p>
          <a:p>
            <a:pPr marL="0" indent="0">
              <a:buNone/>
            </a:pPr>
            <a:endParaRPr lang="en-US" sz="875" dirty="0"/>
          </a:p>
          <a:p>
            <a:pPr marL="0" indent="0">
              <a:buNone/>
            </a:pPr>
            <a:r>
              <a:rPr lang="en-US" sz="875" b="1" dirty="0">
                <a:solidFill>
                  <a:schemeClr val="tx1"/>
                </a:solidFill>
                <a:latin typeface="Calibri"/>
              </a:rPr>
              <a:t>97 is the ONLY negative point here -- the opposite of being the peak at the first condition.</a:t>
            </a:r>
            <a:r>
              <a:rPr lang="en-US" sz="875" dirty="0">
                <a:solidFill>
                  <a:srgbClr val="64748B"/>
                </a:solidFill>
                <a:latin typeface="Calibri"/>
              </a:rPr>
              <a:t/>
            </a:r>
          </a:p>
          <a:p>
            <a:pPr marL="0" indent="0">
              <a:buNone/>
            </a:pPr>
            <a:r>
              <a:rPr lang="en-US" sz="875" b="1" dirty="0">
                <a:solidFill>
                  <a:schemeClr val="tx1"/>
                </a:solidFill>
                <a:latin typeface="Calibri"/>
              </a:rPr>
              <a:t>Full unmasking (159) is clearly positive here, unlike the mild negative at the first condition -- "over-enrichment hurts" doesn't replicate either.</a:t>
            </a:r>
            <a:r>
              <a:rPr lang="en-US" sz="875" dirty="0">
                <a:solidFill>
                  <a:srgbClr val="64748B"/>
                </a:solidFill>
                <a:latin typeface="Calibri"/>
              </a:rPr>
              <a:t/>
            </a:r>
          </a:p>
          <a:p>
            <a:pPr marL="0" indent="0">
              <a:buNone/>
            </a:pPr>
            <a:r>
              <a:rPr lang="en-US" sz="875" b="1" dirty="0">
                <a:solidFill>
                  <a:schemeClr val="tx1"/>
                </a:solidFill>
                <a:latin typeface="Calibri"/>
              </a:rPr>
              <a:t>Next step: test more conditions to see which pattern (or neither) is representative before generalizing further.</a:t>
            </a:r>
            <a:r>
              <a:rPr lang="en-US" sz="875" dirty="0">
                <a:solidFill>
                  <a:srgbClr val="64748B"/>
                </a:solidFill>
                <a:latin typeface="Calibri"/>
              </a:rPr>
              <a:t/>
            </a:r>
          </a:p>
          <a:p>
            <a:pPr marL="0" indent="0">
              <a:buNone/>
            </a:pPr>
            <a:r>
              <a:rPr lang="en-US" sz="875" b="1" dirty="0">
                <a:solidFill>
                  <a:schemeClr val="tx1"/>
                </a:solidFill>
                <a:latin typeface="Calibri"/>
              </a:rPr>
              <a:t/>
            </a:r>
            <a:r>
              <a:rPr lang="en-US" sz="875" dirty="0">
                <a:solidFill>
                  <a:srgbClr val="64748B"/>
                </a:solidFill>
                <a:latin typeface="Calibri"/>
              </a:rPr>
              <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r"/>
          <p:cNvSpPr/>
          <p:nvPr/>
        </p:nvSpPr>
        <p:spPr>
          <a:xfrm>
            <a:off x="0" y="0"/>
            <a:ext cx="9144000" cy="420000"/>
          </a:xfrm>
          <a:prstGeom prst="rect">
            <a:avLst/>
          </a:prstGeom>
          <a:solidFill>
            <a:srgbClr val="1E3A5F"/>
          </a:solidFill>
          <a:ln/>
        </p:spPr>
        <p:txBody>
          <a:bodyPr wrap="square" lIns="274638" tIns="91440" rIns="274638" bIns="91440" rtlCol="0" anchor="ctr"/>
          <a:lstStyle/>
          <a:p>
            <a:pPr marL="0" indent="0">
              <a:buNone/>
            </a:pPr>
            <a:r>
              <a:rPr lang="en-US" sz="1800" b="1" dirty="0">
                <a:solidFill>
                  <a:srgbClr val="FFFFFF"/>
                </a:solidFill>
                <a:latin typeface="Calibri"/>
              </a:rPr>
              <a:t>Feature Sensitivity: What Specifically Matters for Site_D</a:t>
            </a:r>
          </a:p>
        </p:txBody>
      </p:sp>
      <p:sp>
        <p:nvSpPr>
          <p:cNvPr id="3" name="sitetbl_hdr"/>
          <p:cNvSpPr/>
          <p:nvPr/>
        </p:nvSpPr>
        <p:spPr>
          <a:xfrm>
            <a:off x="228600" y="480000"/>
            <a:ext cx="4200000" cy="230000"/>
          </a:xfrm>
          <a:prstGeom prst="rect">
            <a:avLst/>
          </a:prstGeom>
          <a:solidFill>
            <a:srgbClr val="374151"/>
          </a:solidFill>
          <a:ln/>
        </p:spPr>
        <p:txBody>
          <a:bodyPr wrap="square" lIns="91440" tIns="45720" rIns="91440" bIns="45720" rtlCol="0" anchor="ctr"/>
          <a:lstStyle/>
          <a:p>
            <a:pPr marL="0" indent="0">
              <a:buNone/>
            </a:pPr>
            <a:r>
              <a:rPr lang="en-US" sz="875" b="1" dirty="0">
                <a:solidFill>
                  <a:srgbClr val="FFFFFF"/>
                </a:solidFill>
                <a:latin typeface="Calibri"/>
              </a:rPr>
              <a:t>True per-feature analysis (not batched) -- site_D vs. site_A, a genuine benefiter</a:t>
            </a:r>
          </a:p>
        </p:txBody>
      </p:sp>
      <p:sp>
        <p:nvSpPr>
          <p:cNvPr id="4" name="sitetbl"/>
          <p:cNvSpPr/>
          <p:nvPr/>
        </p:nvSpPr>
        <p:spPr>
          <a:xfrm>
            <a:off x="228600" y="710000"/>
            <a:ext cx="4200000" cy="1400000"/>
          </a:xfrm>
          <a:prstGeom prst="rect">
            <a:avLst/>
          </a:prstGeom>
          <a:solidFill>
            <a:srgbClr val="F8FAFC"/>
          </a:solidFill>
          <a:ln w="6350">
            <a:solidFill>
              <a:srgbClr val="E2E8F0"/>
            </a:solidFill>
          </a:ln>
        </p:spPr>
        <p:txBody>
          <a:bodyPr wrap="square" lIns="91440" tIns="60960" rIns="91440" bIns="60960" rtlCol="0" anchor="t"/>
          <a:lstStyle/>
          <a:p>
            <a:pPr marL="0" indent="0">
              <a:buNone/>
            </a:pPr>
            <a:r>
              <a:rPr lang="en-US" sz="800" b="1" dirty="0">
                <a:solidFill>
                  <a:srgbClr val="374151"/>
                </a:solidFill>
                <a:latin typeface="Calibri"/>
              </a:rPr>
              <a:t>Step                    What it does</a:t>
            </a:r>
          </a:p>
          <a:p>
            <a:pPr marL="0" indent="0">
              <a:buNone/>
            </a:pPr>
            <a:r>
              <a:rPr lang="en-US" sz="800" dirty="0">
                <a:solidFill>
                  <a:schemeClr val="tx1"/>
                </a:solidFill>
                <a:latin typeface="Calibri"/>
              </a:rPr>
              <a:t>Add ONE feature at a time  92 steps for site_D, 90 for site_A (vs. batches of ~15 before)</a:t>
            </a:r>
          </a:p>
          <a:p>
            <a:pPr marL="0" indent="0">
              <a:buNone/>
            </a:pPr>
            <a:r>
              <a:rPr lang="en-US" sz="800" dirty="0">
                <a:solidFill>
                  <a:schemeClr val="tx1"/>
                </a:solidFill>
                <a:latin typeface="Calibri"/>
              </a:rPr>
              <a:t>Track marginal AUROC       Each feature's individual contribution, not a combined batch effect</a:t>
            </a:r>
          </a:p>
          <a:p>
            <a:pPr marL="0" indent="0">
              <a:buNone/>
            </a:pPr>
            <a:r>
              <a:rPr lang="en-US" sz="800" dirty="0">
                <a:solidFill>
                  <a:schemeClr val="tx1"/>
                </a:solidFill>
                <a:latin typeface="Calibri"/>
              </a:rPr>
              <a:t>Compare site_D vs site_A   Do the features that matter for the loser differ from what matters for a benefiter?</a:t>
            </a:r>
          </a:p>
          <a:p>
            <a:pPr marL="0" indent="0">
              <a:buNone/>
            </a:pPr>
            <a:r>
              <a:rPr lang="en-US" sz="800" dirty="0">
                <a:solidFill>
                  <a:schemeClr val="tx1"/>
                </a:solidFill>
                <a:latin typeface="Calibri"/>
              </a:rPr>
              <a:t/>
            </a:r>
          </a:p>
          <a:p>
            <a:pPr marL="0" indent="0">
              <a:buNone/>
            </a:pPr>
            <a:r>
              <a:rPr lang="en-US" sz="800" b="1" dirty="0">
                <a:solidFill>
                  <a:srgbClr val="7C3AED"/>
                </a:solidFill>
                <a:latin typeface="Calibri"/>
              </a:rPr>
              <a:t/>
            </a:r>
          </a:p>
          <a:p>
            <a:pPr marL="0" indent="0">
              <a:buNone/>
            </a:pPr>
            <a:r>
              <a:rPr lang="en-US" sz="700" i="1" dirty="0">
                <a:solidFill>
                  <a:srgbClr val="64748B"/>
                </a:solidFill>
                <a:latin typeface="Calibri"/>
              </a:rPr>
              <a:t/>
            </a:r>
          </a:p>
        </p:txBody>
      </p:sp>
      <p:sp>
        <p:nvSpPr>
          <p:cNvPr id="5" name="sitetbl2_hdr"/>
          <p:cNvSpPr/>
          <p:nvPr/>
        </p:nvSpPr>
        <p:spPr>
          <a:xfrm>
            <a:off x="4715400" y="480000"/>
            <a:ext cx="4200000" cy="230000"/>
          </a:xfrm>
          <a:prstGeom prst="rect">
            <a:avLst/>
          </a:prstGeom>
          <a:solidFill>
            <a:srgbClr val="065A82"/>
          </a:solidFill>
          <a:ln/>
        </p:spPr>
        <p:txBody>
          <a:bodyPr wrap="square" lIns="91440" tIns="45720" rIns="91440" bIns="45720" rtlCol="0" anchor="ctr"/>
          <a:lstStyle/>
          <a:p>
            <a:pPr marL="0" indent="0">
              <a:buNone/>
            </a:pPr>
            <a:r>
              <a:rPr lang="en-US" sz="875" b="1" dirty="0">
                <a:solidFill>
                  <a:srgbClr val="FFFFFF"/>
                </a:solidFill>
                <a:latin typeface="Calibri"/>
              </a:rPr>
              <a:t>Result: one added feature dominates for site_D, confirmed at BOTH conditions</a:t>
            </a:r>
          </a:p>
        </p:txBody>
      </p:sp>
      <p:sp>
        <p:nvSpPr>
          <p:cNvPr id="6" name="sitetbl2"/>
          <p:cNvSpPr/>
          <p:nvPr/>
        </p:nvSpPr>
        <p:spPr>
          <a:xfrm>
            <a:off x="4715400" y="710000"/>
            <a:ext cx="4200000" cy="1400000"/>
          </a:xfrm>
          <a:prstGeom prst="rect">
            <a:avLst/>
          </a:prstGeom>
          <a:solidFill>
            <a:srgbClr val="F0F9FF"/>
          </a:solidFill>
          <a:ln w="6350">
            <a:solidFill>
              <a:srgbClr val="BAE6FD"/>
            </a:solidFill>
          </a:ln>
        </p:spPr>
        <p:txBody>
          <a:bodyPr wrap="square" lIns="91440" tIns="60960" rIns="91440" bIns="60960" rtlCol="0" anchor="t"/>
          <a:lstStyle/>
          <a:p>
            <a:pPr marL="0" indent="0">
              <a:buNone/>
            </a:pPr>
            <a:r>
              <a:rPr lang="en-US" sz="800" b="1" dirty="0">
                <a:solidFill>
                  <a:srgbClr val="374151"/>
                </a:solidFill>
                <a:latin typeface="Calibri"/>
              </a:rPr>
              <a:t>                              a=0.3/g=0.75              a=0.1/g=1.0</a:t>
            </a:r>
          </a:p>
          <a:p>
            <a:pPr marL="0" indent="0">
              <a:buNone/>
            </a:pPr>
            <a:r>
              <a:rPr lang="en-US" sz="800" dirty="0">
                <a:solidFill>
                  <a:schemeClr val="tx1"/>
                </a:solidFill>
                <a:latin typeface="Calibri"/>
              </a:rPr>
              <a:t>Site_D top ADDED feature      baseline_scr +0.0112      baseline_scr +0.0080</a:t>
            </a:r>
          </a:p>
          <a:p>
            <a:pPr marL="0" indent="0">
              <a:buNone/>
            </a:pPr>
            <a:r>
              <a:rPr lang="en-US" sz="800" dirty="0">
                <a:solidFill>
                  <a:srgbClr val="16A34A"/>
                </a:solidFill>
                <a:latin typeface="Calibri"/>
              </a:rPr>
              <a:t>Share of site_D's total gain  34.3%                     26.0%</a:t>
            </a:r>
          </a:p>
          <a:p>
            <a:pPr marL="0" indent="0">
              <a:buNone/>
            </a:pPr>
            <a:r>
              <a:rPr lang="en-US" sz="800" dirty="0">
                <a:solidFill>
                  <a:srgbClr val="16A34A"/>
                </a:solidFill>
                <a:latin typeface="Calibri"/>
              </a:rPr>
              <a:t>Site_A top ADDED feature      phosphate +0.0017         phosphate +0.0022</a:t>
            </a:r>
          </a:p>
          <a:p>
            <a:pPr marL="0" indent="0">
              <a:buNone/>
            </a:pPr>
            <a:r>
              <a:rPr lang="en-US" sz="800" dirty="0">
                <a:solidFill>
                  <a:schemeClr val="tx1"/>
                </a:solidFill>
                <a:latin typeface="Calibri"/>
              </a:rPr>
              <a:t>Site_A shape                  flat, diffuse             flat, diffuse (same)</a:t>
            </a:r>
          </a:p>
          <a:p>
            <a:pPr marL="0" indent="0">
              <a:buNone/>
            </a:pPr>
            <a:r>
              <a:rPr lang="en-US" sz="800" b="1" dirty="0">
                <a:solidFill>
                  <a:srgbClr val="991B1B"/>
                </a:solidFill>
                <a:latin typeface="Calibri"/>
              </a:rPr>
              <a:t/>
            </a:r>
          </a:p>
          <a:p>
            <a:pPr marL="0" indent="0">
              <a:buNone/>
            </a:pPr>
            <a:r>
              <a:rPr lang="en-US" sz="700" i="1" dirty="0" err="1">
                <a:solidFill>
                  <a:srgbClr val="64748B"/>
                </a:solidFill>
                <a:latin typeface="Calibri"/>
              </a:rPr>
              <a:t/>
            </a:r>
            <a:r>
              <a:rPr lang="en-US" sz="700" i="1" dirty="0">
                <a:solidFill>
                  <a:srgbClr val="64748B"/>
                </a:solidFill>
                <a:latin typeface="Calibri"/>
              </a:rPr>
              <a:t/>
            </a:r>
          </a:p>
        </p:txBody>
      </p:sp>
      <p:sp>
        <p:nvSpPr>
          <p:cNvPr id="7" name="siteE_hdr"/>
          <p:cNvSpPr/>
          <p:nvPr/>
        </p:nvSpPr>
        <p:spPr>
          <a:xfrm>
            <a:off x="228600" y="2190000"/>
            <a:ext cx="8686800" cy="230000"/>
          </a:xfrm>
          <a:prstGeom prst="rect">
            <a:avLst/>
          </a:prstGeom>
          <a:solidFill>
            <a:srgbClr val="581C87"/>
          </a:solidFill>
          <a:ln/>
        </p:spPr>
        <p:txBody>
          <a:bodyPr wrap="square" lIns="91440" tIns="45720" rIns="91440" bIns="45720" rtlCol="0" anchor="ctr"/>
          <a:lstStyle/>
          <a:p>
            <a:pPr marL="0" indent="0">
              <a:buNone/>
            </a:pPr>
            <a:r>
              <a:rPr lang="en-US" sz="875" b="1" dirty="0">
                <a:solidFill>
                  <a:srgbClr val="FFFFFF"/>
                </a:solidFill>
                <a:latin typeface="Calibri"/>
              </a:rPr>
              <a:t>What this means</a:t>
            </a:r>
          </a:p>
        </p:txBody>
      </p:sp>
      <p:sp>
        <p:nvSpPr>
          <p:cNvPr id="8" name="siteE_row"/>
          <p:cNvSpPr/>
          <p:nvPr/>
        </p:nvSpPr>
        <p:spPr>
          <a:xfrm>
            <a:off x="228600" y="2420000"/>
            <a:ext cx="8686800" cy="550000"/>
          </a:xfrm>
          <a:prstGeom prst="rect">
            <a:avLst/>
          </a:prstGeom>
          <a:solidFill>
            <a:srgbClr val="FDF4FF"/>
          </a:solidFill>
          <a:ln w="6350">
            <a:solidFill>
              <a:srgbClr val="D8B4FE"/>
            </a:solidFill>
          </a:ln>
        </p:spPr>
        <p:txBody>
          <a:bodyPr wrap="square" lIns="91440" tIns="60960" rIns="91440" bIns="60960" rtlCol="0" anchor="ctr"/>
          <a:lstStyle/>
          <a:p>
            <a:pPr marL="0" indent="0">
              <a:buNone/>
            </a:pPr>
            <a:r>
              <a:rPr lang="en-US" sz="875" b="1" dirty="0">
                <a:solidFill>
                  <a:srgbClr val="374151"/>
                </a:solidFill>
                <a:latin typeface="Calibri"/>
              </a:rPr>
              <a:t>baseline_scr (what AKI is diagnostically DEFINED against) was absent from site_D's original features, already present in site_A's -- so it was tested as an ADDITION for site_D only, never isolated for site_A. We know it matters enormously for site_D; we don't yet know if it matters similarly for site_A or is specifically more important for site_D's task. A direct ablation on site_A would confirm which.</a:t>
            </a:r>
          </a:p>
          <a:p>
            <a:pPr marL="0" indent="0">
              <a:buNone/>
            </a:pPr>
            <a:r>
              <a:rPr lang="en-US" sz="800" i="1" dirty="0">
                <a:solidFill>
                  <a:srgbClr val="64748B"/>
                </a:solidFill>
                <a:latin typeface="Calibri"/>
              </a:rPr>
              <a:t/>
            </a:r>
          </a:p>
        </p:txBody>
      </p:sp>
      <p:sp>
        <p:nvSpPr>
          <p:cNvPr id="9" name="pers_box"/>
          <p:cNvSpPr/>
          <p:nvPr/>
        </p:nvSpPr>
        <p:spPr>
          <a:xfrm>
            <a:off x="228600" y="3060000"/>
            <a:ext cx="8686800" cy="1900000"/>
          </a:xfrm>
          <a:prstGeom prst="rect">
            <a:avLst/>
          </a:prstGeom>
          <a:solidFill>
            <a:srgbClr val="FFF7ED"/>
          </a:solidFill>
          <a:ln w="9525">
            <a:solidFill>
              <a:srgbClr val="C2410C"/>
            </a:solidFill>
          </a:ln>
        </p:spPr>
        <p:txBody>
          <a:bodyPr wrap="square" lIns="137160" tIns="91440" rIns="137160" bIns="91440" rtlCol="0" anchor="t"/>
          <a:lstStyle/>
          <a:p>
            <a:pPr marL="0" indent="0">
              <a:buNone/>
            </a:pPr>
            <a:r>
              <a:rPr lang="en-US" sz="1000" b="1" dirty="0">
                <a:solidFill>
                  <a:srgbClr val="7C2D12"/>
                </a:solidFill>
                <a:latin typeface="Calibri"/>
              </a:rPr>
              <a:t>Practical implication</a:t>
            </a:r>
          </a:p>
          <a:p>
            <a:pPr marL="0" indent="0">
              <a:buNone/>
            </a:pPr>
            <a:endParaRPr lang="en-US" sz="875" dirty="0"/>
          </a:p>
          <a:p>
            <a:pPr marL="0" indent="0">
              <a:buNone/>
            </a:pPr>
            <a:r>
              <a:rPr lang="en-US" sz="875" b="1" dirty="0">
                <a:solidFill>
                  <a:schemeClr val="tx1"/>
                </a:solidFill>
                <a:latin typeface="Calibri"/>
              </a:rPr>
              <a:t>A far cheaper, more targeted fix than broad feature enrichment: ensure every site has baseline creatinine specifically before addressing anything else.</a:t>
            </a:r>
            <a:r>
              <a:rPr lang="en-US" sz="875" dirty="0">
                <a:solidFill>
                  <a:srgbClr val="64748B"/>
                </a:solidFill>
                <a:latin typeface="Calibri"/>
              </a:rPr>
              <a:t/>
            </a:r>
          </a:p>
          <a:p>
            <a:pPr marL="0" indent="0">
              <a:buNone/>
            </a:pPr>
            <a:r>
              <a:rPr lang="en-US" sz="875" b="1" dirty="0">
                <a:solidFill>
                  <a:schemeClr val="tx1"/>
                </a:solidFill>
                <a:latin typeface="Calibri"/>
              </a:rPr>
              <a:t>This finding generalizes better than the sweet-spot location did -- worth prioritizing for any real-world GPC alignment decision.</a:t>
            </a:r>
            <a:r>
              <a:rPr lang="en-US" sz="875" dirty="0">
                <a:solidFill>
                  <a:srgbClr val="64748B"/>
                </a:solidFill>
                <a:latin typeface="Calibri"/>
              </a:rPr>
              <a:t/>
            </a:r>
          </a:p>
          <a:p>
            <a:pPr marL="0" indent="0">
              <a:buNone/>
            </a:pPr>
            <a:r>
              <a:rPr lang="en-US" sz="875" b="1" dirty="0">
                <a:solidFill>
                  <a:schemeClr val="tx1"/>
                </a:solidFill>
                <a:latin typeface="Calibri"/>
              </a:rPr>
              <a:t>Open question: ablate baseline_scr OUT of site_A to test whether it matters there too, or is specifically more important for site_D.</a:t>
            </a:r>
            <a:r>
              <a:rPr lang="en-US" sz="875" dirty="0">
                <a:solidFill>
                  <a:srgbClr val="64748B"/>
                </a:solidFill>
                <a:latin typeface="Calibri"/>
              </a:rPr>
              <a:t/>
            </a:r>
          </a:p>
          <a:p>
            <a:pPr marL="0" indent="0">
              <a:buNone/>
            </a:pPr>
            <a:r>
              <a:rPr lang="en-US" sz="875" b="1" dirty="0">
                <a:solidFill>
                  <a:schemeClr val="tx1"/>
                </a:solidFill>
                <a:latin typeface="Calibri"/>
              </a:rPr>
              <a:t/>
            </a:r>
            <a:r>
              <a:rPr lang="en-US" sz="875" dirty="0">
                <a:solidFill>
                  <a:srgbClr val="64748B"/>
                </a:solidFill>
                <a:latin typeface="Calibri"/>
              </a:rPr>
              <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r"/>
          <p:cNvSpPr/>
          <p:nvPr/>
        </p:nvSpPr>
        <p:spPr>
          <a:xfrm>
            <a:off x="0" y="0"/>
            <a:ext cx="9144000" cy="420000"/>
          </a:xfrm>
          <a:prstGeom prst="rect">
            <a:avLst/>
          </a:prstGeom>
          <a:solidFill>
            <a:srgbClr val="1E3A5F"/>
          </a:solidFill>
          <a:ln/>
        </p:spPr>
        <p:txBody>
          <a:bodyPr wrap="square" lIns="274638" tIns="91440" rIns="274638" bIns="91440" rtlCol="0" anchor="ctr"/>
          <a:lstStyle/>
          <a:p>
            <a:pPr marL="0" indent="0">
              <a:buNone/>
            </a:pPr>
            <a:r>
              <a:rPr lang="en-US" sz="1800" b="1" dirty="0">
                <a:solidFill>
                  <a:srgbClr val="FFFFFF"/>
                </a:solidFill>
                <a:latin typeface="Calibri"/>
              </a:rPr>
              <a:t>Toward Real GPC Deployment: What Needs Tuning</a:t>
            </a:r>
          </a:p>
        </p:txBody>
      </p:sp>
      <p:sp>
        <p:nvSpPr>
          <p:cNvPr id="3" name="sitetbl_hdr"/>
          <p:cNvSpPr/>
          <p:nvPr/>
        </p:nvSpPr>
        <p:spPr>
          <a:xfrm>
            <a:off x="228600" y="480000"/>
            <a:ext cx="4200000" cy="230000"/>
          </a:xfrm>
          <a:prstGeom prst="rect">
            <a:avLst/>
          </a:prstGeom>
          <a:solidFill>
            <a:srgbClr val="374151"/>
          </a:solidFill>
          <a:ln/>
        </p:spPr>
        <p:txBody>
          <a:bodyPr wrap="square" lIns="91440" tIns="45720" rIns="91440" bIns="45720" rtlCol="0" anchor="ctr"/>
          <a:lstStyle/>
          <a:p>
            <a:pPr marL="0" indent="0">
              <a:buNone/>
            </a:pPr>
            <a:r>
              <a:rPr lang="en-US" sz="875" b="1" dirty="0">
                <a:solidFill>
                  <a:srgbClr val="FFFFFF"/>
                </a:solidFill>
                <a:latin typeface="Calibri"/>
              </a:rPr>
              <a:t>Parameters: validated on simulated data, re-check before real GPC deployment</a:t>
            </a:r>
          </a:p>
        </p:txBody>
      </p:sp>
      <p:sp>
        <p:nvSpPr>
          <p:cNvPr id="4" name="sitetbl"/>
          <p:cNvSpPr/>
          <p:nvPr/>
        </p:nvSpPr>
        <p:spPr>
          <a:xfrm>
            <a:off x="228600" y="710000"/>
            <a:ext cx="4200000" cy="1400000"/>
          </a:xfrm>
          <a:prstGeom prst="rect">
            <a:avLst/>
          </a:prstGeom>
          <a:solidFill>
            <a:srgbClr val="F8FAFC"/>
          </a:solidFill>
          <a:ln w="6350">
            <a:solidFill>
              <a:srgbClr val="E2E8F0"/>
            </a:solidFill>
          </a:ln>
        </p:spPr>
        <p:txBody>
          <a:bodyPr wrap="square" lIns="91440" tIns="60960" rIns="91440" bIns="60960" rtlCol="0" anchor="t"/>
          <a:lstStyle/>
          <a:p>
            <a:pPr marL="0" indent="0">
              <a:buNone/>
            </a:pPr>
            <a:r>
              <a:rPr lang="en-US" sz="800" b="1" dirty="0">
                <a:solidFill>
                  <a:srgbClr val="374151"/>
                </a:solidFill>
                <a:latin typeface="Calibri"/>
              </a:rPr>
              <a:t>Parameter              MIMIC-validated       Status for real GPC deployment</a:t>
            </a:r>
          </a:p>
          <a:p>
            <a:pPr marL="0" indent="0">
              <a:buNone/>
            </a:pPr>
            <a:r>
              <a:rPr lang="en-US" sz="800" dirty="0">
                <a:solidFill>
                  <a:schemeClr val="tx1"/>
                </a:solidFill>
                <a:latin typeface="Calibri"/>
              </a:rPr>
              <a:t>Checkpointing           Restore best round     Should transfer directly -- general practice</a:t>
            </a:r>
          </a:p>
          <a:p>
            <a:pPr marL="0" indent="0">
              <a:buNone/>
            </a:pPr>
            <a:r>
              <a:rPr lang="en-US" sz="800" dirty="0">
                <a:solidFill>
                  <a:schemeClr val="tx1"/>
                </a:solidFill>
                <a:latin typeface="Calibri"/>
              </a:rPr>
              <a:t>lambda_adv              0.1 (prevalence-scl)   Re-verify: GPC's real prevalence spread (10-15%) is narrower than simulated (6-40%)</a:t>
            </a:r>
          </a:p>
          <a:p>
            <a:pPr marL="0" indent="0">
              <a:buNone/>
            </a:pPr>
            <a:r>
              <a:rPr lang="en-US" sz="800" dirty="0">
                <a:solidFill>
                  <a:schemeClr val="tx1"/>
                </a:solidFill>
                <a:latin typeface="Calibri"/>
              </a:rPr>
              <a:t>n_clusters (K-mode)     uniform K=3 (v25)      Re-tune on real data structure, not assumed</a:t>
            </a:r>
          </a:p>
          <a:p>
            <a:pPr marL="0" indent="0">
              <a:buNone/>
            </a:pPr>
            <a:r>
              <a:rPr lang="en-US" sz="800" dirty="0">
                <a:solidFill>
                  <a:schemeClr val="tx1"/>
                </a:solidFill>
                <a:latin typeface="Calibri"/>
              </a:rPr>
              <a:t>alpha / gamma           N/A, simulation-only   Don't apply -- real GPC heterogeneity is whatever the hospitals actually have</a:t>
            </a:r>
          </a:p>
          <a:p>
            <a:pPr marL="0" indent="0">
              <a:buNone/>
            </a:pPr>
            <a:r>
              <a:rPr lang="en-US" sz="800" b="1" dirty="0">
                <a:solidFill>
                  <a:srgbClr val="7C3AED"/>
                </a:solidFill>
                <a:latin typeface="Calibri"/>
              </a:rPr>
              <a:t/>
            </a:r>
          </a:p>
          <a:p>
            <a:pPr marL="0" indent="0">
              <a:buNone/>
            </a:pPr>
            <a:r>
              <a:rPr lang="en-US" sz="700" i="1" dirty="0">
                <a:solidFill>
                  <a:srgbClr val="64748B"/>
                </a:solidFill>
                <a:latin typeface="Calibri"/>
              </a:rPr>
              <a:t/>
            </a:r>
          </a:p>
        </p:txBody>
      </p:sp>
      <p:sp>
        <p:nvSpPr>
          <p:cNvPr id="5" name="sitetbl2_hdr"/>
          <p:cNvSpPr/>
          <p:nvPr/>
        </p:nvSpPr>
        <p:spPr>
          <a:xfrm>
            <a:off x="4715400" y="480000"/>
            <a:ext cx="4200000" cy="230000"/>
          </a:xfrm>
          <a:prstGeom prst="rect">
            <a:avLst/>
          </a:prstGeom>
          <a:solidFill>
            <a:srgbClr val="065A82"/>
          </a:solidFill>
          <a:ln/>
        </p:spPr>
        <p:txBody>
          <a:bodyPr wrap="square" lIns="91440" tIns="45720" rIns="91440" bIns="45720" rtlCol="0" anchor="ctr"/>
          <a:lstStyle/>
          <a:p>
            <a:pPr marL="0" indent="0">
              <a:buNone/>
            </a:pPr>
            <a:r>
              <a:rPr lang="en-US" sz="875" b="1" dirty="0">
                <a:solidFill>
                  <a:srgbClr val="FFFFFF"/>
                </a:solidFill>
                <a:latin typeface="Calibri"/>
              </a:rPr>
              <a:t>Feature alignment: 19/98 is not a ceiling -- concretely improvable</a:t>
            </a:r>
          </a:p>
        </p:txBody>
      </p:sp>
      <p:sp>
        <p:nvSpPr>
          <p:cNvPr id="6" name="sitetbl2"/>
          <p:cNvSpPr/>
          <p:nvPr/>
        </p:nvSpPr>
        <p:spPr>
          <a:xfrm>
            <a:off x="4715400" y="710000"/>
            <a:ext cx="4200000" cy="1400000"/>
          </a:xfrm>
          <a:prstGeom prst="rect">
            <a:avLst/>
          </a:prstGeom>
          <a:solidFill>
            <a:srgbClr val="F0F9FF"/>
          </a:solidFill>
          <a:ln w="6350">
            <a:solidFill>
              <a:srgbClr val="BAE6FD"/>
            </a:solidFill>
          </a:ln>
        </p:spPr>
        <p:txBody>
          <a:bodyPr wrap="square" lIns="91440" tIns="60960" rIns="91440" bIns="60960" rtlCol="0" anchor="t"/>
          <a:lstStyle/>
          <a:p>
            <a:pPr marL="0" indent="0">
              <a:buNone/>
            </a:pPr>
            <a:r>
              <a:rPr lang="en-US" sz="800" b="1" dirty="0">
                <a:solidFill>
                  <a:srgbClr val="374151"/>
                </a:solidFill>
                <a:latin typeface="Calibri"/>
              </a:rPr>
              <a:t>Gap                       Opportunity</a:t>
            </a:r>
          </a:p>
          <a:p>
            <a:pPr marL="0" indent="0">
              <a:buNone/>
            </a:pPr>
            <a:r>
              <a:rPr lang="en-US" sz="800" dirty="0">
                <a:solidFill>
                  <a:schemeClr val="tx1"/>
                </a:solidFill>
                <a:latin typeface="Calibri"/>
              </a:rPr>
              <a:t>DX codes (0/70 matched)   Replace coarse comorbidity flags with specific ICD codes -- MIMIC-IV has this data, Phase 3 just used a simplified summary</a:t>
            </a:r>
          </a:p>
          <a:p>
            <a:pPr marL="0" indent="0">
              <a:buNone/>
            </a:pPr>
            <a:r>
              <a:rPr lang="en-US" sz="800" dirty="0">
                <a:solidFill>
                  <a:srgbClr val="16A34A"/>
                </a:solidFill>
                <a:latin typeface="Calibri"/>
              </a:rPr>
              <a:t>6 missing labs            Fibrinogen, CRP, triglyceride, cholesterol, HDL, lipase -- standard labs, likely extractable from raw MIMIC-IV if not yet included</a:t>
            </a:r>
          </a:p>
          <a:p>
            <a:pPr marL="0" indent="0">
              <a:buNone/>
            </a:pPr>
            <a:r>
              <a:rPr lang="en-US" sz="800" dirty="0">
                <a:solidFill>
                  <a:srgbClr val="16A34A"/>
                </a:solidFill>
                <a:latin typeface="Calibri"/>
              </a:rPr>
              <a:t>Race / ethnicity          MIMIC-IV has this data; simply wasn't included in the Phase 3 aligned feature set</a:t>
            </a:r>
          </a:p>
          <a:p>
            <a:pPr marL="0" indent="0">
              <a:buNone/>
            </a:pPr>
            <a:r>
              <a:rPr lang="en-US" sz="800" dirty="0">
                <a:solidFill>
                  <a:schemeClr val="tx1"/>
                </a:solidFill>
                <a:latin typeface="Calibri"/>
              </a:rPr>
              <a:t/>
            </a:r>
          </a:p>
          <a:p>
            <a:pPr marL="0" indent="0">
              <a:buNone/>
            </a:pPr>
            <a:r>
              <a:rPr lang="en-US" sz="800" b="1" dirty="0">
                <a:solidFill>
                  <a:srgbClr val="991B1B"/>
                </a:solidFill>
                <a:latin typeface="Calibri"/>
              </a:rPr>
              <a:t/>
            </a:r>
          </a:p>
          <a:p>
            <a:pPr marL="0" indent="0">
              <a:buNone/>
            </a:pPr>
            <a:r>
              <a:rPr lang="en-US" sz="700" i="1" dirty="0" err="1">
                <a:solidFill>
                  <a:srgbClr val="64748B"/>
                </a:solidFill>
                <a:latin typeface="Calibri"/>
              </a:rPr>
              <a:t/>
            </a:r>
            <a:r>
              <a:rPr lang="en-US" sz="700" i="1" dirty="0">
                <a:solidFill>
                  <a:srgbClr val="64748B"/>
                </a:solidFill>
                <a:latin typeface="Calibri"/>
              </a:rPr>
              <a:t/>
            </a:r>
          </a:p>
        </p:txBody>
      </p:sp>
      <p:sp>
        <p:nvSpPr>
          <p:cNvPr id="7" name="siteE_hdr"/>
          <p:cNvSpPr/>
          <p:nvPr/>
        </p:nvSpPr>
        <p:spPr>
          <a:xfrm>
            <a:off x="228600" y="2190000"/>
            <a:ext cx="8686800" cy="230000"/>
          </a:xfrm>
          <a:prstGeom prst="rect">
            <a:avLst/>
          </a:prstGeom>
          <a:solidFill>
            <a:srgbClr val="581C87"/>
          </a:solidFill>
          <a:ln/>
        </p:spPr>
        <p:txBody>
          <a:bodyPr wrap="square" lIns="91440" tIns="45720" rIns="91440" bIns="45720" rtlCol="0" anchor="ctr"/>
          <a:lstStyle/>
          <a:p>
            <a:pPr marL="0" indent="0">
              <a:buNone/>
            </a:pPr>
            <a:r>
              <a:rPr lang="en-US" sz="875" b="1" dirty="0">
                <a:solidFill>
                  <a:srgbClr val="FFFFFF"/>
                </a:solidFill>
                <a:latin typeface="Calibri"/>
              </a:rPr>
              <a:t>Should sites be modified to match GPC's real AKI rate (~13.3%, tertiary academic)?</a:t>
            </a:r>
          </a:p>
        </p:txBody>
      </p:sp>
      <p:sp>
        <p:nvSpPr>
          <p:cNvPr id="8" name="siteE_row"/>
          <p:cNvSpPr/>
          <p:nvPr/>
        </p:nvSpPr>
        <p:spPr>
          <a:xfrm>
            <a:off x="228600" y="2420000"/>
            <a:ext cx="8686800" cy="550000"/>
          </a:xfrm>
          <a:prstGeom prst="rect">
            <a:avLst/>
          </a:prstGeom>
          <a:solidFill>
            <a:srgbClr val="FDF4FF"/>
          </a:solidFill>
          <a:ln w="6350">
            <a:solidFill>
              <a:srgbClr val="D8B4FE"/>
            </a:solidFill>
          </a:ln>
        </p:spPr>
        <p:txBody>
          <a:bodyPr wrap="square" lIns="91440" tIns="60960" rIns="91440" bIns="60960" rtlCol="0" anchor="ctr"/>
          <a:lstStyle/>
          <a:p>
            <a:pPr marL="0" indent="0">
              <a:buNone/>
            </a:pPr>
            <a:r>
              <a:rPr lang="en-US" sz="875" b="1" dirty="0">
                <a:solidFill>
                  <a:srgbClr val="374151"/>
                </a:solidFill>
                <a:latin typeface="Calibri"/>
              </a:rPr>
              <a:t>Not a straight replacement -- narrowing prevalence would undercut the extremes-benefit findings this session relies on. Better: ADD a narrow "GPC-realistic" condition alongside the existing sweep. Real GPC heterogeneity looks more size-driven than prevalence-driven (UPITT 299K vs UTSW 73K, a 4x gap Phase 3 doesn't simulate today).</a:t>
            </a:r>
          </a:p>
          <a:p>
            <a:pPr marL="0" indent="0">
              <a:buNone/>
            </a:pPr>
            <a:r>
              <a:rPr lang="en-US" sz="800" i="1" dirty="0">
                <a:solidFill>
                  <a:srgbClr val="64748B"/>
                </a:solidFill>
                <a:latin typeface="Calibri"/>
              </a:rPr>
              <a:t/>
            </a:r>
          </a:p>
        </p:txBody>
      </p:sp>
      <p:sp>
        <p:nvSpPr>
          <p:cNvPr id="9" name="pers_box"/>
          <p:cNvSpPr/>
          <p:nvPr/>
        </p:nvSpPr>
        <p:spPr>
          <a:xfrm>
            <a:off x="228600" y="3060000"/>
            <a:ext cx="8686800" cy="1900000"/>
          </a:xfrm>
          <a:prstGeom prst="rect">
            <a:avLst/>
          </a:prstGeom>
          <a:solidFill>
            <a:srgbClr val="FFF7ED"/>
          </a:solidFill>
          <a:ln w="9525">
            <a:solidFill>
              <a:srgbClr val="C2410C"/>
            </a:solidFill>
          </a:ln>
        </p:spPr>
        <p:txBody>
          <a:bodyPr wrap="square" lIns="137160" tIns="91440" rIns="137160" bIns="91440" rtlCol="0" anchor="t"/>
          <a:lstStyle/>
          <a:p>
            <a:pPr marL="0" indent="0">
              <a:buNone/>
            </a:pPr>
            <a:r>
              <a:rPr lang="en-US" sz="1000" b="1" dirty="0">
                <a:solidFill>
                  <a:srgbClr val="7C2D12"/>
                </a:solidFill>
                <a:latin typeface="Calibri"/>
              </a:rPr>
              <a:t>Recommended next steps</a:t>
            </a:r>
          </a:p>
          <a:p>
            <a:pPr marL="0" indent="0">
              <a:buNone/>
            </a:pPr>
            <a:endParaRPr lang="en-US" sz="875" dirty="0"/>
          </a:p>
          <a:p>
            <a:pPr marL="0" indent="0">
              <a:buNone/>
            </a:pPr>
            <a:r>
              <a:rPr lang="en-US" sz="875" b="1" dirty="0">
                <a:solidFill>
                  <a:schemeClr val="tx1"/>
                </a:solidFill>
                <a:latin typeface="Calibri"/>
              </a:rPr>
              <a:t>1. Add a sample-size heterogeneity axis (vary N per site, matching GPC's real ~4x spread) -- likely more representative than narrowing prevalence alone</a:t>
            </a:r>
            <a:r>
              <a:rPr lang="en-US" sz="875" dirty="0">
                <a:solidFill>
                  <a:srgbClr val="64748B"/>
                </a:solidFill>
                <a:latin typeface="Calibri"/>
              </a:rPr>
              <a:t/>
            </a:r>
          </a:p>
          <a:p>
            <a:pPr marL="0" indent="0">
              <a:buNone/>
            </a:pPr>
            <a:r>
              <a:rPr lang="en-US" sz="875" b="1" dirty="0">
                <a:solidFill>
                  <a:schemeClr val="tx1"/>
                </a:solidFill>
                <a:latin typeface="Calibri"/>
              </a:rPr>
              <a:t>2. Re-run K-mode and lambda_adv validation once real or more-realistic GPC-like data is available, rather than assuming simulated-optimal values transfer</a:t>
            </a:r>
            <a:r>
              <a:rPr lang="en-US" sz="875" dirty="0">
                <a:solidFill>
                  <a:srgbClr val="64748B"/>
                </a:solidFill>
                <a:latin typeface="Calibri"/>
              </a:rPr>
              <a:t/>
            </a:r>
          </a:p>
          <a:p>
            <a:pPr marL="0" indent="0">
              <a:buNone/>
            </a:pPr>
            <a:r>
              <a:rPr lang="en-US" sz="875" b="1" dirty="0">
                <a:solidFill>
                  <a:schemeClr val="tx1"/>
                </a:solidFill>
                <a:latin typeface="Calibri"/>
              </a:rPr>
              <a:t>3. Prioritize ICD-code-level diagnosis alignment over the 6 missing labs -- it's the largest gap (70 of 79) and the most mechanically fixable with existing MIMIC-IV data</a:t>
            </a:r>
            <a:r>
              <a:rPr lang="en-US" sz="875" dirty="0">
                <a:solidFill>
                  <a:srgbClr val="64748B"/>
                </a:solidFill>
                <a:latin typeface="Calibri"/>
              </a:rPr>
              <a:t/>
            </a:r>
          </a:p>
          <a:p>
            <a:pPr marL="0" indent="0">
              <a:buNone/>
            </a:pPr>
            <a:r>
              <a:rPr lang="en-US" sz="875" b="1" dirty="0">
                <a:solidFill>
                  <a:schemeClr val="tx1"/>
                </a:solidFill>
                <a:latin typeface="Calibri"/>
              </a:rPr>
              <a:t/>
            </a:r>
            <a:r>
              <a:rPr lang="en-US" sz="875" dirty="0">
                <a:solidFill>
                  <a:srgbClr val="64748B"/>
                </a:solidFill>
                <a:latin typeface="Calibri"/>
              </a:rPr>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FedAdaptProto Results">
    <p:bg>
      <p:bgPr>
        <a:solidFill>
          <a:srgbClr val="FFFFFF"/>
        </a:solidFill>
        <a:effectLst/>
      </p:bgPr>
    </p:bg>
    <p:spTree>
      <p:nvGrpSpPr>
        <p:cNvPr id="1" name=""/>
        <p:cNvGrpSpPr/>
        <p:nvPr/>
      </p:nvGrpSpPr>
      <p:grpSpPr>
        <a:xfrm>
          <a:off x="0" y="0"/>
          <a:ext cx="0" cy="0"/>
          <a:chOff x="0" y="0"/>
          <a:chExt cx="0" cy="0"/>
        </a:xfrm>
      </p:grpSpPr>
      <p:sp>
        <p:nvSpPr>
          <p:cNvPr id="2" name="hdr"/>
          <p:cNvSpPr/>
          <p:nvPr/>
        </p:nvSpPr>
        <p:spPr>
          <a:xfrm>
            <a:off x="0" y="0"/>
            <a:ext cx="9144000" cy="420000"/>
          </a:xfrm>
          <a:prstGeom prst="rect">
            <a:avLst/>
          </a:prstGeom>
          <a:solidFill>
            <a:srgbClr val="1E3A5F"/>
          </a:solidFill>
        </p:spPr>
        <p:txBody>
          <a:bodyPr wrap="square" lIns="274638" tIns="91440" rIns="274638" bIns="91440" rtlCol="0" anchor="ctr"/>
          <a:lstStyle/>
          <a:p>
            <a:pPr marL="0" indent="0">
              <a:buNone/>
            </a:pPr>
            <a:r>
              <a:rPr lang="en-US" sz="1800" b="1" dirty="0">
                <a:solidFill>
                  <a:srgbClr val="FFFFFF"/>
                </a:solidFill>
                <a:latin typeface="Calibri"/>
              </a:rPr>
              <a:t>Toward a Site Performance Prediction Formula</a:t>
            </a:r>
          </a:p>
        </p:txBody>
      </p:sp>
      <p:sp>
        <p:nvSpPr>
          <p:cNvPr id="3" name="tbl_hdr"/>
          <p:cNvSpPr/>
          <p:nvPr/>
        </p:nvSpPr>
        <p:spPr>
          <a:xfrm>
            <a:off x="228600" y="480000"/>
            <a:ext cx="8687400" cy="270000"/>
          </a:xfrm>
          <a:prstGeom prst="rect">
            <a:avLst/>
          </a:prstGeom>
          <a:solidFill>
            <a:srgbClr val="2E6DA4"/>
          </a:solidFill>
        </p:spPr>
        <p:txBody>
          <a:bodyPr wrap="square" lIns="182880" tIns="45720" rIns="182880" bIns="45720" rtlCol="0" anchor="ctr"/>
          <a:lstStyle/>
          <a:p>
            <a:pPr marL="0" indent="0">
              <a:buNone/>
            </a:pPr>
            <a:r>
              <a:rPr lang="en-US" sz="1300" b="1" dirty="0">
                <a:solidFill>
                  <a:srgbClr val="FFFFFF"/>
                </a:solidFill>
                <a:latin typeface="Calibri"/>
              </a:rPr>
              <a:t>Component                        Standalone r        In combination</a:t>
            </a:r>
          </a:p>
        </p:txBody>
      </p:sp>
      <p:sp>
        <p:nvSpPr>
          <p:cNvPr id="4" name="row_a"/>
          <p:cNvSpPr/>
          <p:nvPr/>
        </p:nvSpPr>
        <p:spPr>
          <a:xfrm>
            <a:off x="228600" y="760000"/>
            <a:ext cx="8687400" cy="250000"/>
          </a:xfrm>
          <a:prstGeom prst="rect">
            <a:avLst/>
          </a:prstGeom>
          <a:solidFill>
            <a:srgbClr val="F0F4FA"/>
          </a:solidFill>
        </p:spPr>
        <p:txBody>
          <a:bodyPr wrap="square" lIns="182880" tIns="45720" rIns="182880" bIns="45720" rtlCol="0" anchor="ctr"/>
          <a:lstStyle/>
          <a:p>
            <a:pPr marL="0" indent="0">
              <a:buNone/>
            </a:pPr>
            <a:r>
              <a:rPr lang="en-US" sz="1200" b="1" dirty="0">
                <a:latin typeface="Calibri"/>
              </a:rPr>
              <a:t>Prevalence distance from mean    r=0.53 (best)        Coefficient stays strong</a:t>
            </a:r>
            <a:r>
              <a:rPr lang="en-US" sz="1200" dirty="0">
                <a:latin typeface="Calibri"/>
              </a:rPr>
              <a:t/>
            </a:r>
          </a:p>
        </p:txBody>
      </p:sp>
      <p:sp>
        <p:nvSpPr>
          <p:cNvPr id="5" name="row_b"/>
          <p:cNvSpPr/>
          <p:nvPr/>
        </p:nvSpPr>
        <p:spPr>
          <a:xfrm>
            <a:off x="228600" y="1020000"/>
            <a:ext cx="8687400" cy="250000"/>
          </a:xfrm>
          <a:prstGeom prst="rect">
            <a:avLst/>
          </a:prstGeom>
          <a:solidFill>
            <a:srgbClr val="E8F5E9"/>
          </a:solidFill>
        </p:spPr>
        <p:txBody>
          <a:bodyPr wrap="square" lIns="182880" tIns="45720" rIns="182880" bIns="45720" rtlCol="0" anchor="ctr"/>
          <a:lstStyle/>
          <a:p>
            <a:pPr marL="0" indent="0">
              <a:buNone/>
            </a:pPr>
            <a:r>
              <a:rPr lang="en-US" sz="1200" b="1" dirty="0">
                <a:latin typeface="Calibri"/>
              </a:rPr>
              <a:t>Signal-to-noise ratio            r=0.34 -- redundant with prevalence once combined</a:t>
            </a:r>
            <a:r>
              <a:rPr lang="en-US" sz="1200" dirty="0">
                <a:latin typeface="Calibri"/>
              </a:rPr>
              <a:t/>
            </a:r>
          </a:p>
        </p:txBody>
      </p:sp>
      <p:sp>
        <p:nvSpPr>
          <p:cNvPr id="6" name="row_c"/>
          <p:cNvSpPr/>
          <p:nvPr/>
        </p:nvSpPr>
        <p:spPr>
          <a:xfrm>
            <a:off x="228600" y="1280000"/>
            <a:ext cx="8687400" cy="250000"/>
          </a:xfrm>
          <a:prstGeom prst="rect">
            <a:avLst/>
          </a:prstGeom>
          <a:solidFill>
            <a:srgbClr val="F0F4FA"/>
          </a:solidFill>
        </p:spPr>
        <p:txBody>
          <a:bodyPr wrap="square" lIns="182880" tIns="45720" rIns="182880" bIns="45720" rtlCol="0" anchor="ctr"/>
          <a:lstStyle/>
          <a:p>
            <a:pPr marL="0" indent="0">
              <a:buNone/>
            </a:pPr>
            <a:r>
              <a:rPr lang="en-US" sz="1200" b="1" dirty="0">
                <a:latin typeface="Calibri"/>
              </a:rPr>
              <a:t>Boundary similarity (static)     r=-0.08 (noise)       Adds no value</a:t>
            </a:r>
            <a:r>
              <a:rPr lang="en-US" sz="1200" dirty="0">
                <a:latin typeface="Calibri"/>
              </a:rPr>
              <a:t/>
            </a:r>
          </a:p>
        </p:txBody>
      </p:sp>
      <p:sp>
        <p:nvSpPr>
          <p:cNvPr id="7" name="row_d"/>
          <p:cNvSpPr/>
          <p:nvPr/>
        </p:nvSpPr>
        <p:spPr>
          <a:xfrm>
            <a:off x="228600" y="1540000"/>
            <a:ext cx="8687400" cy="250000"/>
          </a:xfrm>
          <a:prstGeom prst="rect">
            <a:avLst/>
          </a:prstGeom>
          <a:solidFill>
            <a:srgbClr val="E3F2FD"/>
          </a:solidFill>
        </p:spPr>
        <p:txBody>
          <a:bodyPr wrap="square" lIns="182880" tIns="45720" rIns="182880" bIns="45720" rtlCol="0" anchor="ctr"/>
          <a:lstStyle/>
          <a:p>
            <a:pPr marL="0" indent="0">
              <a:buNone/>
            </a:pPr>
            <a:r>
              <a:rPr lang="en-US" sz="1200" b="1" dirty="0">
                <a:solidFill>
                  <a:srgbClr val="0D5C8F"/>
                </a:solidFill>
                <a:latin typeface="Calibri"/>
              </a:rPr>
              <a:t>Local-AUROC deficit vs peers     r=0.08 -- site_D/E nearly identical, opposite outcomes</a:t>
            </a:r>
          </a:p>
        </p:txBody>
      </p:sp>
      <p:sp>
        <p:nvSpPr>
          <p:cNvPr id="8" name="row_e"/>
          <p:cNvSpPr/>
          <p:nvPr/>
        </p:nvSpPr>
        <p:spPr>
          <a:xfrm>
            <a:off x="228600" y="1800000"/>
            <a:ext cx="8687400" cy="250000"/>
          </a:xfrm>
          <a:prstGeom prst="rect">
            <a:avLst/>
          </a:prstGeom>
          <a:solidFill>
            <a:srgbClr val="E3F2FD"/>
          </a:solidFill>
        </p:spPr>
        <p:txBody>
          <a:bodyPr wrap="square" lIns="182880" tIns="45720" rIns="182880" bIns="45720" rtlCol="0" anchor="ctr"/>
          <a:lstStyle/>
          <a:p>
            <a:pPr marL="0" indent="0">
              <a:buNone/>
            </a:pPr>
            <a:r>
              <a:rPr lang="en-US" sz="1200" b="1" dirty="0">
                <a:solidFill>
                  <a:srgbClr val="0D5C8F"/>
                </a:solidFill>
                <a:latin typeface="Calibri"/>
              </a:rPr>
              <a:t>Equal-weight composite (naive)   r=0.37 -- WORSE than prevalence alone, not better</a:t>
            </a:r>
          </a:p>
        </p:txBody>
      </p:sp>
      <p:sp>
        <p:nvSpPr>
          <p:cNvPr id="9" name="finding_hdr"/>
          <p:cNvSpPr/>
          <p:nvPr/>
        </p:nvSpPr>
        <p:spPr>
          <a:xfrm>
            <a:off x="228600" y="2120000"/>
            <a:ext cx="8687400" cy="230000"/>
          </a:xfrm>
          <a:prstGeom prst="rect">
            <a:avLst/>
          </a:prstGeom>
          <a:solidFill>
            <a:srgbClr val="1E3A5F"/>
          </a:solidFill>
        </p:spPr>
        <p:txBody>
          <a:bodyPr wrap="square" lIns="182880" tIns="45720" rIns="182880" bIns="45720" rtlCol="0" anchor="ctr"/>
          <a:lstStyle/>
          <a:p>
            <a:pPr marL="0" indent="0">
              <a:buNone/>
            </a:pPr>
            <a:r>
              <a:rPr lang="en-US" sz="1300" b="1" dirty="0">
                <a:solidFill>
                  <a:srgbClr val="FFFFFF"/>
                </a:solidFill>
                <a:latin typeface="Calibri"/>
              </a:rPr>
              <a:t>The Formula</a:t>
            </a:r>
          </a:p>
        </p:txBody>
      </p:sp>
      <p:sp>
        <p:nvSpPr>
          <p:cNvPr id="10" name="findings_l"/>
          <p:cNvSpPr/>
          <p:nvPr/>
        </p:nvSpPr>
        <p:spPr>
          <a:xfrm>
            <a:off x="228600" y="2370000"/>
            <a:ext cx="4250000" cy="1660000"/>
          </a:xfrm>
          <a:prstGeom prst="rect">
            <a:avLst/>
          </a:prstGeom>
          <a:solidFill>
            <a:srgbClr val="F0F4FA"/>
          </a:solidFill>
        </p:spPr>
        <p:txBody>
          <a:bodyPr wrap="square" lIns="182880" tIns="91440" rIns="182880" bIns="91440" rtlCol="0" anchor="t"/>
          <a:lstStyle/>
          <a:p>
            <a:pPr marL="0" indent="0">
              <a:buNone/>
            </a:pPr>
            <a:r>
              <a:rPr lang="en-US" sz="1200" b="1" dirty="0">
                <a:latin typeface="Calibri"/>
              </a:rPr>
              <a:t>FL_Benefit_Score(site) =</a:t>
            </a:r>
          </a:p>
          <a:p>
            <a:pPr marL="182880" indent="0">
              <a:buNone/>
            </a:pPr>
            <a:r>
              <a:rPr lang="en-US" sz="1100" dirty="0">
                <a:latin typeface="Calibri"/>
              </a:rPr>
              <a:t>  | prevalence(site) - mean_prevalence(federation) |</a:t>
            </a:r>
          </a:p>
          <a:p>
            <a:pPr marL="0" indent="0">
              <a:buNone/>
            </a:pPr>
            <a:endParaRPr lang="en-US" sz="1100" dirty="0">
              <a:latin typeface="Calibri"/>
            </a:endParaRPr>
          </a:p>
          <a:p>
            <a:pPr marL="0" indent="0">
              <a:buNone/>
            </a:pPr>
            <a:r>
              <a:rPr lang="en-US" sz="1200" b="1" dirty="0">
                <a:latin typeface="Calibri"/>
              </a:rPr>
              <a:t>Higher score -&gt; more likely to benefit from FL</a:t>
            </a:r>
          </a:p>
          <a:p>
            <a:pPr marL="182880" indent="0">
              <a:buNone/>
            </a:pPr>
            <a:r>
              <a:rPr lang="en-US" sz="1100" dirty="0">
                <a:latin typeface="Calibri"/>
              </a:rPr>
              <a:t>Lower score -&gt; more likely to be hurt by FL</a:t>
            </a:r>
          </a:p>
          <a:p>
            <a:pPr marL="0" indent="0">
              <a:buNone/>
            </a:pPr>
            <a:endParaRPr lang="en-US" sz="1100" dirty="0">
              <a:latin typeface="Calibri"/>
            </a:endParaRPr>
          </a:p>
          <a:p>
            <a:pPr marL="0" indent="0">
              <a:buNone/>
            </a:pPr>
            <a:r>
              <a:rPr lang="en-US" sz="1200" b="1" dirty="0">
                <a:latin typeface="Calibri"/>
              </a:rPr>
              <a:t>Deliberately does NOT add boundary similarity or SNR as extra terms -- both tested and shown to add no independent signal, or actively hurt accuracy.</a:t>
            </a:r>
          </a:p>
          <a:p>
            <a:pPr marL="182880" indent="0">
              <a:buNone/>
            </a:pPr>
            <a:r>
              <a:rPr lang="en-US" sz="1100" dirty="0">
                <a:latin typeface="Calibri"/>
              </a:rPr>
              <a:t/>
            </a:r>
          </a:p>
        </p:txBody>
      </p:sp>
      <p:sp>
        <p:nvSpPr>
          <p:cNvPr id="11" name="findings_r"/>
          <p:cNvSpPr/>
          <p:nvPr/>
        </p:nvSpPr>
        <p:spPr>
          <a:xfrm>
            <a:off x="4666000" y="2370000"/>
            <a:ext cx="4250000" cy="1660000"/>
          </a:xfrm>
          <a:prstGeom prst="rect">
            <a:avLst/>
          </a:prstGeom>
          <a:solidFill>
            <a:srgbClr val="F0F4FA"/>
          </a:solidFill>
        </p:spPr>
        <p:txBody>
          <a:bodyPr wrap="square" lIns="182880" tIns="91440" rIns="182880" bIns="91440" rtlCol="0" anchor="t"/>
          <a:lstStyle/>
          <a:p>
            <a:pPr marL="0" indent="0">
              <a:buNone/>
            </a:pPr>
            <a:r>
              <a:rPr lang="en-US" sz="1200" b="1" dirty="0">
                <a:latin typeface="Calibri"/>
              </a:rPr>
              <a:t>The honest limitation</a:t>
            </a:r>
          </a:p>
          <a:p>
            <a:pPr marL="182880" indent="0">
              <a:buNone/>
            </a:pPr>
            <a:r>
              <a:rPr lang="en-US" sz="1100" dirty="0">
                <a:latin typeface="Calibri"/>
              </a:rPr>
              <a:t>No metric this session distinguishes site_D from site_E.</a:t>
            </a:r>
          </a:p>
          <a:p>
            <a:pPr marL="0" indent="0">
              <a:buNone/>
            </a:pPr>
            <a:r>
              <a:t>Confidence flag: if local AUROC sits below peers, flag LOW-CONFIDENCE and run the enrichment sweep instead.</a:t>
            </a:r>
            <a:endParaRPr lang="en-US" sz="1100" dirty="0">
              <a:latin typeface="Calibri"/>
            </a:endParaRPr>
          </a:p>
          <a:p>
            <a:pPr marL="0" indent="0">
              <a:buNone/>
            </a:pPr>
            <a:r>
              <a:rPr lang="en-US" sz="1200" b="1" dirty="0">
                <a:latin typeface="Calibri"/>
              </a:rPr>
              <a:t/>
            </a:r>
          </a:p>
          <a:p>
            <a:pPr marL="182880" indent="0">
              <a:buNone/>
            </a:pPr>
            <a:r>
              <a:rPr lang="en-US" sz="1100" dirty="0">
                <a:latin typeface="Calibri"/>
              </a:rPr>
              <a:t/>
            </a:r>
          </a:p>
          <a:p>
            <a:pPr marL="0" indent="0">
              <a:buNone/>
            </a:pPr>
            <a:endParaRPr lang="en-US" sz="1100" dirty="0">
              <a:latin typeface="Calibri"/>
            </a:endParaRPr>
          </a:p>
          <a:p>
            <a:pPr marL="0" indent="0">
              <a:buNone/>
            </a:pPr>
            <a:r>
              <a:rPr lang="en-US" sz="1200" b="1" dirty="0">
                <a:latin typeface="Calibri"/>
              </a:rPr>
              <a:t/>
            </a:r>
          </a:p>
          <a:p>
            <a:pPr marL="182880" indent="0">
              <a:buNone/>
            </a:pPr>
            <a:r>
              <a:rPr lang="en-US" sz="1100" dirty="0">
                <a:latin typeface="Calibri"/>
              </a:rPr>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Next Steps">
    <p:bg>
      <p:bgPr>
        <a:solidFill>
          <a:srgbClr val="FFFFFF"/>
        </a:solidFill>
        <a:effectLst/>
      </p:bgPr>
    </p:bg>
    <p:spTree>
      <p:nvGrpSpPr>
        <p:cNvPr id="1" name=""/>
        <p:cNvGrpSpPr/>
        <p:nvPr/>
      </p:nvGrpSpPr>
      <p:grpSpPr>
        <a:xfrm>
          <a:off x="0" y="0"/>
          <a:ext cx="0" cy="0"/>
          <a:chOff x="0" y="0"/>
          <a:chExt cx="0" cy="0"/>
        </a:xfrm>
      </p:grpSpPr>
      <p:sp>
        <p:nvSpPr>
          <p:cNvPr id="2" name="hdr"/>
          <p:cNvSpPr/>
          <p:nvPr/>
        </p:nvSpPr>
        <p:spPr>
          <a:xfrm>
            <a:off x="0" y="0"/>
            <a:ext cx="9144000" cy="420000"/>
          </a:xfrm>
          <a:prstGeom prst="rect">
            <a:avLst/>
          </a:prstGeom>
          <a:solidFill>
            <a:srgbClr val="1E3A5F"/>
          </a:solidFill>
          <a:ln/>
        </p:spPr>
        <p:txBody>
          <a:bodyPr wrap="square" lIns="274638" tIns="91440" rIns="274638" bIns="91440" rtlCol="0" anchor="ctr"/>
          <a:lstStyle/>
          <a:p>
            <a:pPr marL="0" indent="0">
              <a:buNone/>
            </a:pPr>
            <a:r>
              <a:rPr lang="en-US" sz="1800" b="1" dirty="0">
                <a:solidFill>
                  <a:srgbClr val="FFFFFF"/>
                </a:solidFill>
                <a:latin typeface="Calibri"/>
              </a:rPr>
              <a:t>Phase 3: Summary and Next Steps</a:t>
            </a:r>
          </a:p>
        </p:txBody>
      </p:sp>
      <p:sp>
        <p:nvSpPr>
          <p:cNvPr id="3" name="sum_hdr"/>
          <p:cNvSpPr/>
          <p:nvPr/>
        </p:nvSpPr>
        <p:spPr>
          <a:xfrm>
            <a:off x="228600" y="480000"/>
            <a:ext cx="4200000" cy="230000"/>
          </a:xfrm>
          <a:prstGeom prst="rect">
            <a:avLst/>
          </a:prstGeom>
          <a:solidFill>
            <a:srgbClr val="1E3A5F"/>
          </a:solidFill>
          <a:ln/>
        </p:spPr>
        <p:txBody>
          <a:bodyPr wrap="square" lIns="91440" tIns="45720" rIns="91440" bIns="45720" rtlCol="0" anchor="ctr"/>
          <a:lstStyle/>
          <a:p>
            <a:pPr marL="0" indent="0" algn="ctr">
              <a:buNone/>
            </a:pPr>
            <a:r>
              <a:rPr lang="en-US" sz="1000" b="1" dirty="0">
                <a:solidFill>
                  <a:srgbClr val="FFFFFF"/>
                </a:solidFill>
                <a:latin typeface="Calibri"/>
              </a:rPr>
              <a:t>Key Conclusions</a:t>
            </a:r>
          </a:p>
        </p:txBody>
      </p:sp>
      <p:sp>
        <p:nvSpPr>
          <p:cNvPr id="4" name="sum_body"/>
          <p:cNvSpPr/>
          <p:nvPr/>
        </p:nvSpPr>
        <p:spPr>
          <a:xfrm>
            <a:off x="228600" y="710000"/>
            <a:ext cx="4200000" cy="4130000"/>
          </a:xfrm>
          <a:prstGeom prst="rect">
            <a:avLst/>
          </a:prstGeom>
          <a:solidFill>
            <a:srgbClr val="F8FAFC"/>
          </a:solidFill>
          <a:ln w="6350">
            <a:solidFill>
              <a:srgbClr val="CBD5E1"/>
            </a:solidFill>
          </a:ln>
        </p:spPr>
        <p:txBody>
          <a:bodyPr wrap="square" lIns="137160" tIns="91440" rIns="137160" bIns="91440" rtlCol="0" anchor="t"/>
          <a:lstStyle/>
          <a:p>
            <a:pPr marL="0" indent="0">
              <a:buNone/>
            </a:pPr>
            <a:r>
              <a:rPr lang="en-US" sz="900" b="1" dirty="0">
                <a:solidFill>
                  <a:srgbClr val="2563EB"/>
                </a:solidFill>
                <a:latin typeface="Calibri"/>
              </a:rPr>
              <a:t>1. FedAdaptProto_v25 is the clear winner</a:t>
            </a:r>
          </a:p>
          <a:p>
            <a:pPr marL="0" indent="0">
              <a:buNone/>
            </a:pPr>
            <a:r>
              <a:rPr lang="en-US" sz="825" dirty="0">
                <a:solidFill>
                  <a:schemeClr val="tx1"/>
                </a:solidFill>
                <a:latin typeface="Calibri"/>
              </a:rPr>
              <a:t>Tied-for-best became clear-best once two real bugs (K-mode, lambda formula) were fixed — prototype alignment genuinely earns its complexity here.</a:t>
            </a:r>
          </a:p>
          <a:p>
            <a:pPr marL="0" indent="0">
              <a:buNone/>
            </a:pPr>
            <a:endParaRPr lang="en-US" sz="825" dirty="0"/>
          </a:p>
          <a:p>
            <a:pPr marL="0" indent="0">
              <a:buNone/>
            </a:pPr>
            <a:r>
              <a:rPr lang="en-US" sz="900" b="1" dirty="0">
                <a:solidFill>
                  <a:srgbClr val="16A34A"/>
                </a:solidFill>
                <a:latin typeface="Calibri"/>
              </a:rPr>
              <a:t>2. Checkpointing is validated and adopted</a:t>
            </a:r>
          </a:p>
          <a:p>
            <a:pPr marL="0" indent="0">
              <a:buNone/>
            </a:pPr>
            <a:r>
              <a:rPr lang="en-US" sz="825" dirty="0">
                <a:solidFill>
                  <a:schemeClr val="tx1"/>
                </a:solidFill>
                <a:latin typeface="Calibri"/>
              </a:rPr>
              <a:t>Restoring each site to its own best round roughly halved the average deficit across the full 20-condition grid — the one unambiguous, low-risk win.</a:t>
            </a:r>
          </a:p>
          <a:p>
            <a:pPr marL="0" indent="0">
              <a:buNone/>
            </a:pPr>
            <a:endParaRPr lang="en-US" sz="825" dirty="0"/>
          </a:p>
          <a:p>
            <a:pPr marL="0" indent="0">
              <a:buNone/>
            </a:pPr>
            <a:r>
              <a:rPr lang="en-US" sz="900" b="1" dirty="0">
                <a:solidFill>
                  <a:srgbClr val="C2410C"/>
                </a:solidFill>
                <a:latin typeface="Calibri"/>
              </a:rPr>
              <a:t>3. Bugs mattered more than tuning</a:t>
            </a:r>
          </a:p>
          <a:p>
            <a:pPr marL="0" indent="0">
              <a:buNone/>
            </a:pPr>
            <a:r>
              <a:rPr lang="en-US" sz="825" dirty="0">
                <a:solidFill>
                  <a:schemeClr val="tx1"/>
                </a:solidFill>
                <a:latin typeface="Calibri"/>
              </a:rPr>
              <a:t>The GRL sign fix and K-mode suffix fix each changed real conclusions. Lambda_adv tuning, by contrast, was tested twice and confirmed unnecessary.</a:t>
            </a:r>
          </a:p>
          <a:p>
            <a:pPr marL="0" indent="0">
              <a:buNone/>
            </a:pPr>
            <a:endParaRPr lang="en-US" sz="825" dirty="0"/>
          </a:p>
          <a:p>
            <a:pPr marL="0" indent="0">
              <a:buNone/>
            </a:pPr>
            <a:r>
              <a:rPr lang="en-US" sz="900" b="1" dirty="0">
                <a:solidFill>
                  <a:srgbClr val="7C3AED"/>
                </a:solidFill>
                <a:latin typeface="Calibri"/>
              </a:rPr>
              <a:t>4. "Does FL help" is a per-site question here</a:t>
            </a:r>
          </a:p>
          <a:p>
            <a:pPr marL="0" indent="0">
              <a:buNone/>
            </a:pPr>
            <a:r>
              <a:rPr lang="en-US" sz="825" dirty="0">
                <a:solidFill>
                  <a:schemeClr val="tx1"/>
                </a:solidFill>
                <a:latin typeface="Calibri"/>
              </a:rPr>
              <a:t>Site_A and site_E clearly benefit; site_B, site_C, and especially site_D do not. No single method fixes this — it's a per-site deployment decision.</a:t>
            </a:r>
          </a:p>
          <a:p>
            <a:pPr marL="0" indent="0">
              <a:buNone/>
            </a:pPr>
            <a:endParaRPr lang="en-US" sz="825" dirty="0"/>
          </a:p>
          <a:p>
            <a:pPr marL="0" indent="0">
              <a:buNone/>
            </a:pPr>
            <a:r>
              <a:rPr lang="en-US" sz="900" b="1" dirty="0">
                <a:solidFill>
                  <a:srgbClr val="111827"/>
                </a:solidFill>
                <a:latin typeface="Calibri"/>
              </a:rPr>
              <a:t>5. Single-seed results were repeatedly unreliable this session</a:t>
            </a:r>
          </a:p>
          <a:p>
            <a:pPr marL="0" indent="0">
              <a:buNone/>
            </a:pPr>
            <a:r>
              <a:rPr lang="en-US" sz="825" dirty="0">
                <a:solidFill>
                  <a:schemeClr val="tx1"/>
                </a:solidFill>
                <a:latin typeface="Calibri"/>
              </a:rPr>
              <a:t>Several early findings didn't survive multi-seed or full-grid re-testing — now the default standard, not single-condition spot checks.</a:t>
            </a:r>
          </a:p>
        </p:txBody>
      </p:sp>
      <p:sp>
        <p:nvSpPr>
          <p:cNvPr id="5" name="next_hdr"/>
          <p:cNvSpPr/>
          <p:nvPr/>
        </p:nvSpPr>
        <p:spPr>
          <a:xfrm>
            <a:off x="4715400" y="480000"/>
            <a:ext cx="4200000" cy="230000"/>
          </a:xfrm>
          <a:prstGeom prst="rect">
            <a:avLst/>
          </a:prstGeom>
          <a:solidFill>
            <a:srgbClr val="065A82"/>
          </a:solidFill>
          <a:ln/>
        </p:spPr>
        <p:txBody>
          <a:bodyPr wrap="square" lIns="91440" tIns="45720" rIns="91440" bIns="45720" rtlCol="0" anchor="ctr"/>
          <a:lstStyle/>
          <a:p>
            <a:pPr marL="0" indent="0" algn="ctr">
              <a:buNone/>
            </a:pPr>
            <a:r>
              <a:rPr lang="en-US" sz="1000" b="1" dirty="0">
                <a:solidFill>
                  <a:srgbClr val="FFFFFF"/>
                </a:solidFill>
                <a:latin typeface="Calibri"/>
              </a:rPr>
              <a:t>Next Steps</a:t>
            </a:r>
          </a:p>
        </p:txBody>
      </p:sp>
      <p:sp>
        <p:nvSpPr>
          <p:cNvPr id="6" name="next_body"/>
          <p:cNvSpPr/>
          <p:nvPr/>
        </p:nvSpPr>
        <p:spPr>
          <a:xfrm>
            <a:off x="4715400" y="710000"/>
            <a:ext cx="4200000" cy="4130000"/>
          </a:xfrm>
          <a:prstGeom prst="rect">
            <a:avLst/>
          </a:prstGeom>
          <a:solidFill>
            <a:srgbClr val="F0F9FF"/>
          </a:solidFill>
          <a:ln w="6350">
            <a:solidFill>
              <a:srgbClr val="BAE6FD"/>
            </a:solidFill>
          </a:ln>
        </p:spPr>
        <p:txBody>
          <a:bodyPr wrap="square" lIns="137160" tIns="91440" rIns="137160" bIns="91440" rtlCol="0" anchor="t"/>
          <a:lstStyle/>
          <a:p>
            <a:pPr marL="0" indent="0">
              <a:buNone/>
            </a:pPr>
            <a:r>
              <a:rPr lang="en-US" sz="900" b="1" dirty="0">
                <a:solidFill>
                  <a:srgbClr val="1E3A5F"/>
                </a:solidFill>
                <a:latin typeface="Calibri"/>
              </a:rPr>
              <a:t>1. Complete the gradient-conflict diagnostic</a:t>
            </a:r>
          </a:p>
          <a:p>
            <a:pPr marL="0" indent="0">
              <a:buNone/>
            </a:pPr>
            <a:r>
              <a:rPr lang="en-US" sz="825" dirty="0">
                <a:solidFill>
                  <a:schemeClr val="tx1"/>
                </a:solidFill>
                <a:latin typeface="Calibri"/>
              </a:rPr>
              <a:t>Implementation is fixed and correct; needs one clean end-to-end run on fedavg to test the site_D negative-transfer hypothesis directly.</a:t>
            </a:r>
          </a:p>
          <a:p>
            <a:pPr marL="0" indent="0">
              <a:buNone/>
            </a:pPr>
            <a:endParaRPr lang="en-US" sz="825" dirty="0"/>
          </a:p>
          <a:p>
            <a:pPr marL="0" indent="0">
              <a:buNone/>
            </a:pPr>
            <a:r>
              <a:rPr lang="en-US" sz="900" b="1" dirty="0">
                <a:solidFill>
                  <a:srgbClr val="1E3A5F"/>
                </a:solidFill>
                <a:latin typeface="Calibri"/>
              </a:rPr>
              <a:t>2. Investigate fedadaptproto's KMeans non-determinism</a:t>
            </a:r>
          </a:p>
          <a:p>
            <a:pPr marL="0" indent="0">
              <a:buNone/>
            </a:pPr>
            <a:r>
              <a:rPr lang="en-US" sz="825" dirty="0">
                <a:solidFill>
                  <a:schemeClr val="tx1"/>
                </a:solidFill>
                <a:latin typeface="Calibri"/>
              </a:rPr>
              <a:t>Site_C/D show real run-to-run variance even at fixed seed+code — worth checking sklearn's random_state handling specifically.</a:t>
            </a:r>
          </a:p>
          <a:p>
            <a:pPr marL="0" indent="0">
              <a:buNone/>
            </a:pPr>
            <a:endParaRPr lang="en-US" sz="825" dirty="0"/>
          </a:p>
          <a:p>
            <a:pPr marL="0" indent="0">
              <a:buNone/>
            </a:pPr>
            <a:r>
              <a:rPr lang="en-US" sz="900" b="1" dirty="0">
                <a:solidFill>
                  <a:srgbClr val="1E3A5F"/>
                </a:solidFill>
                <a:latin typeface="Calibri"/>
              </a:rPr>
              <a:t>3. Multi-seed the full grid</a:t>
            </a:r>
          </a:p>
          <a:p>
            <a:pPr marL="0" indent="0">
              <a:buNone/>
            </a:pPr>
            <a:r>
              <a:rPr lang="en-US" sz="825" dirty="0">
                <a:solidFill>
                  <a:schemeClr val="tx1"/>
                </a:solidFill>
                <a:latin typeface="Calibri"/>
              </a:rPr>
              <a:t>Current ranking is single-seed at 19/20 conditions (only one condition is multi-seed confirmed) — the gold-standard confirmation for publication.</a:t>
            </a:r>
          </a:p>
          <a:p>
            <a:pPr marL="0" indent="0">
              <a:buNone/>
            </a:pPr>
            <a:endParaRPr lang="en-US" sz="825" dirty="0"/>
          </a:p>
          <a:p>
            <a:pPr marL="0" indent="0">
              <a:buNone/>
            </a:pPr>
            <a:r>
              <a:rPr lang="en-US" sz="900" b="1" dirty="0">
                <a:solidFill>
                  <a:srgbClr val="1E3A5F"/>
                </a:solidFill>
                <a:latin typeface="Calibri"/>
              </a:rPr>
              <a:t>4. Resolve fedadaptproto's true K-mode answer</a:t>
            </a:r>
          </a:p>
          <a:p>
            <a:pPr marL="0" indent="0">
              <a:buNone/>
            </a:pPr>
            <a:r>
              <a:rPr lang="en-US" sz="825" dirty="0">
                <a:solidFill>
                  <a:schemeClr val="tx1"/>
                </a:solidFill>
                <a:latin typeface="Calibri"/>
              </a:rPr>
              <a:t>Uniform K=2 and per-site K are currently statistically indistinguishable — needs a larger multi-seed test to settle, if it matters for deployment.</a:t>
            </a:r>
          </a:p>
          <a:p>
            <a:pPr marL="0" indent="0">
              <a:buNone/>
            </a:pPr>
            <a:endParaRPr lang="en-US" sz="825" dirty="0"/>
          </a:p>
          <a:p>
            <a:pPr marL="0" indent="0">
              <a:buNone/>
            </a:pPr>
            <a:r>
              <a:rPr lang="en-US" sz="900" b="1" dirty="0">
                <a:solidFill>
                  <a:srgbClr val="1E3A5F"/>
                </a:solidFill>
                <a:latin typeface="Calibri"/>
              </a:rPr>
              <a:t>5. Feature-level GPC alignment audit</a:t>
            </a:r>
          </a:p>
          <a:p>
            <a:pPr marL="0" indent="0">
              <a:buNone/>
            </a:pPr>
            <a:r>
              <a:rPr lang="en-US" sz="825" dirty="0">
                <a:solidFill>
                  <a:schemeClr val="tx1"/>
                </a:solidFill>
                <a:latin typeface="Calibri"/>
              </a:rPr>
              <a:t>Confirm the full 159-feature GPC-aligned set against the official shared98 specification as the dataset evolves.</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7700</TotalTime>
  <Words>15985</Words>
  <Application>Microsoft Macintosh PowerPoint</Application>
  <PresentationFormat>On-screen Show (16:9)</PresentationFormat>
  <Paragraphs>1769</Paragraphs>
  <Slides>46</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Awan, Sana</cp:lastModifiedBy>
  <cp:revision>53</cp:revision>
  <dcterms:created xsi:type="dcterms:W3CDTF">2026-03-04T20:30:47Z</dcterms:created>
  <dcterms:modified xsi:type="dcterms:W3CDTF">2026-06-26T14:15:05Z</dcterms:modified>
</cp:coreProperties>
</file>